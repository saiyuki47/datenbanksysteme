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  <p:sldMasterId id="2147483848" r:id="rId2"/>
  </p:sldMasterIdLst>
  <p:sldIdLst>
    <p:sldId id="256" r:id="rId3"/>
    <p:sldId id="286" r:id="rId4"/>
    <p:sldId id="258" r:id="rId5"/>
    <p:sldId id="282" r:id="rId6"/>
    <p:sldId id="283" r:id="rId7"/>
    <p:sldId id="259" r:id="rId8"/>
    <p:sldId id="287" r:id="rId9"/>
    <p:sldId id="285" r:id="rId10"/>
    <p:sldId id="260" r:id="rId11"/>
    <p:sldId id="284" r:id="rId12"/>
    <p:sldId id="271" r:id="rId13"/>
    <p:sldId id="272" r:id="rId14"/>
  </p:sldIdLst>
  <p:sldSz cx="10693400" cy="7556500"/>
  <p:notesSz cx="10693400" cy="7556500"/>
  <p:defaultTextStyle>
    <a:defPPr>
      <a:defRPr lang="de-DE"/>
    </a:defPPr>
    <a:lvl1pPr marL="0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6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2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8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0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>
      <p:cViewPr varScale="1">
        <p:scale>
          <a:sx n="108" d="100"/>
          <a:sy n="108" d="100"/>
        </p:scale>
        <p:origin x="17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2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8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6465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241700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162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2221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4094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3544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1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8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67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15211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61531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19033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8454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96036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877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8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3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4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3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Datenbanksysteme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70440" y="6821054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400">
                <a:solidFill>
                  <a:srgbClr val="5E574E"/>
                </a:solidFill>
                <a:latin typeface="Arial"/>
                <a:cs typeface="Arial"/>
              </a:rPr>
              <a:t>1</a:t>
            </a:r>
            <a:endParaRPr lang="en-GB"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dirty="0" err="1">
                <a:solidFill>
                  <a:srgbClr val="FFFFFF"/>
                </a:solidFill>
                <a:latin typeface="+mj-lt"/>
              </a:rPr>
              <a:t>Kursübersicht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70440" y="6821054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400">
                <a:solidFill>
                  <a:srgbClr val="5E574E"/>
                </a:solidFill>
                <a:latin typeface="Arial"/>
                <a:cs typeface="Arial"/>
              </a:rPr>
              <a:t>1</a:t>
            </a:r>
            <a:endParaRPr lang="en-GB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472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01650"/>
            <a:ext cx="5816600" cy="766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M</a:t>
            </a:r>
            <a:r>
              <a:rPr spc="-5" dirty="0"/>
              <a:t>odalitäten</a:t>
            </a:r>
            <a:r>
              <a:rPr lang="en-GB" spc="-5" dirty="0"/>
              <a:t> - 1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latin typeface="Arial"/>
                <a:cs typeface="Arial"/>
              </a:rPr>
              <a:t>3</a:t>
            </a:fld>
            <a:endParaRPr sz="1400" dirty="0">
              <a:latin typeface="Arial"/>
              <a:cs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933" y="2362200"/>
            <a:ext cx="9508467" cy="36774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01650"/>
            <a:ext cx="5816600" cy="766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M</a:t>
            </a:r>
            <a:r>
              <a:rPr spc="-5" dirty="0"/>
              <a:t>odalitäten</a:t>
            </a:r>
            <a:r>
              <a:rPr lang="en-GB" spc="-5" dirty="0"/>
              <a:t> </a:t>
            </a:r>
            <a:r>
              <a:rPr lang="mr-IN" spc="-5" dirty="0"/>
              <a:t>–</a:t>
            </a:r>
            <a:r>
              <a:rPr lang="en-GB" spc="-5" dirty="0"/>
              <a:t> 2 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000000"/>
                </a:solidFill>
                <a:latin typeface="Arial"/>
                <a:cs typeface="Arial"/>
              </a:rPr>
              <a:t>4</a:t>
            </a:fld>
            <a:endParaRPr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71" y="2311400"/>
            <a:ext cx="9386929" cy="37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0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01650"/>
            <a:ext cx="5816600" cy="766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M</a:t>
            </a:r>
            <a:r>
              <a:rPr spc="-5" dirty="0"/>
              <a:t>odalitäten</a:t>
            </a:r>
            <a:r>
              <a:rPr lang="en-GB" spc="-5" dirty="0"/>
              <a:t> </a:t>
            </a:r>
            <a:r>
              <a:rPr lang="mr-IN" spc="-5" dirty="0"/>
              <a:t>–</a:t>
            </a:r>
            <a:r>
              <a:rPr lang="en-GB" spc="-5" dirty="0"/>
              <a:t> 3 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000000"/>
                </a:solidFill>
                <a:latin typeface="Arial"/>
                <a:cs typeface="Arial"/>
              </a:rPr>
              <a:t>5</a:t>
            </a:fld>
            <a:endParaRPr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2021826"/>
            <a:ext cx="9372600" cy="335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9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73149" y="2025650"/>
            <a:ext cx="8433295" cy="387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lang="en-GB" sz="2800" spc="-5" dirty="0" err="1">
                <a:latin typeface="Arial Black"/>
                <a:cs typeface="Arial Black"/>
              </a:rPr>
              <a:t>Vorlesung</a:t>
            </a:r>
            <a:endParaRPr lang="de-DE" sz="2800" u="heavy" spc="-5" dirty="0">
              <a:solidFill>
                <a:schemeClr val="accent1"/>
              </a:solidFill>
              <a:uFill>
                <a:solidFill>
                  <a:srgbClr val="AA7942"/>
                </a:solidFill>
              </a:uFill>
              <a:latin typeface="Arial Black"/>
              <a:cs typeface="Arial Black"/>
            </a:endParaRPr>
          </a:p>
          <a:p>
            <a:pPr marL="12700">
              <a:lnSpc>
                <a:spcPts val="3329"/>
              </a:lnSpc>
            </a:pP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Datenbanksysteme - Donnerstag 13:45 – 15:15</a:t>
            </a:r>
            <a:endParaRPr sz="2800" dirty="0">
              <a:solidFill>
                <a:schemeClr val="accent1"/>
              </a:solidFill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12700" marR="5080">
              <a:lnSpc>
                <a:spcPts val="3300"/>
              </a:lnSpc>
            </a:pPr>
            <a:r>
              <a:rPr lang="en-US" sz="2800" spc="-5" dirty="0" err="1">
                <a:latin typeface="Arial Black"/>
                <a:cs typeface="Arial Black"/>
              </a:rPr>
              <a:t>Übungen</a:t>
            </a:r>
            <a:endParaRPr lang="en-US" sz="2800" spc="-5" dirty="0">
              <a:latin typeface="Arial Black"/>
              <a:cs typeface="Arial Black"/>
            </a:endParaRPr>
          </a:p>
          <a:p>
            <a:pPr marL="12700" marR="5080">
              <a:lnSpc>
                <a:spcPts val="3300"/>
              </a:lnSpc>
            </a:pPr>
            <a:r>
              <a:rPr lang="en-US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Dienstag 8:00 – 9:30 </a:t>
            </a:r>
          </a:p>
          <a:p>
            <a:pPr marL="12700" marR="5080">
              <a:lnSpc>
                <a:spcPts val="3300"/>
              </a:lnSpc>
            </a:pPr>
            <a:r>
              <a:rPr lang="en-GB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Dienstag </a:t>
            </a: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11:40 </a:t>
            </a:r>
            <a:r>
              <a:rPr lang="en-US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– </a:t>
            </a: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13:10</a:t>
            </a:r>
            <a:endParaRPr lang="en-GB" sz="2800" u="heavy" spc="-5" dirty="0">
              <a:solidFill>
                <a:schemeClr val="accent1"/>
              </a:solidFill>
              <a:uFill>
                <a:solidFill>
                  <a:srgbClr val="AA7942"/>
                </a:solidFill>
              </a:uFill>
              <a:latin typeface="Arial Black"/>
              <a:cs typeface="Arial Black"/>
            </a:endParaRPr>
          </a:p>
          <a:p>
            <a:pPr marL="12700" marR="5080">
              <a:lnSpc>
                <a:spcPts val="3300"/>
              </a:lnSpc>
            </a:pPr>
            <a:r>
              <a:rPr lang="en-GB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Dienstag </a:t>
            </a: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13:45 </a:t>
            </a:r>
            <a:r>
              <a:rPr lang="en-US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– </a:t>
            </a: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15:15</a:t>
            </a:r>
          </a:p>
          <a:p>
            <a:pPr marL="12700" marR="5080">
              <a:lnSpc>
                <a:spcPts val="3300"/>
              </a:lnSpc>
            </a:pP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Freitag 15:30 – 17:00</a:t>
            </a:r>
            <a:endParaRPr sz="2800" dirty="0">
              <a:solidFill>
                <a:schemeClr val="accent1"/>
              </a:solidFill>
              <a:latin typeface="Arial Black"/>
              <a:cs typeface="Arial Black"/>
            </a:endParaRP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901700" y="501650"/>
            <a:ext cx="5816600" cy="766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M</a:t>
            </a:r>
            <a:r>
              <a:rPr spc="-5" dirty="0" err="1"/>
              <a:t>odalitäten</a:t>
            </a:r>
            <a:endParaRPr spc="-5" dirty="0"/>
          </a:p>
        </p:txBody>
      </p:sp>
      <p:sp>
        <p:nvSpPr>
          <p:cNvPr id="7" name="object 4"/>
          <p:cNvSpPr txBox="1"/>
          <p:nvPr/>
        </p:nvSpPr>
        <p:spPr>
          <a:xfrm>
            <a:off x="9706444" y="6952196"/>
            <a:ext cx="14986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000000"/>
                </a:solidFill>
                <a:latin typeface="Arial"/>
                <a:cs typeface="Arial"/>
              </a:rPr>
              <a:t>6</a:t>
            </a:fld>
            <a:endParaRPr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73149" y="2025650"/>
            <a:ext cx="8433295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lang="en-GB" sz="2800" spc="-5" dirty="0" err="1">
                <a:latin typeface="Arial Black"/>
                <a:cs typeface="Arial Black"/>
              </a:rPr>
              <a:t>Vorlesung</a:t>
            </a:r>
            <a:endParaRPr sz="2800" dirty="0">
              <a:latin typeface="Arial Black"/>
              <a:cs typeface="Arial Black"/>
            </a:endParaRPr>
          </a:p>
          <a:p>
            <a:pPr marL="12700">
              <a:lnSpc>
                <a:spcPts val="3329"/>
              </a:lnSpc>
            </a:pPr>
            <a:r>
              <a:rPr lang="en-GB" sz="2800" u="heavy" spc="-5" dirty="0" err="1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Datenbanken</a:t>
            </a:r>
            <a:r>
              <a:rPr lang="en-GB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 - </a:t>
            </a:r>
            <a:r>
              <a:rPr lang="en-GB" sz="2800" u="heavy" spc="-5" dirty="0" err="1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Donnerstag</a:t>
            </a:r>
            <a:r>
              <a:rPr lang="en-GB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 </a:t>
            </a: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11:40 – 13:10</a:t>
            </a:r>
            <a:endParaRPr sz="2800" dirty="0">
              <a:solidFill>
                <a:schemeClr val="accent1"/>
              </a:solidFill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12700" marR="5080">
              <a:lnSpc>
                <a:spcPts val="3300"/>
              </a:lnSpc>
            </a:pPr>
            <a:r>
              <a:rPr lang="en-US" sz="2800" spc="-5" dirty="0" err="1">
                <a:latin typeface="Arial Black"/>
                <a:cs typeface="Arial Black"/>
              </a:rPr>
              <a:t>Übungen</a:t>
            </a:r>
            <a:endParaRPr lang="en-US" sz="2800" spc="-5" dirty="0">
              <a:latin typeface="Arial Black"/>
              <a:cs typeface="Arial Black"/>
            </a:endParaRPr>
          </a:p>
          <a:p>
            <a:pPr marL="12700" marR="5080">
              <a:lnSpc>
                <a:spcPts val="3300"/>
              </a:lnSpc>
            </a:pPr>
            <a:r>
              <a:rPr lang="en-US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Montag 17:15 – 18:45</a:t>
            </a:r>
          </a:p>
          <a:p>
            <a:pPr marL="12700" marR="5080">
              <a:lnSpc>
                <a:spcPts val="3300"/>
              </a:lnSpc>
            </a:pPr>
            <a:r>
              <a:rPr lang="en-US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Montag 19:00 – 20:30</a:t>
            </a:r>
          </a:p>
          <a:p>
            <a:pPr marL="12700" marR="5080">
              <a:lnSpc>
                <a:spcPts val="3300"/>
              </a:lnSpc>
            </a:pPr>
            <a:r>
              <a:rPr lang="en-GB" sz="2800" u="heavy" spc="-5" dirty="0" err="1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Mittwoch</a:t>
            </a:r>
            <a:r>
              <a:rPr lang="en-GB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 </a:t>
            </a: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11:40 </a:t>
            </a:r>
            <a:r>
              <a:rPr lang="en-US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– </a:t>
            </a:r>
            <a:r>
              <a:rPr lang="de-DE" sz="2800" u="heavy" spc="-5" dirty="0">
                <a:solidFill>
                  <a:schemeClr val="accent1"/>
                </a:solidFill>
                <a:uFill>
                  <a:solidFill>
                    <a:srgbClr val="AA7942"/>
                  </a:solidFill>
                </a:uFill>
                <a:latin typeface="Arial Black"/>
                <a:cs typeface="Arial Black"/>
              </a:rPr>
              <a:t>13:10</a:t>
            </a:r>
            <a:endParaRPr lang="en-GB" sz="2800" u="heavy" spc="-5" dirty="0">
              <a:solidFill>
                <a:schemeClr val="accent1"/>
              </a:solidFill>
              <a:uFill>
                <a:solidFill>
                  <a:srgbClr val="AA7942"/>
                </a:solidFill>
              </a:uFill>
              <a:latin typeface="Arial Black"/>
              <a:cs typeface="Arial Black"/>
            </a:endParaRP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901700" y="501650"/>
            <a:ext cx="5816600" cy="766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M</a:t>
            </a:r>
            <a:r>
              <a:rPr spc="-5" dirty="0" err="1"/>
              <a:t>odalitäten</a:t>
            </a:r>
            <a:endParaRPr spc="-5" dirty="0"/>
          </a:p>
        </p:txBody>
      </p:sp>
      <p:sp>
        <p:nvSpPr>
          <p:cNvPr id="7" name="object 4"/>
          <p:cNvSpPr txBox="1"/>
          <p:nvPr/>
        </p:nvSpPr>
        <p:spPr>
          <a:xfrm>
            <a:off x="9706444" y="6952196"/>
            <a:ext cx="14986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000000"/>
                </a:solidFill>
                <a:latin typeface="Arial"/>
                <a:cs typeface="Arial"/>
              </a:rPr>
              <a:t>7</a:t>
            </a:fld>
            <a:endParaRPr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9586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22" y="788657"/>
            <a:ext cx="6476077" cy="766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5535" algn="l"/>
              </a:tabLst>
            </a:pPr>
            <a:r>
              <a:rPr lang="en-GB" spc="-5" dirty="0" err="1"/>
              <a:t>Vorlesungen</a:t>
            </a:r>
            <a:r>
              <a:rPr spc="-5" dirty="0"/>
              <a:t>	</a:t>
            </a:r>
            <a:r>
              <a:rPr dirty="0"/>
              <a:t>-</a:t>
            </a:r>
            <a:r>
              <a:rPr spc="-55" dirty="0"/>
              <a:t> </a:t>
            </a:r>
            <a:r>
              <a:rPr spc="-5" dirty="0"/>
              <a:t>Allgemein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823" y="1570875"/>
            <a:ext cx="888809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spc="-5" dirty="0" err="1">
                <a:latin typeface="Tahoma"/>
                <a:cs typeface="Tahoma"/>
              </a:rPr>
              <a:t>Momentan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sind</a:t>
            </a:r>
            <a:r>
              <a:rPr lang="en-GB" sz="2400" spc="-5" dirty="0">
                <a:latin typeface="Tahoma"/>
                <a:cs typeface="Tahoma"/>
              </a:rPr>
              <a:t> alle </a:t>
            </a:r>
            <a:r>
              <a:rPr lang="en-GB" sz="2400" spc="-5" dirty="0" err="1">
                <a:latin typeface="Tahoma"/>
                <a:cs typeface="Tahoma"/>
              </a:rPr>
              <a:t>Vorlesungen</a:t>
            </a:r>
            <a:r>
              <a:rPr lang="en-GB" sz="2400" spc="-5" dirty="0">
                <a:latin typeface="Tahoma"/>
                <a:cs typeface="Tahoma"/>
              </a:rPr>
              <a:t> in </a:t>
            </a:r>
            <a:r>
              <a:rPr lang="en-GB" sz="2400" spc="-5" dirty="0" err="1">
                <a:latin typeface="Tahoma"/>
                <a:cs typeface="Tahoma"/>
              </a:rPr>
              <a:t>Präsenz</a:t>
            </a:r>
            <a:endParaRPr sz="2400" dirty="0">
              <a:latin typeface="Tahoma"/>
              <a:cs typeface="Tahoma"/>
            </a:endParaRPr>
          </a:p>
          <a:p>
            <a:pPr marL="812800" lvl="1" indent="-342900">
              <a:buClr>
                <a:schemeClr val="accent1"/>
              </a:buClr>
              <a:buSzPct val="150000"/>
              <a:buFont typeface="Wingdings" pitchFamily="2" charset="2"/>
              <a:buChar char="§"/>
            </a:pPr>
            <a:r>
              <a:rPr lang="en-GB" sz="2400" dirty="0" err="1">
                <a:latin typeface="Times New Roman"/>
                <a:cs typeface="Times New Roman"/>
              </a:rPr>
              <a:t>Lesen</a:t>
            </a:r>
            <a:r>
              <a:rPr lang="en-GB" sz="2400" dirty="0">
                <a:latin typeface="Times New Roman"/>
                <a:cs typeface="Times New Roman"/>
              </a:rPr>
              <a:t> Sie </a:t>
            </a:r>
            <a:r>
              <a:rPr lang="en-GB" sz="2400" dirty="0" err="1">
                <a:latin typeface="Times New Roman"/>
                <a:cs typeface="Times New Roman"/>
              </a:rPr>
              <a:t>zur</a:t>
            </a:r>
            <a:r>
              <a:rPr lang="en-GB" sz="2400" dirty="0">
                <a:latin typeface="Times New Roman"/>
                <a:cs typeface="Times New Roman"/>
              </a:rPr>
              <a:t> </a:t>
            </a:r>
            <a:r>
              <a:rPr lang="en-GB" sz="2400" dirty="0" err="1">
                <a:latin typeface="Times New Roman"/>
                <a:cs typeface="Times New Roman"/>
              </a:rPr>
              <a:t>Vor</a:t>
            </a:r>
            <a:r>
              <a:rPr lang="en-GB" sz="2400" dirty="0">
                <a:latin typeface="Times New Roman"/>
                <a:cs typeface="Times New Roman"/>
              </a:rPr>
              <a:t>- und </a:t>
            </a:r>
            <a:r>
              <a:rPr lang="en-GB" sz="2400" dirty="0" err="1">
                <a:latin typeface="Times New Roman"/>
                <a:cs typeface="Times New Roman"/>
              </a:rPr>
              <a:t>Nachbereitung</a:t>
            </a:r>
            <a:r>
              <a:rPr lang="en-GB" sz="2400" dirty="0">
                <a:latin typeface="Times New Roman"/>
                <a:cs typeface="Times New Roman"/>
              </a:rPr>
              <a:t> die </a:t>
            </a:r>
            <a:r>
              <a:rPr lang="en-GB" sz="2400" dirty="0" err="1">
                <a:latin typeface="Times New Roman"/>
                <a:cs typeface="Times New Roman"/>
              </a:rPr>
              <a:t>angegebenen</a:t>
            </a:r>
            <a:r>
              <a:rPr lang="en-GB" sz="2400" dirty="0">
                <a:latin typeface="Times New Roman"/>
                <a:cs typeface="Times New Roman"/>
              </a:rPr>
              <a:t> Seiten der Kemper </a:t>
            </a:r>
            <a:r>
              <a:rPr lang="en-GB" sz="2400" dirty="0" err="1">
                <a:latin typeface="Times New Roman"/>
                <a:cs typeface="Times New Roman"/>
              </a:rPr>
              <a:t>Buches</a:t>
            </a:r>
            <a:endParaRPr lang="en-GB" sz="2400" dirty="0">
              <a:latin typeface="Times New Roman"/>
              <a:cs typeface="Times New Roman"/>
            </a:endParaRPr>
          </a:p>
          <a:p>
            <a:pPr marL="812800" lvl="1" indent="-342900">
              <a:buClr>
                <a:schemeClr val="accent1"/>
              </a:buClr>
              <a:buSzPct val="150000"/>
              <a:buFont typeface="Wingdings" pitchFamily="2" charset="2"/>
              <a:buChar char="§"/>
            </a:pPr>
            <a:r>
              <a:rPr lang="en-GB" sz="2400" dirty="0">
                <a:latin typeface="Times New Roman"/>
                <a:cs typeface="Times New Roman"/>
              </a:rPr>
              <a:t>Die </a:t>
            </a:r>
            <a:r>
              <a:rPr lang="en-GB" sz="2400" dirty="0" err="1">
                <a:latin typeface="Times New Roman"/>
                <a:cs typeface="Times New Roman"/>
              </a:rPr>
              <a:t>Vorlesungspräsentationen</a:t>
            </a:r>
            <a:r>
              <a:rPr lang="en-GB" sz="2400" dirty="0">
                <a:latin typeface="Times New Roman"/>
                <a:cs typeface="Times New Roman"/>
              </a:rPr>
              <a:t>, das Buch </a:t>
            </a:r>
            <a:r>
              <a:rPr lang="en-GB" sz="2400" dirty="0" err="1">
                <a:latin typeface="Times New Roman"/>
                <a:cs typeface="Times New Roman"/>
              </a:rPr>
              <a:t>als</a:t>
            </a:r>
            <a:r>
              <a:rPr lang="en-GB" sz="2400" dirty="0">
                <a:latin typeface="Times New Roman"/>
                <a:cs typeface="Times New Roman"/>
              </a:rPr>
              <a:t> </a:t>
            </a:r>
            <a:r>
              <a:rPr lang="en-GB" sz="2400" dirty="0" err="1">
                <a:latin typeface="Times New Roman"/>
                <a:cs typeface="Times New Roman"/>
              </a:rPr>
              <a:t>auch</a:t>
            </a:r>
            <a:r>
              <a:rPr lang="en-GB" sz="2400" dirty="0">
                <a:latin typeface="Times New Roman"/>
                <a:cs typeface="Times New Roman"/>
              </a:rPr>
              <a:t> die </a:t>
            </a:r>
            <a:r>
              <a:rPr lang="en-GB" sz="2400" dirty="0" err="1">
                <a:latin typeface="Times New Roman"/>
                <a:cs typeface="Times New Roman"/>
              </a:rPr>
              <a:t>mündlichen</a:t>
            </a:r>
            <a:r>
              <a:rPr lang="en-GB" sz="2400" dirty="0">
                <a:latin typeface="Times New Roman"/>
                <a:cs typeface="Times New Roman"/>
              </a:rPr>
              <a:t> </a:t>
            </a:r>
            <a:r>
              <a:rPr lang="en-GB" sz="2400" dirty="0" err="1">
                <a:latin typeface="Times New Roman"/>
                <a:cs typeface="Times New Roman"/>
              </a:rPr>
              <a:t>Inhalte</a:t>
            </a:r>
            <a:r>
              <a:rPr lang="en-GB" sz="2400" dirty="0">
                <a:latin typeface="Times New Roman"/>
                <a:cs typeface="Times New Roman"/>
              </a:rPr>
              <a:t> </a:t>
            </a:r>
            <a:r>
              <a:rPr lang="en-GB" sz="2400" dirty="0" err="1">
                <a:latin typeface="Times New Roman"/>
                <a:cs typeface="Times New Roman"/>
              </a:rPr>
              <a:t>enthalten</a:t>
            </a:r>
            <a:r>
              <a:rPr lang="en-GB" sz="2400" dirty="0">
                <a:latin typeface="Times New Roman"/>
                <a:cs typeface="Times New Roman"/>
              </a:rPr>
              <a:t> die </a:t>
            </a:r>
            <a:r>
              <a:rPr lang="en-GB" sz="2400" dirty="0" err="1">
                <a:latin typeface="Times New Roman"/>
                <a:cs typeface="Times New Roman"/>
              </a:rPr>
              <a:t>prüfungsrelevanten</a:t>
            </a:r>
            <a:r>
              <a:rPr lang="en-GB" sz="2400" dirty="0">
                <a:latin typeface="Times New Roman"/>
                <a:cs typeface="Times New Roman"/>
              </a:rPr>
              <a:t> </a:t>
            </a:r>
            <a:r>
              <a:rPr lang="en-GB" sz="2400" dirty="0" err="1">
                <a:latin typeface="Times New Roman"/>
                <a:cs typeface="Times New Roman"/>
              </a:rPr>
              <a:t>Inhalte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000000"/>
                </a:solidFill>
                <a:latin typeface="Arial"/>
                <a:cs typeface="Arial"/>
              </a:rPr>
              <a:t>8</a:t>
            </a:fld>
            <a:endParaRPr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953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23" y="885075"/>
            <a:ext cx="518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5535" algn="l"/>
              </a:tabLst>
            </a:pPr>
            <a:r>
              <a:rPr spc="-5" dirty="0"/>
              <a:t>Übungen	</a:t>
            </a:r>
            <a:r>
              <a:rPr dirty="0"/>
              <a:t>-</a:t>
            </a:r>
            <a:r>
              <a:rPr spc="-55" dirty="0"/>
              <a:t> </a:t>
            </a:r>
            <a:r>
              <a:rPr spc="-5" dirty="0"/>
              <a:t>Allgemein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823" y="1570875"/>
            <a:ext cx="8888095" cy="5860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Sie sollten </a:t>
            </a:r>
            <a:r>
              <a:rPr sz="2400" spc="-5" dirty="0" err="1">
                <a:latin typeface="Tahoma"/>
                <a:cs typeface="Tahoma"/>
              </a:rPr>
              <a:t>unbedingt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in die Vorlesung kommen und </a:t>
            </a:r>
            <a:r>
              <a:rPr lang="en-GB" sz="2400" spc="-5" dirty="0">
                <a:latin typeface="Tahoma"/>
                <a:cs typeface="Tahoma"/>
              </a:rPr>
              <a:t>an den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Übungen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teilnehmen</a:t>
            </a:r>
            <a:r>
              <a:rPr sz="2400" spc="-5" dirty="0">
                <a:latin typeface="Tahoma"/>
                <a:cs typeface="Tahoma"/>
              </a:rPr>
              <a:t>!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Wöchentliches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Übungsblatt</a:t>
            </a:r>
            <a:endParaRPr sz="24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spc="-5" dirty="0" err="1">
                <a:latin typeface="Tahoma"/>
                <a:cs typeface="Tahoma"/>
              </a:rPr>
              <a:t>Selbstständig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oder</a:t>
            </a:r>
            <a:r>
              <a:rPr lang="en-GB" sz="2400" spc="-5" dirty="0">
                <a:latin typeface="Tahoma"/>
                <a:cs typeface="Tahoma"/>
              </a:rPr>
              <a:t> in Gruppen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lösen</a:t>
            </a:r>
            <a:r>
              <a:rPr sz="2400" spc="-5" dirty="0">
                <a:latin typeface="Tahoma"/>
                <a:cs typeface="Tahoma"/>
              </a:rPr>
              <a:t>!</a:t>
            </a:r>
            <a:endParaRPr lang="en-GB" sz="2400" spc="-5" dirty="0">
              <a:latin typeface="Tahoma"/>
              <a:cs typeface="Tahoma"/>
            </a:endParaRPr>
          </a:p>
          <a:p>
            <a:pPr marL="812800" indent="-342900"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lang="en-GB" sz="2400" spc="-5" dirty="0" err="1">
                <a:latin typeface="Tahoma"/>
                <a:cs typeface="Tahoma"/>
              </a:rPr>
              <a:t>Gruppenaufgaben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werden</a:t>
            </a:r>
            <a:r>
              <a:rPr lang="en-GB" sz="2400" spc="-5" dirty="0">
                <a:latin typeface="Tahoma"/>
                <a:cs typeface="Tahoma"/>
              </a:rPr>
              <a:t> in der Gruppe </a:t>
            </a:r>
            <a:r>
              <a:rPr lang="en-GB" sz="2400" spc="-5" dirty="0" err="1">
                <a:latin typeface="Tahoma"/>
                <a:cs typeface="Tahoma"/>
              </a:rPr>
              <a:t>erarbeitet</a:t>
            </a:r>
            <a:endParaRPr lang="en-GB" sz="2400" spc="-5" dirty="0">
              <a:latin typeface="Tahoma"/>
              <a:cs typeface="Tahoma"/>
            </a:endParaRPr>
          </a:p>
          <a:p>
            <a:pPr marL="812800" indent="-342900"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lang="en-GB" sz="2400" spc="-5" dirty="0" err="1">
                <a:latin typeface="Tahoma"/>
                <a:cs typeface="Tahoma"/>
              </a:rPr>
              <a:t>Hausaufgaben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werden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zum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gegebenen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Termin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abgegeben</a:t>
            </a:r>
            <a:r>
              <a:rPr lang="en-GB" sz="2400" spc="-5" dirty="0">
                <a:latin typeface="Tahoma"/>
                <a:cs typeface="Tahoma"/>
              </a:rPr>
              <a:t> und </a:t>
            </a:r>
            <a:r>
              <a:rPr lang="en-GB" sz="2400" spc="-5" dirty="0" err="1">
                <a:latin typeface="Tahoma"/>
                <a:cs typeface="Tahoma"/>
              </a:rPr>
              <a:t>bewertet</a:t>
            </a:r>
            <a:r>
              <a:rPr lang="en-GB" sz="2400" spc="-5" dirty="0">
                <a:latin typeface="Tahoma"/>
                <a:cs typeface="Tahoma"/>
              </a:rPr>
              <a:t> (</a:t>
            </a:r>
            <a:r>
              <a:rPr lang="en-GB" sz="2400" spc="-5" dirty="0" err="1">
                <a:latin typeface="Tahoma"/>
                <a:cs typeface="Tahoma"/>
              </a:rPr>
              <a:t>Gruppenaufgaben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nicht</a:t>
            </a:r>
            <a:r>
              <a:rPr lang="en-GB" sz="2400" spc="-5" dirty="0">
                <a:latin typeface="Tahoma"/>
                <a:cs typeface="Tahoma"/>
              </a:rPr>
              <a:t>)</a:t>
            </a:r>
          </a:p>
          <a:p>
            <a:pPr marL="812800" indent="-342900"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lang="en-GB" sz="2400" spc="-5" dirty="0" err="1">
                <a:latin typeface="Tahoma"/>
                <a:cs typeface="Tahoma"/>
              </a:rPr>
              <a:t>Lösungen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zu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beiden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Aufgabentypen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erhalten</a:t>
            </a:r>
            <a:r>
              <a:rPr lang="en-GB" sz="2400" spc="-5" dirty="0">
                <a:latin typeface="Tahoma"/>
                <a:cs typeface="Tahoma"/>
              </a:rPr>
              <a:t> Sie </a:t>
            </a:r>
            <a:r>
              <a:rPr lang="en-GB" sz="2400" spc="-5" dirty="0" err="1">
                <a:latin typeface="Tahoma"/>
                <a:cs typeface="Tahoma"/>
              </a:rPr>
              <a:t>dann</a:t>
            </a:r>
            <a:r>
              <a:rPr lang="en-GB" sz="2400" spc="-5" dirty="0">
                <a:latin typeface="Tahoma"/>
                <a:cs typeface="Tahoma"/>
              </a:rPr>
              <a:t> in der </a:t>
            </a:r>
            <a:r>
              <a:rPr lang="en-GB" sz="2400" spc="-5" dirty="0" err="1">
                <a:latin typeface="Tahoma"/>
                <a:cs typeface="Tahoma"/>
              </a:rPr>
              <a:t>Woche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darauf</a:t>
            </a:r>
            <a:endParaRPr lang="en-GB" sz="2400" spc="-5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endParaRPr sz="24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2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lang="en-GB" sz="2400" spc="-5" dirty="0" err="1">
                <a:latin typeface="Tahoma"/>
                <a:cs typeface="Tahoma"/>
              </a:rPr>
              <a:t>Besprechung</a:t>
            </a:r>
            <a:r>
              <a:rPr lang="en-GB" sz="2400" spc="-5" dirty="0">
                <a:latin typeface="Tahoma"/>
                <a:cs typeface="Tahoma"/>
              </a:rPr>
              <a:t> / V</a:t>
            </a:r>
            <a:r>
              <a:rPr sz="2400" spc="-5" dirty="0" err="1">
                <a:latin typeface="Tahoma"/>
                <a:cs typeface="Tahoma"/>
              </a:rPr>
              <a:t>orrechnen</a:t>
            </a:r>
            <a:r>
              <a:rPr sz="2400" spc="-5" dirty="0">
                <a:latin typeface="Tahoma"/>
                <a:cs typeface="Tahoma"/>
              </a:rPr>
              <a:t> in der </a:t>
            </a:r>
            <a:r>
              <a:rPr sz="2400" spc="-5" dirty="0" err="1">
                <a:latin typeface="Tahoma"/>
                <a:cs typeface="Tahoma"/>
              </a:rPr>
              <a:t>Übung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oder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Hochladen</a:t>
            </a:r>
            <a:r>
              <a:rPr lang="en-GB" sz="2400" spc="-5" dirty="0">
                <a:latin typeface="Tahoma"/>
                <a:cs typeface="Tahoma"/>
              </a:rPr>
              <a:t> in Moodle</a:t>
            </a:r>
            <a:endParaRPr sz="2400" dirty="0">
              <a:latin typeface="Tahoma"/>
              <a:cs typeface="Tahoma"/>
            </a:endParaRPr>
          </a:p>
          <a:p>
            <a:pPr marL="812800" marR="5080" indent="-342900">
              <a:lnSpc>
                <a:spcPts val="2620"/>
              </a:lnSpc>
              <a:spcBef>
                <a:spcPts val="62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spc="-5" dirty="0">
                <a:latin typeface="Tahoma"/>
                <a:cs typeface="Tahoma"/>
              </a:rPr>
              <a:t>Für </a:t>
            </a:r>
            <a:r>
              <a:rPr lang="en-GB" sz="2400" spc="-5" dirty="0">
                <a:latin typeface="Tahoma"/>
                <a:cs typeface="Tahoma"/>
              </a:rPr>
              <a:t>50% </a:t>
            </a:r>
            <a:r>
              <a:rPr lang="en-GB" sz="2400" spc="-5" dirty="0" err="1">
                <a:latin typeface="Tahoma"/>
                <a:cs typeface="Tahoma"/>
              </a:rPr>
              <a:t>erreichter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Gesamtpunkte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gibt</a:t>
            </a:r>
            <a:r>
              <a:rPr lang="en-GB" sz="2400" spc="-5" dirty="0">
                <a:latin typeface="Tahoma"/>
                <a:cs typeface="Tahoma"/>
              </a:rPr>
              <a:t> es +0,3 auf die </a:t>
            </a:r>
            <a:r>
              <a:rPr lang="en-GB" sz="2400" spc="-5" dirty="0" err="1">
                <a:latin typeface="Tahoma"/>
                <a:cs typeface="Tahoma"/>
              </a:rPr>
              <a:t>Klausur</a:t>
            </a:r>
            <a:r>
              <a:rPr lang="en-GB" sz="2400" spc="-5" dirty="0">
                <a:latin typeface="Tahoma"/>
                <a:cs typeface="Tahoma"/>
              </a:rPr>
              <a:t>, </a:t>
            </a:r>
            <a:r>
              <a:rPr lang="en-GB" sz="2400" spc="-5" dirty="0" err="1">
                <a:latin typeface="Tahoma"/>
                <a:cs typeface="Tahoma"/>
              </a:rPr>
              <a:t>für</a:t>
            </a:r>
            <a:r>
              <a:rPr lang="en-GB" sz="2400" spc="-5" dirty="0">
                <a:latin typeface="Tahoma"/>
                <a:cs typeface="Tahoma"/>
              </a:rPr>
              <a:t> 75% </a:t>
            </a:r>
            <a:r>
              <a:rPr lang="en-GB" sz="2400" spc="-5" dirty="0" err="1">
                <a:latin typeface="Tahoma"/>
                <a:cs typeface="Tahoma"/>
              </a:rPr>
              <a:t>gibt</a:t>
            </a:r>
            <a:r>
              <a:rPr lang="en-GB" sz="2400" spc="-5" dirty="0">
                <a:latin typeface="Tahoma"/>
                <a:cs typeface="Tahoma"/>
              </a:rPr>
              <a:t> es +0,6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000000"/>
                </a:solidFill>
                <a:latin typeface="Arial"/>
                <a:cs typeface="Arial"/>
              </a:rPr>
              <a:t>9</a:t>
            </a:fld>
            <a:endParaRPr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23" y="885075"/>
            <a:ext cx="1955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Klausur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3330" y="1761020"/>
            <a:ext cx="8980170" cy="41030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Es findet </a:t>
            </a:r>
            <a:r>
              <a:rPr sz="2400" dirty="0">
                <a:latin typeface="Tahoma"/>
                <a:cs typeface="Tahoma"/>
              </a:rPr>
              <a:t>eine </a:t>
            </a:r>
            <a:r>
              <a:rPr sz="2400" spc="-5" dirty="0">
                <a:latin typeface="Tahoma"/>
                <a:cs typeface="Tahoma"/>
              </a:rPr>
              <a:t>Finalklausur </a:t>
            </a:r>
            <a:r>
              <a:rPr sz="2400" dirty="0">
                <a:latin typeface="Tahoma"/>
                <a:cs typeface="Tahoma"/>
              </a:rPr>
              <a:t>statt, </a:t>
            </a:r>
            <a:r>
              <a:rPr sz="2400" spc="-5" dirty="0">
                <a:latin typeface="Tahoma"/>
                <a:cs typeface="Tahoma"/>
              </a:rPr>
              <a:t>keine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Midterm.</a:t>
            </a:r>
            <a:endParaRPr sz="24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9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spc="-5" dirty="0">
                <a:latin typeface="Tahoma"/>
                <a:cs typeface="Tahoma"/>
              </a:rPr>
              <a:t>Die Klausur dauert </a:t>
            </a:r>
            <a:r>
              <a:rPr lang="en-GB" sz="2400" spc="-5" dirty="0">
                <a:latin typeface="Tahoma"/>
                <a:cs typeface="Tahoma"/>
              </a:rPr>
              <a:t>60/</a:t>
            </a:r>
            <a:r>
              <a:rPr sz="2400" dirty="0">
                <a:latin typeface="Tahoma"/>
                <a:cs typeface="Tahoma"/>
              </a:rPr>
              <a:t>90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Minuten.</a:t>
            </a:r>
            <a:endParaRPr sz="2400" dirty="0">
              <a:latin typeface="Tahoma"/>
              <a:cs typeface="Tahoma"/>
            </a:endParaRPr>
          </a:p>
          <a:p>
            <a:pPr marL="812800" marR="756920" indent="-342900">
              <a:lnSpc>
                <a:spcPts val="2620"/>
              </a:lnSpc>
              <a:spcBef>
                <a:spcPts val="62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dirty="0" err="1">
                <a:latin typeface="Tahoma"/>
                <a:cs typeface="Tahoma"/>
              </a:rPr>
              <a:t>Umfasst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den gesamten </a:t>
            </a:r>
            <a:r>
              <a:rPr sz="2400" dirty="0">
                <a:latin typeface="Tahoma"/>
                <a:cs typeface="Tahoma"/>
              </a:rPr>
              <a:t>hier </a:t>
            </a:r>
            <a:r>
              <a:rPr sz="2400" spc="-5" dirty="0">
                <a:latin typeface="Tahoma"/>
                <a:cs typeface="Tahoma"/>
              </a:rPr>
              <a:t>vorgestellten Stoff und den  gesamten Stoff der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Übungen.</a:t>
            </a:r>
            <a:endParaRPr sz="2400" dirty="0">
              <a:latin typeface="Tahoma"/>
              <a:cs typeface="Tahoma"/>
            </a:endParaRPr>
          </a:p>
          <a:p>
            <a:pPr marL="812800" marR="267970" indent="-342900">
              <a:lnSpc>
                <a:spcPct val="89000"/>
              </a:lnSpc>
              <a:spcBef>
                <a:spcPts val="57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spc="-5" dirty="0">
                <a:latin typeface="Tahoma"/>
                <a:cs typeface="Tahoma"/>
              </a:rPr>
              <a:t>Es gibt </a:t>
            </a:r>
            <a:r>
              <a:rPr lang="en-GB" sz="2400" spc="-5" dirty="0" err="1">
                <a:latin typeface="Tahoma"/>
                <a:cs typeface="Tahoma"/>
              </a:rPr>
              <a:t>einen</a:t>
            </a:r>
            <a:r>
              <a:rPr sz="2400" spc="-5" dirty="0">
                <a:latin typeface="Tahoma"/>
                <a:cs typeface="Tahoma"/>
              </a:rPr>
              <a:t> Termin für die Klausur</a:t>
            </a:r>
            <a:r>
              <a:rPr lang="en-GB" sz="2400" spc="-5" dirty="0">
                <a:latin typeface="Tahoma"/>
                <a:cs typeface="Tahoma"/>
              </a:rPr>
              <a:t>. </a:t>
            </a:r>
            <a:r>
              <a:rPr lang="en-GB" sz="2400" spc="-5" dirty="0" err="1">
                <a:latin typeface="Tahoma"/>
                <a:cs typeface="Tahoma"/>
              </a:rPr>
              <a:t>Üblicherweise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gibt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es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Bonuspunkte</a:t>
            </a:r>
            <a:r>
              <a:rPr lang="en-GB" sz="2400" spc="-5" dirty="0">
                <a:latin typeface="Tahoma"/>
                <a:cs typeface="Tahoma"/>
              </a:rPr>
              <a:t> (</a:t>
            </a:r>
            <a:r>
              <a:rPr lang="en-GB" sz="2400" spc="-5" dirty="0" err="1">
                <a:latin typeface="Tahoma"/>
                <a:cs typeface="Tahoma"/>
              </a:rPr>
              <a:t>z.B</a:t>
            </a:r>
            <a:r>
              <a:rPr lang="en-GB" sz="2400" spc="-5" dirty="0">
                <a:latin typeface="Tahoma"/>
                <a:cs typeface="Tahoma"/>
              </a:rPr>
              <a:t>. 60 </a:t>
            </a:r>
            <a:r>
              <a:rPr lang="en-GB" sz="2400" spc="-5" dirty="0" err="1">
                <a:latin typeface="Tahoma"/>
                <a:cs typeface="Tahoma"/>
              </a:rPr>
              <a:t>Punkte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fuer</a:t>
            </a:r>
            <a:r>
              <a:rPr lang="en-GB" sz="2400" spc="-5" dirty="0">
                <a:latin typeface="Tahoma"/>
                <a:cs typeface="Tahoma"/>
              </a:rPr>
              <a:t> 1.0, </a:t>
            </a:r>
            <a:r>
              <a:rPr lang="en-GB" sz="2400" spc="-5" dirty="0" err="1">
                <a:latin typeface="Tahoma"/>
                <a:cs typeface="Tahoma"/>
              </a:rPr>
              <a:t>aber</a:t>
            </a:r>
            <a:r>
              <a:rPr lang="en-GB" sz="2400" spc="-5" dirty="0">
                <a:latin typeface="Tahoma"/>
                <a:cs typeface="Tahoma"/>
              </a:rPr>
              <a:t> 68 </a:t>
            </a:r>
            <a:r>
              <a:rPr lang="en-GB" sz="2400" spc="-5" dirty="0" err="1">
                <a:latin typeface="Tahoma"/>
                <a:cs typeface="Tahoma"/>
              </a:rPr>
              <a:t>Punkte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können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theoretisch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erzielt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werden</a:t>
            </a:r>
            <a:r>
              <a:rPr lang="en-GB" sz="2400" spc="-5" dirty="0"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  <a:p>
            <a:pPr marL="355600" marR="5080" indent="-342900">
              <a:lnSpc>
                <a:spcPct val="90500"/>
              </a:lnSpc>
              <a:spcBef>
                <a:spcPts val="57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6843395" algn="l"/>
              </a:tabLst>
            </a:pPr>
            <a:r>
              <a:rPr lang="de-DE" sz="2400" spc="-5" dirty="0">
                <a:latin typeface="Tahoma"/>
                <a:cs typeface="Tahoma"/>
              </a:rPr>
              <a:t>Wir werden gegen Ende des Semesters 2 </a:t>
            </a:r>
            <a:r>
              <a:rPr lang="mr-IN" sz="2400" spc="-5" dirty="0">
                <a:latin typeface="Tahoma"/>
                <a:cs typeface="Tahoma"/>
              </a:rPr>
              <a:t>–</a:t>
            </a:r>
            <a:r>
              <a:rPr lang="de-DE" sz="2400" spc="-5" dirty="0">
                <a:latin typeface="Tahoma"/>
                <a:cs typeface="Tahoma"/>
              </a:rPr>
              <a:t> 3 Probeklausuren schreiben und besprechen, so </a:t>
            </a:r>
            <a:r>
              <a:rPr lang="de-DE" sz="2400" spc="-5" dirty="0" err="1">
                <a:latin typeface="Tahoma"/>
                <a:cs typeface="Tahoma"/>
              </a:rPr>
              <a:t>daß</a:t>
            </a:r>
            <a:r>
              <a:rPr lang="de-DE" sz="2400" spc="-5" dirty="0">
                <a:latin typeface="Tahoma"/>
                <a:cs typeface="Tahoma"/>
              </a:rPr>
              <a:t> Sie auf den Typ der Klausur am Ende vorbereitet sind</a:t>
            </a:r>
            <a:endParaRPr sz="2400" dirty="0">
              <a:latin typeface="Tahoma"/>
              <a:cs typeface="Tahoma"/>
            </a:endParaRPr>
          </a:p>
          <a:p>
            <a:pPr marL="355600" marR="79375" indent="-342900">
              <a:lnSpc>
                <a:spcPct val="89000"/>
              </a:lnSpc>
              <a:spcBef>
                <a:spcPts val="615"/>
              </a:spcBef>
            </a:pP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9445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23" y="273050"/>
            <a:ext cx="952407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3770" algn="l"/>
                <a:tab pos="5497195" algn="l"/>
              </a:tabLst>
            </a:pPr>
            <a:r>
              <a:rPr sz="4000" spc="-5" dirty="0"/>
              <a:t>Literatur</a:t>
            </a:r>
            <a:r>
              <a:rPr lang="en-GB" sz="4000" spc="-5" dirty="0"/>
              <a:t>, </a:t>
            </a:r>
            <a:r>
              <a:rPr lang="en-GB" sz="4000" spc="-5" dirty="0" err="1"/>
              <a:t>auch</a:t>
            </a:r>
            <a:r>
              <a:rPr lang="en-GB" sz="4000" spc="-5" dirty="0"/>
              <a:t> a</a:t>
            </a:r>
            <a:r>
              <a:rPr sz="4000" spc="-5" dirty="0"/>
              <a:t>lternativ</a:t>
            </a:r>
            <a:r>
              <a:rPr sz="4000" spc="5" dirty="0"/>
              <a:t> </a:t>
            </a:r>
            <a:r>
              <a:rPr sz="4000" dirty="0"/>
              <a:t>und</a:t>
            </a:r>
            <a:r>
              <a:rPr lang="en-GB" sz="4000" dirty="0"/>
              <a:t> </a:t>
            </a:r>
            <a:r>
              <a:rPr sz="4000" spc="-5" dirty="0"/>
              <a:t>weiterführend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18700" y="7063104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11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1900" y="1111250"/>
            <a:ext cx="8968105" cy="61736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2754630" indent="-342900">
              <a:lnSpc>
                <a:spcPct val="99000"/>
              </a:lnSpc>
              <a:spcBef>
                <a:spcPts val="12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>
                <a:latin typeface="Arial"/>
                <a:cs typeface="Arial"/>
              </a:rPr>
              <a:t>A. </a:t>
            </a:r>
            <a:r>
              <a:rPr sz="2400" spc="-5" dirty="0">
                <a:latin typeface="Arial"/>
                <a:cs typeface="Arial"/>
              </a:rPr>
              <a:t>Kemper </a:t>
            </a:r>
            <a:r>
              <a:rPr sz="2400" dirty="0">
                <a:latin typeface="Arial"/>
                <a:cs typeface="Arial"/>
              </a:rPr>
              <a:t>, A. </a:t>
            </a:r>
            <a:r>
              <a:rPr sz="2400" spc="-5" dirty="0">
                <a:latin typeface="Arial"/>
                <a:cs typeface="Arial"/>
              </a:rPr>
              <a:t>Eickler  Datenbanksysteme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Eine Einführung.  Oldenbourg Verlag, </a:t>
            </a:r>
            <a:r>
              <a:rPr sz="2400" dirty="0">
                <a:latin typeface="Arial"/>
                <a:cs typeface="Arial"/>
              </a:rPr>
              <a:t>2015. 10.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Auflage.</a:t>
            </a:r>
            <a:endParaRPr sz="2400" dirty="0">
              <a:latin typeface="Tahoma"/>
              <a:cs typeface="Tahoma"/>
            </a:endParaRPr>
          </a:p>
          <a:p>
            <a:pPr marL="369570" marR="3662045" indent="-357505">
              <a:lnSpc>
                <a:spcPct val="100699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>
                <a:latin typeface="Tahoma"/>
                <a:cs typeface="Tahoma"/>
              </a:rPr>
              <a:t>A. </a:t>
            </a:r>
            <a:r>
              <a:rPr sz="2400" spc="-5" dirty="0">
                <a:latin typeface="Tahoma"/>
                <a:cs typeface="Tahoma"/>
              </a:rPr>
              <a:t>Kemper, </a:t>
            </a:r>
            <a:r>
              <a:rPr sz="2400" dirty="0">
                <a:latin typeface="Tahoma"/>
                <a:cs typeface="Tahoma"/>
              </a:rPr>
              <a:t>M. </a:t>
            </a:r>
            <a:r>
              <a:rPr sz="2400" spc="-5" dirty="0">
                <a:latin typeface="Tahoma"/>
                <a:cs typeface="Tahoma"/>
              </a:rPr>
              <a:t>Wimmer  Übungsbuch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Datenbanksysteme</a:t>
            </a:r>
            <a:endParaRPr sz="2400" dirty="0">
              <a:latin typeface="Tahoma"/>
              <a:cs typeface="Tahoma"/>
            </a:endParaRPr>
          </a:p>
          <a:p>
            <a:pPr marL="369570">
              <a:lnSpc>
                <a:spcPts val="2840"/>
              </a:lnSpc>
              <a:spcBef>
                <a:spcPts val="20"/>
              </a:spcBef>
              <a:buClr>
                <a:schemeClr val="accent1"/>
              </a:buClr>
              <a:buSzPct val="170000"/>
            </a:pPr>
            <a:r>
              <a:rPr sz="2400" spc="-5" dirty="0">
                <a:latin typeface="Tahoma"/>
                <a:cs typeface="Tahoma"/>
              </a:rPr>
              <a:t>Oldenbourg Verlag, </a:t>
            </a:r>
            <a:r>
              <a:rPr sz="2400" dirty="0">
                <a:latin typeface="Tahoma"/>
                <a:cs typeface="Tahoma"/>
              </a:rPr>
              <a:t>3. </a:t>
            </a:r>
            <a:r>
              <a:rPr sz="2400" spc="-5" dirty="0">
                <a:latin typeface="Tahoma"/>
                <a:cs typeface="Tahoma"/>
              </a:rPr>
              <a:t>Auflage,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2012.</a:t>
            </a:r>
            <a:endParaRPr lang="de-DE" sz="2400" dirty="0">
              <a:latin typeface="Tahoma"/>
              <a:cs typeface="Tahoma"/>
            </a:endParaRPr>
          </a:p>
          <a:p>
            <a:pPr marL="369570" marR="3662045" indent="-357505">
              <a:lnSpc>
                <a:spcPct val="100699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spc="-5" dirty="0">
                <a:latin typeface="Tahoma"/>
                <a:cs typeface="Tahoma"/>
              </a:rPr>
              <a:t>Jeffrey A. Hoffer, V. Ramesh, </a:t>
            </a:r>
            <a:r>
              <a:rPr lang="en-GB" sz="2400" spc="-5" dirty="0" err="1">
                <a:latin typeface="Tahoma"/>
                <a:cs typeface="Tahoma"/>
              </a:rPr>
              <a:t>Heikki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Topi</a:t>
            </a:r>
            <a:r>
              <a:rPr lang="en-GB" sz="2400" spc="-5" dirty="0">
                <a:latin typeface="Tahoma"/>
                <a:cs typeface="Tahoma"/>
              </a:rPr>
              <a:t>, Modern Database Management</a:t>
            </a:r>
            <a:r>
              <a:rPr lang="en-GB" sz="2400" spc="-60" dirty="0">
                <a:latin typeface="Tahoma"/>
                <a:cs typeface="Tahoma"/>
              </a:rPr>
              <a:t> </a:t>
            </a:r>
            <a:endParaRPr lang="en-GB" sz="2400" dirty="0">
              <a:latin typeface="Tahoma"/>
              <a:cs typeface="Tahoma"/>
            </a:endParaRPr>
          </a:p>
          <a:p>
            <a:pPr marL="369570">
              <a:lnSpc>
                <a:spcPts val="2840"/>
              </a:lnSpc>
              <a:spcBef>
                <a:spcPts val="20"/>
              </a:spcBef>
              <a:buClr>
                <a:schemeClr val="accent1"/>
              </a:buClr>
              <a:buSzPct val="170000"/>
            </a:pPr>
            <a:r>
              <a:rPr lang="en-GB" sz="2400" spc="-5" dirty="0">
                <a:latin typeface="Tahoma"/>
                <a:cs typeface="Tahoma"/>
              </a:rPr>
              <a:t>Pearson, 13</a:t>
            </a:r>
            <a:r>
              <a:rPr lang="en-GB" sz="2400" dirty="0">
                <a:latin typeface="Tahoma"/>
                <a:cs typeface="Tahoma"/>
              </a:rPr>
              <a:t>. </a:t>
            </a:r>
            <a:r>
              <a:rPr lang="en-GB" sz="2400" spc="-5" dirty="0">
                <a:latin typeface="Tahoma"/>
                <a:cs typeface="Tahoma"/>
              </a:rPr>
              <a:t>Edition,</a:t>
            </a:r>
            <a:r>
              <a:rPr lang="en-GB" sz="2400" spc="5" dirty="0">
                <a:latin typeface="Tahoma"/>
                <a:cs typeface="Tahoma"/>
              </a:rPr>
              <a:t> </a:t>
            </a:r>
            <a:r>
              <a:rPr lang="en-GB" sz="2400" dirty="0">
                <a:latin typeface="Tahoma"/>
                <a:cs typeface="Tahoma"/>
              </a:rPr>
              <a:t>2019.</a:t>
            </a:r>
          </a:p>
          <a:p>
            <a:pPr marL="712470" indent="-342900">
              <a:lnSpc>
                <a:spcPts val="2840"/>
              </a:lnSpc>
              <a:spcBef>
                <a:spcPts val="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lang="de-DE" sz="2400" dirty="0">
              <a:latin typeface="Tahoma"/>
              <a:cs typeface="Tahoma"/>
            </a:endParaRPr>
          </a:p>
          <a:p>
            <a:pPr marL="712470" indent="-342900">
              <a:lnSpc>
                <a:spcPts val="2840"/>
              </a:lnSpc>
              <a:spcBef>
                <a:spcPts val="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lang="en-GB" sz="2400" dirty="0">
              <a:latin typeface="Tahoma"/>
              <a:cs typeface="Tahoma"/>
            </a:endParaRPr>
          </a:p>
          <a:p>
            <a:pPr marL="369570" marR="3662045" indent="-357505">
              <a:lnSpc>
                <a:spcPct val="100699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dirty="0">
                <a:latin typeface="Tahoma"/>
                <a:cs typeface="Tahoma"/>
              </a:rPr>
              <a:t>M. </a:t>
            </a:r>
            <a:r>
              <a:rPr lang="en-GB" sz="2400" dirty="0" err="1">
                <a:latin typeface="Tahoma"/>
                <a:cs typeface="Tahoma"/>
              </a:rPr>
              <a:t>Unterstein</a:t>
            </a:r>
            <a:r>
              <a:rPr lang="en-GB" sz="2400" dirty="0">
                <a:latin typeface="Tahoma"/>
                <a:cs typeface="Tahoma"/>
              </a:rPr>
              <a:t>, G. </a:t>
            </a:r>
            <a:r>
              <a:rPr lang="en-GB" sz="2400" dirty="0" err="1">
                <a:latin typeface="Tahoma"/>
                <a:cs typeface="Tahoma"/>
              </a:rPr>
              <a:t>Matthiessen</a:t>
            </a:r>
            <a:r>
              <a:rPr lang="en-GB" sz="2400" spc="-5" dirty="0">
                <a:latin typeface="Tahoma"/>
                <a:cs typeface="Tahoma"/>
              </a:rPr>
              <a:t>  </a:t>
            </a:r>
            <a:r>
              <a:rPr lang="en-GB" sz="2400" spc="-5" dirty="0" err="1">
                <a:latin typeface="Tahoma"/>
                <a:cs typeface="Tahoma"/>
              </a:rPr>
              <a:t>Relationale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Datenbanken</a:t>
            </a:r>
            <a:r>
              <a:rPr lang="en-GB" sz="2400" spc="-5" dirty="0">
                <a:latin typeface="Tahoma"/>
                <a:cs typeface="Tahoma"/>
              </a:rPr>
              <a:t> und SQL in </a:t>
            </a:r>
            <a:r>
              <a:rPr lang="en-GB" sz="2400" spc="-5" dirty="0" err="1">
                <a:latin typeface="Tahoma"/>
                <a:cs typeface="Tahoma"/>
              </a:rPr>
              <a:t>Theorie</a:t>
            </a:r>
            <a:r>
              <a:rPr lang="en-GB" sz="2400" spc="-5" dirty="0">
                <a:latin typeface="Tahoma"/>
                <a:cs typeface="Tahoma"/>
              </a:rPr>
              <a:t> in Praxis</a:t>
            </a:r>
            <a:endParaRPr lang="en-GB" sz="2400" dirty="0">
              <a:latin typeface="Tahoma"/>
              <a:cs typeface="Tahoma"/>
            </a:endParaRPr>
          </a:p>
          <a:p>
            <a:pPr marL="369570">
              <a:lnSpc>
                <a:spcPts val="2840"/>
              </a:lnSpc>
              <a:spcBef>
                <a:spcPts val="20"/>
              </a:spcBef>
              <a:buClr>
                <a:schemeClr val="accent1"/>
              </a:buClr>
              <a:buSzPct val="170000"/>
            </a:pPr>
            <a:r>
              <a:rPr lang="en-GB" sz="2400" spc="-5" dirty="0">
                <a:latin typeface="Tahoma"/>
                <a:cs typeface="Tahoma"/>
              </a:rPr>
              <a:t>Springer </a:t>
            </a:r>
            <a:r>
              <a:rPr lang="en-GB" sz="2400" spc="-5" dirty="0" err="1">
                <a:latin typeface="Tahoma"/>
                <a:cs typeface="Tahoma"/>
              </a:rPr>
              <a:t>Vieweg</a:t>
            </a:r>
            <a:r>
              <a:rPr lang="en-GB" sz="2400" spc="-5" dirty="0">
                <a:latin typeface="Tahoma"/>
                <a:cs typeface="Tahoma"/>
              </a:rPr>
              <a:t>, </a:t>
            </a:r>
            <a:r>
              <a:rPr lang="en-GB" sz="2400" dirty="0">
                <a:latin typeface="Tahoma"/>
                <a:cs typeface="Tahoma"/>
              </a:rPr>
              <a:t>5. </a:t>
            </a:r>
            <a:r>
              <a:rPr lang="en-GB" sz="2400" spc="-5" dirty="0" err="1">
                <a:latin typeface="Tahoma"/>
                <a:cs typeface="Tahoma"/>
              </a:rPr>
              <a:t>Auflage</a:t>
            </a:r>
            <a:r>
              <a:rPr lang="en-GB" sz="2400" spc="-5" dirty="0">
                <a:latin typeface="Tahoma"/>
                <a:cs typeface="Tahoma"/>
              </a:rPr>
              <a:t>,</a:t>
            </a:r>
            <a:r>
              <a:rPr lang="en-GB" sz="2400" spc="5" dirty="0">
                <a:latin typeface="Tahoma"/>
                <a:cs typeface="Tahoma"/>
              </a:rPr>
              <a:t> </a:t>
            </a:r>
            <a:r>
              <a:rPr lang="en-GB" sz="2400" dirty="0">
                <a:latin typeface="Tahoma"/>
                <a:cs typeface="Tahoma"/>
              </a:rPr>
              <a:t>2012.</a:t>
            </a:r>
            <a:endParaRPr sz="2400" dirty="0">
              <a:latin typeface="Tahoma"/>
              <a:cs typeface="Tahoma"/>
            </a:endParaRPr>
          </a:p>
          <a:p>
            <a:pPr marL="355600" marR="5080" indent="-342900">
              <a:lnSpc>
                <a:spcPts val="2320"/>
              </a:lnSpc>
              <a:spcBef>
                <a:spcPts val="54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3669665" algn="l"/>
              </a:tabLst>
            </a:pPr>
            <a:r>
              <a:rPr sz="2400" dirty="0">
                <a:latin typeface="Tahoma"/>
                <a:cs typeface="Tahoma"/>
              </a:rPr>
              <a:t>G. Vossen </a:t>
            </a:r>
            <a:r>
              <a:rPr sz="2400" spc="-5" dirty="0">
                <a:latin typeface="Tahoma"/>
                <a:cs typeface="Tahoma"/>
              </a:rPr>
              <a:t>: Datenmodelle, Datenbanksprachen und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Datenbank-  Management-Systeme.	5. Auflage, Oldenbourg,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2008.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1900" y="3667448"/>
            <a:ext cx="8779510" cy="254920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55600" marR="161925" indent="-342900">
              <a:lnSpc>
                <a:spcPts val="2320"/>
              </a:lnSpc>
              <a:spcBef>
                <a:spcPts val="5"/>
              </a:spcBef>
            </a:pPr>
            <a:endParaRPr lang="en-GB" sz="3000" dirty="0">
              <a:latin typeface="Times New Roman"/>
              <a:cs typeface="Times New Roman"/>
            </a:endParaRPr>
          </a:p>
          <a:p>
            <a:pPr marL="355600" marR="161925" indent="-342900">
              <a:lnSpc>
                <a:spcPts val="232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C. Batini, S. Ceri, S.B. Navathe: Conceptual Database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Design,  Benjamin Cummings,</a:t>
            </a:r>
            <a:endParaRPr lang="en-GB" sz="24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  <a:buClr>
                <a:schemeClr val="accent1"/>
              </a:buClr>
              <a:buSzPct val="170000"/>
            </a:pPr>
            <a:r>
              <a:rPr lang="en-GB" sz="2400" spc="-5" dirty="0">
                <a:latin typeface="Tahoma"/>
                <a:cs typeface="Tahoma"/>
              </a:rPr>
              <a:t>Redwood City, Ca, USA,</a:t>
            </a:r>
            <a:r>
              <a:rPr lang="en-GB" sz="2400" spc="10" dirty="0">
                <a:latin typeface="Tahoma"/>
                <a:cs typeface="Tahoma"/>
              </a:rPr>
              <a:t> </a:t>
            </a:r>
            <a:r>
              <a:rPr lang="en-GB" sz="2400" spc="-5" dirty="0">
                <a:latin typeface="Tahoma"/>
                <a:cs typeface="Tahoma"/>
              </a:rPr>
              <a:t>1992.</a:t>
            </a:r>
            <a:endParaRPr lang="en-GB" sz="29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2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C. J. Date: An Introduction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Database Systems.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McGraw-Hill,  8. Aufl.,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2003.</a:t>
            </a:r>
            <a:endParaRPr sz="3000" dirty="0">
              <a:latin typeface="Times New Roman"/>
              <a:cs typeface="Times New Roman"/>
            </a:endParaRPr>
          </a:p>
          <a:p>
            <a:pPr marL="355600" marR="210185" indent="-342900">
              <a:lnSpc>
                <a:spcPts val="232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J.D. Ullmann, J. Widom: A </a:t>
            </a:r>
            <a:r>
              <a:rPr sz="2400" dirty="0">
                <a:latin typeface="Tahoma"/>
                <a:cs typeface="Tahoma"/>
              </a:rPr>
              <a:t>First </a:t>
            </a:r>
            <a:r>
              <a:rPr sz="2400" spc="-5" dirty="0">
                <a:latin typeface="Tahoma"/>
                <a:cs typeface="Tahoma"/>
              </a:rPr>
              <a:t>Course in Database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Systems,  McGraw Hill, 2. Auflage,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2001.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xfrm>
            <a:off x="9918700" y="7063104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12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1231900" y="273050"/>
            <a:ext cx="8968105" cy="3685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9570">
              <a:lnSpc>
                <a:spcPts val="2840"/>
              </a:lnSpc>
              <a:spcBef>
                <a:spcPts val="20"/>
              </a:spcBef>
            </a:pP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ts val="284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A. Silberschatz, </a:t>
            </a:r>
            <a:r>
              <a:rPr sz="2400" dirty="0">
                <a:latin typeface="Tahoma"/>
                <a:cs typeface="Tahoma"/>
              </a:rPr>
              <a:t>H. F. Korth </a:t>
            </a:r>
            <a:r>
              <a:rPr sz="2400" spc="-5" dirty="0">
                <a:latin typeface="Tahoma"/>
                <a:cs typeface="Tahoma"/>
              </a:rPr>
              <a:t>und S.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Sudarshan</a:t>
            </a:r>
            <a:endParaRPr sz="2400" dirty="0">
              <a:latin typeface="Tahoma"/>
              <a:cs typeface="Tahoma"/>
            </a:endParaRPr>
          </a:p>
          <a:p>
            <a:pPr marL="355600" marR="234315">
              <a:lnSpc>
                <a:spcPts val="2320"/>
              </a:lnSpc>
              <a:spcBef>
                <a:spcPts val="565"/>
              </a:spcBef>
              <a:buClr>
                <a:schemeClr val="accent1"/>
              </a:buClr>
              <a:buSzPct val="170000"/>
            </a:pPr>
            <a:r>
              <a:rPr sz="2400" spc="-5" dirty="0">
                <a:latin typeface="Tahoma"/>
                <a:cs typeface="Tahoma"/>
              </a:rPr>
              <a:t>Database System Concepts, 5. Auflage, McGraw-Hill </a:t>
            </a:r>
            <a:r>
              <a:rPr sz="2400" dirty="0">
                <a:latin typeface="Tahoma"/>
                <a:cs typeface="Tahoma"/>
              </a:rPr>
              <a:t>Book </a:t>
            </a:r>
            <a:r>
              <a:rPr sz="2400" spc="-5" dirty="0">
                <a:latin typeface="Tahoma"/>
                <a:cs typeface="Tahoma"/>
              </a:rPr>
              <a:t>Co.,  2005.</a:t>
            </a:r>
            <a:endParaRPr sz="2400" dirty="0">
              <a:latin typeface="Tahoma"/>
              <a:cs typeface="Tahoma"/>
            </a:endParaRPr>
          </a:p>
          <a:p>
            <a:pPr marL="355600" marR="240665" indent="-342900">
              <a:lnSpc>
                <a:spcPct val="80300"/>
              </a:lnSpc>
              <a:spcBef>
                <a:spcPts val="58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3669665" algn="l"/>
              </a:tabLst>
            </a:pPr>
            <a:r>
              <a:rPr sz="2400" spc="-5" dirty="0">
                <a:latin typeface="Tahoma"/>
                <a:cs typeface="Tahoma"/>
              </a:rPr>
              <a:t>R. Elmasri, S.B. Navathe: Fundamentals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Database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Systems,  Benjamin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Cummings,	Redwood City, Ca, USA, 5. Auflage,  </a:t>
            </a:r>
            <a:r>
              <a:rPr sz="2400" dirty="0">
                <a:latin typeface="Tahoma"/>
                <a:cs typeface="Tahoma"/>
              </a:rPr>
              <a:t>2006</a:t>
            </a:r>
          </a:p>
          <a:p>
            <a:pPr marL="355600" indent="-342900">
              <a:lnSpc>
                <a:spcPts val="26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R. Ramakrishnan, J. Gehrke: Database Management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Systems,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ts val="2600"/>
              </a:lnSpc>
              <a:buClr>
                <a:schemeClr val="accent1"/>
              </a:buClr>
              <a:buSzPct val="170000"/>
            </a:pPr>
            <a:r>
              <a:rPr sz="2400" spc="-5" dirty="0">
                <a:latin typeface="Tahoma"/>
                <a:cs typeface="Tahoma"/>
              </a:rPr>
              <a:t>3. Auflage,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2009.</a:t>
            </a:r>
            <a:endParaRPr sz="2400" dirty="0">
              <a:latin typeface="Tahoma"/>
              <a:cs typeface="Tahoma"/>
            </a:endParaRPr>
          </a:p>
          <a:p>
            <a:pPr marL="355600" marR="5080" indent="-342900">
              <a:lnSpc>
                <a:spcPts val="2320"/>
              </a:lnSpc>
              <a:spcBef>
                <a:spcPts val="54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3669665" algn="l"/>
              </a:tabLst>
            </a:pPr>
            <a:r>
              <a:rPr sz="2400" dirty="0">
                <a:latin typeface="Tahoma"/>
                <a:cs typeface="Tahoma"/>
              </a:rPr>
              <a:t>G. Vossen </a:t>
            </a:r>
            <a:r>
              <a:rPr sz="2400" spc="-5" dirty="0">
                <a:latin typeface="Tahoma"/>
                <a:cs typeface="Tahoma"/>
              </a:rPr>
              <a:t>: Datenmodelle, Datenbanksprachen und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Datenbank-  Management-Systeme.	5. Auflage, Oldenbourg,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2008.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FB_Ai_Blanko</Template>
  <TotalTime>153</TotalTime>
  <Words>607</Words>
  <Application>Microsoft Macintosh PowerPoint</Application>
  <PresentationFormat>Custom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Tahoma</vt:lpstr>
      <vt:lpstr>TheSansOffice</vt:lpstr>
      <vt:lpstr>Times New Roman</vt:lpstr>
      <vt:lpstr>Wingdings</vt:lpstr>
      <vt:lpstr>Benutzerdefiniertes Design</vt:lpstr>
      <vt:lpstr>1_Benutzerdefiniertes Design</vt:lpstr>
      <vt:lpstr>Datenbanksysteme</vt:lpstr>
      <vt:lpstr>Kursübersicht</vt:lpstr>
      <vt:lpstr>Modalitäten - 1</vt:lpstr>
      <vt:lpstr>Modalitäten – 2 </vt:lpstr>
      <vt:lpstr>Modalitäten – 3 </vt:lpstr>
      <vt:lpstr>Modalitäten</vt:lpstr>
      <vt:lpstr>Modalitäten</vt:lpstr>
      <vt:lpstr>Vorlesungen - Allgemein</vt:lpstr>
      <vt:lpstr>Übungen - Allgemein</vt:lpstr>
      <vt:lpstr>Klausur</vt:lpstr>
      <vt:lpstr>Literatur, auch alternativ und weiterführend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Datenbanksysteme</dc:title>
  <cp:lastModifiedBy>Christoph Scheich</cp:lastModifiedBy>
  <cp:revision>52</cp:revision>
  <dcterms:created xsi:type="dcterms:W3CDTF">2018-10-08T07:04:16Z</dcterms:created>
  <dcterms:modified xsi:type="dcterms:W3CDTF">2025-10-13T09:38:31Z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