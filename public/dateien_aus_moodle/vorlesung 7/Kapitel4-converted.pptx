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44"/>
  </p:notesMasterIdLst>
  <p:sldIdLst>
    <p:sldId id="387" r:id="rId2"/>
    <p:sldId id="389" r:id="rId3"/>
    <p:sldId id="256" r:id="rId4"/>
    <p:sldId id="257" r:id="rId5"/>
    <p:sldId id="258" r:id="rId6"/>
    <p:sldId id="259" r:id="rId7"/>
    <p:sldId id="260" r:id="rId8"/>
    <p:sldId id="393" r:id="rId9"/>
    <p:sldId id="261" r:id="rId10"/>
    <p:sldId id="390" r:id="rId11"/>
    <p:sldId id="263" r:id="rId12"/>
    <p:sldId id="264" r:id="rId13"/>
    <p:sldId id="265" r:id="rId14"/>
    <p:sldId id="266" r:id="rId15"/>
    <p:sldId id="394" r:id="rId16"/>
    <p:sldId id="268" r:id="rId17"/>
    <p:sldId id="269" r:id="rId18"/>
    <p:sldId id="395" r:id="rId19"/>
    <p:sldId id="271" r:id="rId20"/>
    <p:sldId id="272" r:id="rId21"/>
    <p:sldId id="274" r:id="rId22"/>
    <p:sldId id="396" r:id="rId23"/>
    <p:sldId id="276" r:id="rId24"/>
    <p:sldId id="383" r:id="rId25"/>
    <p:sldId id="277" r:id="rId26"/>
    <p:sldId id="278" r:id="rId27"/>
    <p:sldId id="279" r:id="rId28"/>
    <p:sldId id="280" r:id="rId29"/>
    <p:sldId id="281" r:id="rId30"/>
    <p:sldId id="397" r:id="rId31"/>
    <p:sldId id="283" r:id="rId32"/>
    <p:sldId id="284" r:id="rId33"/>
    <p:sldId id="398" r:id="rId34"/>
    <p:sldId id="399" r:id="rId35"/>
    <p:sldId id="400" r:id="rId36"/>
    <p:sldId id="288" r:id="rId37"/>
    <p:sldId id="289" r:id="rId38"/>
    <p:sldId id="401" r:id="rId39"/>
    <p:sldId id="291" r:id="rId40"/>
    <p:sldId id="402" r:id="rId41"/>
    <p:sldId id="293" r:id="rId42"/>
    <p:sldId id="294" r:id="rId43"/>
  </p:sldIdLst>
  <p:sldSz cx="10693400" cy="7556500"/>
  <p:notesSz cx="10693400" cy="7556500"/>
  <p:defaultTextStyle>
    <a:defPPr>
      <a:defRPr lang="de-DE"/>
    </a:defPPr>
    <a:lvl1pPr marL="0" algn="l" defTabSz="91422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17" algn="l" defTabSz="91422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29" algn="l" defTabSz="91422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46" algn="l" defTabSz="91422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462" algn="l" defTabSz="91422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578" algn="l" defTabSz="91422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693" algn="l" defTabSz="91422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807" algn="l" defTabSz="91422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923" algn="l" defTabSz="91422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143"/>
    <p:restoredTop sz="94582"/>
  </p:normalViewPr>
  <p:slideViewPr>
    <p:cSldViewPr>
      <p:cViewPr varScale="1">
        <p:scale>
          <a:sx n="103" d="100"/>
          <a:sy n="103" d="100"/>
        </p:scale>
        <p:origin x="200" y="30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057900" y="0"/>
            <a:ext cx="4632325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46B53E-3F23-EE4B-9798-49038F28AEA1}" type="datetimeFigureOut">
              <a:rPr lang="en-US" smtClean="0"/>
              <a:t>4/16/23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541713" y="944563"/>
            <a:ext cx="3609975" cy="25511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69975" y="3636963"/>
            <a:ext cx="8553450" cy="29749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177088"/>
            <a:ext cx="4633913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057900" y="7177088"/>
            <a:ext cx="4632325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6A594F-E2EC-FB4A-9D60-29CEE335A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4751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6A594F-E2EC-FB4A-9D60-29CEE335AAA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6024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11"/>
          <p:cNvSpPr/>
          <p:nvPr/>
        </p:nvSpPr>
        <p:spPr>
          <a:xfrm>
            <a:off x="7683509" y="3"/>
            <a:ext cx="2842066" cy="14773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231"/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491510" y="900050"/>
            <a:ext cx="6118333" cy="647200"/>
          </a:xfrm>
          <a:solidFill>
            <a:schemeClr val="accent2"/>
          </a:solidFill>
        </p:spPr>
        <p:txBody>
          <a:bodyPr anchor="ctr">
            <a:noAutofit/>
          </a:bodyPr>
          <a:lstStyle>
            <a:lvl1pPr algn="l">
              <a:defRPr sz="2193"/>
            </a:lvl1pPr>
          </a:lstStyle>
          <a:p>
            <a:r>
              <a:rPr lang="en-GB"/>
              <a:t>Click to edit Master title style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36675" y="3968914"/>
            <a:ext cx="8020050" cy="1824406"/>
          </a:xfrm>
        </p:spPr>
        <p:txBody>
          <a:bodyPr/>
          <a:lstStyle>
            <a:lvl1pPr marL="0" indent="0" algn="ctr">
              <a:buNone/>
              <a:defRPr sz="2105"/>
            </a:lvl1pPr>
            <a:lvl2pPr marL="400973" indent="0" algn="ctr">
              <a:buNone/>
              <a:defRPr sz="1754"/>
            </a:lvl2pPr>
            <a:lvl3pPr marL="801945" indent="0" algn="ctr">
              <a:buNone/>
              <a:defRPr sz="1579"/>
            </a:lvl3pPr>
            <a:lvl4pPr marL="1202916" indent="0" algn="ctr">
              <a:buNone/>
              <a:defRPr sz="1403"/>
            </a:lvl4pPr>
            <a:lvl5pPr marL="1603890" indent="0" algn="ctr">
              <a:buNone/>
              <a:defRPr sz="1403"/>
            </a:lvl5pPr>
            <a:lvl6pPr marL="2004861" indent="0" algn="ctr">
              <a:buNone/>
              <a:defRPr sz="1403"/>
            </a:lvl6pPr>
            <a:lvl7pPr marL="2405833" indent="0" algn="ctr">
              <a:buNone/>
              <a:defRPr sz="1403"/>
            </a:lvl7pPr>
            <a:lvl8pPr marL="2806804" indent="0" algn="ctr">
              <a:buNone/>
              <a:defRPr sz="1403"/>
            </a:lvl8pPr>
            <a:lvl9pPr marL="3207777" indent="0" algn="ctr">
              <a:buNone/>
              <a:defRPr sz="1403"/>
            </a:lvl9pPr>
          </a:lstStyle>
          <a:p>
            <a:r>
              <a:rPr lang="en-GB"/>
              <a:t>Click to edit Master subtitle style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988585" y="1471734"/>
            <a:ext cx="3674028" cy="402313"/>
          </a:xfrm>
          <a:solidFill>
            <a:schemeClr val="accent1"/>
          </a:solidFill>
        </p:spPr>
        <p:txBody>
          <a:bodyPr/>
          <a:lstStyle/>
          <a:p>
            <a:fld id="{1D8BD707-D9CF-40AE-B4C6-C98DA3205C09}" type="datetimeFigureOut">
              <a:rPr lang="en-US" smtClean="0"/>
              <a:t>4/16/23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uk-UA" smtClean="0"/>
              <a:t>‹#›</a:t>
            </a:fld>
            <a:endParaRPr lang="uk-UA"/>
          </a:p>
        </p:txBody>
      </p:sp>
      <p:sp>
        <p:nvSpPr>
          <p:cNvPr id="8" name="Rechteck 7"/>
          <p:cNvSpPr/>
          <p:nvPr/>
        </p:nvSpPr>
        <p:spPr>
          <a:xfrm>
            <a:off x="0" y="2826149"/>
            <a:ext cx="10693400" cy="47250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889194">
                <a:alpha val="14902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231">
              <a:latin typeface="TheSansOffice" panose="020B0503040302060204" pitchFamily="34" charset="0"/>
            </a:endParaRPr>
          </a:p>
        </p:txBody>
      </p:sp>
      <p:pic>
        <p:nvPicPr>
          <p:cNvPr id="7" name="Bild 6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79010" y="900039"/>
            <a:ext cx="2076489" cy="588029"/>
          </a:xfrm>
          <a:prstGeom prst="rect">
            <a:avLst/>
          </a:prstGeom>
        </p:spPr>
      </p:pic>
      <p:pic>
        <p:nvPicPr>
          <p:cNvPr id="10" name="Bild 9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70678" y="6555227"/>
            <a:ext cx="2052404" cy="581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0445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547160" indent="-251999">
              <a:defRPr/>
            </a:lvl2pPr>
            <a:lvl3pPr marL="785238" indent="-251999">
              <a:defRPr/>
            </a:lvl3pPr>
            <a:lvl4pPr marL="1099890" indent="-251999">
              <a:defRPr/>
            </a:lvl4pPr>
            <a:lvl5pPr marL="1418718" indent="-251999"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914792" y="6946334"/>
            <a:ext cx="4900009" cy="402313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420453" y="6946334"/>
            <a:ext cx="538599" cy="402313"/>
          </a:xfrm>
        </p:spPr>
        <p:txBody>
          <a:bodyPr/>
          <a:lstStyle/>
          <a:p>
            <a:fld id="{B6F15528-21DE-4FAA-801E-634DDDAF4B2B}" type="slidenum">
              <a:rPr lang="uk-UA" smtClean="0"/>
              <a:t>‹#›</a:t>
            </a:fld>
            <a:endParaRPr lang="uk-UA"/>
          </a:p>
        </p:txBody>
      </p:sp>
      <p:sp>
        <p:nvSpPr>
          <p:cNvPr id="7" name="Titel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4/16/23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2662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/>
        </p:nvSpPr>
        <p:spPr>
          <a:xfrm>
            <a:off x="8125609" y="607669"/>
            <a:ext cx="2399967" cy="8141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579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925714" y="1561496"/>
            <a:ext cx="9276185" cy="5215887"/>
          </a:xfrm>
        </p:spPr>
        <p:txBody>
          <a:bodyPr/>
          <a:lstStyle>
            <a:lvl2pPr marL="547160" indent="-251999">
              <a:defRPr/>
            </a:lvl2pPr>
            <a:lvl3pPr marL="785238" indent="-251999">
              <a:defRPr/>
            </a:lvl3pPr>
            <a:lvl4pPr marL="1099890" indent="-251999">
              <a:defRPr/>
            </a:lvl4pPr>
            <a:lvl5pPr marL="1418718" indent="-251999"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914792" y="6946334"/>
            <a:ext cx="4900009" cy="402313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420453" y="6946334"/>
            <a:ext cx="538599" cy="402313"/>
          </a:xfrm>
        </p:spPr>
        <p:txBody>
          <a:bodyPr/>
          <a:lstStyle/>
          <a:p>
            <a:fld id="{B6F15528-21DE-4FAA-801E-634DDDAF4B2B}" type="slidenum">
              <a:rPr lang="uk-UA" smtClean="0"/>
              <a:t>‹#›</a:t>
            </a:fld>
            <a:endParaRPr lang="uk-UA"/>
          </a:p>
        </p:txBody>
      </p:sp>
      <p:sp>
        <p:nvSpPr>
          <p:cNvPr id="7" name="Titel 6"/>
          <p:cNvSpPr>
            <a:spLocks noGrp="1"/>
          </p:cNvSpPr>
          <p:nvPr>
            <p:ph type="title"/>
          </p:nvPr>
        </p:nvSpPr>
        <p:spPr>
          <a:xfrm>
            <a:off x="489412" y="289523"/>
            <a:ext cx="6057271" cy="634667"/>
          </a:xfrm>
          <a:noFill/>
        </p:spPr>
        <p:txBody>
          <a:bodyPr/>
          <a:lstStyle>
            <a:lvl1pPr>
              <a:defRPr sz="2807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1999378" y="7660642"/>
            <a:ext cx="3674028" cy="402313"/>
          </a:xfrm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4/16/23</a:t>
            </a:fld>
            <a:endParaRPr lang="en-US"/>
          </a:p>
        </p:txBody>
      </p:sp>
      <p:pic>
        <p:nvPicPr>
          <p:cNvPr id="8" name="Bild 9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1847" y="279261"/>
            <a:ext cx="2076489" cy="588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9270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4/16/23</a:t>
            </a:fld>
            <a:endParaRPr lang="en-US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588998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978270" y="4651023"/>
            <a:ext cx="4226089" cy="647200"/>
          </a:xfrm>
        </p:spPr>
        <p:txBody>
          <a:bodyPr anchor="ctr">
            <a:noAutofit/>
          </a:bodyPr>
          <a:lstStyle>
            <a:lvl1pPr algn="r">
              <a:defRPr sz="2193"/>
            </a:lvl1pPr>
          </a:lstStyle>
          <a:p>
            <a:r>
              <a:rPr lang="en-GB"/>
              <a:t>Click to edit Master title style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5662485" y="7745366"/>
            <a:ext cx="2216544" cy="402313"/>
          </a:xfrm>
        </p:spPr>
        <p:txBody>
          <a:bodyPr/>
          <a:lstStyle/>
          <a:p>
            <a:fld id="{1D8BD707-D9CF-40AE-B4C6-C98DA3205C09}" type="datetimeFigureOut">
              <a:rPr lang="en-US" smtClean="0"/>
              <a:t>4/16/23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57296" y="7745366"/>
            <a:ext cx="4673619" cy="402313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-234670" y="7745366"/>
            <a:ext cx="475442" cy="402313"/>
          </a:xfrm>
        </p:spPr>
        <p:txBody>
          <a:bodyPr/>
          <a:lstStyle/>
          <a:p>
            <a:fld id="{B6F15528-21DE-4FAA-801E-634DDDAF4B2B}" type="slidenum">
              <a:rPr lang="uk-UA" smtClean="0"/>
              <a:t>‹#›</a:t>
            </a:fld>
            <a:endParaRPr lang="uk-UA"/>
          </a:p>
        </p:txBody>
      </p:sp>
      <p:pic>
        <p:nvPicPr>
          <p:cNvPr id="9" name="Grafik 8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23824" y="7946516"/>
            <a:ext cx="2486464" cy="728813"/>
          </a:xfrm>
          <a:prstGeom prst="rect">
            <a:avLst/>
          </a:prstGeom>
        </p:spPr>
      </p:pic>
      <p:sp>
        <p:nvSpPr>
          <p:cNvPr id="13" name="Rechteck 12"/>
          <p:cNvSpPr/>
          <p:nvPr/>
        </p:nvSpPr>
        <p:spPr>
          <a:xfrm>
            <a:off x="7620352" y="128513"/>
            <a:ext cx="2842066" cy="15643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231"/>
          </a:p>
        </p:txBody>
      </p:sp>
      <p:sp>
        <p:nvSpPr>
          <p:cNvPr id="14" name="Rechteck 13"/>
          <p:cNvSpPr/>
          <p:nvPr/>
        </p:nvSpPr>
        <p:spPr>
          <a:xfrm>
            <a:off x="-4707" y="6441507"/>
            <a:ext cx="10701158" cy="11145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231"/>
          </a:p>
        </p:txBody>
      </p:sp>
    </p:spTree>
    <p:extLst>
      <p:ext uri="{BB962C8B-B14F-4D97-AF65-F5344CB8AC3E}">
        <p14:creationId xmlns:p14="http://schemas.microsoft.com/office/powerpoint/2010/main" val="17124037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735171" y="2011571"/>
            <a:ext cx="4544695" cy="479453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5413534" y="2011571"/>
            <a:ext cx="4544695" cy="479453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4/16/23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080275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4/16/23</a:t>
            </a:fld>
            <a:endParaRPr lang="en-US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1346036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GB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GB"/>
              <a:t>Click to edit Master text styles</a:t>
            </a:r>
          </a:p>
          <a:p>
            <a:pPr lvl="1" eaLnBrk="1" latinLnBrk="0" hangingPunct="1"/>
            <a:r>
              <a:rPr lang="en-GB"/>
              <a:t>Second level</a:t>
            </a:r>
          </a:p>
          <a:p>
            <a:pPr lvl="2" eaLnBrk="1" latinLnBrk="0" hangingPunct="1"/>
            <a:r>
              <a:rPr lang="en-GB"/>
              <a:t>Third level</a:t>
            </a:r>
          </a:p>
          <a:p>
            <a:pPr lvl="3" eaLnBrk="1" latinLnBrk="0" hangingPunct="1"/>
            <a:r>
              <a:rPr lang="en-GB"/>
              <a:t>Fourth level</a:t>
            </a:r>
          </a:p>
          <a:p>
            <a:pPr lvl="4" eaLnBrk="1" latinLnBrk="0" hangingPunct="1"/>
            <a:r>
              <a:rPr lang="en-GB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4/16/23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833774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4/16/23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8873092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/>
        </p:nvSpPr>
        <p:spPr>
          <a:xfrm>
            <a:off x="0" y="6770812"/>
            <a:ext cx="10693400" cy="7804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889194">
                <a:alpha val="14902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231">
              <a:latin typeface="TheSansOffice" panose="020B0503040302060204" pitchFamily="34" charset="0"/>
            </a:endParaRPr>
          </a:p>
        </p:txBody>
      </p:sp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89412" y="614833"/>
            <a:ext cx="6057271" cy="634667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162000" rIns="91440" bIns="90000" rtlCol="0" anchor="ctr">
            <a:noAutofit/>
          </a:bodyPr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925714" y="2264355"/>
            <a:ext cx="9276185" cy="43699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988585" y="1176914"/>
            <a:ext cx="3674028" cy="402313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/>
          <a:lstStyle>
            <a:lvl1pPr algn="l">
              <a:defRPr sz="1491" baseline="0">
                <a:solidFill>
                  <a:schemeClr val="bg1"/>
                </a:solidFill>
                <a:latin typeface="TheSansOffice" charset="0"/>
                <a:ea typeface="TheSansOffice" charset="0"/>
                <a:cs typeface="TheSansOffice" charset="0"/>
              </a:defRPr>
            </a:lvl1pPr>
          </a:lstStyle>
          <a:p>
            <a:fld id="{1D8BD707-D9CF-40AE-B4C6-C98DA3205C09}" type="datetimeFigureOut">
              <a:rPr lang="en-US" smtClean="0"/>
              <a:t>4/16/23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914792" y="6946334"/>
            <a:ext cx="4900009" cy="4023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77" baseline="0">
                <a:solidFill>
                  <a:schemeClr val="tx1">
                    <a:tint val="75000"/>
                  </a:schemeClr>
                </a:solidFill>
                <a:latin typeface="TheSansOffice" panose="020B050304030206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387110" y="6946334"/>
            <a:ext cx="475442" cy="4023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77" baseline="0">
                <a:solidFill>
                  <a:schemeClr val="tx1">
                    <a:tint val="75000"/>
                  </a:schemeClr>
                </a:solidFill>
                <a:latin typeface="TheSansOffice" panose="020B0503040302060204" pitchFamily="34" charset="0"/>
              </a:defRPr>
            </a:lvl1pPr>
          </a:lstStyle>
          <a:p>
            <a:fld id="{B6F15528-21DE-4FAA-801E-634DDDAF4B2B}" type="slidenum">
              <a:rPr lang="uk-UA" smtClean="0"/>
              <a:t>‹#›</a:t>
            </a:fld>
            <a:endParaRPr lang="uk-UA"/>
          </a:p>
        </p:txBody>
      </p:sp>
      <p:pic>
        <p:nvPicPr>
          <p:cNvPr id="8" name="Bild 7"/>
          <p:cNvPicPr>
            <a:picLocks noChangeAspect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3730" y="6832026"/>
            <a:ext cx="2076489" cy="588029"/>
          </a:xfrm>
          <a:prstGeom prst="rect">
            <a:avLst/>
          </a:prstGeom>
        </p:spPr>
      </p:pic>
      <p:pic>
        <p:nvPicPr>
          <p:cNvPr id="10" name="Bild 9"/>
          <p:cNvPicPr>
            <a:picLocks noChangeAspect="1"/>
          </p:cNvPicPr>
          <p:nvPr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1847" y="604571"/>
            <a:ext cx="2076489" cy="588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16538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</p:sldLayoutIdLst>
  <p:txStyles>
    <p:titleStyle>
      <a:lvl1pPr marL="78932" algn="l" defTabSz="801945" rtl="0" eaLnBrk="1" fontAlgn="ctr" latinLnBrk="0" hangingPunct="1">
        <a:lnSpc>
          <a:spcPct val="90000"/>
        </a:lnSpc>
        <a:spcBef>
          <a:spcPct val="0"/>
        </a:spcBef>
        <a:buNone/>
        <a:defRPr sz="2193" b="0" i="0" kern="1200" baseline="0">
          <a:solidFill>
            <a:schemeClr val="bg1"/>
          </a:solidFill>
          <a:latin typeface="TheSansOffice" panose="020B0503040302060204" pitchFamily="34" charset="0"/>
          <a:ea typeface="+mj-ea"/>
          <a:cs typeface="+mj-cs"/>
        </a:defRPr>
      </a:lvl1pPr>
    </p:titleStyle>
    <p:bodyStyle>
      <a:lvl1pPr marL="251999" indent="-251999" algn="l" defTabSz="252581" rtl="0" eaLnBrk="1" latinLnBrk="0" hangingPunct="1">
        <a:lnSpc>
          <a:spcPct val="100000"/>
        </a:lnSpc>
        <a:spcBef>
          <a:spcPts val="877"/>
        </a:spcBef>
        <a:buClr>
          <a:srgbClr val="66CC33"/>
        </a:buClr>
        <a:buSzPct val="130000"/>
        <a:buFontTx/>
        <a:buBlip>
          <a:blip r:embed="rId13"/>
        </a:buBlip>
        <a:defRPr sz="1754" kern="1200" baseline="0">
          <a:solidFill>
            <a:schemeClr val="tx1"/>
          </a:solidFill>
          <a:latin typeface="TheSansOffice" panose="020B0503040302060204" pitchFamily="34" charset="0"/>
          <a:ea typeface="+mn-ea"/>
          <a:cs typeface="+mn-cs"/>
        </a:defRPr>
      </a:lvl1pPr>
      <a:lvl2pPr marL="505162" indent="-252581" algn="l" defTabSz="252581" rtl="0" eaLnBrk="1" latinLnBrk="0" hangingPunct="1">
        <a:lnSpc>
          <a:spcPct val="90000"/>
        </a:lnSpc>
        <a:spcBef>
          <a:spcPts val="439"/>
        </a:spcBef>
        <a:buClr>
          <a:srgbClr val="66CC33"/>
        </a:buClr>
        <a:buSzPct val="130000"/>
        <a:buFontTx/>
        <a:buBlip>
          <a:blip r:embed="rId13"/>
        </a:buBlip>
        <a:defRPr sz="1579" kern="1200" baseline="0">
          <a:solidFill>
            <a:schemeClr val="tx1"/>
          </a:solidFill>
          <a:latin typeface="TheSansOffice" panose="020B0503040302060204" pitchFamily="34" charset="0"/>
          <a:ea typeface="+mn-ea"/>
          <a:cs typeface="+mn-cs"/>
        </a:defRPr>
      </a:lvl2pPr>
      <a:lvl3pPr marL="757742" indent="-252581" algn="l" defTabSz="252581" rtl="0" eaLnBrk="1" latinLnBrk="0" hangingPunct="1">
        <a:lnSpc>
          <a:spcPct val="100000"/>
        </a:lnSpc>
        <a:spcBef>
          <a:spcPts val="439"/>
        </a:spcBef>
        <a:buClr>
          <a:srgbClr val="66CC33"/>
        </a:buClr>
        <a:buSzPct val="130000"/>
        <a:buFontTx/>
        <a:buBlip>
          <a:blip r:embed="rId13"/>
        </a:buBlip>
        <a:defRPr sz="1579" kern="1200" baseline="0">
          <a:solidFill>
            <a:schemeClr val="tx1"/>
          </a:solidFill>
          <a:latin typeface="TheSansOffice" panose="020B0503040302060204" pitchFamily="34" charset="0"/>
          <a:ea typeface="+mn-ea"/>
          <a:cs typeface="+mn-cs"/>
        </a:defRPr>
      </a:lvl3pPr>
      <a:lvl4pPr marL="1010324" indent="-252581" algn="l" defTabSz="252581" rtl="0" eaLnBrk="1" latinLnBrk="0" hangingPunct="1">
        <a:lnSpc>
          <a:spcPct val="100000"/>
        </a:lnSpc>
        <a:spcBef>
          <a:spcPts val="439"/>
        </a:spcBef>
        <a:buClr>
          <a:srgbClr val="66CC33"/>
        </a:buClr>
        <a:buSzPct val="130000"/>
        <a:buFontTx/>
        <a:buBlip>
          <a:blip r:embed="rId13"/>
        </a:buBlip>
        <a:defRPr sz="1579" kern="1200" baseline="0">
          <a:solidFill>
            <a:schemeClr val="tx1"/>
          </a:solidFill>
          <a:latin typeface="TheSansOffice" panose="020B0503040302060204" pitchFamily="34" charset="0"/>
          <a:ea typeface="+mn-ea"/>
          <a:cs typeface="+mn-cs"/>
        </a:defRPr>
      </a:lvl4pPr>
      <a:lvl5pPr marL="1262904" indent="-252581" algn="l" defTabSz="252581" rtl="0" eaLnBrk="1" latinLnBrk="0" hangingPunct="1">
        <a:lnSpc>
          <a:spcPct val="100000"/>
        </a:lnSpc>
        <a:spcBef>
          <a:spcPts val="439"/>
        </a:spcBef>
        <a:buClr>
          <a:srgbClr val="66CC33"/>
        </a:buClr>
        <a:buSzPct val="130000"/>
        <a:buFontTx/>
        <a:buBlip>
          <a:blip r:embed="rId13"/>
        </a:buBlip>
        <a:defRPr sz="1579" kern="1200" baseline="0">
          <a:solidFill>
            <a:schemeClr val="tx1"/>
          </a:solidFill>
          <a:latin typeface="TheSansOffice" panose="020B0503040302060204" pitchFamily="34" charset="0"/>
          <a:ea typeface="+mn-ea"/>
          <a:cs typeface="+mn-cs"/>
        </a:defRPr>
      </a:lvl5pPr>
      <a:lvl6pPr marL="2205347" indent="-200487" algn="l" defTabSz="801945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6pPr>
      <a:lvl7pPr marL="2606318" indent="-200487" algn="l" defTabSz="801945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7pPr>
      <a:lvl8pPr marL="3007291" indent="-200487" algn="l" defTabSz="801945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8pPr>
      <a:lvl9pPr marL="3408264" indent="-200487" algn="l" defTabSz="801945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801945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1pPr>
      <a:lvl2pPr marL="400973" algn="l" defTabSz="801945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2pPr>
      <a:lvl3pPr marL="801945" algn="l" defTabSz="801945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3pPr>
      <a:lvl4pPr marL="1202916" algn="l" defTabSz="801945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4pPr>
      <a:lvl5pPr marL="1603890" algn="l" defTabSz="801945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5pPr>
      <a:lvl6pPr marL="2004861" algn="l" defTabSz="801945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6pPr>
      <a:lvl7pPr marL="2405833" algn="l" defTabSz="801945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7pPr>
      <a:lvl8pPr marL="2806804" algn="l" defTabSz="801945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8pPr>
      <a:lvl9pPr marL="3207777" algn="l" defTabSz="801945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0">
          <p15:clr>
            <a:srgbClr val="F26B43"/>
          </p15:clr>
        </p15:guide>
        <p15:guide id="2" pos="657">
          <p15:clr>
            <a:srgbClr val="F26B43"/>
          </p15:clr>
        </p15:guide>
        <p15:guide id="3" pos="7420">
          <p15:clr>
            <a:srgbClr val="F26B43"/>
          </p15:clr>
        </p15:guide>
        <p15:guide id="4" pos="7327">
          <p15:clr>
            <a:srgbClr val="F26B43"/>
          </p15:clr>
        </p15:guide>
        <p15:guide id="5" pos="5940">
          <p15:clr>
            <a:srgbClr val="F26B43"/>
          </p15:clr>
        </p15:guide>
        <p15:guide id="6" pos="6017">
          <p15:clr>
            <a:srgbClr val="F26B43"/>
          </p15:clr>
        </p15:guide>
        <p15:guide id="7" orient="horz" pos="386">
          <p15:clr>
            <a:srgbClr val="F26B43"/>
          </p15:clr>
        </p15:guide>
        <p15:guide id="8" orient="horz" pos="796">
          <p15:clr>
            <a:srgbClr val="F26B43"/>
          </p15:clr>
        </p15:guide>
        <p15:guide id="9" pos="353">
          <p15:clr>
            <a:srgbClr val="F26B43"/>
          </p15:clr>
        </p15:guide>
        <p15:guide id="10" pos="459">
          <p15:clr>
            <a:srgbClr val="F26B43"/>
          </p15:clr>
        </p15:guide>
        <p15:guide id="11" pos="711">
          <p15:clr>
            <a:srgbClr val="F26B43"/>
          </p15:clr>
        </p15:guide>
        <p15:guide id="12" orient="horz" pos="747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://www-db.in.tum.de/research/publications/books/DBMSeinf" TargetMode="Externa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4" Type="http://schemas.openxmlformats.org/officeDocument/2006/relationships/image" Target="../media/image8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693400" cy="7556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2016034" y="2016033"/>
            <a:ext cx="7576133" cy="3544069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628514" y="3385323"/>
            <a:ext cx="4799219" cy="3542191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806415" y="2207420"/>
            <a:ext cx="7556028" cy="3141187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1195870" y="1783170"/>
            <a:ext cx="5298036" cy="3586101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78910" y="3048940"/>
            <a:ext cx="2526727" cy="338478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12700" defTabSz="914400">
              <a:tabLst>
                <a:tab pos="2699385" algn="l"/>
                <a:tab pos="5770880" algn="l"/>
              </a:tabLst>
            </a:pPr>
            <a:r>
              <a:rPr lang="en-US" sz="24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Datenbanksysteme</a:t>
            </a:r>
            <a:endParaRPr lang="en-US" sz="24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8911" y="889000"/>
            <a:ext cx="2560854" cy="164629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marR="5080" defTabSz="914400">
              <a:lnSpc>
                <a:spcPct val="90000"/>
              </a:lnSpc>
              <a:spcBef>
                <a:spcPts val="1000"/>
              </a:spcBef>
            </a:pPr>
            <a:r>
              <a:rPr lang="en-US" kern="1200" spc="-5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Dr. Christoph M.A. Scheich  </a:t>
            </a:r>
          </a:p>
          <a:p>
            <a:pPr marR="5080" defTabSz="914400">
              <a:lnSpc>
                <a:spcPct val="90000"/>
              </a:lnSpc>
              <a:spcBef>
                <a:spcPts val="1000"/>
              </a:spcBef>
            </a:pPr>
            <a:r>
              <a:rPr lang="en-US" kern="1200" spc="-5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Angewandte</a:t>
            </a:r>
            <a:r>
              <a:rPr lang="en-US" kern="1200" spc="-5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spc="-5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Informatik</a:t>
            </a:r>
            <a:r>
              <a:rPr lang="en-US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</a:p>
          <a:p>
            <a:pPr defTabSz="914400">
              <a:lnSpc>
                <a:spcPct val="90000"/>
              </a:lnSpc>
              <a:spcBef>
                <a:spcPts val="1000"/>
              </a:spcBef>
            </a:pPr>
            <a:r>
              <a:rPr lang="en-US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Hochschule</a:t>
            </a:r>
            <a:r>
              <a:rPr lang="en-US" kern="1200" spc="-5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Fulda</a:t>
            </a:r>
            <a:endParaRPr lang="en-US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  <a:p>
            <a:pPr defTabSz="914400">
              <a:lnSpc>
                <a:spcPct val="90000"/>
              </a:lnSpc>
              <a:spcBef>
                <a:spcPts val="1000"/>
              </a:spcBef>
            </a:pPr>
            <a:endParaRPr lang="en-US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  <a:p>
            <a:pPr defTabSz="914400">
              <a:lnSpc>
                <a:spcPct val="90000"/>
              </a:lnSpc>
              <a:spcBef>
                <a:spcPts val="1000"/>
              </a:spcBef>
            </a:pPr>
            <a:r>
              <a:rPr lang="en-US" kern="1200" spc="-5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Christoph.scheich@informatik.hs-fulda.de</a:t>
            </a:r>
            <a:endParaRPr lang="en-US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693400" cy="7556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2016034" y="2016033"/>
            <a:ext cx="7576133" cy="3544069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628514" y="3385323"/>
            <a:ext cx="4799219" cy="3542191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806415" y="2207420"/>
            <a:ext cx="7556028" cy="3141187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1195870" y="1783170"/>
            <a:ext cx="5298036" cy="3586101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78910" y="3048940"/>
            <a:ext cx="2526727" cy="338478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12700" defTabSz="914400">
              <a:tabLst>
                <a:tab pos="2699385" algn="l"/>
                <a:tab pos="5770880" algn="l"/>
              </a:tabLst>
            </a:pPr>
            <a:r>
              <a:rPr lang="en-US" sz="24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SQL – Structured Query Language, Teil 1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78911" y="889000"/>
            <a:ext cx="2560854" cy="164629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marR="5080" defTabSz="914400">
              <a:lnSpc>
                <a:spcPct val="90000"/>
              </a:lnSpc>
              <a:spcBef>
                <a:spcPts val="1000"/>
              </a:spcBef>
            </a:pPr>
            <a:r>
              <a:rPr lang="en-US" kern="1200" spc="-5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Dr. Christoph M.A. Scheich  </a:t>
            </a:r>
          </a:p>
          <a:p>
            <a:pPr marR="5080" defTabSz="914400">
              <a:lnSpc>
                <a:spcPct val="90000"/>
              </a:lnSpc>
              <a:spcBef>
                <a:spcPts val="1000"/>
              </a:spcBef>
            </a:pPr>
            <a:r>
              <a:rPr lang="en-US" kern="1200" spc="-5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Angewandte</a:t>
            </a:r>
            <a:r>
              <a:rPr lang="en-US" kern="1200" spc="-5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spc="-5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Informatik</a:t>
            </a:r>
            <a:r>
              <a:rPr lang="en-US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</a:p>
          <a:p>
            <a:pPr defTabSz="914400">
              <a:lnSpc>
                <a:spcPct val="90000"/>
              </a:lnSpc>
              <a:spcBef>
                <a:spcPts val="1000"/>
              </a:spcBef>
            </a:pPr>
            <a:r>
              <a:rPr lang="en-US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Hochschule</a:t>
            </a:r>
            <a:r>
              <a:rPr lang="en-US" kern="1200" spc="-5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Fulda</a:t>
            </a:r>
            <a:endParaRPr lang="en-US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  <a:p>
            <a:pPr defTabSz="914400">
              <a:lnSpc>
                <a:spcPct val="90000"/>
              </a:lnSpc>
              <a:spcBef>
                <a:spcPts val="1000"/>
              </a:spcBef>
            </a:pPr>
            <a:endParaRPr lang="en-US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  <a:p>
            <a:pPr defTabSz="914400">
              <a:lnSpc>
                <a:spcPct val="90000"/>
              </a:lnSpc>
              <a:spcBef>
                <a:spcPts val="1000"/>
              </a:spcBef>
            </a:pPr>
            <a:r>
              <a:rPr lang="en-US" kern="1200" spc="-5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Christoph.scheich@informatik.hs-fulda.de</a:t>
            </a:r>
            <a:endParaRPr lang="en-US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B86104E-8111-8EE9-7501-F745094ED490}"/>
              </a:ext>
            </a:extLst>
          </p:cNvPr>
          <p:cNvSpPr txBox="1"/>
          <p:nvPr/>
        </p:nvSpPr>
        <p:spPr>
          <a:xfrm>
            <a:off x="4051300" y="695543"/>
            <a:ext cx="6241095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lang="en-US" sz="3600" dirty="0"/>
              <a:t> </a:t>
            </a:r>
            <a:r>
              <a:rPr lang="en-US" sz="3600" dirty="0" err="1"/>
              <a:t>Datentypen</a:t>
            </a:r>
            <a:endParaRPr lang="en-US" sz="3600" dirty="0"/>
          </a:p>
          <a:p>
            <a:pPr marL="285750" indent="-285750"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lang="en-US" sz="3600" dirty="0"/>
              <a:t> </a:t>
            </a:r>
            <a:r>
              <a:rPr lang="en-US" sz="3600" dirty="0" err="1"/>
              <a:t>Veränderungen</a:t>
            </a:r>
            <a:r>
              <a:rPr lang="en-US" sz="3600" dirty="0"/>
              <a:t> am </a:t>
            </a:r>
            <a:r>
              <a:rPr lang="en-US" sz="3600" dirty="0" err="1"/>
              <a:t>Datenbestand</a:t>
            </a:r>
            <a:endParaRPr lang="en-US" sz="3600" dirty="0"/>
          </a:p>
          <a:p>
            <a:pPr marL="285750" indent="-285750"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lang="en-US" sz="3600" dirty="0"/>
              <a:t> </a:t>
            </a:r>
            <a:r>
              <a:rPr lang="en-US" sz="3600" dirty="0" err="1"/>
              <a:t>Einfache</a:t>
            </a:r>
            <a:r>
              <a:rPr lang="en-US" sz="3600" dirty="0"/>
              <a:t> </a:t>
            </a:r>
            <a:r>
              <a:rPr lang="en-US" sz="3600" dirty="0" err="1"/>
              <a:t>Abfragen</a:t>
            </a:r>
            <a:endParaRPr lang="en-US" sz="3600" dirty="0"/>
          </a:p>
          <a:p>
            <a:pPr marL="285750" indent="-285750"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lang="en-US" sz="3600" dirty="0"/>
              <a:t> </a:t>
            </a:r>
            <a:r>
              <a:rPr lang="en-US" sz="3600" dirty="0" err="1"/>
              <a:t>Abfragen</a:t>
            </a:r>
            <a:r>
              <a:rPr lang="en-US" sz="3600" dirty="0"/>
              <a:t> </a:t>
            </a:r>
            <a:r>
              <a:rPr lang="en-US" sz="3600" dirty="0" err="1"/>
              <a:t>über</a:t>
            </a:r>
            <a:r>
              <a:rPr lang="en-US" sz="3600" dirty="0"/>
              <a:t> </a:t>
            </a:r>
            <a:r>
              <a:rPr lang="en-US" sz="3600" dirty="0" err="1"/>
              <a:t>mehrere</a:t>
            </a:r>
            <a:r>
              <a:rPr lang="en-US" sz="3600" dirty="0"/>
              <a:t> </a:t>
            </a:r>
            <a:r>
              <a:rPr lang="en-US" sz="3600" dirty="0" err="1"/>
              <a:t>Relationen</a:t>
            </a:r>
            <a:endParaRPr lang="en-US" sz="3600" dirty="0"/>
          </a:p>
          <a:p>
            <a:pPr marL="285750" indent="-285750"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lang="en-US" sz="3600" dirty="0"/>
              <a:t> </a:t>
            </a:r>
            <a:r>
              <a:rPr lang="en-US" sz="3600" dirty="0" err="1"/>
              <a:t>Geschachtelte</a:t>
            </a:r>
            <a:r>
              <a:rPr lang="en-US" sz="3600" dirty="0"/>
              <a:t> </a:t>
            </a:r>
            <a:r>
              <a:rPr lang="en-US" sz="3600" dirty="0" err="1"/>
              <a:t>Abfragen</a:t>
            </a:r>
            <a:endParaRPr lang="en-US" sz="3600" dirty="0"/>
          </a:p>
          <a:p>
            <a:pPr marL="285750" indent="-285750"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lang="en-US" sz="3600" dirty="0"/>
              <a:t> </a:t>
            </a:r>
            <a:r>
              <a:rPr lang="en-US" sz="3600" dirty="0" err="1"/>
              <a:t>Aggregationen</a:t>
            </a:r>
            <a:endParaRPr lang="en-US" sz="3600" dirty="0"/>
          </a:p>
          <a:p>
            <a:pPr marL="285750" indent="-285750"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lang="en-US" sz="3600" dirty="0"/>
              <a:t> </a:t>
            </a:r>
            <a:r>
              <a:rPr lang="en-US" sz="3600" dirty="0" err="1"/>
              <a:t>Entschachtelung</a:t>
            </a:r>
            <a:r>
              <a:rPr lang="en-US" sz="3600" dirty="0"/>
              <a:t> von </a:t>
            </a:r>
            <a:r>
              <a:rPr lang="en-US" sz="3600"/>
              <a:t>Abfragen</a:t>
            </a:r>
            <a:endParaRPr lang="en-US" sz="3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42173037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310640" y="1545984"/>
            <a:ext cx="8976360" cy="4954561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295"/>
              </a:spcBef>
              <a:buClr>
                <a:schemeClr val="accent1"/>
              </a:buClr>
              <a:buSzPct val="200000"/>
              <a:buFont typeface="Arial" panose="020B0604020202020204" pitchFamily="34" charset="0"/>
              <a:buChar char="•"/>
            </a:pPr>
            <a:r>
              <a:rPr lang="en-GB" sz="2400" spc="-5" dirty="0">
                <a:latin typeface="Tahoma"/>
                <a:cs typeface="Tahoma"/>
              </a:rPr>
              <a:t>St</a:t>
            </a:r>
            <a:r>
              <a:rPr sz="2400" spc="-5" dirty="0" err="1">
                <a:latin typeface="Tahoma"/>
                <a:cs typeface="Tahoma"/>
              </a:rPr>
              <a:t>andardisierte</a:t>
            </a:r>
            <a:endParaRPr sz="2400" dirty="0">
              <a:latin typeface="Tahoma"/>
              <a:cs typeface="Tahoma"/>
            </a:endParaRPr>
          </a:p>
          <a:p>
            <a:pPr marL="812800" indent="-342900">
              <a:lnSpc>
                <a:spcPct val="100000"/>
              </a:lnSpc>
              <a:spcBef>
                <a:spcPts val="195"/>
              </a:spcBef>
              <a:buClr>
                <a:schemeClr val="accent1"/>
              </a:buClr>
              <a:buSzPct val="170000"/>
              <a:buFont typeface="Wingdings" pitchFamily="2" charset="2"/>
              <a:buChar char="§"/>
              <a:tabLst>
                <a:tab pos="755015" algn="l"/>
                <a:tab pos="755650" algn="l"/>
              </a:tabLst>
            </a:pPr>
            <a:r>
              <a:rPr sz="2400" spc="-5" dirty="0">
                <a:latin typeface="Tahoma"/>
                <a:cs typeface="Tahoma"/>
              </a:rPr>
              <a:t>Datendefinitions (DDL)-</a:t>
            </a:r>
            <a:endParaRPr sz="2400" dirty="0">
              <a:latin typeface="Tahoma"/>
              <a:cs typeface="Tahoma"/>
            </a:endParaRPr>
          </a:p>
          <a:p>
            <a:pPr marL="812800" indent="-342900">
              <a:lnSpc>
                <a:spcPct val="100000"/>
              </a:lnSpc>
              <a:spcBef>
                <a:spcPts val="320"/>
              </a:spcBef>
              <a:buClr>
                <a:schemeClr val="accent1"/>
              </a:buClr>
              <a:buSzPct val="170000"/>
              <a:buFont typeface="Wingdings" pitchFamily="2" charset="2"/>
              <a:buChar char="§"/>
              <a:tabLst>
                <a:tab pos="755015" algn="l"/>
                <a:tab pos="755650" algn="l"/>
              </a:tabLst>
            </a:pPr>
            <a:r>
              <a:rPr sz="2400" spc="-5" dirty="0">
                <a:latin typeface="Tahoma"/>
                <a:cs typeface="Tahoma"/>
              </a:rPr>
              <a:t>Datenmanipulations (DML)-</a:t>
            </a:r>
            <a:endParaRPr sz="2400" dirty="0">
              <a:latin typeface="Tahoma"/>
              <a:cs typeface="Tahoma"/>
            </a:endParaRPr>
          </a:p>
          <a:p>
            <a:pPr marL="812800" indent="-342900">
              <a:lnSpc>
                <a:spcPct val="100000"/>
              </a:lnSpc>
              <a:spcBef>
                <a:spcPts val="320"/>
              </a:spcBef>
              <a:buClr>
                <a:schemeClr val="accent1"/>
              </a:buClr>
              <a:buSzPct val="170000"/>
              <a:buFont typeface="Wingdings" pitchFamily="2" charset="2"/>
              <a:buChar char="§"/>
              <a:tabLst>
                <a:tab pos="755015" algn="l"/>
                <a:tab pos="755650" algn="l"/>
              </a:tabLst>
            </a:pPr>
            <a:r>
              <a:rPr sz="2400" spc="-5" dirty="0">
                <a:latin typeface="Tahoma"/>
                <a:cs typeface="Tahoma"/>
              </a:rPr>
              <a:t>Anfrage (Query)-Sprache</a:t>
            </a:r>
            <a:endParaRPr sz="2400" dirty="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220"/>
              </a:spcBef>
              <a:buClr>
                <a:schemeClr val="accent1"/>
              </a:buClr>
              <a:buSzPct val="200000"/>
              <a:buFont typeface="Arial" panose="020B0604020202020204" pitchFamily="34" charset="0"/>
              <a:buChar char="•"/>
            </a:pPr>
            <a:r>
              <a:rPr lang="en-GB" sz="2400" spc="-5" dirty="0">
                <a:latin typeface="Tahoma"/>
                <a:cs typeface="Tahoma"/>
              </a:rPr>
              <a:t>D</a:t>
            </a:r>
            <a:r>
              <a:rPr sz="2400" spc="-5" dirty="0" err="1">
                <a:latin typeface="Tahoma"/>
                <a:cs typeface="Tahoma"/>
              </a:rPr>
              <a:t>erzeit</a:t>
            </a:r>
            <a:r>
              <a:rPr sz="2400" spc="-5" dirty="0">
                <a:latin typeface="Tahoma"/>
                <a:cs typeface="Tahoma"/>
              </a:rPr>
              <a:t> aktueller Standard </a:t>
            </a:r>
            <a:r>
              <a:rPr sz="2400" dirty="0">
                <a:latin typeface="Tahoma"/>
                <a:cs typeface="Tahoma"/>
              </a:rPr>
              <a:t>ist </a:t>
            </a:r>
            <a:r>
              <a:rPr sz="2400" spc="-5" dirty="0">
                <a:latin typeface="Tahoma"/>
                <a:cs typeface="Tahoma"/>
              </a:rPr>
              <a:t>SQL </a:t>
            </a:r>
            <a:r>
              <a:rPr sz="2400" dirty="0">
                <a:latin typeface="Tahoma"/>
                <a:cs typeface="Tahoma"/>
              </a:rPr>
              <a:t>99 </a:t>
            </a:r>
            <a:r>
              <a:rPr sz="2400" spc="-5" dirty="0">
                <a:latin typeface="Tahoma"/>
                <a:cs typeface="Tahoma"/>
              </a:rPr>
              <a:t>und SQL3</a:t>
            </a:r>
            <a:r>
              <a:rPr sz="2400" spc="-26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(2003)</a:t>
            </a:r>
          </a:p>
          <a:p>
            <a:pPr marL="812800" indent="-342900">
              <a:lnSpc>
                <a:spcPct val="100000"/>
              </a:lnSpc>
              <a:spcBef>
                <a:spcPts val="320"/>
              </a:spcBef>
              <a:buClr>
                <a:schemeClr val="accent1"/>
              </a:buClr>
              <a:buSzPct val="170000"/>
              <a:buFont typeface="Wingdings" pitchFamily="2" charset="2"/>
              <a:buChar char="§"/>
            </a:pPr>
            <a:r>
              <a:rPr sz="2400" spc="-5" dirty="0" err="1">
                <a:latin typeface="Tahoma"/>
                <a:cs typeface="Tahoma"/>
              </a:rPr>
              <a:t>objektrelationale</a:t>
            </a:r>
            <a:r>
              <a:rPr sz="240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Erweiterung</a:t>
            </a:r>
            <a:endParaRPr sz="2400" dirty="0">
              <a:latin typeface="Tahoma"/>
              <a:cs typeface="Tahoma"/>
            </a:endParaRPr>
          </a:p>
          <a:p>
            <a:pPr marL="355600" indent="-342900">
              <a:lnSpc>
                <a:spcPts val="2770"/>
              </a:lnSpc>
              <a:spcBef>
                <a:spcPts val="320"/>
              </a:spcBef>
              <a:buClr>
                <a:schemeClr val="accent1"/>
              </a:buClr>
              <a:buSzPct val="200000"/>
              <a:buFont typeface="Arial" panose="020B0604020202020204" pitchFamily="34" charset="0"/>
              <a:buChar char="•"/>
            </a:pPr>
            <a:r>
              <a:rPr sz="2400" dirty="0">
                <a:latin typeface="Tahoma"/>
                <a:cs typeface="Tahoma"/>
              </a:rPr>
              <a:t>Für </a:t>
            </a:r>
            <a:r>
              <a:rPr sz="2400" spc="-5" dirty="0">
                <a:latin typeface="Tahoma"/>
                <a:cs typeface="Tahoma"/>
              </a:rPr>
              <a:t>praktische Übungen </a:t>
            </a:r>
            <a:r>
              <a:rPr sz="2400" dirty="0">
                <a:latin typeface="Tahoma"/>
                <a:cs typeface="Tahoma"/>
              </a:rPr>
              <a:t>steht eine </a:t>
            </a:r>
            <a:r>
              <a:rPr sz="2400" spc="-5" dirty="0">
                <a:latin typeface="Tahoma"/>
                <a:cs typeface="Tahoma"/>
              </a:rPr>
              <a:t>Web-Seite zur</a:t>
            </a:r>
            <a:r>
              <a:rPr sz="2400" spc="-26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Verfügung:</a:t>
            </a:r>
            <a:endParaRPr sz="2400" dirty="0">
              <a:latin typeface="Tahoma"/>
              <a:cs typeface="Tahoma"/>
            </a:endParaRPr>
          </a:p>
          <a:p>
            <a:pPr marL="698500" indent="-342900">
              <a:lnSpc>
                <a:spcPts val="2290"/>
              </a:lnSpc>
              <a:buClr>
                <a:schemeClr val="accent1"/>
              </a:buClr>
              <a:buSzPct val="170000"/>
              <a:buFont typeface="Wingdings" pitchFamily="2" charset="2"/>
              <a:buChar char="§"/>
            </a:pPr>
            <a:r>
              <a:rPr sz="2000" b="1" u="sng" spc="-5" dirty="0">
                <a:solidFill>
                  <a:srgbClr val="996633"/>
                </a:solidFill>
                <a:uFill>
                  <a:solidFill>
                    <a:srgbClr val="AA7942"/>
                  </a:solidFill>
                </a:uFill>
                <a:latin typeface="Tahoma"/>
                <a:cs typeface="Tahoma"/>
                <a:hlinkClick r:id="rId2"/>
              </a:rPr>
              <a:t>http://www-db.in.tum.de/research/publications/books/DBMSeinf</a:t>
            </a:r>
            <a:endParaRPr sz="2000" dirty="0">
              <a:latin typeface="Tahoma"/>
              <a:cs typeface="Tahoma"/>
            </a:endParaRPr>
          </a:p>
          <a:p>
            <a:pPr marL="355600" marR="800100" indent="-342900">
              <a:lnSpc>
                <a:spcPts val="2620"/>
              </a:lnSpc>
              <a:spcBef>
                <a:spcPts val="540"/>
              </a:spcBef>
              <a:buClr>
                <a:schemeClr val="accent1"/>
              </a:buClr>
              <a:buSzPct val="200000"/>
              <a:buFont typeface="Arial" panose="020B0604020202020204" pitchFamily="34" charset="0"/>
              <a:buChar char="•"/>
            </a:pPr>
            <a:r>
              <a:rPr sz="2400" spc="-5" dirty="0">
                <a:latin typeface="Tahoma"/>
                <a:cs typeface="Tahoma"/>
              </a:rPr>
              <a:t>Man kann eigene Relationen anlegen und/oder die</a:t>
            </a:r>
            <a:r>
              <a:rPr sz="2400" spc="-20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Uni-DB  verwenden</a:t>
            </a:r>
            <a:endParaRPr sz="2400" dirty="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254"/>
              </a:spcBef>
              <a:buClr>
                <a:schemeClr val="accent1"/>
              </a:buClr>
              <a:buSzPct val="200000"/>
              <a:buFont typeface="Arial" panose="020B0604020202020204" pitchFamily="34" charset="0"/>
              <a:buChar char="•"/>
            </a:pPr>
            <a:r>
              <a:rPr lang="en-GB" sz="2400" spc="-5" dirty="0">
                <a:latin typeface="Tahoma"/>
                <a:cs typeface="Tahoma"/>
              </a:rPr>
              <a:t>Oracle</a:t>
            </a:r>
            <a:r>
              <a:rPr sz="2400" spc="-5" dirty="0">
                <a:latin typeface="Tahoma"/>
                <a:cs typeface="Tahoma"/>
              </a:rPr>
              <a:t> „liegt</a:t>
            </a:r>
            <a:r>
              <a:rPr sz="2400" spc="-29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dahinter“</a:t>
            </a:r>
            <a:endParaRPr lang="en-GB" sz="2400" spc="-5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endParaRPr sz="2400" dirty="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03300" y="760960"/>
            <a:ext cx="6019800" cy="540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</a:t>
            </a:r>
            <a:r>
              <a:rPr spc="-5" dirty="0"/>
              <a:t>QL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50900" y="996950"/>
            <a:ext cx="5943600" cy="540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80465" algn="l"/>
              </a:tabLst>
            </a:pPr>
            <a:r>
              <a:rPr dirty="0"/>
              <a:t>S</a:t>
            </a:r>
            <a:r>
              <a:rPr spc="-5" dirty="0"/>
              <a:t>Q</a:t>
            </a:r>
            <a:r>
              <a:rPr dirty="0"/>
              <a:t>L</a:t>
            </a:r>
            <a:r>
              <a:rPr lang="en-GB" dirty="0"/>
              <a:t> </a:t>
            </a:r>
            <a:r>
              <a:rPr spc="-5" dirty="0" err="1"/>
              <a:t>Übungen</a:t>
            </a:r>
            <a:endParaRPr spc="-5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AE12B6B-1D6E-01DE-A6AB-C460F824C5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1900" y="1856297"/>
            <a:ext cx="7772400" cy="477970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178053" y="2028826"/>
            <a:ext cx="1631950" cy="455930"/>
          </a:xfrm>
          <a:prstGeom prst="rect">
            <a:avLst/>
          </a:prstGeom>
          <a:solidFill>
            <a:srgbClr val="FFFB00"/>
          </a:solidFill>
          <a:ln w="6349">
            <a:solidFill>
              <a:srgbClr val="000000"/>
            </a:solidFill>
          </a:ln>
        </p:spPr>
        <p:txBody>
          <a:bodyPr vert="horz" wrap="square" lIns="0" tIns="44450" rIns="0" bIns="0" rtlCol="0">
            <a:spAutoFit/>
          </a:bodyPr>
          <a:lstStyle/>
          <a:p>
            <a:pPr marL="205740">
              <a:lnSpc>
                <a:spcPct val="100000"/>
              </a:lnSpc>
              <a:spcBef>
                <a:spcPts val="350"/>
              </a:spcBef>
            </a:pPr>
            <a:r>
              <a:rPr sz="2400" spc="-5" dirty="0">
                <a:latin typeface="Times New Roman"/>
                <a:cs typeface="Times New Roman"/>
              </a:rPr>
              <a:t>Studenten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65304" y="5835651"/>
            <a:ext cx="1631950" cy="455930"/>
          </a:xfrm>
          <a:prstGeom prst="rect">
            <a:avLst/>
          </a:prstGeom>
          <a:solidFill>
            <a:srgbClr val="FFFB00"/>
          </a:solidFill>
          <a:ln w="6349">
            <a:solidFill>
              <a:srgbClr val="000000"/>
            </a:solidFill>
          </a:ln>
        </p:spPr>
        <p:txBody>
          <a:bodyPr vert="horz" wrap="square" lIns="0" tIns="44450" rIns="0" bIns="0" rtlCol="0">
            <a:spAutoFit/>
          </a:bodyPr>
          <a:lstStyle/>
          <a:p>
            <a:pPr marL="116205">
              <a:lnSpc>
                <a:spcPct val="100000"/>
              </a:lnSpc>
              <a:spcBef>
                <a:spcPts val="350"/>
              </a:spcBef>
            </a:pPr>
            <a:r>
              <a:rPr sz="2400" spc="-5" dirty="0">
                <a:latin typeface="Times New Roman"/>
                <a:cs typeface="Times New Roman"/>
              </a:rPr>
              <a:t>Assistenten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17500" y="1187451"/>
            <a:ext cx="1408430" cy="546100"/>
          </a:xfrm>
          <a:custGeom>
            <a:avLst/>
            <a:gdLst/>
            <a:ahLst/>
            <a:cxnLst/>
            <a:rect l="l" t="t" r="r" b="b"/>
            <a:pathLst>
              <a:path w="1408430" h="546100">
                <a:moveTo>
                  <a:pt x="704053" y="0"/>
                </a:moveTo>
                <a:lnTo>
                  <a:pt x="636248" y="1249"/>
                </a:lnTo>
                <a:lnTo>
                  <a:pt x="570267" y="4923"/>
                </a:lnTo>
                <a:lnTo>
                  <a:pt x="506404" y="10906"/>
                </a:lnTo>
                <a:lnTo>
                  <a:pt x="444955" y="19083"/>
                </a:lnTo>
                <a:lnTo>
                  <a:pt x="386215" y="29341"/>
                </a:lnTo>
                <a:lnTo>
                  <a:pt x="330478" y="41565"/>
                </a:lnTo>
                <a:lnTo>
                  <a:pt x="278040" y="55640"/>
                </a:lnTo>
                <a:lnTo>
                  <a:pt x="229195" y="71453"/>
                </a:lnTo>
                <a:lnTo>
                  <a:pt x="184240" y="88888"/>
                </a:lnTo>
                <a:lnTo>
                  <a:pt x="143468" y="107831"/>
                </a:lnTo>
                <a:lnTo>
                  <a:pt x="107175" y="128168"/>
                </a:lnTo>
                <a:lnTo>
                  <a:pt x="75656" y="149784"/>
                </a:lnTo>
                <a:lnTo>
                  <a:pt x="28121" y="196397"/>
                </a:lnTo>
                <a:lnTo>
                  <a:pt x="3222" y="246753"/>
                </a:lnTo>
                <a:lnTo>
                  <a:pt x="0" y="273050"/>
                </a:lnTo>
                <a:lnTo>
                  <a:pt x="3222" y="299346"/>
                </a:lnTo>
                <a:lnTo>
                  <a:pt x="28121" y="349702"/>
                </a:lnTo>
                <a:lnTo>
                  <a:pt x="75656" y="396315"/>
                </a:lnTo>
                <a:lnTo>
                  <a:pt x="107175" y="417931"/>
                </a:lnTo>
                <a:lnTo>
                  <a:pt x="143468" y="438268"/>
                </a:lnTo>
                <a:lnTo>
                  <a:pt x="184240" y="457211"/>
                </a:lnTo>
                <a:lnTo>
                  <a:pt x="229195" y="474646"/>
                </a:lnTo>
                <a:lnTo>
                  <a:pt x="278040" y="490459"/>
                </a:lnTo>
                <a:lnTo>
                  <a:pt x="330478" y="504534"/>
                </a:lnTo>
                <a:lnTo>
                  <a:pt x="386215" y="516758"/>
                </a:lnTo>
                <a:lnTo>
                  <a:pt x="444955" y="527016"/>
                </a:lnTo>
                <a:lnTo>
                  <a:pt x="506404" y="535193"/>
                </a:lnTo>
                <a:lnTo>
                  <a:pt x="570267" y="541176"/>
                </a:lnTo>
                <a:lnTo>
                  <a:pt x="636248" y="544850"/>
                </a:lnTo>
                <a:lnTo>
                  <a:pt x="704053" y="546100"/>
                </a:lnTo>
                <a:lnTo>
                  <a:pt x="771860" y="544850"/>
                </a:lnTo>
                <a:lnTo>
                  <a:pt x="837843" y="541176"/>
                </a:lnTo>
                <a:lnTo>
                  <a:pt x="901707" y="535193"/>
                </a:lnTo>
                <a:lnTo>
                  <a:pt x="963158" y="527016"/>
                </a:lnTo>
                <a:lnTo>
                  <a:pt x="1021899" y="516758"/>
                </a:lnTo>
                <a:lnTo>
                  <a:pt x="1077637" y="504534"/>
                </a:lnTo>
                <a:lnTo>
                  <a:pt x="1130076" y="490459"/>
                </a:lnTo>
                <a:lnTo>
                  <a:pt x="1178920" y="474646"/>
                </a:lnTo>
                <a:lnTo>
                  <a:pt x="1223876" y="457211"/>
                </a:lnTo>
                <a:lnTo>
                  <a:pt x="1264648" y="438268"/>
                </a:lnTo>
                <a:lnTo>
                  <a:pt x="1300941" y="417931"/>
                </a:lnTo>
                <a:lnTo>
                  <a:pt x="1332459" y="396315"/>
                </a:lnTo>
                <a:lnTo>
                  <a:pt x="1379994" y="349702"/>
                </a:lnTo>
                <a:lnTo>
                  <a:pt x="1404893" y="299346"/>
                </a:lnTo>
                <a:lnTo>
                  <a:pt x="1408116" y="273050"/>
                </a:lnTo>
                <a:lnTo>
                  <a:pt x="1404893" y="246753"/>
                </a:lnTo>
                <a:lnTo>
                  <a:pt x="1379994" y="196397"/>
                </a:lnTo>
                <a:lnTo>
                  <a:pt x="1332459" y="149784"/>
                </a:lnTo>
                <a:lnTo>
                  <a:pt x="1300941" y="128168"/>
                </a:lnTo>
                <a:lnTo>
                  <a:pt x="1264648" y="107831"/>
                </a:lnTo>
                <a:lnTo>
                  <a:pt x="1223876" y="88888"/>
                </a:lnTo>
                <a:lnTo>
                  <a:pt x="1178920" y="71453"/>
                </a:lnTo>
                <a:lnTo>
                  <a:pt x="1130076" y="55640"/>
                </a:lnTo>
                <a:lnTo>
                  <a:pt x="1077637" y="41565"/>
                </a:lnTo>
                <a:lnTo>
                  <a:pt x="1021899" y="29341"/>
                </a:lnTo>
                <a:lnTo>
                  <a:pt x="963158" y="19083"/>
                </a:lnTo>
                <a:lnTo>
                  <a:pt x="901707" y="10906"/>
                </a:lnTo>
                <a:lnTo>
                  <a:pt x="837843" y="4923"/>
                </a:lnTo>
                <a:lnTo>
                  <a:pt x="771860" y="1249"/>
                </a:lnTo>
                <a:lnTo>
                  <a:pt x="704053" y="0"/>
                </a:lnTo>
                <a:close/>
              </a:path>
            </a:pathLst>
          </a:custGeom>
          <a:solidFill>
            <a:srgbClr val="FFFD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17500" y="1187451"/>
            <a:ext cx="1408430" cy="546100"/>
          </a:xfrm>
          <a:custGeom>
            <a:avLst/>
            <a:gdLst/>
            <a:ahLst/>
            <a:cxnLst/>
            <a:rect l="l" t="t" r="r" b="b"/>
            <a:pathLst>
              <a:path w="1408430" h="546100">
                <a:moveTo>
                  <a:pt x="0" y="273049"/>
                </a:moveTo>
                <a:lnTo>
                  <a:pt x="12695" y="221163"/>
                </a:lnTo>
                <a:lnTo>
                  <a:pt x="49207" y="172564"/>
                </a:lnTo>
                <a:lnTo>
                  <a:pt x="107175" y="128167"/>
                </a:lnTo>
                <a:lnTo>
                  <a:pt x="143468" y="107830"/>
                </a:lnTo>
                <a:lnTo>
                  <a:pt x="184240" y="88887"/>
                </a:lnTo>
                <a:lnTo>
                  <a:pt x="229195" y="71452"/>
                </a:lnTo>
                <a:lnTo>
                  <a:pt x="278040" y="55640"/>
                </a:lnTo>
                <a:lnTo>
                  <a:pt x="330478" y="41565"/>
                </a:lnTo>
                <a:lnTo>
                  <a:pt x="386215" y="29341"/>
                </a:lnTo>
                <a:lnTo>
                  <a:pt x="444956" y="19083"/>
                </a:lnTo>
                <a:lnTo>
                  <a:pt x="506406" y="10906"/>
                </a:lnTo>
                <a:lnTo>
                  <a:pt x="570269" y="4923"/>
                </a:lnTo>
                <a:lnTo>
                  <a:pt x="636251" y="1249"/>
                </a:lnTo>
                <a:lnTo>
                  <a:pt x="704056" y="0"/>
                </a:lnTo>
                <a:lnTo>
                  <a:pt x="771862" y="1249"/>
                </a:lnTo>
                <a:lnTo>
                  <a:pt x="837844" y="4923"/>
                </a:lnTo>
                <a:lnTo>
                  <a:pt x="901707" y="10906"/>
                </a:lnTo>
                <a:lnTo>
                  <a:pt x="963157" y="19083"/>
                </a:lnTo>
                <a:lnTo>
                  <a:pt x="1021897" y="29341"/>
                </a:lnTo>
                <a:lnTo>
                  <a:pt x="1077634" y="41565"/>
                </a:lnTo>
                <a:lnTo>
                  <a:pt x="1130072" y="55640"/>
                </a:lnTo>
                <a:lnTo>
                  <a:pt x="1178916" y="71452"/>
                </a:lnTo>
                <a:lnTo>
                  <a:pt x="1223871" y="88887"/>
                </a:lnTo>
                <a:lnTo>
                  <a:pt x="1264643" y="107830"/>
                </a:lnTo>
                <a:lnTo>
                  <a:pt x="1300935" y="128167"/>
                </a:lnTo>
                <a:lnTo>
                  <a:pt x="1332453" y="149783"/>
                </a:lnTo>
                <a:lnTo>
                  <a:pt x="1379987" y="196396"/>
                </a:lnTo>
                <a:lnTo>
                  <a:pt x="1404886" y="246753"/>
                </a:lnTo>
                <a:lnTo>
                  <a:pt x="1408108" y="273049"/>
                </a:lnTo>
                <a:lnTo>
                  <a:pt x="1404886" y="299346"/>
                </a:lnTo>
                <a:lnTo>
                  <a:pt x="1379987" y="349703"/>
                </a:lnTo>
                <a:lnTo>
                  <a:pt x="1332453" y="396315"/>
                </a:lnTo>
                <a:lnTo>
                  <a:pt x="1300935" y="417932"/>
                </a:lnTo>
                <a:lnTo>
                  <a:pt x="1264643" y="438268"/>
                </a:lnTo>
                <a:lnTo>
                  <a:pt x="1223871" y="457212"/>
                </a:lnTo>
                <a:lnTo>
                  <a:pt x="1178916" y="474646"/>
                </a:lnTo>
                <a:lnTo>
                  <a:pt x="1130072" y="490459"/>
                </a:lnTo>
                <a:lnTo>
                  <a:pt x="1077634" y="504534"/>
                </a:lnTo>
                <a:lnTo>
                  <a:pt x="1021897" y="516757"/>
                </a:lnTo>
                <a:lnTo>
                  <a:pt x="963157" y="527015"/>
                </a:lnTo>
                <a:lnTo>
                  <a:pt x="901707" y="535193"/>
                </a:lnTo>
                <a:lnTo>
                  <a:pt x="837844" y="541175"/>
                </a:lnTo>
                <a:lnTo>
                  <a:pt x="771862" y="544849"/>
                </a:lnTo>
                <a:lnTo>
                  <a:pt x="704056" y="546099"/>
                </a:lnTo>
                <a:lnTo>
                  <a:pt x="636251" y="544849"/>
                </a:lnTo>
                <a:lnTo>
                  <a:pt x="570269" y="541175"/>
                </a:lnTo>
                <a:lnTo>
                  <a:pt x="506406" y="535193"/>
                </a:lnTo>
                <a:lnTo>
                  <a:pt x="444956" y="527015"/>
                </a:lnTo>
                <a:lnTo>
                  <a:pt x="386215" y="516757"/>
                </a:lnTo>
                <a:lnTo>
                  <a:pt x="330478" y="504534"/>
                </a:lnTo>
                <a:lnTo>
                  <a:pt x="278040" y="490459"/>
                </a:lnTo>
                <a:lnTo>
                  <a:pt x="229195" y="474646"/>
                </a:lnTo>
                <a:lnTo>
                  <a:pt x="184240" y="457212"/>
                </a:lnTo>
                <a:lnTo>
                  <a:pt x="143468" y="438268"/>
                </a:lnTo>
                <a:lnTo>
                  <a:pt x="107175" y="417932"/>
                </a:lnTo>
                <a:lnTo>
                  <a:pt x="75656" y="396315"/>
                </a:lnTo>
                <a:lnTo>
                  <a:pt x="28121" y="349703"/>
                </a:lnTo>
                <a:lnTo>
                  <a:pt x="3222" y="299346"/>
                </a:lnTo>
                <a:lnTo>
                  <a:pt x="0" y="273049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51653" y="1264921"/>
            <a:ext cx="939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</a:t>
            </a:r>
            <a:r>
              <a:rPr sz="24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at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rNr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17500" y="5073651"/>
            <a:ext cx="1295400" cy="548005"/>
          </a:xfrm>
          <a:custGeom>
            <a:avLst/>
            <a:gdLst/>
            <a:ahLst/>
            <a:cxnLst/>
            <a:rect l="l" t="t" r="r" b="b"/>
            <a:pathLst>
              <a:path w="1295400" h="548004">
                <a:moveTo>
                  <a:pt x="647703" y="0"/>
                </a:moveTo>
                <a:lnTo>
                  <a:pt x="581479" y="1413"/>
                </a:lnTo>
                <a:lnTo>
                  <a:pt x="517168" y="5563"/>
                </a:lnTo>
                <a:lnTo>
                  <a:pt x="455095" y="12311"/>
                </a:lnTo>
                <a:lnTo>
                  <a:pt x="395587" y="21520"/>
                </a:lnTo>
                <a:lnTo>
                  <a:pt x="338969" y="33052"/>
                </a:lnTo>
                <a:lnTo>
                  <a:pt x="285565" y="46769"/>
                </a:lnTo>
                <a:lnTo>
                  <a:pt x="235703" y="62533"/>
                </a:lnTo>
                <a:lnTo>
                  <a:pt x="189707" y="80208"/>
                </a:lnTo>
                <a:lnTo>
                  <a:pt x="147903" y="99655"/>
                </a:lnTo>
                <a:lnTo>
                  <a:pt x="110617" y="120737"/>
                </a:lnTo>
                <a:lnTo>
                  <a:pt x="78174" y="143316"/>
                </a:lnTo>
                <a:lnTo>
                  <a:pt x="29119" y="192415"/>
                </a:lnTo>
                <a:lnTo>
                  <a:pt x="3344" y="245850"/>
                </a:lnTo>
                <a:lnTo>
                  <a:pt x="0" y="273850"/>
                </a:lnTo>
                <a:lnTo>
                  <a:pt x="3344" y="301847"/>
                </a:lnTo>
                <a:lnTo>
                  <a:pt x="29119" y="355279"/>
                </a:lnTo>
                <a:lnTo>
                  <a:pt x="78174" y="404375"/>
                </a:lnTo>
                <a:lnTo>
                  <a:pt x="110617" y="426953"/>
                </a:lnTo>
                <a:lnTo>
                  <a:pt x="147903" y="448034"/>
                </a:lnTo>
                <a:lnTo>
                  <a:pt x="189707" y="467480"/>
                </a:lnTo>
                <a:lnTo>
                  <a:pt x="235703" y="485154"/>
                </a:lnTo>
                <a:lnTo>
                  <a:pt x="285565" y="500919"/>
                </a:lnTo>
                <a:lnTo>
                  <a:pt x="338969" y="514635"/>
                </a:lnTo>
                <a:lnTo>
                  <a:pt x="395587" y="526167"/>
                </a:lnTo>
                <a:lnTo>
                  <a:pt x="455095" y="535375"/>
                </a:lnTo>
                <a:lnTo>
                  <a:pt x="517168" y="542123"/>
                </a:lnTo>
                <a:lnTo>
                  <a:pt x="581479" y="546273"/>
                </a:lnTo>
                <a:lnTo>
                  <a:pt x="647703" y="547687"/>
                </a:lnTo>
                <a:lnTo>
                  <a:pt x="713926" y="546273"/>
                </a:lnTo>
                <a:lnTo>
                  <a:pt x="778236" y="542123"/>
                </a:lnTo>
                <a:lnTo>
                  <a:pt x="840307" y="535375"/>
                </a:lnTo>
                <a:lnTo>
                  <a:pt x="899815" y="526167"/>
                </a:lnTo>
                <a:lnTo>
                  <a:pt x="956433" y="514635"/>
                </a:lnTo>
                <a:lnTo>
                  <a:pt x="1009836" y="500919"/>
                </a:lnTo>
                <a:lnTo>
                  <a:pt x="1059698" y="485154"/>
                </a:lnTo>
                <a:lnTo>
                  <a:pt x="1105694" y="467480"/>
                </a:lnTo>
                <a:lnTo>
                  <a:pt x="1147498" y="448034"/>
                </a:lnTo>
                <a:lnTo>
                  <a:pt x="1184785" y="426953"/>
                </a:lnTo>
                <a:lnTo>
                  <a:pt x="1217228" y="404375"/>
                </a:lnTo>
                <a:lnTo>
                  <a:pt x="1266283" y="355279"/>
                </a:lnTo>
                <a:lnTo>
                  <a:pt x="1292059" y="301847"/>
                </a:lnTo>
                <a:lnTo>
                  <a:pt x="1295403" y="273850"/>
                </a:lnTo>
                <a:lnTo>
                  <a:pt x="1292059" y="245850"/>
                </a:lnTo>
                <a:lnTo>
                  <a:pt x="1266283" y="192415"/>
                </a:lnTo>
                <a:lnTo>
                  <a:pt x="1217228" y="143316"/>
                </a:lnTo>
                <a:lnTo>
                  <a:pt x="1184785" y="120737"/>
                </a:lnTo>
                <a:lnTo>
                  <a:pt x="1147498" y="99655"/>
                </a:lnTo>
                <a:lnTo>
                  <a:pt x="1105694" y="80208"/>
                </a:lnTo>
                <a:lnTo>
                  <a:pt x="1059698" y="62533"/>
                </a:lnTo>
                <a:lnTo>
                  <a:pt x="1009836" y="46769"/>
                </a:lnTo>
                <a:lnTo>
                  <a:pt x="956433" y="33052"/>
                </a:lnTo>
                <a:lnTo>
                  <a:pt x="899815" y="21520"/>
                </a:lnTo>
                <a:lnTo>
                  <a:pt x="840307" y="12311"/>
                </a:lnTo>
                <a:lnTo>
                  <a:pt x="778236" y="5563"/>
                </a:lnTo>
                <a:lnTo>
                  <a:pt x="713926" y="1413"/>
                </a:lnTo>
                <a:lnTo>
                  <a:pt x="647703" y="0"/>
                </a:lnTo>
                <a:close/>
              </a:path>
            </a:pathLst>
          </a:custGeom>
          <a:solidFill>
            <a:srgbClr val="FFFD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17500" y="5073651"/>
            <a:ext cx="1295400" cy="548005"/>
          </a:xfrm>
          <a:custGeom>
            <a:avLst/>
            <a:gdLst/>
            <a:ahLst/>
            <a:cxnLst/>
            <a:rect l="l" t="t" r="r" b="b"/>
            <a:pathLst>
              <a:path w="1295400" h="548004">
                <a:moveTo>
                  <a:pt x="0" y="273843"/>
                </a:moveTo>
                <a:lnTo>
                  <a:pt x="13158" y="218654"/>
                </a:lnTo>
                <a:lnTo>
                  <a:pt x="50899" y="167251"/>
                </a:lnTo>
                <a:lnTo>
                  <a:pt x="110616" y="120735"/>
                </a:lnTo>
                <a:lnTo>
                  <a:pt x="147903" y="99653"/>
                </a:lnTo>
                <a:lnTo>
                  <a:pt x="189706" y="80206"/>
                </a:lnTo>
                <a:lnTo>
                  <a:pt x="235702" y="62532"/>
                </a:lnTo>
                <a:lnTo>
                  <a:pt x="285564" y="46768"/>
                </a:lnTo>
                <a:lnTo>
                  <a:pt x="338967" y="33051"/>
                </a:lnTo>
                <a:lnTo>
                  <a:pt x="395585" y="21519"/>
                </a:lnTo>
                <a:lnTo>
                  <a:pt x="455093" y="12311"/>
                </a:lnTo>
                <a:lnTo>
                  <a:pt x="517165" y="5563"/>
                </a:lnTo>
                <a:lnTo>
                  <a:pt x="581475" y="1413"/>
                </a:lnTo>
                <a:lnTo>
                  <a:pt x="647699" y="0"/>
                </a:lnTo>
                <a:lnTo>
                  <a:pt x="713922" y="1413"/>
                </a:lnTo>
                <a:lnTo>
                  <a:pt x="778232" y="5563"/>
                </a:lnTo>
                <a:lnTo>
                  <a:pt x="840303" y="12311"/>
                </a:lnTo>
                <a:lnTo>
                  <a:pt x="899811" y="21519"/>
                </a:lnTo>
                <a:lnTo>
                  <a:pt x="956429" y="33051"/>
                </a:lnTo>
                <a:lnTo>
                  <a:pt x="1009832" y="46768"/>
                </a:lnTo>
                <a:lnTo>
                  <a:pt x="1059694" y="62532"/>
                </a:lnTo>
                <a:lnTo>
                  <a:pt x="1105690" y="80206"/>
                </a:lnTo>
                <a:lnTo>
                  <a:pt x="1147494" y="99653"/>
                </a:lnTo>
                <a:lnTo>
                  <a:pt x="1184780" y="120735"/>
                </a:lnTo>
                <a:lnTo>
                  <a:pt x="1217224" y="143313"/>
                </a:lnTo>
                <a:lnTo>
                  <a:pt x="1266279" y="192410"/>
                </a:lnTo>
                <a:lnTo>
                  <a:pt x="1292055" y="245844"/>
                </a:lnTo>
                <a:lnTo>
                  <a:pt x="1295399" y="273843"/>
                </a:lnTo>
                <a:lnTo>
                  <a:pt x="1292055" y="301842"/>
                </a:lnTo>
                <a:lnTo>
                  <a:pt x="1266279" y="355276"/>
                </a:lnTo>
                <a:lnTo>
                  <a:pt x="1217224" y="404374"/>
                </a:lnTo>
                <a:lnTo>
                  <a:pt x="1184780" y="426952"/>
                </a:lnTo>
                <a:lnTo>
                  <a:pt x="1147494" y="448033"/>
                </a:lnTo>
                <a:lnTo>
                  <a:pt x="1105690" y="467480"/>
                </a:lnTo>
                <a:lnTo>
                  <a:pt x="1059694" y="485155"/>
                </a:lnTo>
                <a:lnTo>
                  <a:pt x="1009832" y="500919"/>
                </a:lnTo>
                <a:lnTo>
                  <a:pt x="956429" y="514636"/>
                </a:lnTo>
                <a:lnTo>
                  <a:pt x="899811" y="526167"/>
                </a:lnTo>
                <a:lnTo>
                  <a:pt x="840303" y="535376"/>
                </a:lnTo>
                <a:lnTo>
                  <a:pt x="778232" y="542124"/>
                </a:lnTo>
                <a:lnTo>
                  <a:pt x="713922" y="546273"/>
                </a:lnTo>
                <a:lnTo>
                  <a:pt x="647699" y="547687"/>
                </a:lnTo>
                <a:lnTo>
                  <a:pt x="581475" y="546273"/>
                </a:lnTo>
                <a:lnTo>
                  <a:pt x="517165" y="542124"/>
                </a:lnTo>
                <a:lnTo>
                  <a:pt x="455093" y="535376"/>
                </a:lnTo>
                <a:lnTo>
                  <a:pt x="395585" y="526167"/>
                </a:lnTo>
                <a:lnTo>
                  <a:pt x="338967" y="514636"/>
                </a:lnTo>
                <a:lnTo>
                  <a:pt x="285564" y="500919"/>
                </a:lnTo>
                <a:lnTo>
                  <a:pt x="235702" y="485155"/>
                </a:lnTo>
                <a:lnTo>
                  <a:pt x="189706" y="467480"/>
                </a:lnTo>
                <a:lnTo>
                  <a:pt x="147903" y="448033"/>
                </a:lnTo>
                <a:lnTo>
                  <a:pt x="110616" y="426952"/>
                </a:lnTo>
                <a:lnTo>
                  <a:pt x="78173" y="404374"/>
                </a:lnTo>
                <a:lnTo>
                  <a:pt x="29119" y="355276"/>
                </a:lnTo>
                <a:lnTo>
                  <a:pt x="3343" y="301842"/>
                </a:lnTo>
                <a:lnTo>
                  <a:pt x="0" y="273843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22447" y="5151909"/>
            <a:ext cx="8724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</a:t>
            </a:r>
            <a:r>
              <a:rPr sz="24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rsNr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17500" y="2711451"/>
            <a:ext cx="1408430" cy="548005"/>
          </a:xfrm>
          <a:custGeom>
            <a:avLst/>
            <a:gdLst/>
            <a:ahLst/>
            <a:cxnLst/>
            <a:rect l="l" t="t" r="r" b="b"/>
            <a:pathLst>
              <a:path w="1408430" h="548005">
                <a:moveTo>
                  <a:pt x="704053" y="0"/>
                </a:moveTo>
                <a:lnTo>
                  <a:pt x="636248" y="1253"/>
                </a:lnTo>
                <a:lnTo>
                  <a:pt x="570267" y="4937"/>
                </a:lnTo>
                <a:lnTo>
                  <a:pt x="506404" y="10938"/>
                </a:lnTo>
                <a:lnTo>
                  <a:pt x="444955" y="19139"/>
                </a:lnTo>
                <a:lnTo>
                  <a:pt x="386215" y="29427"/>
                </a:lnTo>
                <a:lnTo>
                  <a:pt x="330478" y="41686"/>
                </a:lnTo>
                <a:lnTo>
                  <a:pt x="278040" y="55803"/>
                </a:lnTo>
                <a:lnTo>
                  <a:pt x="229195" y="71661"/>
                </a:lnTo>
                <a:lnTo>
                  <a:pt x="184240" y="89147"/>
                </a:lnTo>
                <a:lnTo>
                  <a:pt x="143468" y="108146"/>
                </a:lnTo>
                <a:lnTo>
                  <a:pt x="107175" y="128542"/>
                </a:lnTo>
                <a:lnTo>
                  <a:pt x="75656" y="150222"/>
                </a:lnTo>
                <a:lnTo>
                  <a:pt x="28121" y="196971"/>
                </a:lnTo>
                <a:lnTo>
                  <a:pt x="3222" y="247476"/>
                </a:lnTo>
                <a:lnTo>
                  <a:pt x="0" y="273850"/>
                </a:lnTo>
                <a:lnTo>
                  <a:pt x="3222" y="300221"/>
                </a:lnTo>
                <a:lnTo>
                  <a:pt x="28121" y="350723"/>
                </a:lnTo>
                <a:lnTo>
                  <a:pt x="75656" y="397469"/>
                </a:lnTo>
                <a:lnTo>
                  <a:pt x="107175" y="419148"/>
                </a:lnTo>
                <a:lnTo>
                  <a:pt x="143468" y="439543"/>
                </a:lnTo>
                <a:lnTo>
                  <a:pt x="184240" y="458541"/>
                </a:lnTo>
                <a:lnTo>
                  <a:pt x="229195" y="476027"/>
                </a:lnTo>
                <a:lnTo>
                  <a:pt x="278040" y="491885"/>
                </a:lnTo>
                <a:lnTo>
                  <a:pt x="330478" y="506001"/>
                </a:lnTo>
                <a:lnTo>
                  <a:pt x="386215" y="518260"/>
                </a:lnTo>
                <a:lnTo>
                  <a:pt x="444955" y="528548"/>
                </a:lnTo>
                <a:lnTo>
                  <a:pt x="506404" y="536749"/>
                </a:lnTo>
                <a:lnTo>
                  <a:pt x="570267" y="542749"/>
                </a:lnTo>
                <a:lnTo>
                  <a:pt x="636248" y="546433"/>
                </a:lnTo>
                <a:lnTo>
                  <a:pt x="704053" y="547687"/>
                </a:lnTo>
                <a:lnTo>
                  <a:pt x="771860" y="546433"/>
                </a:lnTo>
                <a:lnTo>
                  <a:pt x="837843" y="542749"/>
                </a:lnTo>
                <a:lnTo>
                  <a:pt x="901707" y="536749"/>
                </a:lnTo>
                <a:lnTo>
                  <a:pt x="963158" y="528548"/>
                </a:lnTo>
                <a:lnTo>
                  <a:pt x="1021899" y="518260"/>
                </a:lnTo>
                <a:lnTo>
                  <a:pt x="1077637" y="506001"/>
                </a:lnTo>
                <a:lnTo>
                  <a:pt x="1130076" y="491885"/>
                </a:lnTo>
                <a:lnTo>
                  <a:pt x="1178920" y="476027"/>
                </a:lnTo>
                <a:lnTo>
                  <a:pt x="1223876" y="458541"/>
                </a:lnTo>
                <a:lnTo>
                  <a:pt x="1264648" y="439543"/>
                </a:lnTo>
                <a:lnTo>
                  <a:pt x="1300941" y="419148"/>
                </a:lnTo>
                <a:lnTo>
                  <a:pt x="1332459" y="397469"/>
                </a:lnTo>
                <a:lnTo>
                  <a:pt x="1379994" y="350723"/>
                </a:lnTo>
                <a:lnTo>
                  <a:pt x="1404893" y="300221"/>
                </a:lnTo>
                <a:lnTo>
                  <a:pt x="1408116" y="273850"/>
                </a:lnTo>
                <a:lnTo>
                  <a:pt x="1404893" y="247476"/>
                </a:lnTo>
                <a:lnTo>
                  <a:pt x="1379994" y="196971"/>
                </a:lnTo>
                <a:lnTo>
                  <a:pt x="1332459" y="150222"/>
                </a:lnTo>
                <a:lnTo>
                  <a:pt x="1300941" y="128542"/>
                </a:lnTo>
                <a:lnTo>
                  <a:pt x="1264648" y="108146"/>
                </a:lnTo>
                <a:lnTo>
                  <a:pt x="1223876" y="89147"/>
                </a:lnTo>
                <a:lnTo>
                  <a:pt x="1178920" y="71661"/>
                </a:lnTo>
                <a:lnTo>
                  <a:pt x="1130076" y="55803"/>
                </a:lnTo>
                <a:lnTo>
                  <a:pt x="1077637" y="41686"/>
                </a:lnTo>
                <a:lnTo>
                  <a:pt x="1021899" y="29427"/>
                </a:lnTo>
                <a:lnTo>
                  <a:pt x="963158" y="19139"/>
                </a:lnTo>
                <a:lnTo>
                  <a:pt x="901707" y="10938"/>
                </a:lnTo>
                <a:lnTo>
                  <a:pt x="837843" y="4937"/>
                </a:lnTo>
                <a:lnTo>
                  <a:pt x="771860" y="1253"/>
                </a:lnTo>
                <a:lnTo>
                  <a:pt x="704053" y="0"/>
                </a:lnTo>
                <a:close/>
              </a:path>
            </a:pathLst>
          </a:custGeom>
          <a:solidFill>
            <a:srgbClr val="FFFD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17500" y="2711451"/>
            <a:ext cx="1408430" cy="548005"/>
          </a:xfrm>
          <a:custGeom>
            <a:avLst/>
            <a:gdLst/>
            <a:ahLst/>
            <a:cxnLst/>
            <a:rect l="l" t="t" r="r" b="b"/>
            <a:pathLst>
              <a:path w="1408430" h="548005">
                <a:moveTo>
                  <a:pt x="0" y="273843"/>
                </a:moveTo>
                <a:lnTo>
                  <a:pt x="12695" y="221806"/>
                </a:lnTo>
                <a:lnTo>
                  <a:pt x="49207" y="173066"/>
                </a:lnTo>
                <a:lnTo>
                  <a:pt x="107175" y="128539"/>
                </a:lnTo>
                <a:lnTo>
                  <a:pt x="143468" y="108144"/>
                </a:lnTo>
                <a:lnTo>
                  <a:pt x="184240" y="89145"/>
                </a:lnTo>
                <a:lnTo>
                  <a:pt x="229195" y="71660"/>
                </a:lnTo>
                <a:lnTo>
                  <a:pt x="278040" y="55802"/>
                </a:lnTo>
                <a:lnTo>
                  <a:pt x="330478" y="41686"/>
                </a:lnTo>
                <a:lnTo>
                  <a:pt x="386215" y="29426"/>
                </a:lnTo>
                <a:lnTo>
                  <a:pt x="444956" y="19139"/>
                </a:lnTo>
                <a:lnTo>
                  <a:pt x="506406" y="10937"/>
                </a:lnTo>
                <a:lnTo>
                  <a:pt x="570269" y="4937"/>
                </a:lnTo>
                <a:lnTo>
                  <a:pt x="636251" y="1253"/>
                </a:lnTo>
                <a:lnTo>
                  <a:pt x="704056" y="0"/>
                </a:lnTo>
                <a:lnTo>
                  <a:pt x="771862" y="1253"/>
                </a:lnTo>
                <a:lnTo>
                  <a:pt x="837844" y="4937"/>
                </a:lnTo>
                <a:lnTo>
                  <a:pt x="901707" y="10937"/>
                </a:lnTo>
                <a:lnTo>
                  <a:pt x="963157" y="19139"/>
                </a:lnTo>
                <a:lnTo>
                  <a:pt x="1021897" y="29426"/>
                </a:lnTo>
                <a:lnTo>
                  <a:pt x="1077634" y="41686"/>
                </a:lnTo>
                <a:lnTo>
                  <a:pt x="1130072" y="55802"/>
                </a:lnTo>
                <a:lnTo>
                  <a:pt x="1178916" y="71660"/>
                </a:lnTo>
                <a:lnTo>
                  <a:pt x="1223871" y="89145"/>
                </a:lnTo>
                <a:lnTo>
                  <a:pt x="1264643" y="108144"/>
                </a:lnTo>
                <a:lnTo>
                  <a:pt x="1300935" y="128539"/>
                </a:lnTo>
                <a:lnTo>
                  <a:pt x="1332453" y="150219"/>
                </a:lnTo>
                <a:lnTo>
                  <a:pt x="1379987" y="196967"/>
                </a:lnTo>
                <a:lnTo>
                  <a:pt x="1404886" y="247470"/>
                </a:lnTo>
                <a:lnTo>
                  <a:pt x="1408108" y="273843"/>
                </a:lnTo>
                <a:lnTo>
                  <a:pt x="1404886" y="300216"/>
                </a:lnTo>
                <a:lnTo>
                  <a:pt x="1379987" y="350720"/>
                </a:lnTo>
                <a:lnTo>
                  <a:pt x="1332453" y="397468"/>
                </a:lnTo>
                <a:lnTo>
                  <a:pt x="1300935" y="419147"/>
                </a:lnTo>
                <a:lnTo>
                  <a:pt x="1264643" y="439543"/>
                </a:lnTo>
                <a:lnTo>
                  <a:pt x="1223871" y="458541"/>
                </a:lnTo>
                <a:lnTo>
                  <a:pt x="1178916" y="476027"/>
                </a:lnTo>
                <a:lnTo>
                  <a:pt x="1130072" y="491885"/>
                </a:lnTo>
                <a:lnTo>
                  <a:pt x="1077634" y="506001"/>
                </a:lnTo>
                <a:lnTo>
                  <a:pt x="1021897" y="518260"/>
                </a:lnTo>
                <a:lnTo>
                  <a:pt x="963157" y="528548"/>
                </a:lnTo>
                <a:lnTo>
                  <a:pt x="901707" y="536749"/>
                </a:lnTo>
                <a:lnTo>
                  <a:pt x="837844" y="542749"/>
                </a:lnTo>
                <a:lnTo>
                  <a:pt x="771862" y="546433"/>
                </a:lnTo>
                <a:lnTo>
                  <a:pt x="704056" y="547687"/>
                </a:lnTo>
                <a:lnTo>
                  <a:pt x="636251" y="546433"/>
                </a:lnTo>
                <a:lnTo>
                  <a:pt x="570269" y="542749"/>
                </a:lnTo>
                <a:lnTo>
                  <a:pt x="506406" y="536749"/>
                </a:lnTo>
                <a:lnTo>
                  <a:pt x="444956" y="528548"/>
                </a:lnTo>
                <a:lnTo>
                  <a:pt x="386215" y="518260"/>
                </a:lnTo>
                <a:lnTo>
                  <a:pt x="330478" y="506001"/>
                </a:lnTo>
                <a:lnTo>
                  <a:pt x="278040" y="491885"/>
                </a:lnTo>
                <a:lnTo>
                  <a:pt x="229195" y="476027"/>
                </a:lnTo>
                <a:lnTo>
                  <a:pt x="184240" y="458541"/>
                </a:lnTo>
                <a:lnTo>
                  <a:pt x="143468" y="439543"/>
                </a:lnTo>
                <a:lnTo>
                  <a:pt x="107175" y="419147"/>
                </a:lnTo>
                <a:lnTo>
                  <a:pt x="75656" y="397468"/>
                </a:lnTo>
                <a:lnTo>
                  <a:pt x="28121" y="350720"/>
                </a:lnTo>
                <a:lnTo>
                  <a:pt x="3222" y="300216"/>
                </a:lnTo>
                <a:lnTo>
                  <a:pt x="0" y="273843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50053" y="2789721"/>
            <a:ext cx="1143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Semester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17500" y="1949451"/>
            <a:ext cx="1408430" cy="548005"/>
          </a:xfrm>
          <a:custGeom>
            <a:avLst/>
            <a:gdLst/>
            <a:ahLst/>
            <a:cxnLst/>
            <a:rect l="l" t="t" r="r" b="b"/>
            <a:pathLst>
              <a:path w="1408430" h="548005">
                <a:moveTo>
                  <a:pt x="704053" y="0"/>
                </a:moveTo>
                <a:lnTo>
                  <a:pt x="636248" y="1253"/>
                </a:lnTo>
                <a:lnTo>
                  <a:pt x="570267" y="4937"/>
                </a:lnTo>
                <a:lnTo>
                  <a:pt x="506404" y="10938"/>
                </a:lnTo>
                <a:lnTo>
                  <a:pt x="444955" y="19139"/>
                </a:lnTo>
                <a:lnTo>
                  <a:pt x="386215" y="29427"/>
                </a:lnTo>
                <a:lnTo>
                  <a:pt x="330478" y="41686"/>
                </a:lnTo>
                <a:lnTo>
                  <a:pt x="278040" y="55803"/>
                </a:lnTo>
                <a:lnTo>
                  <a:pt x="229195" y="71661"/>
                </a:lnTo>
                <a:lnTo>
                  <a:pt x="184240" y="89147"/>
                </a:lnTo>
                <a:lnTo>
                  <a:pt x="143468" y="108146"/>
                </a:lnTo>
                <a:lnTo>
                  <a:pt x="107175" y="128542"/>
                </a:lnTo>
                <a:lnTo>
                  <a:pt x="75656" y="150222"/>
                </a:lnTo>
                <a:lnTo>
                  <a:pt x="28121" y="196971"/>
                </a:lnTo>
                <a:lnTo>
                  <a:pt x="3222" y="247476"/>
                </a:lnTo>
                <a:lnTo>
                  <a:pt x="0" y="273850"/>
                </a:lnTo>
                <a:lnTo>
                  <a:pt x="3222" y="300221"/>
                </a:lnTo>
                <a:lnTo>
                  <a:pt x="28121" y="350723"/>
                </a:lnTo>
                <a:lnTo>
                  <a:pt x="75656" y="397469"/>
                </a:lnTo>
                <a:lnTo>
                  <a:pt x="107175" y="419148"/>
                </a:lnTo>
                <a:lnTo>
                  <a:pt x="143468" y="439543"/>
                </a:lnTo>
                <a:lnTo>
                  <a:pt x="184240" y="458541"/>
                </a:lnTo>
                <a:lnTo>
                  <a:pt x="229195" y="476027"/>
                </a:lnTo>
                <a:lnTo>
                  <a:pt x="278040" y="491885"/>
                </a:lnTo>
                <a:lnTo>
                  <a:pt x="330478" y="506001"/>
                </a:lnTo>
                <a:lnTo>
                  <a:pt x="386215" y="518260"/>
                </a:lnTo>
                <a:lnTo>
                  <a:pt x="444955" y="528548"/>
                </a:lnTo>
                <a:lnTo>
                  <a:pt x="506404" y="536749"/>
                </a:lnTo>
                <a:lnTo>
                  <a:pt x="570267" y="542749"/>
                </a:lnTo>
                <a:lnTo>
                  <a:pt x="636248" y="546433"/>
                </a:lnTo>
                <a:lnTo>
                  <a:pt x="704053" y="547687"/>
                </a:lnTo>
                <a:lnTo>
                  <a:pt x="771860" y="546433"/>
                </a:lnTo>
                <a:lnTo>
                  <a:pt x="837843" y="542749"/>
                </a:lnTo>
                <a:lnTo>
                  <a:pt x="901707" y="536749"/>
                </a:lnTo>
                <a:lnTo>
                  <a:pt x="963158" y="528548"/>
                </a:lnTo>
                <a:lnTo>
                  <a:pt x="1021899" y="518260"/>
                </a:lnTo>
                <a:lnTo>
                  <a:pt x="1077637" y="506001"/>
                </a:lnTo>
                <a:lnTo>
                  <a:pt x="1130076" y="491885"/>
                </a:lnTo>
                <a:lnTo>
                  <a:pt x="1178920" y="476027"/>
                </a:lnTo>
                <a:lnTo>
                  <a:pt x="1223876" y="458541"/>
                </a:lnTo>
                <a:lnTo>
                  <a:pt x="1264648" y="439543"/>
                </a:lnTo>
                <a:lnTo>
                  <a:pt x="1300941" y="419148"/>
                </a:lnTo>
                <a:lnTo>
                  <a:pt x="1332459" y="397469"/>
                </a:lnTo>
                <a:lnTo>
                  <a:pt x="1379994" y="350723"/>
                </a:lnTo>
                <a:lnTo>
                  <a:pt x="1404893" y="300221"/>
                </a:lnTo>
                <a:lnTo>
                  <a:pt x="1408116" y="273850"/>
                </a:lnTo>
                <a:lnTo>
                  <a:pt x="1404893" y="247476"/>
                </a:lnTo>
                <a:lnTo>
                  <a:pt x="1379994" y="196971"/>
                </a:lnTo>
                <a:lnTo>
                  <a:pt x="1332459" y="150222"/>
                </a:lnTo>
                <a:lnTo>
                  <a:pt x="1300941" y="128542"/>
                </a:lnTo>
                <a:lnTo>
                  <a:pt x="1264648" y="108146"/>
                </a:lnTo>
                <a:lnTo>
                  <a:pt x="1223876" y="89147"/>
                </a:lnTo>
                <a:lnTo>
                  <a:pt x="1178920" y="71661"/>
                </a:lnTo>
                <a:lnTo>
                  <a:pt x="1130076" y="55803"/>
                </a:lnTo>
                <a:lnTo>
                  <a:pt x="1077637" y="41686"/>
                </a:lnTo>
                <a:lnTo>
                  <a:pt x="1021899" y="29427"/>
                </a:lnTo>
                <a:lnTo>
                  <a:pt x="963158" y="19139"/>
                </a:lnTo>
                <a:lnTo>
                  <a:pt x="901707" y="10938"/>
                </a:lnTo>
                <a:lnTo>
                  <a:pt x="837843" y="4937"/>
                </a:lnTo>
                <a:lnTo>
                  <a:pt x="771860" y="1253"/>
                </a:lnTo>
                <a:lnTo>
                  <a:pt x="704053" y="0"/>
                </a:lnTo>
                <a:close/>
              </a:path>
            </a:pathLst>
          </a:custGeom>
          <a:solidFill>
            <a:srgbClr val="FFFD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17500" y="1949451"/>
            <a:ext cx="1408430" cy="548005"/>
          </a:xfrm>
          <a:custGeom>
            <a:avLst/>
            <a:gdLst/>
            <a:ahLst/>
            <a:cxnLst/>
            <a:rect l="l" t="t" r="r" b="b"/>
            <a:pathLst>
              <a:path w="1408430" h="548005">
                <a:moveTo>
                  <a:pt x="0" y="273843"/>
                </a:moveTo>
                <a:lnTo>
                  <a:pt x="12695" y="221807"/>
                </a:lnTo>
                <a:lnTo>
                  <a:pt x="49207" y="173066"/>
                </a:lnTo>
                <a:lnTo>
                  <a:pt x="107175" y="128540"/>
                </a:lnTo>
                <a:lnTo>
                  <a:pt x="143468" y="108144"/>
                </a:lnTo>
                <a:lnTo>
                  <a:pt x="184240" y="89145"/>
                </a:lnTo>
                <a:lnTo>
                  <a:pt x="229195" y="71660"/>
                </a:lnTo>
                <a:lnTo>
                  <a:pt x="278040" y="55802"/>
                </a:lnTo>
                <a:lnTo>
                  <a:pt x="330478" y="41686"/>
                </a:lnTo>
                <a:lnTo>
                  <a:pt x="386215" y="29426"/>
                </a:lnTo>
                <a:lnTo>
                  <a:pt x="444956" y="19139"/>
                </a:lnTo>
                <a:lnTo>
                  <a:pt x="506406" y="10937"/>
                </a:lnTo>
                <a:lnTo>
                  <a:pt x="570269" y="4937"/>
                </a:lnTo>
                <a:lnTo>
                  <a:pt x="636251" y="1253"/>
                </a:lnTo>
                <a:lnTo>
                  <a:pt x="704056" y="0"/>
                </a:lnTo>
                <a:lnTo>
                  <a:pt x="771862" y="1253"/>
                </a:lnTo>
                <a:lnTo>
                  <a:pt x="837844" y="4937"/>
                </a:lnTo>
                <a:lnTo>
                  <a:pt x="901707" y="10937"/>
                </a:lnTo>
                <a:lnTo>
                  <a:pt x="963157" y="19139"/>
                </a:lnTo>
                <a:lnTo>
                  <a:pt x="1021897" y="29426"/>
                </a:lnTo>
                <a:lnTo>
                  <a:pt x="1077634" y="41686"/>
                </a:lnTo>
                <a:lnTo>
                  <a:pt x="1130072" y="55802"/>
                </a:lnTo>
                <a:lnTo>
                  <a:pt x="1178916" y="71660"/>
                </a:lnTo>
                <a:lnTo>
                  <a:pt x="1223871" y="89145"/>
                </a:lnTo>
                <a:lnTo>
                  <a:pt x="1264643" y="108144"/>
                </a:lnTo>
                <a:lnTo>
                  <a:pt x="1300935" y="128540"/>
                </a:lnTo>
                <a:lnTo>
                  <a:pt x="1332453" y="150219"/>
                </a:lnTo>
                <a:lnTo>
                  <a:pt x="1379987" y="196967"/>
                </a:lnTo>
                <a:lnTo>
                  <a:pt x="1404886" y="247470"/>
                </a:lnTo>
                <a:lnTo>
                  <a:pt x="1408108" y="273843"/>
                </a:lnTo>
                <a:lnTo>
                  <a:pt x="1404886" y="300216"/>
                </a:lnTo>
                <a:lnTo>
                  <a:pt x="1379987" y="350720"/>
                </a:lnTo>
                <a:lnTo>
                  <a:pt x="1332453" y="397468"/>
                </a:lnTo>
                <a:lnTo>
                  <a:pt x="1300935" y="419147"/>
                </a:lnTo>
                <a:lnTo>
                  <a:pt x="1264643" y="439543"/>
                </a:lnTo>
                <a:lnTo>
                  <a:pt x="1223871" y="458541"/>
                </a:lnTo>
                <a:lnTo>
                  <a:pt x="1178916" y="476027"/>
                </a:lnTo>
                <a:lnTo>
                  <a:pt x="1130072" y="491885"/>
                </a:lnTo>
                <a:lnTo>
                  <a:pt x="1077634" y="506001"/>
                </a:lnTo>
                <a:lnTo>
                  <a:pt x="1021897" y="518260"/>
                </a:lnTo>
                <a:lnTo>
                  <a:pt x="963157" y="528548"/>
                </a:lnTo>
                <a:lnTo>
                  <a:pt x="901707" y="536749"/>
                </a:lnTo>
                <a:lnTo>
                  <a:pt x="837844" y="542749"/>
                </a:lnTo>
                <a:lnTo>
                  <a:pt x="771862" y="546434"/>
                </a:lnTo>
                <a:lnTo>
                  <a:pt x="704056" y="547687"/>
                </a:lnTo>
                <a:lnTo>
                  <a:pt x="636251" y="546434"/>
                </a:lnTo>
                <a:lnTo>
                  <a:pt x="570269" y="542749"/>
                </a:lnTo>
                <a:lnTo>
                  <a:pt x="506406" y="536749"/>
                </a:lnTo>
                <a:lnTo>
                  <a:pt x="444956" y="528548"/>
                </a:lnTo>
                <a:lnTo>
                  <a:pt x="386215" y="518260"/>
                </a:lnTo>
                <a:lnTo>
                  <a:pt x="330478" y="506001"/>
                </a:lnTo>
                <a:lnTo>
                  <a:pt x="278040" y="491885"/>
                </a:lnTo>
                <a:lnTo>
                  <a:pt x="229195" y="476027"/>
                </a:lnTo>
                <a:lnTo>
                  <a:pt x="184240" y="458541"/>
                </a:lnTo>
                <a:lnTo>
                  <a:pt x="143468" y="439543"/>
                </a:lnTo>
                <a:lnTo>
                  <a:pt x="107175" y="419147"/>
                </a:lnTo>
                <a:lnTo>
                  <a:pt x="75656" y="397468"/>
                </a:lnTo>
                <a:lnTo>
                  <a:pt x="28121" y="350720"/>
                </a:lnTo>
                <a:lnTo>
                  <a:pt x="3222" y="300216"/>
                </a:lnTo>
                <a:lnTo>
                  <a:pt x="0" y="273843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653253" y="2027721"/>
            <a:ext cx="7531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Name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17500" y="5759451"/>
            <a:ext cx="1219200" cy="546100"/>
          </a:xfrm>
          <a:custGeom>
            <a:avLst/>
            <a:gdLst/>
            <a:ahLst/>
            <a:cxnLst/>
            <a:rect l="l" t="t" r="r" b="b"/>
            <a:pathLst>
              <a:path w="1219200" h="546100">
                <a:moveTo>
                  <a:pt x="609603" y="0"/>
                </a:moveTo>
                <a:lnTo>
                  <a:pt x="543180" y="1602"/>
                </a:lnTo>
                <a:lnTo>
                  <a:pt x="478828" y="6297"/>
                </a:lnTo>
                <a:lnTo>
                  <a:pt x="416921" y="13920"/>
                </a:lnTo>
                <a:lnTo>
                  <a:pt x="357828" y="24303"/>
                </a:lnTo>
                <a:lnTo>
                  <a:pt x="301924" y="37279"/>
                </a:lnTo>
                <a:lnTo>
                  <a:pt x="249578" y="52683"/>
                </a:lnTo>
                <a:lnTo>
                  <a:pt x="201164" y="70347"/>
                </a:lnTo>
                <a:lnTo>
                  <a:pt x="157053" y="90105"/>
                </a:lnTo>
                <a:lnTo>
                  <a:pt x="117617" y="111790"/>
                </a:lnTo>
                <a:lnTo>
                  <a:pt x="83228" y="135237"/>
                </a:lnTo>
                <a:lnTo>
                  <a:pt x="54257" y="160277"/>
                </a:lnTo>
                <a:lnTo>
                  <a:pt x="14060" y="214474"/>
                </a:lnTo>
                <a:lnTo>
                  <a:pt x="0" y="273050"/>
                </a:lnTo>
                <a:lnTo>
                  <a:pt x="3577" y="302801"/>
                </a:lnTo>
                <a:lnTo>
                  <a:pt x="31077" y="359354"/>
                </a:lnTo>
                <a:lnTo>
                  <a:pt x="83228" y="410862"/>
                </a:lnTo>
                <a:lnTo>
                  <a:pt x="117617" y="434309"/>
                </a:lnTo>
                <a:lnTo>
                  <a:pt x="157053" y="455994"/>
                </a:lnTo>
                <a:lnTo>
                  <a:pt x="201164" y="475752"/>
                </a:lnTo>
                <a:lnTo>
                  <a:pt x="249578" y="493416"/>
                </a:lnTo>
                <a:lnTo>
                  <a:pt x="301924" y="508820"/>
                </a:lnTo>
                <a:lnTo>
                  <a:pt x="357828" y="521796"/>
                </a:lnTo>
                <a:lnTo>
                  <a:pt x="416921" y="532179"/>
                </a:lnTo>
                <a:lnTo>
                  <a:pt x="478828" y="539802"/>
                </a:lnTo>
                <a:lnTo>
                  <a:pt x="543180" y="544497"/>
                </a:lnTo>
                <a:lnTo>
                  <a:pt x="609603" y="546100"/>
                </a:lnTo>
                <a:lnTo>
                  <a:pt x="676024" y="544497"/>
                </a:lnTo>
                <a:lnTo>
                  <a:pt x="740374" y="539802"/>
                </a:lnTo>
                <a:lnTo>
                  <a:pt x="802281" y="532179"/>
                </a:lnTo>
                <a:lnTo>
                  <a:pt x="861372" y="521796"/>
                </a:lnTo>
                <a:lnTo>
                  <a:pt x="917276" y="508820"/>
                </a:lnTo>
                <a:lnTo>
                  <a:pt x="969621" y="493416"/>
                </a:lnTo>
                <a:lnTo>
                  <a:pt x="1018036" y="475752"/>
                </a:lnTo>
                <a:lnTo>
                  <a:pt x="1062147" y="455994"/>
                </a:lnTo>
                <a:lnTo>
                  <a:pt x="1101583" y="434309"/>
                </a:lnTo>
                <a:lnTo>
                  <a:pt x="1135973" y="410862"/>
                </a:lnTo>
                <a:lnTo>
                  <a:pt x="1164944" y="385822"/>
                </a:lnTo>
                <a:lnTo>
                  <a:pt x="1205143" y="331625"/>
                </a:lnTo>
                <a:lnTo>
                  <a:pt x="1219203" y="273050"/>
                </a:lnTo>
                <a:lnTo>
                  <a:pt x="1215626" y="243298"/>
                </a:lnTo>
                <a:lnTo>
                  <a:pt x="1188125" y="186745"/>
                </a:lnTo>
                <a:lnTo>
                  <a:pt x="1135973" y="135237"/>
                </a:lnTo>
                <a:lnTo>
                  <a:pt x="1101583" y="111790"/>
                </a:lnTo>
                <a:lnTo>
                  <a:pt x="1062147" y="90105"/>
                </a:lnTo>
                <a:lnTo>
                  <a:pt x="1018036" y="70347"/>
                </a:lnTo>
                <a:lnTo>
                  <a:pt x="969621" y="52683"/>
                </a:lnTo>
                <a:lnTo>
                  <a:pt x="917276" y="37279"/>
                </a:lnTo>
                <a:lnTo>
                  <a:pt x="861372" y="24303"/>
                </a:lnTo>
                <a:lnTo>
                  <a:pt x="802281" y="13920"/>
                </a:lnTo>
                <a:lnTo>
                  <a:pt x="740374" y="6297"/>
                </a:lnTo>
                <a:lnTo>
                  <a:pt x="676024" y="1602"/>
                </a:lnTo>
                <a:lnTo>
                  <a:pt x="609603" y="0"/>
                </a:lnTo>
                <a:close/>
              </a:path>
            </a:pathLst>
          </a:custGeom>
          <a:solidFill>
            <a:srgbClr val="FFFD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17500" y="5759451"/>
            <a:ext cx="1219200" cy="546100"/>
          </a:xfrm>
          <a:custGeom>
            <a:avLst/>
            <a:gdLst/>
            <a:ahLst/>
            <a:cxnLst/>
            <a:rect l="l" t="t" r="r" b="b"/>
            <a:pathLst>
              <a:path w="1219200" h="546100">
                <a:moveTo>
                  <a:pt x="0" y="273049"/>
                </a:moveTo>
                <a:lnTo>
                  <a:pt x="14060" y="214474"/>
                </a:lnTo>
                <a:lnTo>
                  <a:pt x="54257" y="160276"/>
                </a:lnTo>
                <a:lnTo>
                  <a:pt x="83228" y="135236"/>
                </a:lnTo>
                <a:lnTo>
                  <a:pt x="117617" y="111790"/>
                </a:lnTo>
                <a:lnTo>
                  <a:pt x="157053" y="90104"/>
                </a:lnTo>
                <a:lnTo>
                  <a:pt x="201164" y="70346"/>
                </a:lnTo>
                <a:lnTo>
                  <a:pt x="249577" y="52682"/>
                </a:lnTo>
                <a:lnTo>
                  <a:pt x="301922" y="37279"/>
                </a:lnTo>
                <a:lnTo>
                  <a:pt x="357827" y="24302"/>
                </a:lnTo>
                <a:lnTo>
                  <a:pt x="416918" y="13920"/>
                </a:lnTo>
                <a:lnTo>
                  <a:pt x="478826" y="6297"/>
                </a:lnTo>
                <a:lnTo>
                  <a:pt x="543176" y="1602"/>
                </a:lnTo>
                <a:lnTo>
                  <a:pt x="609599" y="0"/>
                </a:lnTo>
                <a:lnTo>
                  <a:pt x="676022" y="1602"/>
                </a:lnTo>
                <a:lnTo>
                  <a:pt x="740373" y="6297"/>
                </a:lnTo>
                <a:lnTo>
                  <a:pt x="802280" y="13920"/>
                </a:lnTo>
                <a:lnTo>
                  <a:pt x="861371" y="24302"/>
                </a:lnTo>
                <a:lnTo>
                  <a:pt x="917276" y="37279"/>
                </a:lnTo>
                <a:lnTo>
                  <a:pt x="969621" y="52682"/>
                </a:lnTo>
                <a:lnTo>
                  <a:pt x="1018035" y="70346"/>
                </a:lnTo>
                <a:lnTo>
                  <a:pt x="1062145" y="90104"/>
                </a:lnTo>
                <a:lnTo>
                  <a:pt x="1101581" y="111790"/>
                </a:lnTo>
                <a:lnTo>
                  <a:pt x="1135970" y="135236"/>
                </a:lnTo>
                <a:lnTo>
                  <a:pt x="1164941" y="160276"/>
                </a:lnTo>
                <a:lnTo>
                  <a:pt x="1205138" y="214474"/>
                </a:lnTo>
                <a:lnTo>
                  <a:pt x="1219199" y="273049"/>
                </a:lnTo>
                <a:lnTo>
                  <a:pt x="1215622" y="302801"/>
                </a:lnTo>
                <a:lnTo>
                  <a:pt x="1188121" y="359354"/>
                </a:lnTo>
                <a:lnTo>
                  <a:pt x="1135970" y="410863"/>
                </a:lnTo>
                <a:lnTo>
                  <a:pt x="1101581" y="434309"/>
                </a:lnTo>
                <a:lnTo>
                  <a:pt x="1062145" y="455994"/>
                </a:lnTo>
                <a:lnTo>
                  <a:pt x="1018035" y="475752"/>
                </a:lnTo>
                <a:lnTo>
                  <a:pt x="969621" y="493416"/>
                </a:lnTo>
                <a:lnTo>
                  <a:pt x="917276" y="508820"/>
                </a:lnTo>
                <a:lnTo>
                  <a:pt x="861371" y="521796"/>
                </a:lnTo>
                <a:lnTo>
                  <a:pt x="802280" y="532179"/>
                </a:lnTo>
                <a:lnTo>
                  <a:pt x="740373" y="539801"/>
                </a:lnTo>
                <a:lnTo>
                  <a:pt x="676022" y="544497"/>
                </a:lnTo>
                <a:lnTo>
                  <a:pt x="609599" y="546099"/>
                </a:lnTo>
                <a:lnTo>
                  <a:pt x="543176" y="544497"/>
                </a:lnTo>
                <a:lnTo>
                  <a:pt x="478826" y="539801"/>
                </a:lnTo>
                <a:lnTo>
                  <a:pt x="416918" y="532179"/>
                </a:lnTo>
                <a:lnTo>
                  <a:pt x="357827" y="521796"/>
                </a:lnTo>
                <a:lnTo>
                  <a:pt x="301922" y="508820"/>
                </a:lnTo>
                <a:lnTo>
                  <a:pt x="249577" y="493416"/>
                </a:lnTo>
                <a:lnTo>
                  <a:pt x="201164" y="475752"/>
                </a:lnTo>
                <a:lnTo>
                  <a:pt x="157053" y="455994"/>
                </a:lnTo>
                <a:lnTo>
                  <a:pt x="117617" y="434309"/>
                </a:lnTo>
                <a:lnTo>
                  <a:pt x="83228" y="410863"/>
                </a:lnTo>
                <a:lnTo>
                  <a:pt x="54257" y="385822"/>
                </a:lnTo>
                <a:lnTo>
                  <a:pt x="14060" y="331625"/>
                </a:lnTo>
                <a:lnTo>
                  <a:pt x="0" y="273049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562088" y="5836921"/>
            <a:ext cx="7531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Name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17500" y="6521450"/>
            <a:ext cx="1408430" cy="546100"/>
          </a:xfrm>
          <a:custGeom>
            <a:avLst/>
            <a:gdLst/>
            <a:ahLst/>
            <a:cxnLst/>
            <a:rect l="l" t="t" r="r" b="b"/>
            <a:pathLst>
              <a:path w="1408430" h="546100">
                <a:moveTo>
                  <a:pt x="704053" y="0"/>
                </a:moveTo>
                <a:lnTo>
                  <a:pt x="636248" y="1249"/>
                </a:lnTo>
                <a:lnTo>
                  <a:pt x="570267" y="4923"/>
                </a:lnTo>
                <a:lnTo>
                  <a:pt x="506404" y="10906"/>
                </a:lnTo>
                <a:lnTo>
                  <a:pt x="444955" y="19083"/>
                </a:lnTo>
                <a:lnTo>
                  <a:pt x="386215" y="29341"/>
                </a:lnTo>
                <a:lnTo>
                  <a:pt x="330478" y="41565"/>
                </a:lnTo>
                <a:lnTo>
                  <a:pt x="278040" y="55640"/>
                </a:lnTo>
                <a:lnTo>
                  <a:pt x="229195" y="71452"/>
                </a:lnTo>
                <a:lnTo>
                  <a:pt x="184240" y="88887"/>
                </a:lnTo>
                <a:lnTo>
                  <a:pt x="143468" y="107830"/>
                </a:lnTo>
                <a:lnTo>
                  <a:pt x="107175" y="128167"/>
                </a:lnTo>
                <a:lnTo>
                  <a:pt x="75656" y="149783"/>
                </a:lnTo>
                <a:lnTo>
                  <a:pt x="28121" y="196396"/>
                </a:lnTo>
                <a:lnTo>
                  <a:pt x="3222" y="246753"/>
                </a:lnTo>
                <a:lnTo>
                  <a:pt x="0" y="273049"/>
                </a:lnTo>
                <a:lnTo>
                  <a:pt x="3222" y="299346"/>
                </a:lnTo>
                <a:lnTo>
                  <a:pt x="28121" y="349703"/>
                </a:lnTo>
                <a:lnTo>
                  <a:pt x="75656" y="396316"/>
                </a:lnTo>
                <a:lnTo>
                  <a:pt x="107175" y="417932"/>
                </a:lnTo>
                <a:lnTo>
                  <a:pt x="143468" y="438269"/>
                </a:lnTo>
                <a:lnTo>
                  <a:pt x="184240" y="457212"/>
                </a:lnTo>
                <a:lnTo>
                  <a:pt x="229195" y="474647"/>
                </a:lnTo>
                <a:lnTo>
                  <a:pt x="278040" y="490459"/>
                </a:lnTo>
                <a:lnTo>
                  <a:pt x="330478" y="504534"/>
                </a:lnTo>
                <a:lnTo>
                  <a:pt x="386215" y="516758"/>
                </a:lnTo>
                <a:lnTo>
                  <a:pt x="444955" y="527016"/>
                </a:lnTo>
                <a:lnTo>
                  <a:pt x="506404" y="535193"/>
                </a:lnTo>
                <a:lnTo>
                  <a:pt x="570267" y="541176"/>
                </a:lnTo>
                <a:lnTo>
                  <a:pt x="636248" y="544850"/>
                </a:lnTo>
                <a:lnTo>
                  <a:pt x="704053" y="546099"/>
                </a:lnTo>
                <a:lnTo>
                  <a:pt x="771860" y="544850"/>
                </a:lnTo>
                <a:lnTo>
                  <a:pt x="837843" y="541176"/>
                </a:lnTo>
                <a:lnTo>
                  <a:pt x="901707" y="535193"/>
                </a:lnTo>
                <a:lnTo>
                  <a:pt x="963158" y="527016"/>
                </a:lnTo>
                <a:lnTo>
                  <a:pt x="1021899" y="516758"/>
                </a:lnTo>
                <a:lnTo>
                  <a:pt x="1077637" y="504534"/>
                </a:lnTo>
                <a:lnTo>
                  <a:pt x="1130076" y="490459"/>
                </a:lnTo>
                <a:lnTo>
                  <a:pt x="1178920" y="474647"/>
                </a:lnTo>
                <a:lnTo>
                  <a:pt x="1223876" y="457212"/>
                </a:lnTo>
                <a:lnTo>
                  <a:pt x="1264648" y="438269"/>
                </a:lnTo>
                <a:lnTo>
                  <a:pt x="1300941" y="417932"/>
                </a:lnTo>
                <a:lnTo>
                  <a:pt x="1332459" y="396316"/>
                </a:lnTo>
                <a:lnTo>
                  <a:pt x="1379994" y="349703"/>
                </a:lnTo>
                <a:lnTo>
                  <a:pt x="1404893" y="299346"/>
                </a:lnTo>
                <a:lnTo>
                  <a:pt x="1408116" y="273049"/>
                </a:lnTo>
                <a:lnTo>
                  <a:pt x="1404893" y="246753"/>
                </a:lnTo>
                <a:lnTo>
                  <a:pt x="1379994" y="196396"/>
                </a:lnTo>
                <a:lnTo>
                  <a:pt x="1332459" y="149783"/>
                </a:lnTo>
                <a:lnTo>
                  <a:pt x="1300941" y="128167"/>
                </a:lnTo>
                <a:lnTo>
                  <a:pt x="1264648" y="107830"/>
                </a:lnTo>
                <a:lnTo>
                  <a:pt x="1223876" y="88887"/>
                </a:lnTo>
                <a:lnTo>
                  <a:pt x="1178920" y="71452"/>
                </a:lnTo>
                <a:lnTo>
                  <a:pt x="1130076" y="55640"/>
                </a:lnTo>
                <a:lnTo>
                  <a:pt x="1077637" y="41565"/>
                </a:lnTo>
                <a:lnTo>
                  <a:pt x="1021899" y="29341"/>
                </a:lnTo>
                <a:lnTo>
                  <a:pt x="963158" y="19083"/>
                </a:lnTo>
                <a:lnTo>
                  <a:pt x="901707" y="10906"/>
                </a:lnTo>
                <a:lnTo>
                  <a:pt x="837843" y="4923"/>
                </a:lnTo>
                <a:lnTo>
                  <a:pt x="771860" y="1249"/>
                </a:lnTo>
                <a:lnTo>
                  <a:pt x="704053" y="0"/>
                </a:lnTo>
                <a:close/>
              </a:path>
            </a:pathLst>
          </a:custGeom>
          <a:solidFill>
            <a:srgbClr val="FFFD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17500" y="6521450"/>
            <a:ext cx="1408430" cy="546100"/>
          </a:xfrm>
          <a:custGeom>
            <a:avLst/>
            <a:gdLst/>
            <a:ahLst/>
            <a:cxnLst/>
            <a:rect l="l" t="t" r="r" b="b"/>
            <a:pathLst>
              <a:path w="1408430" h="546100">
                <a:moveTo>
                  <a:pt x="0" y="273049"/>
                </a:moveTo>
                <a:lnTo>
                  <a:pt x="12695" y="221164"/>
                </a:lnTo>
                <a:lnTo>
                  <a:pt x="49207" y="172564"/>
                </a:lnTo>
                <a:lnTo>
                  <a:pt x="107175" y="128167"/>
                </a:lnTo>
                <a:lnTo>
                  <a:pt x="143468" y="107830"/>
                </a:lnTo>
                <a:lnTo>
                  <a:pt x="184240" y="88887"/>
                </a:lnTo>
                <a:lnTo>
                  <a:pt x="229195" y="71452"/>
                </a:lnTo>
                <a:lnTo>
                  <a:pt x="278040" y="55640"/>
                </a:lnTo>
                <a:lnTo>
                  <a:pt x="330478" y="41565"/>
                </a:lnTo>
                <a:lnTo>
                  <a:pt x="386215" y="29341"/>
                </a:lnTo>
                <a:lnTo>
                  <a:pt x="444956" y="19083"/>
                </a:lnTo>
                <a:lnTo>
                  <a:pt x="506406" y="10906"/>
                </a:lnTo>
                <a:lnTo>
                  <a:pt x="570269" y="4923"/>
                </a:lnTo>
                <a:lnTo>
                  <a:pt x="636251" y="1249"/>
                </a:lnTo>
                <a:lnTo>
                  <a:pt x="704056" y="0"/>
                </a:lnTo>
                <a:lnTo>
                  <a:pt x="771862" y="1249"/>
                </a:lnTo>
                <a:lnTo>
                  <a:pt x="837844" y="4923"/>
                </a:lnTo>
                <a:lnTo>
                  <a:pt x="901707" y="10906"/>
                </a:lnTo>
                <a:lnTo>
                  <a:pt x="963157" y="19083"/>
                </a:lnTo>
                <a:lnTo>
                  <a:pt x="1021897" y="29341"/>
                </a:lnTo>
                <a:lnTo>
                  <a:pt x="1077634" y="41565"/>
                </a:lnTo>
                <a:lnTo>
                  <a:pt x="1130072" y="55640"/>
                </a:lnTo>
                <a:lnTo>
                  <a:pt x="1178916" y="71452"/>
                </a:lnTo>
                <a:lnTo>
                  <a:pt x="1223871" y="88887"/>
                </a:lnTo>
                <a:lnTo>
                  <a:pt x="1264643" y="107830"/>
                </a:lnTo>
                <a:lnTo>
                  <a:pt x="1300935" y="128167"/>
                </a:lnTo>
                <a:lnTo>
                  <a:pt x="1332453" y="149783"/>
                </a:lnTo>
                <a:lnTo>
                  <a:pt x="1379987" y="196396"/>
                </a:lnTo>
                <a:lnTo>
                  <a:pt x="1404886" y="246753"/>
                </a:lnTo>
                <a:lnTo>
                  <a:pt x="1408108" y="273049"/>
                </a:lnTo>
                <a:lnTo>
                  <a:pt x="1404886" y="299346"/>
                </a:lnTo>
                <a:lnTo>
                  <a:pt x="1379987" y="349703"/>
                </a:lnTo>
                <a:lnTo>
                  <a:pt x="1332453" y="396315"/>
                </a:lnTo>
                <a:lnTo>
                  <a:pt x="1300935" y="417931"/>
                </a:lnTo>
                <a:lnTo>
                  <a:pt x="1264643" y="438268"/>
                </a:lnTo>
                <a:lnTo>
                  <a:pt x="1223871" y="457211"/>
                </a:lnTo>
                <a:lnTo>
                  <a:pt x="1178916" y="474646"/>
                </a:lnTo>
                <a:lnTo>
                  <a:pt x="1130072" y="490459"/>
                </a:lnTo>
                <a:lnTo>
                  <a:pt x="1077634" y="504534"/>
                </a:lnTo>
                <a:lnTo>
                  <a:pt x="1021897" y="516757"/>
                </a:lnTo>
                <a:lnTo>
                  <a:pt x="963157" y="527015"/>
                </a:lnTo>
                <a:lnTo>
                  <a:pt x="901707" y="535193"/>
                </a:lnTo>
                <a:lnTo>
                  <a:pt x="837844" y="541176"/>
                </a:lnTo>
                <a:lnTo>
                  <a:pt x="771862" y="544849"/>
                </a:lnTo>
                <a:lnTo>
                  <a:pt x="704056" y="546099"/>
                </a:lnTo>
                <a:lnTo>
                  <a:pt x="636251" y="544849"/>
                </a:lnTo>
                <a:lnTo>
                  <a:pt x="570269" y="541176"/>
                </a:lnTo>
                <a:lnTo>
                  <a:pt x="506406" y="535193"/>
                </a:lnTo>
                <a:lnTo>
                  <a:pt x="444956" y="527015"/>
                </a:lnTo>
                <a:lnTo>
                  <a:pt x="386215" y="516757"/>
                </a:lnTo>
                <a:lnTo>
                  <a:pt x="330478" y="504534"/>
                </a:lnTo>
                <a:lnTo>
                  <a:pt x="278040" y="490459"/>
                </a:lnTo>
                <a:lnTo>
                  <a:pt x="229195" y="474646"/>
                </a:lnTo>
                <a:lnTo>
                  <a:pt x="184240" y="457211"/>
                </a:lnTo>
                <a:lnTo>
                  <a:pt x="143468" y="438268"/>
                </a:lnTo>
                <a:lnTo>
                  <a:pt x="107175" y="417931"/>
                </a:lnTo>
                <a:lnTo>
                  <a:pt x="75656" y="396315"/>
                </a:lnTo>
                <a:lnTo>
                  <a:pt x="28121" y="349703"/>
                </a:lnTo>
                <a:lnTo>
                  <a:pt x="3222" y="299346"/>
                </a:lnTo>
                <a:lnTo>
                  <a:pt x="0" y="273049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335754" y="6598920"/>
            <a:ext cx="13627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Fachgebiet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374904" y="3930651"/>
            <a:ext cx="1408430" cy="546100"/>
          </a:xfrm>
          <a:custGeom>
            <a:avLst/>
            <a:gdLst/>
            <a:ahLst/>
            <a:cxnLst/>
            <a:rect l="l" t="t" r="r" b="b"/>
            <a:pathLst>
              <a:path w="1408429" h="546100">
                <a:moveTo>
                  <a:pt x="704049" y="0"/>
                </a:moveTo>
                <a:lnTo>
                  <a:pt x="636245" y="1249"/>
                </a:lnTo>
                <a:lnTo>
                  <a:pt x="570264" y="4923"/>
                </a:lnTo>
                <a:lnTo>
                  <a:pt x="506401" y="10906"/>
                </a:lnTo>
                <a:lnTo>
                  <a:pt x="444952" y="19083"/>
                </a:lnTo>
                <a:lnTo>
                  <a:pt x="386212" y="29341"/>
                </a:lnTo>
                <a:lnTo>
                  <a:pt x="330475" y="41565"/>
                </a:lnTo>
                <a:lnTo>
                  <a:pt x="278037" y="55640"/>
                </a:lnTo>
                <a:lnTo>
                  <a:pt x="229193" y="71453"/>
                </a:lnTo>
                <a:lnTo>
                  <a:pt x="184238" y="88888"/>
                </a:lnTo>
                <a:lnTo>
                  <a:pt x="143467" y="107831"/>
                </a:lnTo>
                <a:lnTo>
                  <a:pt x="107174" y="128168"/>
                </a:lnTo>
                <a:lnTo>
                  <a:pt x="75656" y="149784"/>
                </a:lnTo>
                <a:lnTo>
                  <a:pt x="28121" y="196397"/>
                </a:lnTo>
                <a:lnTo>
                  <a:pt x="3222" y="246753"/>
                </a:lnTo>
                <a:lnTo>
                  <a:pt x="0" y="273050"/>
                </a:lnTo>
                <a:lnTo>
                  <a:pt x="3222" y="299346"/>
                </a:lnTo>
                <a:lnTo>
                  <a:pt x="28121" y="349702"/>
                </a:lnTo>
                <a:lnTo>
                  <a:pt x="75656" y="396315"/>
                </a:lnTo>
                <a:lnTo>
                  <a:pt x="107174" y="417931"/>
                </a:lnTo>
                <a:lnTo>
                  <a:pt x="143467" y="438268"/>
                </a:lnTo>
                <a:lnTo>
                  <a:pt x="184238" y="457211"/>
                </a:lnTo>
                <a:lnTo>
                  <a:pt x="229193" y="474646"/>
                </a:lnTo>
                <a:lnTo>
                  <a:pt x="278037" y="490459"/>
                </a:lnTo>
                <a:lnTo>
                  <a:pt x="330475" y="504534"/>
                </a:lnTo>
                <a:lnTo>
                  <a:pt x="386212" y="516758"/>
                </a:lnTo>
                <a:lnTo>
                  <a:pt x="444952" y="527016"/>
                </a:lnTo>
                <a:lnTo>
                  <a:pt x="506401" y="535193"/>
                </a:lnTo>
                <a:lnTo>
                  <a:pt x="570264" y="541176"/>
                </a:lnTo>
                <a:lnTo>
                  <a:pt x="636245" y="544850"/>
                </a:lnTo>
                <a:lnTo>
                  <a:pt x="704049" y="546100"/>
                </a:lnTo>
                <a:lnTo>
                  <a:pt x="771856" y="544850"/>
                </a:lnTo>
                <a:lnTo>
                  <a:pt x="837839" y="541176"/>
                </a:lnTo>
                <a:lnTo>
                  <a:pt x="901703" y="535193"/>
                </a:lnTo>
                <a:lnTo>
                  <a:pt x="963154" y="527016"/>
                </a:lnTo>
                <a:lnTo>
                  <a:pt x="1021895" y="516758"/>
                </a:lnTo>
                <a:lnTo>
                  <a:pt x="1077633" y="504534"/>
                </a:lnTo>
                <a:lnTo>
                  <a:pt x="1130072" y="490459"/>
                </a:lnTo>
                <a:lnTo>
                  <a:pt x="1178916" y="474646"/>
                </a:lnTo>
                <a:lnTo>
                  <a:pt x="1223872" y="457211"/>
                </a:lnTo>
                <a:lnTo>
                  <a:pt x="1264644" y="438268"/>
                </a:lnTo>
                <a:lnTo>
                  <a:pt x="1300937" y="417931"/>
                </a:lnTo>
                <a:lnTo>
                  <a:pt x="1332455" y="396315"/>
                </a:lnTo>
                <a:lnTo>
                  <a:pt x="1379991" y="349702"/>
                </a:lnTo>
                <a:lnTo>
                  <a:pt x="1404889" y="299346"/>
                </a:lnTo>
                <a:lnTo>
                  <a:pt x="1408112" y="273050"/>
                </a:lnTo>
                <a:lnTo>
                  <a:pt x="1404889" y="246753"/>
                </a:lnTo>
                <a:lnTo>
                  <a:pt x="1379991" y="196397"/>
                </a:lnTo>
                <a:lnTo>
                  <a:pt x="1332455" y="149784"/>
                </a:lnTo>
                <a:lnTo>
                  <a:pt x="1300937" y="128168"/>
                </a:lnTo>
                <a:lnTo>
                  <a:pt x="1264644" y="107831"/>
                </a:lnTo>
                <a:lnTo>
                  <a:pt x="1223872" y="88888"/>
                </a:lnTo>
                <a:lnTo>
                  <a:pt x="1178916" y="71453"/>
                </a:lnTo>
                <a:lnTo>
                  <a:pt x="1130072" y="55640"/>
                </a:lnTo>
                <a:lnTo>
                  <a:pt x="1077633" y="41565"/>
                </a:lnTo>
                <a:lnTo>
                  <a:pt x="1021895" y="29341"/>
                </a:lnTo>
                <a:lnTo>
                  <a:pt x="963154" y="19083"/>
                </a:lnTo>
                <a:lnTo>
                  <a:pt x="901703" y="10906"/>
                </a:lnTo>
                <a:lnTo>
                  <a:pt x="837839" y="4923"/>
                </a:lnTo>
                <a:lnTo>
                  <a:pt x="771856" y="1249"/>
                </a:lnTo>
                <a:lnTo>
                  <a:pt x="704049" y="0"/>
                </a:lnTo>
                <a:close/>
              </a:path>
            </a:pathLst>
          </a:custGeom>
          <a:solidFill>
            <a:srgbClr val="FFFD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374903" y="3930651"/>
            <a:ext cx="1408430" cy="546100"/>
          </a:xfrm>
          <a:custGeom>
            <a:avLst/>
            <a:gdLst/>
            <a:ahLst/>
            <a:cxnLst/>
            <a:rect l="l" t="t" r="r" b="b"/>
            <a:pathLst>
              <a:path w="1408429" h="546100">
                <a:moveTo>
                  <a:pt x="0" y="273049"/>
                </a:moveTo>
                <a:lnTo>
                  <a:pt x="12695" y="221164"/>
                </a:lnTo>
                <a:lnTo>
                  <a:pt x="49207" y="172564"/>
                </a:lnTo>
                <a:lnTo>
                  <a:pt x="107175" y="128167"/>
                </a:lnTo>
                <a:lnTo>
                  <a:pt x="143468" y="107830"/>
                </a:lnTo>
                <a:lnTo>
                  <a:pt x="184240" y="88887"/>
                </a:lnTo>
                <a:lnTo>
                  <a:pt x="229195" y="71452"/>
                </a:lnTo>
                <a:lnTo>
                  <a:pt x="278040" y="55640"/>
                </a:lnTo>
                <a:lnTo>
                  <a:pt x="330478" y="41565"/>
                </a:lnTo>
                <a:lnTo>
                  <a:pt x="386215" y="29341"/>
                </a:lnTo>
                <a:lnTo>
                  <a:pt x="444956" y="19083"/>
                </a:lnTo>
                <a:lnTo>
                  <a:pt x="506406" y="10906"/>
                </a:lnTo>
                <a:lnTo>
                  <a:pt x="570269" y="4923"/>
                </a:lnTo>
                <a:lnTo>
                  <a:pt x="636251" y="1249"/>
                </a:lnTo>
                <a:lnTo>
                  <a:pt x="704056" y="0"/>
                </a:lnTo>
                <a:lnTo>
                  <a:pt x="771862" y="1249"/>
                </a:lnTo>
                <a:lnTo>
                  <a:pt x="837844" y="4923"/>
                </a:lnTo>
                <a:lnTo>
                  <a:pt x="901707" y="10906"/>
                </a:lnTo>
                <a:lnTo>
                  <a:pt x="963157" y="19083"/>
                </a:lnTo>
                <a:lnTo>
                  <a:pt x="1021897" y="29341"/>
                </a:lnTo>
                <a:lnTo>
                  <a:pt x="1077634" y="41565"/>
                </a:lnTo>
                <a:lnTo>
                  <a:pt x="1130072" y="55640"/>
                </a:lnTo>
                <a:lnTo>
                  <a:pt x="1178916" y="71452"/>
                </a:lnTo>
                <a:lnTo>
                  <a:pt x="1223871" y="88887"/>
                </a:lnTo>
                <a:lnTo>
                  <a:pt x="1264643" y="107830"/>
                </a:lnTo>
                <a:lnTo>
                  <a:pt x="1300935" y="128167"/>
                </a:lnTo>
                <a:lnTo>
                  <a:pt x="1332453" y="149783"/>
                </a:lnTo>
                <a:lnTo>
                  <a:pt x="1379988" y="196396"/>
                </a:lnTo>
                <a:lnTo>
                  <a:pt x="1404886" y="246753"/>
                </a:lnTo>
                <a:lnTo>
                  <a:pt x="1408109" y="273049"/>
                </a:lnTo>
                <a:lnTo>
                  <a:pt x="1404886" y="299346"/>
                </a:lnTo>
                <a:lnTo>
                  <a:pt x="1379988" y="349703"/>
                </a:lnTo>
                <a:lnTo>
                  <a:pt x="1332453" y="396315"/>
                </a:lnTo>
                <a:lnTo>
                  <a:pt x="1300935" y="417931"/>
                </a:lnTo>
                <a:lnTo>
                  <a:pt x="1264643" y="438268"/>
                </a:lnTo>
                <a:lnTo>
                  <a:pt x="1223871" y="457211"/>
                </a:lnTo>
                <a:lnTo>
                  <a:pt x="1178916" y="474646"/>
                </a:lnTo>
                <a:lnTo>
                  <a:pt x="1130072" y="490458"/>
                </a:lnTo>
                <a:lnTo>
                  <a:pt x="1077634" y="504534"/>
                </a:lnTo>
                <a:lnTo>
                  <a:pt x="1021897" y="516757"/>
                </a:lnTo>
                <a:lnTo>
                  <a:pt x="963157" y="527015"/>
                </a:lnTo>
                <a:lnTo>
                  <a:pt x="901707" y="535193"/>
                </a:lnTo>
                <a:lnTo>
                  <a:pt x="837844" y="541176"/>
                </a:lnTo>
                <a:lnTo>
                  <a:pt x="771862" y="544849"/>
                </a:lnTo>
                <a:lnTo>
                  <a:pt x="704056" y="546099"/>
                </a:lnTo>
                <a:lnTo>
                  <a:pt x="636251" y="544849"/>
                </a:lnTo>
                <a:lnTo>
                  <a:pt x="570269" y="541176"/>
                </a:lnTo>
                <a:lnTo>
                  <a:pt x="506406" y="535193"/>
                </a:lnTo>
                <a:lnTo>
                  <a:pt x="444956" y="527015"/>
                </a:lnTo>
                <a:lnTo>
                  <a:pt x="386215" y="516757"/>
                </a:lnTo>
                <a:lnTo>
                  <a:pt x="330478" y="504534"/>
                </a:lnTo>
                <a:lnTo>
                  <a:pt x="278040" y="490458"/>
                </a:lnTo>
                <a:lnTo>
                  <a:pt x="229195" y="474646"/>
                </a:lnTo>
                <a:lnTo>
                  <a:pt x="184240" y="457211"/>
                </a:lnTo>
                <a:lnTo>
                  <a:pt x="143468" y="438268"/>
                </a:lnTo>
                <a:lnTo>
                  <a:pt x="107175" y="417931"/>
                </a:lnTo>
                <a:lnTo>
                  <a:pt x="75656" y="396315"/>
                </a:lnTo>
                <a:lnTo>
                  <a:pt x="28121" y="349703"/>
                </a:lnTo>
                <a:lnTo>
                  <a:pt x="3222" y="299346"/>
                </a:lnTo>
                <a:lnTo>
                  <a:pt x="0" y="273049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2774153" y="4008121"/>
            <a:ext cx="6178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No</a:t>
            </a:r>
            <a:r>
              <a:rPr sz="2400" spc="-5" dirty="0">
                <a:latin typeface="Times New Roman"/>
                <a:cs typeface="Times New Roman"/>
              </a:rPr>
              <a:t>t</a:t>
            </a:r>
            <a:r>
              <a:rPr sz="2400" dirty="0"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4279903" y="1797051"/>
            <a:ext cx="1187450" cy="728980"/>
          </a:xfrm>
          <a:custGeom>
            <a:avLst/>
            <a:gdLst/>
            <a:ahLst/>
            <a:cxnLst/>
            <a:rect l="l" t="t" r="r" b="b"/>
            <a:pathLst>
              <a:path w="1187450" h="728980">
                <a:moveTo>
                  <a:pt x="593725" y="0"/>
                </a:moveTo>
                <a:lnTo>
                  <a:pt x="0" y="364337"/>
                </a:lnTo>
                <a:lnTo>
                  <a:pt x="593725" y="728662"/>
                </a:lnTo>
                <a:lnTo>
                  <a:pt x="1187450" y="364337"/>
                </a:lnTo>
                <a:lnTo>
                  <a:pt x="593725" y="0"/>
                </a:lnTo>
                <a:close/>
              </a:path>
            </a:pathLst>
          </a:custGeom>
          <a:solidFill>
            <a:srgbClr val="73FB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279903" y="1797051"/>
            <a:ext cx="1187450" cy="728980"/>
          </a:xfrm>
          <a:custGeom>
            <a:avLst/>
            <a:gdLst/>
            <a:ahLst/>
            <a:cxnLst/>
            <a:rect l="l" t="t" r="r" b="b"/>
            <a:pathLst>
              <a:path w="1187450" h="728980">
                <a:moveTo>
                  <a:pt x="0" y="364331"/>
                </a:moveTo>
                <a:lnTo>
                  <a:pt x="593724" y="0"/>
                </a:lnTo>
                <a:lnTo>
                  <a:pt x="1187449" y="364331"/>
                </a:lnTo>
                <a:lnTo>
                  <a:pt x="593724" y="728662"/>
                </a:lnTo>
                <a:lnTo>
                  <a:pt x="0" y="364331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4515806" y="1965809"/>
            <a:ext cx="7194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hör</a:t>
            </a:r>
            <a:r>
              <a:rPr sz="2400" spc="-5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4254503" y="3852864"/>
            <a:ext cx="1187450" cy="727075"/>
          </a:xfrm>
          <a:custGeom>
            <a:avLst/>
            <a:gdLst/>
            <a:ahLst/>
            <a:cxnLst/>
            <a:rect l="l" t="t" r="r" b="b"/>
            <a:pathLst>
              <a:path w="1187450" h="727075">
                <a:moveTo>
                  <a:pt x="593725" y="0"/>
                </a:moveTo>
                <a:lnTo>
                  <a:pt x="0" y="363537"/>
                </a:lnTo>
                <a:lnTo>
                  <a:pt x="593725" y="727075"/>
                </a:lnTo>
                <a:lnTo>
                  <a:pt x="1187450" y="363537"/>
                </a:lnTo>
                <a:lnTo>
                  <a:pt x="593725" y="0"/>
                </a:lnTo>
                <a:close/>
              </a:path>
            </a:pathLst>
          </a:custGeom>
          <a:solidFill>
            <a:srgbClr val="73FB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254503" y="3852864"/>
            <a:ext cx="1187450" cy="727075"/>
          </a:xfrm>
          <a:custGeom>
            <a:avLst/>
            <a:gdLst/>
            <a:ahLst/>
            <a:cxnLst/>
            <a:rect l="l" t="t" r="r" b="b"/>
            <a:pathLst>
              <a:path w="1187450" h="727075">
                <a:moveTo>
                  <a:pt x="0" y="363537"/>
                </a:moveTo>
                <a:lnTo>
                  <a:pt x="593724" y="0"/>
                </a:lnTo>
                <a:lnTo>
                  <a:pt x="1187449" y="363537"/>
                </a:lnTo>
                <a:lnTo>
                  <a:pt x="593724" y="727074"/>
                </a:lnTo>
                <a:lnTo>
                  <a:pt x="0" y="363537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4439606" y="4020821"/>
            <a:ext cx="8210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prüf</a:t>
            </a:r>
            <a:r>
              <a:rPr sz="2400" spc="-5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3898903" y="5607051"/>
            <a:ext cx="1752600" cy="974725"/>
          </a:xfrm>
          <a:custGeom>
            <a:avLst/>
            <a:gdLst/>
            <a:ahLst/>
            <a:cxnLst/>
            <a:rect l="l" t="t" r="r" b="b"/>
            <a:pathLst>
              <a:path w="1752600" h="974725">
                <a:moveTo>
                  <a:pt x="876300" y="0"/>
                </a:moveTo>
                <a:lnTo>
                  <a:pt x="0" y="487362"/>
                </a:lnTo>
                <a:lnTo>
                  <a:pt x="876300" y="974723"/>
                </a:lnTo>
                <a:lnTo>
                  <a:pt x="1752600" y="487362"/>
                </a:lnTo>
                <a:lnTo>
                  <a:pt x="876300" y="0"/>
                </a:lnTo>
                <a:close/>
              </a:path>
            </a:pathLst>
          </a:custGeom>
          <a:solidFill>
            <a:srgbClr val="73FB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3898903" y="5607051"/>
            <a:ext cx="1752600" cy="974725"/>
          </a:xfrm>
          <a:custGeom>
            <a:avLst/>
            <a:gdLst/>
            <a:ahLst/>
            <a:cxnLst/>
            <a:rect l="l" t="t" r="r" b="b"/>
            <a:pathLst>
              <a:path w="1752600" h="974725">
                <a:moveTo>
                  <a:pt x="0" y="487362"/>
                </a:moveTo>
                <a:lnTo>
                  <a:pt x="876299" y="0"/>
                </a:lnTo>
                <a:lnTo>
                  <a:pt x="1752599" y="487362"/>
                </a:lnTo>
                <a:lnTo>
                  <a:pt x="876299" y="974724"/>
                </a:lnTo>
                <a:lnTo>
                  <a:pt x="0" y="487362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4060194" y="5898834"/>
            <a:ext cx="14306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arbeitenFür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108703" y="5835651"/>
            <a:ext cx="1631950" cy="455930"/>
          </a:xfrm>
          <a:prstGeom prst="rect">
            <a:avLst/>
          </a:prstGeom>
          <a:solidFill>
            <a:srgbClr val="FFFB00"/>
          </a:solidFill>
          <a:ln w="6349">
            <a:solidFill>
              <a:srgbClr val="000000"/>
            </a:solidFill>
          </a:ln>
        </p:spPr>
        <p:txBody>
          <a:bodyPr vert="horz" wrap="square" lIns="0" tIns="4445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50"/>
              </a:spcBef>
            </a:pPr>
            <a:r>
              <a:rPr sz="2400" spc="-5" dirty="0">
                <a:latin typeface="Times New Roman"/>
                <a:cs typeface="Times New Roman"/>
              </a:rPr>
              <a:t>Professoren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813429" y="1936751"/>
            <a:ext cx="1631950" cy="455930"/>
          </a:xfrm>
          <a:prstGeom prst="rect">
            <a:avLst/>
          </a:prstGeom>
          <a:solidFill>
            <a:srgbClr val="FFFB00"/>
          </a:solidFill>
          <a:ln w="6349">
            <a:solidFill>
              <a:srgbClr val="000000"/>
            </a:solidFill>
          </a:ln>
        </p:spPr>
        <p:txBody>
          <a:bodyPr vert="horz" wrap="square" lIns="0" tIns="44450" rIns="0" bIns="0" rtlCol="0">
            <a:spAutoFit/>
          </a:bodyPr>
          <a:lstStyle/>
          <a:p>
            <a:pPr marL="52705">
              <a:lnSpc>
                <a:spcPct val="100000"/>
              </a:lnSpc>
              <a:spcBef>
                <a:spcPts val="350"/>
              </a:spcBef>
            </a:pPr>
            <a:r>
              <a:rPr sz="2400" spc="-30" dirty="0">
                <a:latin typeface="Times New Roman"/>
                <a:cs typeface="Times New Roman"/>
              </a:rPr>
              <a:t>Vorlesungen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6718303" y="3778251"/>
            <a:ext cx="1186180" cy="727075"/>
          </a:xfrm>
          <a:custGeom>
            <a:avLst/>
            <a:gdLst/>
            <a:ahLst/>
            <a:cxnLst/>
            <a:rect l="l" t="t" r="r" b="b"/>
            <a:pathLst>
              <a:path w="1186179" h="727075">
                <a:moveTo>
                  <a:pt x="592924" y="0"/>
                </a:moveTo>
                <a:lnTo>
                  <a:pt x="0" y="363537"/>
                </a:lnTo>
                <a:lnTo>
                  <a:pt x="592924" y="727075"/>
                </a:lnTo>
                <a:lnTo>
                  <a:pt x="1185862" y="363537"/>
                </a:lnTo>
                <a:lnTo>
                  <a:pt x="592924" y="0"/>
                </a:lnTo>
                <a:close/>
              </a:path>
            </a:pathLst>
          </a:custGeom>
          <a:solidFill>
            <a:srgbClr val="73FB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6718303" y="3778251"/>
            <a:ext cx="1186180" cy="727075"/>
          </a:xfrm>
          <a:custGeom>
            <a:avLst/>
            <a:gdLst/>
            <a:ahLst/>
            <a:cxnLst/>
            <a:rect l="l" t="t" r="r" b="b"/>
            <a:pathLst>
              <a:path w="1186179" h="727075">
                <a:moveTo>
                  <a:pt x="0" y="363537"/>
                </a:moveTo>
                <a:lnTo>
                  <a:pt x="592931" y="0"/>
                </a:lnTo>
                <a:lnTo>
                  <a:pt x="1185859" y="363537"/>
                </a:lnTo>
                <a:lnTo>
                  <a:pt x="592931" y="727074"/>
                </a:lnTo>
                <a:lnTo>
                  <a:pt x="0" y="363537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6979200" y="3946209"/>
            <a:ext cx="6521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le</a:t>
            </a:r>
            <a:r>
              <a:rPr sz="2400" dirty="0">
                <a:latin typeface="Times New Roman"/>
                <a:cs typeface="Times New Roman"/>
              </a:rPr>
              <a:t>s</a:t>
            </a:r>
            <a:r>
              <a:rPr sz="2400" spc="-5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5534028" y="477839"/>
            <a:ext cx="2098675" cy="633730"/>
          </a:xfrm>
          <a:custGeom>
            <a:avLst/>
            <a:gdLst/>
            <a:ahLst/>
            <a:cxnLst/>
            <a:rect l="l" t="t" r="r" b="b"/>
            <a:pathLst>
              <a:path w="2098675" h="633730">
                <a:moveTo>
                  <a:pt x="1049337" y="0"/>
                </a:moveTo>
                <a:lnTo>
                  <a:pt x="0" y="316712"/>
                </a:lnTo>
                <a:lnTo>
                  <a:pt x="1049337" y="633412"/>
                </a:lnTo>
                <a:lnTo>
                  <a:pt x="2098675" y="316712"/>
                </a:lnTo>
                <a:lnTo>
                  <a:pt x="1049337" y="0"/>
                </a:lnTo>
                <a:close/>
              </a:path>
            </a:pathLst>
          </a:custGeom>
          <a:solidFill>
            <a:srgbClr val="73FB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5534028" y="477839"/>
            <a:ext cx="2098675" cy="633730"/>
          </a:xfrm>
          <a:custGeom>
            <a:avLst/>
            <a:gdLst/>
            <a:ahLst/>
            <a:cxnLst/>
            <a:rect l="l" t="t" r="r" b="b"/>
            <a:pathLst>
              <a:path w="2098675" h="633730">
                <a:moveTo>
                  <a:pt x="0" y="316705"/>
                </a:moveTo>
                <a:lnTo>
                  <a:pt x="1049339" y="0"/>
                </a:lnTo>
                <a:lnTo>
                  <a:pt x="2098668" y="316705"/>
                </a:lnTo>
                <a:lnTo>
                  <a:pt x="1049339" y="633411"/>
                </a:lnTo>
                <a:lnTo>
                  <a:pt x="0" y="316705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5781831" y="598971"/>
            <a:ext cx="15995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voraussetzen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8051803" y="1873251"/>
            <a:ext cx="1409700" cy="546100"/>
          </a:xfrm>
          <a:custGeom>
            <a:avLst/>
            <a:gdLst/>
            <a:ahLst/>
            <a:cxnLst/>
            <a:rect l="l" t="t" r="r" b="b"/>
            <a:pathLst>
              <a:path w="1409700" h="546100">
                <a:moveTo>
                  <a:pt x="704850" y="0"/>
                </a:moveTo>
                <a:lnTo>
                  <a:pt x="636967" y="1249"/>
                </a:lnTo>
                <a:lnTo>
                  <a:pt x="570911" y="4923"/>
                </a:lnTo>
                <a:lnTo>
                  <a:pt x="506976" y="10906"/>
                </a:lnTo>
                <a:lnTo>
                  <a:pt x="445457" y="19083"/>
                </a:lnTo>
                <a:lnTo>
                  <a:pt x="386649" y="29341"/>
                </a:lnTo>
                <a:lnTo>
                  <a:pt x="330849" y="41565"/>
                </a:lnTo>
                <a:lnTo>
                  <a:pt x="278352" y="55640"/>
                </a:lnTo>
                <a:lnTo>
                  <a:pt x="229453" y="71453"/>
                </a:lnTo>
                <a:lnTo>
                  <a:pt x="184446" y="88888"/>
                </a:lnTo>
                <a:lnTo>
                  <a:pt x="143629" y="107831"/>
                </a:lnTo>
                <a:lnTo>
                  <a:pt x="107295" y="128168"/>
                </a:lnTo>
                <a:lnTo>
                  <a:pt x="75741" y="149784"/>
                </a:lnTo>
                <a:lnTo>
                  <a:pt x="28153" y="196397"/>
                </a:lnTo>
                <a:lnTo>
                  <a:pt x="3226" y="246753"/>
                </a:lnTo>
                <a:lnTo>
                  <a:pt x="0" y="273050"/>
                </a:lnTo>
                <a:lnTo>
                  <a:pt x="3226" y="299346"/>
                </a:lnTo>
                <a:lnTo>
                  <a:pt x="28153" y="349702"/>
                </a:lnTo>
                <a:lnTo>
                  <a:pt x="75741" y="396315"/>
                </a:lnTo>
                <a:lnTo>
                  <a:pt x="107295" y="417931"/>
                </a:lnTo>
                <a:lnTo>
                  <a:pt x="143629" y="438268"/>
                </a:lnTo>
                <a:lnTo>
                  <a:pt x="184446" y="457211"/>
                </a:lnTo>
                <a:lnTo>
                  <a:pt x="229453" y="474646"/>
                </a:lnTo>
                <a:lnTo>
                  <a:pt x="278352" y="490459"/>
                </a:lnTo>
                <a:lnTo>
                  <a:pt x="330849" y="504534"/>
                </a:lnTo>
                <a:lnTo>
                  <a:pt x="386649" y="516758"/>
                </a:lnTo>
                <a:lnTo>
                  <a:pt x="445457" y="527016"/>
                </a:lnTo>
                <a:lnTo>
                  <a:pt x="506976" y="535193"/>
                </a:lnTo>
                <a:lnTo>
                  <a:pt x="570911" y="541176"/>
                </a:lnTo>
                <a:lnTo>
                  <a:pt x="636967" y="544850"/>
                </a:lnTo>
                <a:lnTo>
                  <a:pt x="704850" y="546100"/>
                </a:lnTo>
                <a:lnTo>
                  <a:pt x="772730" y="544850"/>
                </a:lnTo>
                <a:lnTo>
                  <a:pt x="838785" y="541176"/>
                </a:lnTo>
                <a:lnTo>
                  <a:pt x="902719" y="535193"/>
                </a:lnTo>
                <a:lnTo>
                  <a:pt x="964237" y="527016"/>
                </a:lnTo>
                <a:lnTo>
                  <a:pt x="1023044" y="516758"/>
                </a:lnTo>
                <a:lnTo>
                  <a:pt x="1078844" y="504534"/>
                </a:lnTo>
                <a:lnTo>
                  <a:pt x="1131342" y="490459"/>
                </a:lnTo>
                <a:lnTo>
                  <a:pt x="1180241" y="474646"/>
                </a:lnTo>
                <a:lnTo>
                  <a:pt x="1225248" y="457211"/>
                </a:lnTo>
                <a:lnTo>
                  <a:pt x="1266066" y="438268"/>
                </a:lnTo>
                <a:lnTo>
                  <a:pt x="1302401" y="417931"/>
                </a:lnTo>
                <a:lnTo>
                  <a:pt x="1333955" y="396315"/>
                </a:lnTo>
                <a:lnTo>
                  <a:pt x="1381545" y="349702"/>
                </a:lnTo>
                <a:lnTo>
                  <a:pt x="1406473" y="299346"/>
                </a:lnTo>
                <a:lnTo>
                  <a:pt x="1409700" y="273050"/>
                </a:lnTo>
                <a:lnTo>
                  <a:pt x="1406473" y="246753"/>
                </a:lnTo>
                <a:lnTo>
                  <a:pt x="1381545" y="196397"/>
                </a:lnTo>
                <a:lnTo>
                  <a:pt x="1333955" y="149784"/>
                </a:lnTo>
                <a:lnTo>
                  <a:pt x="1302401" y="128168"/>
                </a:lnTo>
                <a:lnTo>
                  <a:pt x="1266066" y="107831"/>
                </a:lnTo>
                <a:lnTo>
                  <a:pt x="1225248" y="88888"/>
                </a:lnTo>
                <a:lnTo>
                  <a:pt x="1180241" y="71453"/>
                </a:lnTo>
                <a:lnTo>
                  <a:pt x="1131342" y="55640"/>
                </a:lnTo>
                <a:lnTo>
                  <a:pt x="1078844" y="41565"/>
                </a:lnTo>
                <a:lnTo>
                  <a:pt x="1023044" y="29341"/>
                </a:lnTo>
                <a:lnTo>
                  <a:pt x="964237" y="19083"/>
                </a:lnTo>
                <a:lnTo>
                  <a:pt x="902719" y="10906"/>
                </a:lnTo>
                <a:lnTo>
                  <a:pt x="838785" y="4923"/>
                </a:lnTo>
                <a:lnTo>
                  <a:pt x="772730" y="1249"/>
                </a:lnTo>
                <a:lnTo>
                  <a:pt x="704850" y="0"/>
                </a:lnTo>
                <a:close/>
              </a:path>
            </a:pathLst>
          </a:custGeom>
          <a:solidFill>
            <a:srgbClr val="FFFD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8051804" y="1873251"/>
            <a:ext cx="1409700" cy="546100"/>
          </a:xfrm>
          <a:custGeom>
            <a:avLst/>
            <a:gdLst/>
            <a:ahLst/>
            <a:cxnLst/>
            <a:rect l="l" t="t" r="r" b="b"/>
            <a:pathLst>
              <a:path w="1409700" h="546100">
                <a:moveTo>
                  <a:pt x="0" y="273049"/>
                </a:moveTo>
                <a:lnTo>
                  <a:pt x="12709" y="221164"/>
                </a:lnTo>
                <a:lnTo>
                  <a:pt x="49262" y="172564"/>
                </a:lnTo>
                <a:lnTo>
                  <a:pt x="107296" y="128167"/>
                </a:lnTo>
                <a:lnTo>
                  <a:pt x="143630" y="107830"/>
                </a:lnTo>
                <a:lnTo>
                  <a:pt x="184447" y="88887"/>
                </a:lnTo>
                <a:lnTo>
                  <a:pt x="229454" y="71452"/>
                </a:lnTo>
                <a:lnTo>
                  <a:pt x="278353" y="55640"/>
                </a:lnTo>
                <a:lnTo>
                  <a:pt x="330850" y="41565"/>
                </a:lnTo>
                <a:lnTo>
                  <a:pt x="386650" y="29341"/>
                </a:lnTo>
                <a:lnTo>
                  <a:pt x="445457" y="19083"/>
                </a:lnTo>
                <a:lnTo>
                  <a:pt x="506976" y="10906"/>
                </a:lnTo>
                <a:lnTo>
                  <a:pt x="570911" y="4923"/>
                </a:lnTo>
                <a:lnTo>
                  <a:pt x="636967" y="1249"/>
                </a:lnTo>
                <a:lnTo>
                  <a:pt x="704849" y="0"/>
                </a:lnTo>
                <a:lnTo>
                  <a:pt x="772731" y="1249"/>
                </a:lnTo>
                <a:lnTo>
                  <a:pt x="838787" y="4923"/>
                </a:lnTo>
                <a:lnTo>
                  <a:pt x="902722" y="10906"/>
                </a:lnTo>
                <a:lnTo>
                  <a:pt x="964241" y="19083"/>
                </a:lnTo>
                <a:lnTo>
                  <a:pt x="1023048" y="29341"/>
                </a:lnTo>
                <a:lnTo>
                  <a:pt x="1078848" y="41565"/>
                </a:lnTo>
                <a:lnTo>
                  <a:pt x="1131346" y="55640"/>
                </a:lnTo>
                <a:lnTo>
                  <a:pt x="1180245" y="71452"/>
                </a:lnTo>
                <a:lnTo>
                  <a:pt x="1225251" y="88887"/>
                </a:lnTo>
                <a:lnTo>
                  <a:pt x="1266069" y="107830"/>
                </a:lnTo>
                <a:lnTo>
                  <a:pt x="1302402" y="128167"/>
                </a:lnTo>
                <a:lnTo>
                  <a:pt x="1333956" y="149783"/>
                </a:lnTo>
                <a:lnTo>
                  <a:pt x="1381545" y="196396"/>
                </a:lnTo>
                <a:lnTo>
                  <a:pt x="1406472" y="246753"/>
                </a:lnTo>
                <a:lnTo>
                  <a:pt x="1409698" y="273049"/>
                </a:lnTo>
                <a:lnTo>
                  <a:pt x="1406472" y="299346"/>
                </a:lnTo>
                <a:lnTo>
                  <a:pt x="1381545" y="349703"/>
                </a:lnTo>
                <a:lnTo>
                  <a:pt x="1333956" y="396315"/>
                </a:lnTo>
                <a:lnTo>
                  <a:pt x="1302402" y="417932"/>
                </a:lnTo>
                <a:lnTo>
                  <a:pt x="1266069" y="438268"/>
                </a:lnTo>
                <a:lnTo>
                  <a:pt x="1225251" y="457212"/>
                </a:lnTo>
                <a:lnTo>
                  <a:pt x="1180245" y="474646"/>
                </a:lnTo>
                <a:lnTo>
                  <a:pt x="1131346" y="490459"/>
                </a:lnTo>
                <a:lnTo>
                  <a:pt x="1078848" y="504534"/>
                </a:lnTo>
                <a:lnTo>
                  <a:pt x="1023048" y="516758"/>
                </a:lnTo>
                <a:lnTo>
                  <a:pt x="964241" y="527015"/>
                </a:lnTo>
                <a:lnTo>
                  <a:pt x="902722" y="535193"/>
                </a:lnTo>
                <a:lnTo>
                  <a:pt x="838787" y="541176"/>
                </a:lnTo>
                <a:lnTo>
                  <a:pt x="772731" y="544849"/>
                </a:lnTo>
                <a:lnTo>
                  <a:pt x="704849" y="546099"/>
                </a:lnTo>
                <a:lnTo>
                  <a:pt x="636967" y="544849"/>
                </a:lnTo>
                <a:lnTo>
                  <a:pt x="570911" y="541176"/>
                </a:lnTo>
                <a:lnTo>
                  <a:pt x="506976" y="535193"/>
                </a:lnTo>
                <a:lnTo>
                  <a:pt x="445457" y="527015"/>
                </a:lnTo>
                <a:lnTo>
                  <a:pt x="386650" y="516758"/>
                </a:lnTo>
                <a:lnTo>
                  <a:pt x="330850" y="504534"/>
                </a:lnTo>
                <a:lnTo>
                  <a:pt x="278353" y="490459"/>
                </a:lnTo>
                <a:lnTo>
                  <a:pt x="229454" y="474646"/>
                </a:lnTo>
                <a:lnTo>
                  <a:pt x="184447" y="457212"/>
                </a:lnTo>
                <a:lnTo>
                  <a:pt x="143630" y="438268"/>
                </a:lnTo>
                <a:lnTo>
                  <a:pt x="107296" y="417932"/>
                </a:lnTo>
                <a:lnTo>
                  <a:pt x="75742" y="396315"/>
                </a:lnTo>
                <a:lnTo>
                  <a:pt x="28153" y="349703"/>
                </a:lnTo>
                <a:lnTo>
                  <a:pt x="3226" y="299346"/>
                </a:lnTo>
                <a:lnTo>
                  <a:pt x="0" y="273049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8425882" y="1950721"/>
            <a:ext cx="6521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SWS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8051803" y="1111251"/>
            <a:ext cx="1409700" cy="548005"/>
          </a:xfrm>
          <a:custGeom>
            <a:avLst/>
            <a:gdLst/>
            <a:ahLst/>
            <a:cxnLst/>
            <a:rect l="l" t="t" r="r" b="b"/>
            <a:pathLst>
              <a:path w="1409700" h="548005">
                <a:moveTo>
                  <a:pt x="704850" y="0"/>
                </a:moveTo>
                <a:lnTo>
                  <a:pt x="636967" y="1253"/>
                </a:lnTo>
                <a:lnTo>
                  <a:pt x="570911" y="4937"/>
                </a:lnTo>
                <a:lnTo>
                  <a:pt x="506976" y="10938"/>
                </a:lnTo>
                <a:lnTo>
                  <a:pt x="445457" y="19139"/>
                </a:lnTo>
                <a:lnTo>
                  <a:pt x="386649" y="29427"/>
                </a:lnTo>
                <a:lnTo>
                  <a:pt x="330849" y="41686"/>
                </a:lnTo>
                <a:lnTo>
                  <a:pt x="278352" y="55803"/>
                </a:lnTo>
                <a:lnTo>
                  <a:pt x="229453" y="71661"/>
                </a:lnTo>
                <a:lnTo>
                  <a:pt x="184446" y="89147"/>
                </a:lnTo>
                <a:lnTo>
                  <a:pt x="143629" y="108146"/>
                </a:lnTo>
                <a:lnTo>
                  <a:pt x="107295" y="128542"/>
                </a:lnTo>
                <a:lnTo>
                  <a:pt x="75741" y="150222"/>
                </a:lnTo>
                <a:lnTo>
                  <a:pt x="28153" y="196971"/>
                </a:lnTo>
                <a:lnTo>
                  <a:pt x="3226" y="247476"/>
                </a:lnTo>
                <a:lnTo>
                  <a:pt x="0" y="273850"/>
                </a:lnTo>
                <a:lnTo>
                  <a:pt x="3226" y="300221"/>
                </a:lnTo>
                <a:lnTo>
                  <a:pt x="28153" y="350723"/>
                </a:lnTo>
                <a:lnTo>
                  <a:pt x="75741" y="397469"/>
                </a:lnTo>
                <a:lnTo>
                  <a:pt x="107295" y="419148"/>
                </a:lnTo>
                <a:lnTo>
                  <a:pt x="143629" y="439543"/>
                </a:lnTo>
                <a:lnTo>
                  <a:pt x="184446" y="458541"/>
                </a:lnTo>
                <a:lnTo>
                  <a:pt x="229453" y="476027"/>
                </a:lnTo>
                <a:lnTo>
                  <a:pt x="278352" y="491885"/>
                </a:lnTo>
                <a:lnTo>
                  <a:pt x="330849" y="506001"/>
                </a:lnTo>
                <a:lnTo>
                  <a:pt x="386649" y="518260"/>
                </a:lnTo>
                <a:lnTo>
                  <a:pt x="445457" y="528548"/>
                </a:lnTo>
                <a:lnTo>
                  <a:pt x="506976" y="536749"/>
                </a:lnTo>
                <a:lnTo>
                  <a:pt x="570911" y="542749"/>
                </a:lnTo>
                <a:lnTo>
                  <a:pt x="636967" y="546433"/>
                </a:lnTo>
                <a:lnTo>
                  <a:pt x="704850" y="547687"/>
                </a:lnTo>
                <a:lnTo>
                  <a:pt x="772730" y="546433"/>
                </a:lnTo>
                <a:lnTo>
                  <a:pt x="838785" y="542749"/>
                </a:lnTo>
                <a:lnTo>
                  <a:pt x="902719" y="536749"/>
                </a:lnTo>
                <a:lnTo>
                  <a:pt x="964237" y="528548"/>
                </a:lnTo>
                <a:lnTo>
                  <a:pt x="1023044" y="518260"/>
                </a:lnTo>
                <a:lnTo>
                  <a:pt x="1078844" y="506001"/>
                </a:lnTo>
                <a:lnTo>
                  <a:pt x="1131342" y="491885"/>
                </a:lnTo>
                <a:lnTo>
                  <a:pt x="1180241" y="476027"/>
                </a:lnTo>
                <a:lnTo>
                  <a:pt x="1225248" y="458541"/>
                </a:lnTo>
                <a:lnTo>
                  <a:pt x="1266066" y="439543"/>
                </a:lnTo>
                <a:lnTo>
                  <a:pt x="1302401" y="419148"/>
                </a:lnTo>
                <a:lnTo>
                  <a:pt x="1333955" y="397469"/>
                </a:lnTo>
                <a:lnTo>
                  <a:pt x="1381545" y="350723"/>
                </a:lnTo>
                <a:lnTo>
                  <a:pt x="1406473" y="300221"/>
                </a:lnTo>
                <a:lnTo>
                  <a:pt x="1409700" y="273850"/>
                </a:lnTo>
                <a:lnTo>
                  <a:pt x="1406473" y="247476"/>
                </a:lnTo>
                <a:lnTo>
                  <a:pt x="1381545" y="196971"/>
                </a:lnTo>
                <a:lnTo>
                  <a:pt x="1333955" y="150222"/>
                </a:lnTo>
                <a:lnTo>
                  <a:pt x="1302401" y="128542"/>
                </a:lnTo>
                <a:lnTo>
                  <a:pt x="1266066" y="108146"/>
                </a:lnTo>
                <a:lnTo>
                  <a:pt x="1225248" y="89147"/>
                </a:lnTo>
                <a:lnTo>
                  <a:pt x="1180241" y="71661"/>
                </a:lnTo>
                <a:lnTo>
                  <a:pt x="1131342" y="55803"/>
                </a:lnTo>
                <a:lnTo>
                  <a:pt x="1078844" y="41686"/>
                </a:lnTo>
                <a:lnTo>
                  <a:pt x="1023044" y="29427"/>
                </a:lnTo>
                <a:lnTo>
                  <a:pt x="964237" y="19139"/>
                </a:lnTo>
                <a:lnTo>
                  <a:pt x="902719" y="10938"/>
                </a:lnTo>
                <a:lnTo>
                  <a:pt x="838785" y="4937"/>
                </a:lnTo>
                <a:lnTo>
                  <a:pt x="772730" y="1253"/>
                </a:lnTo>
                <a:lnTo>
                  <a:pt x="704850" y="0"/>
                </a:lnTo>
                <a:close/>
              </a:path>
            </a:pathLst>
          </a:custGeom>
          <a:solidFill>
            <a:srgbClr val="FFFD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8051804" y="1111251"/>
            <a:ext cx="1409700" cy="548005"/>
          </a:xfrm>
          <a:custGeom>
            <a:avLst/>
            <a:gdLst/>
            <a:ahLst/>
            <a:cxnLst/>
            <a:rect l="l" t="t" r="r" b="b"/>
            <a:pathLst>
              <a:path w="1409700" h="548005">
                <a:moveTo>
                  <a:pt x="0" y="273843"/>
                </a:moveTo>
                <a:lnTo>
                  <a:pt x="12709" y="221806"/>
                </a:lnTo>
                <a:lnTo>
                  <a:pt x="49262" y="173066"/>
                </a:lnTo>
                <a:lnTo>
                  <a:pt x="107296" y="128539"/>
                </a:lnTo>
                <a:lnTo>
                  <a:pt x="143630" y="108143"/>
                </a:lnTo>
                <a:lnTo>
                  <a:pt x="184447" y="89145"/>
                </a:lnTo>
                <a:lnTo>
                  <a:pt x="229454" y="71660"/>
                </a:lnTo>
                <a:lnTo>
                  <a:pt x="278353" y="55802"/>
                </a:lnTo>
                <a:lnTo>
                  <a:pt x="330850" y="41686"/>
                </a:lnTo>
                <a:lnTo>
                  <a:pt x="386650" y="29426"/>
                </a:lnTo>
                <a:lnTo>
                  <a:pt x="445457" y="19139"/>
                </a:lnTo>
                <a:lnTo>
                  <a:pt x="506976" y="10937"/>
                </a:lnTo>
                <a:lnTo>
                  <a:pt x="570911" y="4937"/>
                </a:lnTo>
                <a:lnTo>
                  <a:pt x="636967" y="1253"/>
                </a:lnTo>
                <a:lnTo>
                  <a:pt x="704849" y="0"/>
                </a:lnTo>
                <a:lnTo>
                  <a:pt x="772731" y="1253"/>
                </a:lnTo>
                <a:lnTo>
                  <a:pt x="838787" y="4937"/>
                </a:lnTo>
                <a:lnTo>
                  <a:pt x="902722" y="10937"/>
                </a:lnTo>
                <a:lnTo>
                  <a:pt x="964241" y="19139"/>
                </a:lnTo>
                <a:lnTo>
                  <a:pt x="1023048" y="29426"/>
                </a:lnTo>
                <a:lnTo>
                  <a:pt x="1078848" y="41686"/>
                </a:lnTo>
                <a:lnTo>
                  <a:pt x="1131346" y="55802"/>
                </a:lnTo>
                <a:lnTo>
                  <a:pt x="1180245" y="71660"/>
                </a:lnTo>
                <a:lnTo>
                  <a:pt x="1225251" y="89145"/>
                </a:lnTo>
                <a:lnTo>
                  <a:pt x="1266069" y="108143"/>
                </a:lnTo>
                <a:lnTo>
                  <a:pt x="1302402" y="128539"/>
                </a:lnTo>
                <a:lnTo>
                  <a:pt x="1333956" y="150218"/>
                </a:lnTo>
                <a:lnTo>
                  <a:pt x="1381545" y="196967"/>
                </a:lnTo>
                <a:lnTo>
                  <a:pt x="1406472" y="247470"/>
                </a:lnTo>
                <a:lnTo>
                  <a:pt x="1409698" y="273843"/>
                </a:lnTo>
                <a:lnTo>
                  <a:pt x="1406472" y="300216"/>
                </a:lnTo>
                <a:lnTo>
                  <a:pt x="1381545" y="350719"/>
                </a:lnTo>
                <a:lnTo>
                  <a:pt x="1333956" y="397468"/>
                </a:lnTo>
                <a:lnTo>
                  <a:pt x="1302402" y="419147"/>
                </a:lnTo>
                <a:lnTo>
                  <a:pt x="1266069" y="439543"/>
                </a:lnTo>
                <a:lnTo>
                  <a:pt x="1225251" y="458541"/>
                </a:lnTo>
                <a:lnTo>
                  <a:pt x="1180245" y="476026"/>
                </a:lnTo>
                <a:lnTo>
                  <a:pt x="1131346" y="491885"/>
                </a:lnTo>
                <a:lnTo>
                  <a:pt x="1078848" y="506001"/>
                </a:lnTo>
                <a:lnTo>
                  <a:pt x="1023048" y="518260"/>
                </a:lnTo>
                <a:lnTo>
                  <a:pt x="964241" y="528548"/>
                </a:lnTo>
                <a:lnTo>
                  <a:pt x="902722" y="536749"/>
                </a:lnTo>
                <a:lnTo>
                  <a:pt x="838787" y="542749"/>
                </a:lnTo>
                <a:lnTo>
                  <a:pt x="772731" y="546433"/>
                </a:lnTo>
                <a:lnTo>
                  <a:pt x="704849" y="547687"/>
                </a:lnTo>
                <a:lnTo>
                  <a:pt x="636967" y="546433"/>
                </a:lnTo>
                <a:lnTo>
                  <a:pt x="570911" y="542749"/>
                </a:lnTo>
                <a:lnTo>
                  <a:pt x="506976" y="536749"/>
                </a:lnTo>
                <a:lnTo>
                  <a:pt x="445457" y="528548"/>
                </a:lnTo>
                <a:lnTo>
                  <a:pt x="386650" y="518260"/>
                </a:lnTo>
                <a:lnTo>
                  <a:pt x="330850" y="506001"/>
                </a:lnTo>
                <a:lnTo>
                  <a:pt x="278353" y="491885"/>
                </a:lnTo>
                <a:lnTo>
                  <a:pt x="229454" y="476026"/>
                </a:lnTo>
                <a:lnTo>
                  <a:pt x="184447" y="458541"/>
                </a:lnTo>
                <a:lnTo>
                  <a:pt x="143630" y="439543"/>
                </a:lnTo>
                <a:lnTo>
                  <a:pt x="107296" y="419147"/>
                </a:lnTo>
                <a:lnTo>
                  <a:pt x="75742" y="397468"/>
                </a:lnTo>
                <a:lnTo>
                  <a:pt x="28153" y="350719"/>
                </a:lnTo>
                <a:lnTo>
                  <a:pt x="3226" y="300216"/>
                </a:lnTo>
                <a:lnTo>
                  <a:pt x="0" y="273843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8324282" y="1189521"/>
            <a:ext cx="8667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u="heavy" spc="-3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V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or</a:t>
            </a:r>
            <a:r>
              <a:rPr sz="24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8051803" y="2635251"/>
            <a:ext cx="1409700" cy="548005"/>
          </a:xfrm>
          <a:custGeom>
            <a:avLst/>
            <a:gdLst/>
            <a:ahLst/>
            <a:cxnLst/>
            <a:rect l="l" t="t" r="r" b="b"/>
            <a:pathLst>
              <a:path w="1409700" h="548005">
                <a:moveTo>
                  <a:pt x="704850" y="0"/>
                </a:moveTo>
                <a:lnTo>
                  <a:pt x="636967" y="1253"/>
                </a:lnTo>
                <a:lnTo>
                  <a:pt x="570911" y="4937"/>
                </a:lnTo>
                <a:lnTo>
                  <a:pt x="506976" y="10938"/>
                </a:lnTo>
                <a:lnTo>
                  <a:pt x="445457" y="19139"/>
                </a:lnTo>
                <a:lnTo>
                  <a:pt x="386649" y="29427"/>
                </a:lnTo>
                <a:lnTo>
                  <a:pt x="330849" y="41686"/>
                </a:lnTo>
                <a:lnTo>
                  <a:pt x="278352" y="55803"/>
                </a:lnTo>
                <a:lnTo>
                  <a:pt x="229453" y="71661"/>
                </a:lnTo>
                <a:lnTo>
                  <a:pt x="184446" y="89147"/>
                </a:lnTo>
                <a:lnTo>
                  <a:pt x="143629" y="108146"/>
                </a:lnTo>
                <a:lnTo>
                  <a:pt x="107295" y="128542"/>
                </a:lnTo>
                <a:lnTo>
                  <a:pt x="75741" y="150222"/>
                </a:lnTo>
                <a:lnTo>
                  <a:pt x="28153" y="196971"/>
                </a:lnTo>
                <a:lnTo>
                  <a:pt x="3226" y="247476"/>
                </a:lnTo>
                <a:lnTo>
                  <a:pt x="0" y="273850"/>
                </a:lnTo>
                <a:lnTo>
                  <a:pt x="3226" y="300221"/>
                </a:lnTo>
                <a:lnTo>
                  <a:pt x="28153" y="350723"/>
                </a:lnTo>
                <a:lnTo>
                  <a:pt x="75741" y="397469"/>
                </a:lnTo>
                <a:lnTo>
                  <a:pt x="107295" y="419148"/>
                </a:lnTo>
                <a:lnTo>
                  <a:pt x="143629" y="439543"/>
                </a:lnTo>
                <a:lnTo>
                  <a:pt x="184446" y="458541"/>
                </a:lnTo>
                <a:lnTo>
                  <a:pt x="229453" y="476027"/>
                </a:lnTo>
                <a:lnTo>
                  <a:pt x="278352" y="491885"/>
                </a:lnTo>
                <a:lnTo>
                  <a:pt x="330849" y="506001"/>
                </a:lnTo>
                <a:lnTo>
                  <a:pt x="386649" y="518260"/>
                </a:lnTo>
                <a:lnTo>
                  <a:pt x="445457" y="528548"/>
                </a:lnTo>
                <a:lnTo>
                  <a:pt x="506976" y="536749"/>
                </a:lnTo>
                <a:lnTo>
                  <a:pt x="570911" y="542749"/>
                </a:lnTo>
                <a:lnTo>
                  <a:pt x="636967" y="546433"/>
                </a:lnTo>
                <a:lnTo>
                  <a:pt x="704850" y="547687"/>
                </a:lnTo>
                <a:lnTo>
                  <a:pt x="772730" y="546433"/>
                </a:lnTo>
                <a:lnTo>
                  <a:pt x="838785" y="542749"/>
                </a:lnTo>
                <a:lnTo>
                  <a:pt x="902719" y="536749"/>
                </a:lnTo>
                <a:lnTo>
                  <a:pt x="964237" y="528548"/>
                </a:lnTo>
                <a:lnTo>
                  <a:pt x="1023044" y="518260"/>
                </a:lnTo>
                <a:lnTo>
                  <a:pt x="1078844" y="506001"/>
                </a:lnTo>
                <a:lnTo>
                  <a:pt x="1131342" y="491885"/>
                </a:lnTo>
                <a:lnTo>
                  <a:pt x="1180241" y="476027"/>
                </a:lnTo>
                <a:lnTo>
                  <a:pt x="1225248" y="458541"/>
                </a:lnTo>
                <a:lnTo>
                  <a:pt x="1266066" y="439543"/>
                </a:lnTo>
                <a:lnTo>
                  <a:pt x="1302401" y="419148"/>
                </a:lnTo>
                <a:lnTo>
                  <a:pt x="1333955" y="397469"/>
                </a:lnTo>
                <a:lnTo>
                  <a:pt x="1381545" y="350723"/>
                </a:lnTo>
                <a:lnTo>
                  <a:pt x="1406473" y="300221"/>
                </a:lnTo>
                <a:lnTo>
                  <a:pt x="1409700" y="273850"/>
                </a:lnTo>
                <a:lnTo>
                  <a:pt x="1406473" y="247476"/>
                </a:lnTo>
                <a:lnTo>
                  <a:pt x="1381545" y="196971"/>
                </a:lnTo>
                <a:lnTo>
                  <a:pt x="1333955" y="150222"/>
                </a:lnTo>
                <a:lnTo>
                  <a:pt x="1302401" y="128542"/>
                </a:lnTo>
                <a:lnTo>
                  <a:pt x="1266066" y="108146"/>
                </a:lnTo>
                <a:lnTo>
                  <a:pt x="1225248" y="89147"/>
                </a:lnTo>
                <a:lnTo>
                  <a:pt x="1180241" y="71661"/>
                </a:lnTo>
                <a:lnTo>
                  <a:pt x="1131342" y="55803"/>
                </a:lnTo>
                <a:lnTo>
                  <a:pt x="1078844" y="41686"/>
                </a:lnTo>
                <a:lnTo>
                  <a:pt x="1023044" y="29427"/>
                </a:lnTo>
                <a:lnTo>
                  <a:pt x="964237" y="19139"/>
                </a:lnTo>
                <a:lnTo>
                  <a:pt x="902719" y="10938"/>
                </a:lnTo>
                <a:lnTo>
                  <a:pt x="838785" y="4937"/>
                </a:lnTo>
                <a:lnTo>
                  <a:pt x="772730" y="1253"/>
                </a:lnTo>
                <a:lnTo>
                  <a:pt x="704850" y="0"/>
                </a:lnTo>
                <a:close/>
              </a:path>
            </a:pathLst>
          </a:custGeom>
          <a:solidFill>
            <a:srgbClr val="FFFD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8051804" y="2635251"/>
            <a:ext cx="1409700" cy="548005"/>
          </a:xfrm>
          <a:custGeom>
            <a:avLst/>
            <a:gdLst/>
            <a:ahLst/>
            <a:cxnLst/>
            <a:rect l="l" t="t" r="r" b="b"/>
            <a:pathLst>
              <a:path w="1409700" h="548005">
                <a:moveTo>
                  <a:pt x="0" y="273843"/>
                </a:moveTo>
                <a:lnTo>
                  <a:pt x="12709" y="221806"/>
                </a:lnTo>
                <a:lnTo>
                  <a:pt x="49262" y="173066"/>
                </a:lnTo>
                <a:lnTo>
                  <a:pt x="107296" y="128539"/>
                </a:lnTo>
                <a:lnTo>
                  <a:pt x="143630" y="108144"/>
                </a:lnTo>
                <a:lnTo>
                  <a:pt x="184447" y="89145"/>
                </a:lnTo>
                <a:lnTo>
                  <a:pt x="229454" y="71660"/>
                </a:lnTo>
                <a:lnTo>
                  <a:pt x="278353" y="55802"/>
                </a:lnTo>
                <a:lnTo>
                  <a:pt x="330850" y="41686"/>
                </a:lnTo>
                <a:lnTo>
                  <a:pt x="386650" y="29426"/>
                </a:lnTo>
                <a:lnTo>
                  <a:pt x="445457" y="19139"/>
                </a:lnTo>
                <a:lnTo>
                  <a:pt x="506976" y="10937"/>
                </a:lnTo>
                <a:lnTo>
                  <a:pt x="570911" y="4937"/>
                </a:lnTo>
                <a:lnTo>
                  <a:pt x="636967" y="1253"/>
                </a:lnTo>
                <a:lnTo>
                  <a:pt x="704849" y="0"/>
                </a:lnTo>
                <a:lnTo>
                  <a:pt x="772731" y="1253"/>
                </a:lnTo>
                <a:lnTo>
                  <a:pt x="838787" y="4937"/>
                </a:lnTo>
                <a:lnTo>
                  <a:pt x="902722" y="10937"/>
                </a:lnTo>
                <a:lnTo>
                  <a:pt x="964241" y="19139"/>
                </a:lnTo>
                <a:lnTo>
                  <a:pt x="1023048" y="29426"/>
                </a:lnTo>
                <a:lnTo>
                  <a:pt x="1078848" y="41686"/>
                </a:lnTo>
                <a:lnTo>
                  <a:pt x="1131346" y="55802"/>
                </a:lnTo>
                <a:lnTo>
                  <a:pt x="1180245" y="71660"/>
                </a:lnTo>
                <a:lnTo>
                  <a:pt x="1225251" y="89145"/>
                </a:lnTo>
                <a:lnTo>
                  <a:pt x="1266069" y="108144"/>
                </a:lnTo>
                <a:lnTo>
                  <a:pt x="1302402" y="128539"/>
                </a:lnTo>
                <a:lnTo>
                  <a:pt x="1333956" y="150219"/>
                </a:lnTo>
                <a:lnTo>
                  <a:pt x="1381545" y="196967"/>
                </a:lnTo>
                <a:lnTo>
                  <a:pt x="1406472" y="247470"/>
                </a:lnTo>
                <a:lnTo>
                  <a:pt x="1409698" y="273843"/>
                </a:lnTo>
                <a:lnTo>
                  <a:pt x="1406472" y="300216"/>
                </a:lnTo>
                <a:lnTo>
                  <a:pt x="1381545" y="350720"/>
                </a:lnTo>
                <a:lnTo>
                  <a:pt x="1333956" y="397468"/>
                </a:lnTo>
                <a:lnTo>
                  <a:pt x="1302402" y="419147"/>
                </a:lnTo>
                <a:lnTo>
                  <a:pt x="1266069" y="439543"/>
                </a:lnTo>
                <a:lnTo>
                  <a:pt x="1225251" y="458541"/>
                </a:lnTo>
                <a:lnTo>
                  <a:pt x="1180245" y="476027"/>
                </a:lnTo>
                <a:lnTo>
                  <a:pt x="1131346" y="491885"/>
                </a:lnTo>
                <a:lnTo>
                  <a:pt x="1078848" y="506001"/>
                </a:lnTo>
                <a:lnTo>
                  <a:pt x="1023048" y="518260"/>
                </a:lnTo>
                <a:lnTo>
                  <a:pt x="964241" y="528548"/>
                </a:lnTo>
                <a:lnTo>
                  <a:pt x="902722" y="536749"/>
                </a:lnTo>
                <a:lnTo>
                  <a:pt x="838787" y="542749"/>
                </a:lnTo>
                <a:lnTo>
                  <a:pt x="772731" y="546433"/>
                </a:lnTo>
                <a:lnTo>
                  <a:pt x="704849" y="547687"/>
                </a:lnTo>
                <a:lnTo>
                  <a:pt x="636967" y="546433"/>
                </a:lnTo>
                <a:lnTo>
                  <a:pt x="570911" y="542749"/>
                </a:lnTo>
                <a:lnTo>
                  <a:pt x="506976" y="536749"/>
                </a:lnTo>
                <a:lnTo>
                  <a:pt x="445457" y="528548"/>
                </a:lnTo>
                <a:lnTo>
                  <a:pt x="386650" y="518260"/>
                </a:lnTo>
                <a:lnTo>
                  <a:pt x="330850" y="506001"/>
                </a:lnTo>
                <a:lnTo>
                  <a:pt x="278353" y="491885"/>
                </a:lnTo>
                <a:lnTo>
                  <a:pt x="229454" y="476027"/>
                </a:lnTo>
                <a:lnTo>
                  <a:pt x="184447" y="458541"/>
                </a:lnTo>
                <a:lnTo>
                  <a:pt x="143630" y="439543"/>
                </a:lnTo>
                <a:lnTo>
                  <a:pt x="107296" y="419147"/>
                </a:lnTo>
                <a:lnTo>
                  <a:pt x="75742" y="397468"/>
                </a:lnTo>
                <a:lnTo>
                  <a:pt x="28153" y="350720"/>
                </a:lnTo>
                <a:lnTo>
                  <a:pt x="3226" y="300216"/>
                </a:lnTo>
                <a:lnTo>
                  <a:pt x="0" y="273843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/>
          <p:nvPr/>
        </p:nvSpPr>
        <p:spPr>
          <a:xfrm>
            <a:off x="8463982" y="2713509"/>
            <a:ext cx="5905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85" dirty="0">
                <a:latin typeface="Times New Roman"/>
                <a:cs typeface="Times New Roman"/>
              </a:rPr>
              <a:t>T</a:t>
            </a:r>
            <a:r>
              <a:rPr sz="2400" spc="-5" dirty="0">
                <a:latin typeface="Times New Roman"/>
                <a:cs typeface="Times New Roman"/>
              </a:rPr>
              <a:t>ite</a:t>
            </a:r>
            <a:r>
              <a:rPr sz="2400" dirty="0">
                <a:latin typeface="Times New Roman"/>
                <a:cs typeface="Times New Roman"/>
              </a:rPr>
              <a:t>l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8053391" y="5911851"/>
            <a:ext cx="1408430" cy="546100"/>
          </a:xfrm>
          <a:custGeom>
            <a:avLst/>
            <a:gdLst/>
            <a:ahLst/>
            <a:cxnLst/>
            <a:rect l="l" t="t" r="r" b="b"/>
            <a:pathLst>
              <a:path w="1408429" h="546100">
                <a:moveTo>
                  <a:pt x="704049" y="0"/>
                </a:moveTo>
                <a:lnTo>
                  <a:pt x="636245" y="1249"/>
                </a:lnTo>
                <a:lnTo>
                  <a:pt x="570264" y="4923"/>
                </a:lnTo>
                <a:lnTo>
                  <a:pt x="506401" y="10906"/>
                </a:lnTo>
                <a:lnTo>
                  <a:pt x="444952" y="19083"/>
                </a:lnTo>
                <a:lnTo>
                  <a:pt x="386212" y="29341"/>
                </a:lnTo>
                <a:lnTo>
                  <a:pt x="330475" y="41565"/>
                </a:lnTo>
                <a:lnTo>
                  <a:pt x="278037" y="55640"/>
                </a:lnTo>
                <a:lnTo>
                  <a:pt x="229193" y="71453"/>
                </a:lnTo>
                <a:lnTo>
                  <a:pt x="184238" y="88888"/>
                </a:lnTo>
                <a:lnTo>
                  <a:pt x="143467" y="107831"/>
                </a:lnTo>
                <a:lnTo>
                  <a:pt x="107174" y="128168"/>
                </a:lnTo>
                <a:lnTo>
                  <a:pt x="75656" y="149784"/>
                </a:lnTo>
                <a:lnTo>
                  <a:pt x="28121" y="196397"/>
                </a:lnTo>
                <a:lnTo>
                  <a:pt x="3222" y="246753"/>
                </a:lnTo>
                <a:lnTo>
                  <a:pt x="0" y="273050"/>
                </a:lnTo>
                <a:lnTo>
                  <a:pt x="3222" y="299346"/>
                </a:lnTo>
                <a:lnTo>
                  <a:pt x="28121" y="349702"/>
                </a:lnTo>
                <a:lnTo>
                  <a:pt x="75656" y="396315"/>
                </a:lnTo>
                <a:lnTo>
                  <a:pt x="107174" y="417931"/>
                </a:lnTo>
                <a:lnTo>
                  <a:pt x="143467" y="438268"/>
                </a:lnTo>
                <a:lnTo>
                  <a:pt x="184238" y="457211"/>
                </a:lnTo>
                <a:lnTo>
                  <a:pt x="229193" y="474646"/>
                </a:lnTo>
                <a:lnTo>
                  <a:pt x="278037" y="490458"/>
                </a:lnTo>
                <a:lnTo>
                  <a:pt x="330475" y="504533"/>
                </a:lnTo>
                <a:lnTo>
                  <a:pt x="386212" y="516757"/>
                </a:lnTo>
                <a:lnTo>
                  <a:pt x="444952" y="527014"/>
                </a:lnTo>
                <a:lnTo>
                  <a:pt x="506401" y="535192"/>
                </a:lnTo>
                <a:lnTo>
                  <a:pt x="570264" y="541175"/>
                </a:lnTo>
                <a:lnTo>
                  <a:pt x="636245" y="544848"/>
                </a:lnTo>
                <a:lnTo>
                  <a:pt x="704049" y="546098"/>
                </a:lnTo>
                <a:lnTo>
                  <a:pt x="771854" y="544848"/>
                </a:lnTo>
                <a:lnTo>
                  <a:pt x="837836" y="541175"/>
                </a:lnTo>
                <a:lnTo>
                  <a:pt x="901699" y="535192"/>
                </a:lnTo>
                <a:lnTo>
                  <a:pt x="963149" y="527014"/>
                </a:lnTo>
                <a:lnTo>
                  <a:pt x="1021890" y="516757"/>
                </a:lnTo>
                <a:lnTo>
                  <a:pt x="1077627" y="504533"/>
                </a:lnTo>
                <a:lnTo>
                  <a:pt x="1130066" y="490458"/>
                </a:lnTo>
                <a:lnTo>
                  <a:pt x="1178911" y="474646"/>
                </a:lnTo>
                <a:lnTo>
                  <a:pt x="1223868" y="457211"/>
                </a:lnTo>
                <a:lnTo>
                  <a:pt x="1264640" y="438268"/>
                </a:lnTo>
                <a:lnTo>
                  <a:pt x="1300934" y="417931"/>
                </a:lnTo>
                <a:lnTo>
                  <a:pt x="1332453" y="396315"/>
                </a:lnTo>
                <a:lnTo>
                  <a:pt x="1379990" y="349702"/>
                </a:lnTo>
                <a:lnTo>
                  <a:pt x="1404889" y="299346"/>
                </a:lnTo>
                <a:lnTo>
                  <a:pt x="1408112" y="273050"/>
                </a:lnTo>
                <a:lnTo>
                  <a:pt x="1404889" y="246753"/>
                </a:lnTo>
                <a:lnTo>
                  <a:pt x="1379990" y="196397"/>
                </a:lnTo>
                <a:lnTo>
                  <a:pt x="1332453" y="149784"/>
                </a:lnTo>
                <a:lnTo>
                  <a:pt x="1300934" y="128168"/>
                </a:lnTo>
                <a:lnTo>
                  <a:pt x="1264640" y="107831"/>
                </a:lnTo>
                <a:lnTo>
                  <a:pt x="1223868" y="88888"/>
                </a:lnTo>
                <a:lnTo>
                  <a:pt x="1178911" y="71453"/>
                </a:lnTo>
                <a:lnTo>
                  <a:pt x="1130066" y="55640"/>
                </a:lnTo>
                <a:lnTo>
                  <a:pt x="1077627" y="41565"/>
                </a:lnTo>
                <a:lnTo>
                  <a:pt x="1021890" y="29341"/>
                </a:lnTo>
                <a:lnTo>
                  <a:pt x="963149" y="19083"/>
                </a:lnTo>
                <a:lnTo>
                  <a:pt x="901699" y="10906"/>
                </a:lnTo>
                <a:lnTo>
                  <a:pt x="837836" y="4923"/>
                </a:lnTo>
                <a:lnTo>
                  <a:pt x="771854" y="1249"/>
                </a:lnTo>
                <a:lnTo>
                  <a:pt x="704049" y="0"/>
                </a:lnTo>
                <a:close/>
              </a:path>
            </a:pathLst>
          </a:custGeom>
          <a:solidFill>
            <a:srgbClr val="FFFD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8053391" y="5911851"/>
            <a:ext cx="1408430" cy="546100"/>
          </a:xfrm>
          <a:custGeom>
            <a:avLst/>
            <a:gdLst/>
            <a:ahLst/>
            <a:cxnLst/>
            <a:rect l="l" t="t" r="r" b="b"/>
            <a:pathLst>
              <a:path w="1408429" h="546100">
                <a:moveTo>
                  <a:pt x="0" y="273049"/>
                </a:moveTo>
                <a:lnTo>
                  <a:pt x="12695" y="221164"/>
                </a:lnTo>
                <a:lnTo>
                  <a:pt x="49207" y="172564"/>
                </a:lnTo>
                <a:lnTo>
                  <a:pt x="107175" y="128167"/>
                </a:lnTo>
                <a:lnTo>
                  <a:pt x="143468" y="107830"/>
                </a:lnTo>
                <a:lnTo>
                  <a:pt x="184239" y="88887"/>
                </a:lnTo>
                <a:lnTo>
                  <a:pt x="229195" y="71452"/>
                </a:lnTo>
                <a:lnTo>
                  <a:pt x="278039" y="55640"/>
                </a:lnTo>
                <a:lnTo>
                  <a:pt x="330477" y="41565"/>
                </a:lnTo>
                <a:lnTo>
                  <a:pt x="386215" y="29341"/>
                </a:lnTo>
                <a:lnTo>
                  <a:pt x="444955" y="19083"/>
                </a:lnTo>
                <a:lnTo>
                  <a:pt x="506405" y="10906"/>
                </a:lnTo>
                <a:lnTo>
                  <a:pt x="570268" y="4923"/>
                </a:lnTo>
                <a:lnTo>
                  <a:pt x="636250" y="1249"/>
                </a:lnTo>
                <a:lnTo>
                  <a:pt x="704055" y="0"/>
                </a:lnTo>
                <a:lnTo>
                  <a:pt x="771860" y="1249"/>
                </a:lnTo>
                <a:lnTo>
                  <a:pt x="837841" y="4923"/>
                </a:lnTo>
                <a:lnTo>
                  <a:pt x="901703" y="10906"/>
                </a:lnTo>
                <a:lnTo>
                  <a:pt x="963152" y="19083"/>
                </a:lnTo>
                <a:lnTo>
                  <a:pt x="1021893" y="29341"/>
                </a:lnTo>
                <a:lnTo>
                  <a:pt x="1077630" y="41565"/>
                </a:lnTo>
                <a:lnTo>
                  <a:pt x="1130068" y="55640"/>
                </a:lnTo>
                <a:lnTo>
                  <a:pt x="1178912" y="71452"/>
                </a:lnTo>
                <a:lnTo>
                  <a:pt x="1223868" y="88887"/>
                </a:lnTo>
                <a:lnTo>
                  <a:pt x="1264640" y="107830"/>
                </a:lnTo>
                <a:lnTo>
                  <a:pt x="1300932" y="128167"/>
                </a:lnTo>
                <a:lnTo>
                  <a:pt x="1332451" y="149783"/>
                </a:lnTo>
                <a:lnTo>
                  <a:pt x="1379987" y="196396"/>
                </a:lnTo>
                <a:lnTo>
                  <a:pt x="1404886" y="246753"/>
                </a:lnTo>
                <a:lnTo>
                  <a:pt x="1408109" y="273049"/>
                </a:lnTo>
                <a:lnTo>
                  <a:pt x="1404886" y="299346"/>
                </a:lnTo>
                <a:lnTo>
                  <a:pt x="1379987" y="349703"/>
                </a:lnTo>
                <a:lnTo>
                  <a:pt x="1332451" y="396315"/>
                </a:lnTo>
                <a:lnTo>
                  <a:pt x="1300932" y="417932"/>
                </a:lnTo>
                <a:lnTo>
                  <a:pt x="1264640" y="438268"/>
                </a:lnTo>
                <a:lnTo>
                  <a:pt x="1223868" y="457211"/>
                </a:lnTo>
                <a:lnTo>
                  <a:pt x="1178912" y="474646"/>
                </a:lnTo>
                <a:lnTo>
                  <a:pt x="1130068" y="490459"/>
                </a:lnTo>
                <a:lnTo>
                  <a:pt x="1077630" y="504534"/>
                </a:lnTo>
                <a:lnTo>
                  <a:pt x="1021893" y="516758"/>
                </a:lnTo>
                <a:lnTo>
                  <a:pt x="963152" y="527015"/>
                </a:lnTo>
                <a:lnTo>
                  <a:pt x="901703" y="535193"/>
                </a:lnTo>
                <a:lnTo>
                  <a:pt x="837841" y="541176"/>
                </a:lnTo>
                <a:lnTo>
                  <a:pt x="771860" y="544849"/>
                </a:lnTo>
                <a:lnTo>
                  <a:pt x="704055" y="546099"/>
                </a:lnTo>
                <a:lnTo>
                  <a:pt x="636250" y="544849"/>
                </a:lnTo>
                <a:lnTo>
                  <a:pt x="570268" y="541176"/>
                </a:lnTo>
                <a:lnTo>
                  <a:pt x="506405" y="535193"/>
                </a:lnTo>
                <a:lnTo>
                  <a:pt x="444955" y="527015"/>
                </a:lnTo>
                <a:lnTo>
                  <a:pt x="386215" y="516758"/>
                </a:lnTo>
                <a:lnTo>
                  <a:pt x="330477" y="504534"/>
                </a:lnTo>
                <a:lnTo>
                  <a:pt x="278039" y="490459"/>
                </a:lnTo>
                <a:lnTo>
                  <a:pt x="229195" y="474646"/>
                </a:lnTo>
                <a:lnTo>
                  <a:pt x="184239" y="457211"/>
                </a:lnTo>
                <a:lnTo>
                  <a:pt x="143468" y="438268"/>
                </a:lnTo>
                <a:lnTo>
                  <a:pt x="107175" y="417932"/>
                </a:lnTo>
                <a:lnTo>
                  <a:pt x="75656" y="396315"/>
                </a:lnTo>
                <a:lnTo>
                  <a:pt x="28121" y="349703"/>
                </a:lnTo>
                <a:lnTo>
                  <a:pt x="3222" y="299346"/>
                </a:lnTo>
                <a:lnTo>
                  <a:pt x="0" y="273049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 txBox="1"/>
          <p:nvPr/>
        </p:nvSpPr>
        <p:spPr>
          <a:xfrm>
            <a:off x="8376441" y="5989321"/>
            <a:ext cx="7537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R</a:t>
            </a:r>
            <a:r>
              <a:rPr sz="2400" spc="-5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um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8053391" y="5226051"/>
            <a:ext cx="1408430" cy="549275"/>
          </a:xfrm>
          <a:custGeom>
            <a:avLst/>
            <a:gdLst/>
            <a:ahLst/>
            <a:cxnLst/>
            <a:rect l="l" t="t" r="r" b="b"/>
            <a:pathLst>
              <a:path w="1408429" h="549275">
                <a:moveTo>
                  <a:pt x="704049" y="0"/>
                </a:moveTo>
                <a:lnTo>
                  <a:pt x="636245" y="1257"/>
                </a:lnTo>
                <a:lnTo>
                  <a:pt x="570264" y="4952"/>
                </a:lnTo>
                <a:lnTo>
                  <a:pt x="506401" y="10969"/>
                </a:lnTo>
                <a:lnTo>
                  <a:pt x="444952" y="19194"/>
                </a:lnTo>
                <a:lnTo>
                  <a:pt x="386212" y="29512"/>
                </a:lnTo>
                <a:lnTo>
                  <a:pt x="330475" y="41807"/>
                </a:lnTo>
                <a:lnTo>
                  <a:pt x="278037" y="55964"/>
                </a:lnTo>
                <a:lnTo>
                  <a:pt x="229193" y="71868"/>
                </a:lnTo>
                <a:lnTo>
                  <a:pt x="184238" y="89405"/>
                </a:lnTo>
                <a:lnTo>
                  <a:pt x="143467" y="108458"/>
                </a:lnTo>
                <a:lnTo>
                  <a:pt x="107174" y="128913"/>
                </a:lnTo>
                <a:lnTo>
                  <a:pt x="75656" y="150655"/>
                </a:lnTo>
                <a:lnTo>
                  <a:pt x="28121" y="197539"/>
                </a:lnTo>
                <a:lnTo>
                  <a:pt x="3222" y="248188"/>
                </a:lnTo>
                <a:lnTo>
                  <a:pt x="0" y="274637"/>
                </a:lnTo>
                <a:lnTo>
                  <a:pt x="3222" y="301086"/>
                </a:lnTo>
                <a:lnTo>
                  <a:pt x="28121" y="351735"/>
                </a:lnTo>
                <a:lnTo>
                  <a:pt x="75656" y="398619"/>
                </a:lnTo>
                <a:lnTo>
                  <a:pt x="107174" y="420361"/>
                </a:lnTo>
                <a:lnTo>
                  <a:pt x="143467" y="440816"/>
                </a:lnTo>
                <a:lnTo>
                  <a:pt x="184238" y="459869"/>
                </a:lnTo>
                <a:lnTo>
                  <a:pt x="229193" y="477406"/>
                </a:lnTo>
                <a:lnTo>
                  <a:pt x="278037" y="493310"/>
                </a:lnTo>
                <a:lnTo>
                  <a:pt x="330475" y="507467"/>
                </a:lnTo>
                <a:lnTo>
                  <a:pt x="386212" y="519762"/>
                </a:lnTo>
                <a:lnTo>
                  <a:pt x="444952" y="530080"/>
                </a:lnTo>
                <a:lnTo>
                  <a:pt x="506401" y="538305"/>
                </a:lnTo>
                <a:lnTo>
                  <a:pt x="570264" y="544322"/>
                </a:lnTo>
                <a:lnTo>
                  <a:pt x="636245" y="548017"/>
                </a:lnTo>
                <a:lnTo>
                  <a:pt x="704049" y="549275"/>
                </a:lnTo>
                <a:lnTo>
                  <a:pt x="771854" y="548017"/>
                </a:lnTo>
                <a:lnTo>
                  <a:pt x="837836" y="544322"/>
                </a:lnTo>
                <a:lnTo>
                  <a:pt x="901699" y="538305"/>
                </a:lnTo>
                <a:lnTo>
                  <a:pt x="963149" y="530080"/>
                </a:lnTo>
                <a:lnTo>
                  <a:pt x="1021890" y="519762"/>
                </a:lnTo>
                <a:lnTo>
                  <a:pt x="1077627" y="507467"/>
                </a:lnTo>
                <a:lnTo>
                  <a:pt x="1130066" y="493310"/>
                </a:lnTo>
                <a:lnTo>
                  <a:pt x="1178911" y="477406"/>
                </a:lnTo>
                <a:lnTo>
                  <a:pt x="1223868" y="459869"/>
                </a:lnTo>
                <a:lnTo>
                  <a:pt x="1264640" y="440816"/>
                </a:lnTo>
                <a:lnTo>
                  <a:pt x="1300934" y="420361"/>
                </a:lnTo>
                <a:lnTo>
                  <a:pt x="1332453" y="398619"/>
                </a:lnTo>
                <a:lnTo>
                  <a:pt x="1379990" y="351735"/>
                </a:lnTo>
                <a:lnTo>
                  <a:pt x="1404889" y="301086"/>
                </a:lnTo>
                <a:lnTo>
                  <a:pt x="1408112" y="274637"/>
                </a:lnTo>
                <a:lnTo>
                  <a:pt x="1404889" y="248188"/>
                </a:lnTo>
                <a:lnTo>
                  <a:pt x="1379990" y="197539"/>
                </a:lnTo>
                <a:lnTo>
                  <a:pt x="1332453" y="150655"/>
                </a:lnTo>
                <a:lnTo>
                  <a:pt x="1300934" y="128913"/>
                </a:lnTo>
                <a:lnTo>
                  <a:pt x="1264640" y="108458"/>
                </a:lnTo>
                <a:lnTo>
                  <a:pt x="1223868" y="89405"/>
                </a:lnTo>
                <a:lnTo>
                  <a:pt x="1178911" y="71868"/>
                </a:lnTo>
                <a:lnTo>
                  <a:pt x="1130066" y="55964"/>
                </a:lnTo>
                <a:lnTo>
                  <a:pt x="1077627" y="41807"/>
                </a:lnTo>
                <a:lnTo>
                  <a:pt x="1021890" y="29512"/>
                </a:lnTo>
                <a:lnTo>
                  <a:pt x="963149" y="19194"/>
                </a:lnTo>
                <a:lnTo>
                  <a:pt x="901699" y="10969"/>
                </a:lnTo>
                <a:lnTo>
                  <a:pt x="837836" y="4952"/>
                </a:lnTo>
                <a:lnTo>
                  <a:pt x="771854" y="1257"/>
                </a:lnTo>
                <a:lnTo>
                  <a:pt x="704049" y="0"/>
                </a:lnTo>
                <a:close/>
              </a:path>
            </a:pathLst>
          </a:custGeom>
          <a:solidFill>
            <a:srgbClr val="FFFD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8053391" y="5226051"/>
            <a:ext cx="1408430" cy="549275"/>
          </a:xfrm>
          <a:custGeom>
            <a:avLst/>
            <a:gdLst/>
            <a:ahLst/>
            <a:cxnLst/>
            <a:rect l="l" t="t" r="r" b="b"/>
            <a:pathLst>
              <a:path w="1408429" h="549275">
                <a:moveTo>
                  <a:pt x="0" y="274637"/>
                </a:moveTo>
                <a:lnTo>
                  <a:pt x="12695" y="222450"/>
                </a:lnTo>
                <a:lnTo>
                  <a:pt x="49207" y="173568"/>
                </a:lnTo>
                <a:lnTo>
                  <a:pt x="107175" y="128912"/>
                </a:lnTo>
                <a:lnTo>
                  <a:pt x="143468" y="108457"/>
                </a:lnTo>
                <a:lnTo>
                  <a:pt x="184239" y="89404"/>
                </a:lnTo>
                <a:lnTo>
                  <a:pt x="229195" y="71868"/>
                </a:lnTo>
                <a:lnTo>
                  <a:pt x="278039" y="55964"/>
                </a:lnTo>
                <a:lnTo>
                  <a:pt x="330477" y="41807"/>
                </a:lnTo>
                <a:lnTo>
                  <a:pt x="386215" y="29512"/>
                </a:lnTo>
                <a:lnTo>
                  <a:pt x="444955" y="19194"/>
                </a:lnTo>
                <a:lnTo>
                  <a:pt x="506405" y="10969"/>
                </a:lnTo>
                <a:lnTo>
                  <a:pt x="570268" y="4952"/>
                </a:lnTo>
                <a:lnTo>
                  <a:pt x="636250" y="1257"/>
                </a:lnTo>
                <a:lnTo>
                  <a:pt x="704055" y="0"/>
                </a:lnTo>
                <a:lnTo>
                  <a:pt x="771860" y="1257"/>
                </a:lnTo>
                <a:lnTo>
                  <a:pt x="837841" y="4952"/>
                </a:lnTo>
                <a:lnTo>
                  <a:pt x="901703" y="10969"/>
                </a:lnTo>
                <a:lnTo>
                  <a:pt x="963152" y="19194"/>
                </a:lnTo>
                <a:lnTo>
                  <a:pt x="1021893" y="29512"/>
                </a:lnTo>
                <a:lnTo>
                  <a:pt x="1077630" y="41807"/>
                </a:lnTo>
                <a:lnTo>
                  <a:pt x="1130068" y="55964"/>
                </a:lnTo>
                <a:lnTo>
                  <a:pt x="1178912" y="71868"/>
                </a:lnTo>
                <a:lnTo>
                  <a:pt x="1223868" y="89404"/>
                </a:lnTo>
                <a:lnTo>
                  <a:pt x="1264640" y="108457"/>
                </a:lnTo>
                <a:lnTo>
                  <a:pt x="1300932" y="128912"/>
                </a:lnTo>
                <a:lnTo>
                  <a:pt x="1332451" y="150654"/>
                </a:lnTo>
                <a:lnTo>
                  <a:pt x="1379987" y="197538"/>
                </a:lnTo>
                <a:lnTo>
                  <a:pt x="1404886" y="248188"/>
                </a:lnTo>
                <a:lnTo>
                  <a:pt x="1408109" y="274637"/>
                </a:lnTo>
                <a:lnTo>
                  <a:pt x="1404886" y="301087"/>
                </a:lnTo>
                <a:lnTo>
                  <a:pt x="1379987" y="351736"/>
                </a:lnTo>
                <a:lnTo>
                  <a:pt x="1332451" y="398620"/>
                </a:lnTo>
                <a:lnTo>
                  <a:pt x="1300932" y="420362"/>
                </a:lnTo>
                <a:lnTo>
                  <a:pt x="1264640" y="440817"/>
                </a:lnTo>
                <a:lnTo>
                  <a:pt x="1223868" y="459870"/>
                </a:lnTo>
                <a:lnTo>
                  <a:pt x="1178912" y="477407"/>
                </a:lnTo>
                <a:lnTo>
                  <a:pt x="1130068" y="493311"/>
                </a:lnTo>
                <a:lnTo>
                  <a:pt x="1077630" y="507468"/>
                </a:lnTo>
                <a:lnTo>
                  <a:pt x="1021893" y="519763"/>
                </a:lnTo>
                <a:lnTo>
                  <a:pt x="963152" y="530080"/>
                </a:lnTo>
                <a:lnTo>
                  <a:pt x="901703" y="538305"/>
                </a:lnTo>
                <a:lnTo>
                  <a:pt x="837841" y="544323"/>
                </a:lnTo>
                <a:lnTo>
                  <a:pt x="771860" y="548018"/>
                </a:lnTo>
                <a:lnTo>
                  <a:pt x="704055" y="549275"/>
                </a:lnTo>
                <a:lnTo>
                  <a:pt x="636250" y="548018"/>
                </a:lnTo>
                <a:lnTo>
                  <a:pt x="570268" y="544323"/>
                </a:lnTo>
                <a:lnTo>
                  <a:pt x="506405" y="538305"/>
                </a:lnTo>
                <a:lnTo>
                  <a:pt x="444955" y="530080"/>
                </a:lnTo>
                <a:lnTo>
                  <a:pt x="386215" y="519763"/>
                </a:lnTo>
                <a:lnTo>
                  <a:pt x="330477" y="507468"/>
                </a:lnTo>
                <a:lnTo>
                  <a:pt x="278039" y="493311"/>
                </a:lnTo>
                <a:lnTo>
                  <a:pt x="229195" y="477407"/>
                </a:lnTo>
                <a:lnTo>
                  <a:pt x="184239" y="459870"/>
                </a:lnTo>
                <a:lnTo>
                  <a:pt x="143468" y="440817"/>
                </a:lnTo>
                <a:lnTo>
                  <a:pt x="107175" y="420362"/>
                </a:lnTo>
                <a:lnTo>
                  <a:pt x="75656" y="398620"/>
                </a:lnTo>
                <a:lnTo>
                  <a:pt x="28121" y="351736"/>
                </a:lnTo>
                <a:lnTo>
                  <a:pt x="3222" y="301087"/>
                </a:lnTo>
                <a:lnTo>
                  <a:pt x="0" y="274637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 txBox="1"/>
          <p:nvPr/>
        </p:nvSpPr>
        <p:spPr>
          <a:xfrm>
            <a:off x="8427241" y="5305109"/>
            <a:ext cx="6692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R</a:t>
            </a:r>
            <a:r>
              <a:rPr sz="2400" spc="-5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ng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5346703" y="6737350"/>
            <a:ext cx="1409700" cy="546100"/>
          </a:xfrm>
          <a:custGeom>
            <a:avLst/>
            <a:gdLst/>
            <a:ahLst/>
            <a:cxnLst/>
            <a:rect l="l" t="t" r="r" b="b"/>
            <a:pathLst>
              <a:path w="1409700" h="546100">
                <a:moveTo>
                  <a:pt x="704850" y="0"/>
                </a:moveTo>
                <a:lnTo>
                  <a:pt x="636967" y="1249"/>
                </a:lnTo>
                <a:lnTo>
                  <a:pt x="570911" y="4923"/>
                </a:lnTo>
                <a:lnTo>
                  <a:pt x="506976" y="10906"/>
                </a:lnTo>
                <a:lnTo>
                  <a:pt x="445457" y="19083"/>
                </a:lnTo>
                <a:lnTo>
                  <a:pt x="386649" y="29341"/>
                </a:lnTo>
                <a:lnTo>
                  <a:pt x="330849" y="41565"/>
                </a:lnTo>
                <a:lnTo>
                  <a:pt x="278352" y="55640"/>
                </a:lnTo>
                <a:lnTo>
                  <a:pt x="229453" y="71452"/>
                </a:lnTo>
                <a:lnTo>
                  <a:pt x="184446" y="88887"/>
                </a:lnTo>
                <a:lnTo>
                  <a:pt x="143629" y="107830"/>
                </a:lnTo>
                <a:lnTo>
                  <a:pt x="107295" y="128167"/>
                </a:lnTo>
                <a:lnTo>
                  <a:pt x="75741" y="149783"/>
                </a:lnTo>
                <a:lnTo>
                  <a:pt x="28153" y="196396"/>
                </a:lnTo>
                <a:lnTo>
                  <a:pt x="3226" y="246753"/>
                </a:lnTo>
                <a:lnTo>
                  <a:pt x="0" y="273049"/>
                </a:lnTo>
                <a:lnTo>
                  <a:pt x="3226" y="299346"/>
                </a:lnTo>
                <a:lnTo>
                  <a:pt x="28153" y="349703"/>
                </a:lnTo>
                <a:lnTo>
                  <a:pt x="75741" y="396316"/>
                </a:lnTo>
                <a:lnTo>
                  <a:pt x="107295" y="417932"/>
                </a:lnTo>
                <a:lnTo>
                  <a:pt x="143629" y="438269"/>
                </a:lnTo>
                <a:lnTo>
                  <a:pt x="184446" y="457212"/>
                </a:lnTo>
                <a:lnTo>
                  <a:pt x="229453" y="474647"/>
                </a:lnTo>
                <a:lnTo>
                  <a:pt x="278352" y="490459"/>
                </a:lnTo>
                <a:lnTo>
                  <a:pt x="330849" y="504534"/>
                </a:lnTo>
                <a:lnTo>
                  <a:pt x="386649" y="516758"/>
                </a:lnTo>
                <a:lnTo>
                  <a:pt x="445457" y="527016"/>
                </a:lnTo>
                <a:lnTo>
                  <a:pt x="506976" y="535193"/>
                </a:lnTo>
                <a:lnTo>
                  <a:pt x="570911" y="541176"/>
                </a:lnTo>
                <a:lnTo>
                  <a:pt x="636967" y="544850"/>
                </a:lnTo>
                <a:lnTo>
                  <a:pt x="704850" y="546099"/>
                </a:lnTo>
                <a:lnTo>
                  <a:pt x="772732" y="544850"/>
                </a:lnTo>
                <a:lnTo>
                  <a:pt x="838788" y="541176"/>
                </a:lnTo>
                <a:lnTo>
                  <a:pt x="902723" y="535193"/>
                </a:lnTo>
                <a:lnTo>
                  <a:pt x="964242" y="527016"/>
                </a:lnTo>
                <a:lnTo>
                  <a:pt x="1023050" y="516758"/>
                </a:lnTo>
                <a:lnTo>
                  <a:pt x="1078850" y="504534"/>
                </a:lnTo>
                <a:lnTo>
                  <a:pt x="1131347" y="490459"/>
                </a:lnTo>
                <a:lnTo>
                  <a:pt x="1180246" y="474647"/>
                </a:lnTo>
                <a:lnTo>
                  <a:pt x="1225253" y="457212"/>
                </a:lnTo>
                <a:lnTo>
                  <a:pt x="1266070" y="438269"/>
                </a:lnTo>
                <a:lnTo>
                  <a:pt x="1302404" y="417932"/>
                </a:lnTo>
                <a:lnTo>
                  <a:pt x="1333958" y="396316"/>
                </a:lnTo>
                <a:lnTo>
                  <a:pt x="1381546" y="349703"/>
                </a:lnTo>
                <a:lnTo>
                  <a:pt x="1406473" y="299346"/>
                </a:lnTo>
                <a:lnTo>
                  <a:pt x="1409700" y="273049"/>
                </a:lnTo>
                <a:lnTo>
                  <a:pt x="1406473" y="246753"/>
                </a:lnTo>
                <a:lnTo>
                  <a:pt x="1381546" y="196396"/>
                </a:lnTo>
                <a:lnTo>
                  <a:pt x="1333958" y="149783"/>
                </a:lnTo>
                <a:lnTo>
                  <a:pt x="1302404" y="128167"/>
                </a:lnTo>
                <a:lnTo>
                  <a:pt x="1266070" y="107830"/>
                </a:lnTo>
                <a:lnTo>
                  <a:pt x="1225253" y="88887"/>
                </a:lnTo>
                <a:lnTo>
                  <a:pt x="1180246" y="71452"/>
                </a:lnTo>
                <a:lnTo>
                  <a:pt x="1131347" y="55640"/>
                </a:lnTo>
                <a:lnTo>
                  <a:pt x="1078850" y="41565"/>
                </a:lnTo>
                <a:lnTo>
                  <a:pt x="1023050" y="29341"/>
                </a:lnTo>
                <a:lnTo>
                  <a:pt x="964242" y="19083"/>
                </a:lnTo>
                <a:lnTo>
                  <a:pt x="902723" y="10906"/>
                </a:lnTo>
                <a:lnTo>
                  <a:pt x="838788" y="4923"/>
                </a:lnTo>
                <a:lnTo>
                  <a:pt x="772732" y="1249"/>
                </a:lnTo>
                <a:lnTo>
                  <a:pt x="704850" y="0"/>
                </a:lnTo>
                <a:close/>
              </a:path>
            </a:pathLst>
          </a:custGeom>
          <a:solidFill>
            <a:srgbClr val="FFFD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5346703" y="6737350"/>
            <a:ext cx="1409700" cy="546100"/>
          </a:xfrm>
          <a:custGeom>
            <a:avLst/>
            <a:gdLst/>
            <a:ahLst/>
            <a:cxnLst/>
            <a:rect l="l" t="t" r="r" b="b"/>
            <a:pathLst>
              <a:path w="1409700" h="546100">
                <a:moveTo>
                  <a:pt x="0" y="273049"/>
                </a:moveTo>
                <a:lnTo>
                  <a:pt x="12709" y="221164"/>
                </a:lnTo>
                <a:lnTo>
                  <a:pt x="49262" y="172564"/>
                </a:lnTo>
                <a:lnTo>
                  <a:pt x="107296" y="128167"/>
                </a:lnTo>
                <a:lnTo>
                  <a:pt x="143629" y="107830"/>
                </a:lnTo>
                <a:lnTo>
                  <a:pt x="184447" y="88887"/>
                </a:lnTo>
                <a:lnTo>
                  <a:pt x="229453" y="71452"/>
                </a:lnTo>
                <a:lnTo>
                  <a:pt x="278353" y="55640"/>
                </a:lnTo>
                <a:lnTo>
                  <a:pt x="330850" y="41565"/>
                </a:lnTo>
                <a:lnTo>
                  <a:pt x="386650" y="29341"/>
                </a:lnTo>
                <a:lnTo>
                  <a:pt x="445457" y="19083"/>
                </a:lnTo>
                <a:lnTo>
                  <a:pt x="506976" y="10906"/>
                </a:lnTo>
                <a:lnTo>
                  <a:pt x="570911" y="4923"/>
                </a:lnTo>
                <a:lnTo>
                  <a:pt x="636967" y="1249"/>
                </a:lnTo>
                <a:lnTo>
                  <a:pt x="704849" y="0"/>
                </a:lnTo>
                <a:lnTo>
                  <a:pt x="772731" y="1249"/>
                </a:lnTo>
                <a:lnTo>
                  <a:pt x="838787" y="4923"/>
                </a:lnTo>
                <a:lnTo>
                  <a:pt x="902723" y="10906"/>
                </a:lnTo>
                <a:lnTo>
                  <a:pt x="964242" y="19083"/>
                </a:lnTo>
                <a:lnTo>
                  <a:pt x="1023049" y="29341"/>
                </a:lnTo>
                <a:lnTo>
                  <a:pt x="1078849" y="41565"/>
                </a:lnTo>
                <a:lnTo>
                  <a:pt x="1131346" y="55640"/>
                </a:lnTo>
                <a:lnTo>
                  <a:pt x="1180245" y="71452"/>
                </a:lnTo>
                <a:lnTo>
                  <a:pt x="1225252" y="88887"/>
                </a:lnTo>
                <a:lnTo>
                  <a:pt x="1266069" y="107830"/>
                </a:lnTo>
                <a:lnTo>
                  <a:pt x="1302403" y="128167"/>
                </a:lnTo>
                <a:lnTo>
                  <a:pt x="1333957" y="149783"/>
                </a:lnTo>
                <a:lnTo>
                  <a:pt x="1381545" y="196396"/>
                </a:lnTo>
                <a:lnTo>
                  <a:pt x="1406472" y="246753"/>
                </a:lnTo>
                <a:lnTo>
                  <a:pt x="1409699" y="273049"/>
                </a:lnTo>
                <a:lnTo>
                  <a:pt x="1406472" y="299346"/>
                </a:lnTo>
                <a:lnTo>
                  <a:pt x="1381545" y="349703"/>
                </a:lnTo>
                <a:lnTo>
                  <a:pt x="1333957" y="396315"/>
                </a:lnTo>
                <a:lnTo>
                  <a:pt x="1302403" y="417932"/>
                </a:lnTo>
                <a:lnTo>
                  <a:pt x="1266069" y="438268"/>
                </a:lnTo>
                <a:lnTo>
                  <a:pt x="1225252" y="457211"/>
                </a:lnTo>
                <a:lnTo>
                  <a:pt x="1180245" y="474646"/>
                </a:lnTo>
                <a:lnTo>
                  <a:pt x="1131346" y="490459"/>
                </a:lnTo>
                <a:lnTo>
                  <a:pt x="1078849" y="504534"/>
                </a:lnTo>
                <a:lnTo>
                  <a:pt x="1023049" y="516758"/>
                </a:lnTo>
                <a:lnTo>
                  <a:pt x="964242" y="527015"/>
                </a:lnTo>
                <a:lnTo>
                  <a:pt x="902723" y="535193"/>
                </a:lnTo>
                <a:lnTo>
                  <a:pt x="838787" y="541176"/>
                </a:lnTo>
                <a:lnTo>
                  <a:pt x="772731" y="544849"/>
                </a:lnTo>
                <a:lnTo>
                  <a:pt x="704849" y="546099"/>
                </a:lnTo>
                <a:lnTo>
                  <a:pt x="636967" y="544849"/>
                </a:lnTo>
                <a:lnTo>
                  <a:pt x="570911" y="541176"/>
                </a:lnTo>
                <a:lnTo>
                  <a:pt x="506976" y="535193"/>
                </a:lnTo>
                <a:lnTo>
                  <a:pt x="445457" y="527015"/>
                </a:lnTo>
                <a:lnTo>
                  <a:pt x="386650" y="516758"/>
                </a:lnTo>
                <a:lnTo>
                  <a:pt x="330850" y="504534"/>
                </a:lnTo>
                <a:lnTo>
                  <a:pt x="278353" y="490459"/>
                </a:lnTo>
                <a:lnTo>
                  <a:pt x="229453" y="474646"/>
                </a:lnTo>
                <a:lnTo>
                  <a:pt x="184447" y="457211"/>
                </a:lnTo>
                <a:lnTo>
                  <a:pt x="143629" y="438268"/>
                </a:lnTo>
                <a:lnTo>
                  <a:pt x="107296" y="417932"/>
                </a:lnTo>
                <a:lnTo>
                  <a:pt x="75742" y="396315"/>
                </a:lnTo>
                <a:lnTo>
                  <a:pt x="28153" y="349703"/>
                </a:lnTo>
                <a:lnTo>
                  <a:pt x="3226" y="299346"/>
                </a:lnTo>
                <a:lnTo>
                  <a:pt x="0" y="273049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 txBox="1"/>
          <p:nvPr/>
        </p:nvSpPr>
        <p:spPr>
          <a:xfrm>
            <a:off x="6949418" y="916306"/>
            <a:ext cx="7702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N</a:t>
            </a:r>
            <a:r>
              <a:rPr sz="2400" spc="-5" dirty="0">
                <a:latin typeface="Times New Roman"/>
                <a:cs typeface="Times New Roman"/>
              </a:rPr>
              <a:t>ac</a:t>
            </a:r>
            <a:r>
              <a:rPr sz="2400" dirty="0">
                <a:latin typeface="Times New Roman"/>
                <a:cs typeface="Times New Roman"/>
              </a:rPr>
              <a:t>h-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6957827" y="1170306"/>
            <a:ext cx="7531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fo</a:t>
            </a:r>
            <a:r>
              <a:rPr sz="2400" spc="-5" dirty="0">
                <a:latin typeface="Times New Roman"/>
                <a:cs typeface="Times New Roman"/>
              </a:rPr>
              <a:t>l</a:t>
            </a:r>
            <a:r>
              <a:rPr sz="2400" dirty="0">
                <a:latin typeface="Times New Roman"/>
                <a:cs typeface="Times New Roman"/>
              </a:rPr>
              <a:t>g</a:t>
            </a:r>
            <a:r>
              <a:rPr sz="2400" spc="-5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4808104" y="1220471"/>
            <a:ext cx="12839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45" dirty="0">
                <a:latin typeface="Times New Roman"/>
                <a:cs typeface="Times New Roman"/>
              </a:rPr>
              <a:t>Vorgänger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6870703" y="6737350"/>
            <a:ext cx="1408430" cy="546100"/>
          </a:xfrm>
          <a:custGeom>
            <a:avLst/>
            <a:gdLst/>
            <a:ahLst/>
            <a:cxnLst/>
            <a:rect l="l" t="t" r="r" b="b"/>
            <a:pathLst>
              <a:path w="1408429" h="546100">
                <a:moveTo>
                  <a:pt x="704049" y="0"/>
                </a:moveTo>
                <a:lnTo>
                  <a:pt x="636245" y="1249"/>
                </a:lnTo>
                <a:lnTo>
                  <a:pt x="570264" y="4923"/>
                </a:lnTo>
                <a:lnTo>
                  <a:pt x="506401" y="10906"/>
                </a:lnTo>
                <a:lnTo>
                  <a:pt x="444952" y="19083"/>
                </a:lnTo>
                <a:lnTo>
                  <a:pt x="386212" y="29341"/>
                </a:lnTo>
                <a:lnTo>
                  <a:pt x="330475" y="41565"/>
                </a:lnTo>
                <a:lnTo>
                  <a:pt x="278037" y="55640"/>
                </a:lnTo>
                <a:lnTo>
                  <a:pt x="229193" y="71452"/>
                </a:lnTo>
                <a:lnTo>
                  <a:pt x="184238" y="88887"/>
                </a:lnTo>
                <a:lnTo>
                  <a:pt x="143467" y="107830"/>
                </a:lnTo>
                <a:lnTo>
                  <a:pt x="107174" y="128167"/>
                </a:lnTo>
                <a:lnTo>
                  <a:pt x="75656" y="149783"/>
                </a:lnTo>
                <a:lnTo>
                  <a:pt x="28121" y="196396"/>
                </a:lnTo>
                <a:lnTo>
                  <a:pt x="3222" y="246753"/>
                </a:lnTo>
                <a:lnTo>
                  <a:pt x="0" y="273049"/>
                </a:lnTo>
                <a:lnTo>
                  <a:pt x="3222" y="299346"/>
                </a:lnTo>
                <a:lnTo>
                  <a:pt x="28121" y="349703"/>
                </a:lnTo>
                <a:lnTo>
                  <a:pt x="75656" y="396316"/>
                </a:lnTo>
                <a:lnTo>
                  <a:pt x="107174" y="417932"/>
                </a:lnTo>
                <a:lnTo>
                  <a:pt x="143467" y="438269"/>
                </a:lnTo>
                <a:lnTo>
                  <a:pt x="184238" y="457212"/>
                </a:lnTo>
                <a:lnTo>
                  <a:pt x="229193" y="474647"/>
                </a:lnTo>
                <a:lnTo>
                  <a:pt x="278037" y="490459"/>
                </a:lnTo>
                <a:lnTo>
                  <a:pt x="330475" y="504534"/>
                </a:lnTo>
                <a:lnTo>
                  <a:pt x="386212" y="516758"/>
                </a:lnTo>
                <a:lnTo>
                  <a:pt x="444952" y="527016"/>
                </a:lnTo>
                <a:lnTo>
                  <a:pt x="506401" y="535193"/>
                </a:lnTo>
                <a:lnTo>
                  <a:pt x="570264" y="541176"/>
                </a:lnTo>
                <a:lnTo>
                  <a:pt x="636245" y="544850"/>
                </a:lnTo>
                <a:lnTo>
                  <a:pt x="704049" y="546099"/>
                </a:lnTo>
                <a:lnTo>
                  <a:pt x="771854" y="544850"/>
                </a:lnTo>
                <a:lnTo>
                  <a:pt x="837836" y="541176"/>
                </a:lnTo>
                <a:lnTo>
                  <a:pt x="901699" y="535193"/>
                </a:lnTo>
                <a:lnTo>
                  <a:pt x="963149" y="527016"/>
                </a:lnTo>
                <a:lnTo>
                  <a:pt x="1021890" y="516758"/>
                </a:lnTo>
                <a:lnTo>
                  <a:pt x="1077627" y="504534"/>
                </a:lnTo>
                <a:lnTo>
                  <a:pt x="1130066" y="490459"/>
                </a:lnTo>
                <a:lnTo>
                  <a:pt x="1178911" y="474647"/>
                </a:lnTo>
                <a:lnTo>
                  <a:pt x="1223868" y="457212"/>
                </a:lnTo>
                <a:lnTo>
                  <a:pt x="1264640" y="438269"/>
                </a:lnTo>
                <a:lnTo>
                  <a:pt x="1300934" y="417932"/>
                </a:lnTo>
                <a:lnTo>
                  <a:pt x="1332453" y="396316"/>
                </a:lnTo>
                <a:lnTo>
                  <a:pt x="1379990" y="349703"/>
                </a:lnTo>
                <a:lnTo>
                  <a:pt x="1404889" y="299346"/>
                </a:lnTo>
                <a:lnTo>
                  <a:pt x="1408112" y="273049"/>
                </a:lnTo>
                <a:lnTo>
                  <a:pt x="1404889" y="246753"/>
                </a:lnTo>
                <a:lnTo>
                  <a:pt x="1379990" y="196396"/>
                </a:lnTo>
                <a:lnTo>
                  <a:pt x="1332453" y="149783"/>
                </a:lnTo>
                <a:lnTo>
                  <a:pt x="1300934" y="128167"/>
                </a:lnTo>
                <a:lnTo>
                  <a:pt x="1264640" y="107830"/>
                </a:lnTo>
                <a:lnTo>
                  <a:pt x="1223868" y="88887"/>
                </a:lnTo>
                <a:lnTo>
                  <a:pt x="1178911" y="71452"/>
                </a:lnTo>
                <a:lnTo>
                  <a:pt x="1130066" y="55640"/>
                </a:lnTo>
                <a:lnTo>
                  <a:pt x="1077627" y="41565"/>
                </a:lnTo>
                <a:lnTo>
                  <a:pt x="1021890" y="29341"/>
                </a:lnTo>
                <a:lnTo>
                  <a:pt x="963149" y="19083"/>
                </a:lnTo>
                <a:lnTo>
                  <a:pt x="901699" y="10906"/>
                </a:lnTo>
                <a:lnTo>
                  <a:pt x="837836" y="4923"/>
                </a:lnTo>
                <a:lnTo>
                  <a:pt x="771854" y="1249"/>
                </a:lnTo>
                <a:lnTo>
                  <a:pt x="704049" y="0"/>
                </a:lnTo>
                <a:close/>
              </a:path>
            </a:pathLst>
          </a:custGeom>
          <a:solidFill>
            <a:srgbClr val="FFFD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6870703" y="6737350"/>
            <a:ext cx="1408430" cy="546100"/>
          </a:xfrm>
          <a:custGeom>
            <a:avLst/>
            <a:gdLst/>
            <a:ahLst/>
            <a:cxnLst/>
            <a:rect l="l" t="t" r="r" b="b"/>
            <a:pathLst>
              <a:path w="1408429" h="546100">
                <a:moveTo>
                  <a:pt x="0" y="273049"/>
                </a:moveTo>
                <a:lnTo>
                  <a:pt x="12695" y="221164"/>
                </a:lnTo>
                <a:lnTo>
                  <a:pt x="49207" y="172564"/>
                </a:lnTo>
                <a:lnTo>
                  <a:pt x="107175" y="128167"/>
                </a:lnTo>
                <a:lnTo>
                  <a:pt x="143468" y="107830"/>
                </a:lnTo>
                <a:lnTo>
                  <a:pt x="184240" y="88887"/>
                </a:lnTo>
                <a:lnTo>
                  <a:pt x="229195" y="71452"/>
                </a:lnTo>
                <a:lnTo>
                  <a:pt x="278040" y="55640"/>
                </a:lnTo>
                <a:lnTo>
                  <a:pt x="330478" y="41565"/>
                </a:lnTo>
                <a:lnTo>
                  <a:pt x="386215" y="29341"/>
                </a:lnTo>
                <a:lnTo>
                  <a:pt x="444956" y="19083"/>
                </a:lnTo>
                <a:lnTo>
                  <a:pt x="506406" y="10906"/>
                </a:lnTo>
                <a:lnTo>
                  <a:pt x="570269" y="4923"/>
                </a:lnTo>
                <a:lnTo>
                  <a:pt x="636251" y="1249"/>
                </a:lnTo>
                <a:lnTo>
                  <a:pt x="704056" y="0"/>
                </a:lnTo>
                <a:lnTo>
                  <a:pt x="771862" y="1249"/>
                </a:lnTo>
                <a:lnTo>
                  <a:pt x="837844" y="4923"/>
                </a:lnTo>
                <a:lnTo>
                  <a:pt x="901707" y="10906"/>
                </a:lnTo>
                <a:lnTo>
                  <a:pt x="963157" y="19083"/>
                </a:lnTo>
                <a:lnTo>
                  <a:pt x="1021897" y="29341"/>
                </a:lnTo>
                <a:lnTo>
                  <a:pt x="1077634" y="41565"/>
                </a:lnTo>
                <a:lnTo>
                  <a:pt x="1130072" y="55640"/>
                </a:lnTo>
                <a:lnTo>
                  <a:pt x="1178916" y="71452"/>
                </a:lnTo>
                <a:lnTo>
                  <a:pt x="1223871" y="88887"/>
                </a:lnTo>
                <a:lnTo>
                  <a:pt x="1264643" y="107830"/>
                </a:lnTo>
                <a:lnTo>
                  <a:pt x="1300935" y="128167"/>
                </a:lnTo>
                <a:lnTo>
                  <a:pt x="1332453" y="149783"/>
                </a:lnTo>
                <a:lnTo>
                  <a:pt x="1379988" y="196396"/>
                </a:lnTo>
                <a:lnTo>
                  <a:pt x="1404886" y="246753"/>
                </a:lnTo>
                <a:lnTo>
                  <a:pt x="1408109" y="273049"/>
                </a:lnTo>
                <a:lnTo>
                  <a:pt x="1404886" y="299346"/>
                </a:lnTo>
                <a:lnTo>
                  <a:pt x="1379988" y="349703"/>
                </a:lnTo>
                <a:lnTo>
                  <a:pt x="1332453" y="396315"/>
                </a:lnTo>
                <a:lnTo>
                  <a:pt x="1300935" y="417932"/>
                </a:lnTo>
                <a:lnTo>
                  <a:pt x="1264643" y="438268"/>
                </a:lnTo>
                <a:lnTo>
                  <a:pt x="1223871" y="457211"/>
                </a:lnTo>
                <a:lnTo>
                  <a:pt x="1178916" y="474646"/>
                </a:lnTo>
                <a:lnTo>
                  <a:pt x="1130072" y="490459"/>
                </a:lnTo>
                <a:lnTo>
                  <a:pt x="1077634" y="504534"/>
                </a:lnTo>
                <a:lnTo>
                  <a:pt x="1021897" y="516758"/>
                </a:lnTo>
                <a:lnTo>
                  <a:pt x="963157" y="527015"/>
                </a:lnTo>
                <a:lnTo>
                  <a:pt x="901707" y="535193"/>
                </a:lnTo>
                <a:lnTo>
                  <a:pt x="837844" y="541176"/>
                </a:lnTo>
                <a:lnTo>
                  <a:pt x="771862" y="544849"/>
                </a:lnTo>
                <a:lnTo>
                  <a:pt x="704056" y="546099"/>
                </a:lnTo>
                <a:lnTo>
                  <a:pt x="636251" y="544849"/>
                </a:lnTo>
                <a:lnTo>
                  <a:pt x="570269" y="541176"/>
                </a:lnTo>
                <a:lnTo>
                  <a:pt x="506406" y="535193"/>
                </a:lnTo>
                <a:lnTo>
                  <a:pt x="444956" y="527015"/>
                </a:lnTo>
                <a:lnTo>
                  <a:pt x="386215" y="516758"/>
                </a:lnTo>
                <a:lnTo>
                  <a:pt x="330478" y="504534"/>
                </a:lnTo>
                <a:lnTo>
                  <a:pt x="278040" y="490459"/>
                </a:lnTo>
                <a:lnTo>
                  <a:pt x="229195" y="474646"/>
                </a:lnTo>
                <a:lnTo>
                  <a:pt x="184240" y="457211"/>
                </a:lnTo>
                <a:lnTo>
                  <a:pt x="143468" y="438268"/>
                </a:lnTo>
                <a:lnTo>
                  <a:pt x="107175" y="417932"/>
                </a:lnTo>
                <a:lnTo>
                  <a:pt x="75656" y="396315"/>
                </a:lnTo>
                <a:lnTo>
                  <a:pt x="28121" y="349703"/>
                </a:lnTo>
                <a:lnTo>
                  <a:pt x="3222" y="299346"/>
                </a:lnTo>
                <a:lnTo>
                  <a:pt x="0" y="273049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 txBox="1"/>
          <p:nvPr/>
        </p:nvSpPr>
        <p:spPr>
          <a:xfrm>
            <a:off x="5606482" y="6814820"/>
            <a:ext cx="23533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12265" algn="l"/>
              </a:tabLst>
            </a:pPr>
            <a:r>
              <a:rPr sz="24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</a:t>
            </a:r>
            <a:r>
              <a:rPr sz="24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rsNr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" dirty="0">
                <a:latin typeface="Times New Roman"/>
                <a:cs typeface="Times New Roman"/>
              </a:rPr>
              <a:t>Name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6" name="object 66"/>
          <p:cNvSpPr/>
          <p:nvPr/>
        </p:nvSpPr>
        <p:spPr>
          <a:xfrm>
            <a:off x="6261103" y="1035051"/>
            <a:ext cx="0" cy="914400"/>
          </a:xfrm>
          <a:custGeom>
            <a:avLst/>
            <a:gdLst/>
            <a:ahLst/>
            <a:cxnLst/>
            <a:rect l="l" t="t" r="r" b="b"/>
            <a:pathLst>
              <a:path h="914400">
                <a:moveTo>
                  <a:pt x="0" y="0"/>
                </a:moveTo>
                <a:lnTo>
                  <a:pt x="0" y="914399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6870703" y="1035051"/>
            <a:ext cx="0" cy="914400"/>
          </a:xfrm>
          <a:custGeom>
            <a:avLst/>
            <a:gdLst/>
            <a:ahLst/>
            <a:cxnLst/>
            <a:rect l="l" t="t" r="r" b="b"/>
            <a:pathLst>
              <a:path h="914400">
                <a:moveTo>
                  <a:pt x="0" y="0"/>
                </a:moveTo>
                <a:lnTo>
                  <a:pt x="0" y="914399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 txBox="1">
            <a:spLocks noGrp="1"/>
          </p:cNvSpPr>
          <p:nvPr>
            <p:ph type="title"/>
          </p:nvPr>
        </p:nvSpPr>
        <p:spPr>
          <a:xfrm>
            <a:off x="959485" y="461240"/>
            <a:ext cx="4199888" cy="540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Uni-Schema</a:t>
            </a:r>
          </a:p>
        </p:txBody>
      </p:sp>
      <p:sp>
        <p:nvSpPr>
          <p:cNvPr id="69" name="object 69"/>
          <p:cNvSpPr/>
          <p:nvPr/>
        </p:nvSpPr>
        <p:spPr>
          <a:xfrm>
            <a:off x="1423992" y="5540377"/>
            <a:ext cx="341630" cy="523875"/>
          </a:xfrm>
          <a:custGeom>
            <a:avLst/>
            <a:gdLst/>
            <a:ahLst/>
            <a:cxnLst/>
            <a:rect l="l" t="t" r="r" b="b"/>
            <a:pathLst>
              <a:path w="341630" h="523875">
                <a:moveTo>
                  <a:pt x="341311" y="523874"/>
                </a:moveTo>
                <a:lnTo>
                  <a:pt x="0" y="0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1536704" y="6032501"/>
            <a:ext cx="228600" cy="31750"/>
          </a:xfrm>
          <a:custGeom>
            <a:avLst/>
            <a:gdLst/>
            <a:ahLst/>
            <a:cxnLst/>
            <a:rect l="l" t="t" r="r" b="b"/>
            <a:pathLst>
              <a:path w="228600" h="31750">
                <a:moveTo>
                  <a:pt x="228599" y="31749"/>
                </a:moveTo>
                <a:lnTo>
                  <a:pt x="0" y="0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1519242" y="6064251"/>
            <a:ext cx="246379" cy="536575"/>
          </a:xfrm>
          <a:custGeom>
            <a:avLst/>
            <a:gdLst/>
            <a:ahLst/>
            <a:cxnLst/>
            <a:rect l="l" t="t" r="r" b="b"/>
            <a:pathLst>
              <a:path w="246380" h="536575">
                <a:moveTo>
                  <a:pt x="246061" y="0"/>
                </a:moveTo>
                <a:lnTo>
                  <a:pt x="0" y="536574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4848228" y="4579939"/>
            <a:ext cx="2076450" cy="1256030"/>
          </a:xfrm>
          <a:custGeom>
            <a:avLst/>
            <a:gdLst/>
            <a:ahLst/>
            <a:cxnLst/>
            <a:rect l="l" t="t" r="r" b="b"/>
            <a:pathLst>
              <a:path w="2076450" h="1256029">
                <a:moveTo>
                  <a:pt x="0" y="0"/>
                </a:moveTo>
                <a:lnTo>
                  <a:pt x="2076448" y="1255708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5651503" y="6064251"/>
            <a:ext cx="457200" cy="30480"/>
          </a:xfrm>
          <a:custGeom>
            <a:avLst/>
            <a:gdLst/>
            <a:ahLst/>
            <a:cxnLst/>
            <a:rect l="l" t="t" r="r" b="b"/>
            <a:pathLst>
              <a:path w="457200" h="30479">
                <a:moveTo>
                  <a:pt x="0" y="30163"/>
                </a:moveTo>
                <a:lnTo>
                  <a:pt x="457199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3397254" y="6064251"/>
            <a:ext cx="501650" cy="30480"/>
          </a:xfrm>
          <a:custGeom>
            <a:avLst/>
            <a:gdLst/>
            <a:ahLst/>
            <a:cxnLst/>
            <a:rect l="l" t="t" r="r" b="b"/>
            <a:pathLst>
              <a:path w="501650" h="30479">
                <a:moveTo>
                  <a:pt x="0" y="0"/>
                </a:moveTo>
                <a:lnTo>
                  <a:pt x="501649" y="30163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2994030" y="2484435"/>
            <a:ext cx="1854200" cy="1368425"/>
          </a:xfrm>
          <a:custGeom>
            <a:avLst/>
            <a:gdLst/>
            <a:ahLst/>
            <a:cxnLst/>
            <a:rect l="l" t="t" r="r" b="b"/>
            <a:pathLst>
              <a:path w="1854200" h="1368425">
                <a:moveTo>
                  <a:pt x="1854198" y="1368428"/>
                </a:moveTo>
                <a:lnTo>
                  <a:pt x="0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4848235" y="2392363"/>
            <a:ext cx="1781175" cy="1460500"/>
          </a:xfrm>
          <a:custGeom>
            <a:avLst/>
            <a:gdLst/>
            <a:ahLst/>
            <a:cxnLst/>
            <a:rect l="l" t="t" r="r" b="b"/>
            <a:pathLst>
              <a:path w="1781175" h="1460500">
                <a:moveTo>
                  <a:pt x="1781168" y="0"/>
                </a:moveTo>
                <a:lnTo>
                  <a:pt x="0" y="1460499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6924678" y="4505322"/>
            <a:ext cx="387350" cy="1330325"/>
          </a:xfrm>
          <a:custGeom>
            <a:avLst/>
            <a:gdLst/>
            <a:ahLst/>
            <a:cxnLst/>
            <a:rect l="l" t="t" r="r" b="b"/>
            <a:pathLst>
              <a:path w="387350" h="1330325">
                <a:moveTo>
                  <a:pt x="0" y="1330329"/>
                </a:moveTo>
                <a:lnTo>
                  <a:pt x="387350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6629403" y="2392363"/>
            <a:ext cx="682625" cy="1386205"/>
          </a:xfrm>
          <a:custGeom>
            <a:avLst/>
            <a:gdLst/>
            <a:ahLst/>
            <a:cxnLst/>
            <a:rect l="l" t="t" r="r" b="b"/>
            <a:pathLst>
              <a:path w="682625" h="1386204">
                <a:moveTo>
                  <a:pt x="0" y="0"/>
                </a:moveTo>
                <a:lnTo>
                  <a:pt x="682624" y="1385889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3810003" y="2162176"/>
            <a:ext cx="469900" cy="95250"/>
          </a:xfrm>
          <a:custGeom>
            <a:avLst/>
            <a:gdLst/>
            <a:ahLst/>
            <a:cxnLst/>
            <a:rect l="l" t="t" r="r" b="b"/>
            <a:pathLst>
              <a:path w="469900" h="95250">
                <a:moveTo>
                  <a:pt x="0" y="95249"/>
                </a:moveTo>
                <a:lnTo>
                  <a:pt x="469899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5467353" y="2162176"/>
            <a:ext cx="346075" cy="3175"/>
          </a:xfrm>
          <a:custGeom>
            <a:avLst/>
            <a:gdLst/>
            <a:ahLst/>
            <a:cxnLst/>
            <a:rect l="l" t="t" r="r" b="b"/>
            <a:pathLst>
              <a:path w="346075" h="3175">
                <a:moveTo>
                  <a:pt x="-19049" y="1587"/>
                </a:moveTo>
                <a:lnTo>
                  <a:pt x="365124" y="1587"/>
                </a:lnTo>
              </a:path>
            </a:pathLst>
          </a:custGeom>
          <a:ln w="41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6051554" y="6291264"/>
            <a:ext cx="873125" cy="446405"/>
          </a:xfrm>
          <a:custGeom>
            <a:avLst/>
            <a:gdLst/>
            <a:ahLst/>
            <a:cxnLst/>
            <a:rect l="l" t="t" r="r" b="b"/>
            <a:pathLst>
              <a:path w="873125" h="446404">
                <a:moveTo>
                  <a:pt x="873124" y="0"/>
                </a:moveTo>
                <a:lnTo>
                  <a:pt x="0" y="446086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6924678" y="6291264"/>
            <a:ext cx="650875" cy="446405"/>
          </a:xfrm>
          <a:custGeom>
            <a:avLst/>
            <a:gdLst/>
            <a:ahLst/>
            <a:cxnLst/>
            <a:rect l="l" t="t" r="r" b="b"/>
            <a:pathLst>
              <a:path w="650875" h="446404">
                <a:moveTo>
                  <a:pt x="0" y="0"/>
                </a:moveTo>
                <a:lnTo>
                  <a:pt x="650874" y="446086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7740653" y="5694364"/>
            <a:ext cx="519430" cy="370205"/>
          </a:xfrm>
          <a:custGeom>
            <a:avLst/>
            <a:gdLst/>
            <a:ahLst/>
            <a:cxnLst/>
            <a:rect l="l" t="t" r="r" b="b"/>
            <a:pathLst>
              <a:path w="519429" h="370204">
                <a:moveTo>
                  <a:pt x="0" y="369886"/>
                </a:moveTo>
                <a:lnTo>
                  <a:pt x="519112" y="0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7740653" y="6064251"/>
            <a:ext cx="313055" cy="120650"/>
          </a:xfrm>
          <a:custGeom>
            <a:avLst/>
            <a:gdLst/>
            <a:ahLst/>
            <a:cxnLst/>
            <a:rect l="l" t="t" r="r" b="b"/>
            <a:pathLst>
              <a:path w="313054" h="120650">
                <a:moveTo>
                  <a:pt x="0" y="0"/>
                </a:moveTo>
                <a:lnTo>
                  <a:pt x="312737" y="120649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1519242" y="1654177"/>
            <a:ext cx="659130" cy="603250"/>
          </a:xfrm>
          <a:custGeom>
            <a:avLst/>
            <a:gdLst/>
            <a:ahLst/>
            <a:cxnLst/>
            <a:rect l="l" t="t" r="r" b="b"/>
            <a:pathLst>
              <a:path w="659130" h="603250">
                <a:moveTo>
                  <a:pt x="658811" y="603249"/>
                </a:moveTo>
                <a:lnTo>
                  <a:pt x="0" y="0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1725617" y="2224089"/>
            <a:ext cx="452755" cy="33655"/>
          </a:xfrm>
          <a:custGeom>
            <a:avLst/>
            <a:gdLst/>
            <a:ahLst/>
            <a:cxnLst/>
            <a:rect l="l" t="t" r="r" b="b"/>
            <a:pathLst>
              <a:path w="452755" h="33655">
                <a:moveTo>
                  <a:pt x="452436" y="33337"/>
                </a:moveTo>
                <a:lnTo>
                  <a:pt x="0" y="0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1519242" y="2257426"/>
            <a:ext cx="659130" cy="535305"/>
          </a:xfrm>
          <a:custGeom>
            <a:avLst/>
            <a:gdLst/>
            <a:ahLst/>
            <a:cxnLst/>
            <a:rect l="l" t="t" r="r" b="b"/>
            <a:pathLst>
              <a:path w="659130" h="535305">
                <a:moveTo>
                  <a:pt x="658811" y="0"/>
                </a:moveTo>
                <a:lnTo>
                  <a:pt x="0" y="534987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7445378" y="1577977"/>
            <a:ext cx="812800" cy="587375"/>
          </a:xfrm>
          <a:custGeom>
            <a:avLst/>
            <a:gdLst/>
            <a:ahLst/>
            <a:cxnLst/>
            <a:rect l="l" t="t" r="r" b="b"/>
            <a:pathLst>
              <a:path w="812800" h="587375">
                <a:moveTo>
                  <a:pt x="0" y="587374"/>
                </a:moveTo>
                <a:lnTo>
                  <a:pt x="812799" y="0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7445378" y="2146301"/>
            <a:ext cx="606425" cy="19050"/>
          </a:xfrm>
          <a:custGeom>
            <a:avLst/>
            <a:gdLst/>
            <a:ahLst/>
            <a:cxnLst/>
            <a:rect l="l" t="t" r="r" b="b"/>
            <a:pathLst>
              <a:path w="606425" h="19050">
                <a:moveTo>
                  <a:pt x="0" y="19050"/>
                </a:moveTo>
                <a:lnTo>
                  <a:pt x="606424" y="0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7445378" y="2165351"/>
            <a:ext cx="812800" cy="551180"/>
          </a:xfrm>
          <a:custGeom>
            <a:avLst/>
            <a:gdLst/>
            <a:ahLst/>
            <a:cxnLst/>
            <a:rect l="l" t="t" r="r" b="b"/>
            <a:pathLst>
              <a:path w="812800" h="551180">
                <a:moveTo>
                  <a:pt x="0" y="0"/>
                </a:moveTo>
                <a:lnTo>
                  <a:pt x="812799" y="550862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3783017" y="4203701"/>
            <a:ext cx="471805" cy="12700"/>
          </a:xfrm>
          <a:custGeom>
            <a:avLst/>
            <a:gdLst/>
            <a:ahLst/>
            <a:cxnLst/>
            <a:rect l="l" t="t" r="r" b="b"/>
            <a:pathLst>
              <a:path w="471804" h="12700">
                <a:moveTo>
                  <a:pt x="471486" y="12699"/>
                </a:moveTo>
                <a:lnTo>
                  <a:pt x="0" y="0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 txBox="1"/>
          <p:nvPr/>
        </p:nvSpPr>
        <p:spPr>
          <a:xfrm>
            <a:off x="5958844" y="5259071"/>
            <a:ext cx="128270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78865" algn="l"/>
              </a:tabLst>
            </a:pPr>
            <a:r>
              <a:rPr sz="3000" dirty="0">
                <a:latin typeface="Times New Roman"/>
                <a:cs typeface="Times New Roman"/>
              </a:rPr>
              <a:t>1	1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5882644" y="6021071"/>
            <a:ext cx="21590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latin typeface="Times New Roman"/>
                <a:cs typeface="Times New Roman"/>
              </a:rPr>
              <a:t>1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2758444" y="2515871"/>
            <a:ext cx="30099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dirty="0">
                <a:latin typeface="Times New Roman"/>
                <a:cs typeface="Times New Roman"/>
              </a:rPr>
              <a:t>N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6873244" y="2439671"/>
            <a:ext cx="30099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dirty="0">
                <a:latin typeface="Times New Roman"/>
                <a:cs typeface="Times New Roman"/>
              </a:rPr>
              <a:t>N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3520444" y="6021071"/>
            <a:ext cx="30099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dirty="0">
                <a:latin typeface="Times New Roman"/>
                <a:cs typeface="Times New Roman"/>
              </a:rPr>
              <a:t>N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6111244" y="2744471"/>
            <a:ext cx="38544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dirty="0">
                <a:latin typeface="Times New Roman"/>
                <a:cs typeface="Times New Roman"/>
              </a:rPr>
              <a:t>M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5958844" y="1525271"/>
            <a:ext cx="137604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02665" algn="l"/>
              </a:tabLst>
            </a:pPr>
            <a:r>
              <a:rPr sz="3000" b="1" dirty="0">
                <a:latin typeface="Times New Roman"/>
                <a:cs typeface="Times New Roman"/>
              </a:rPr>
              <a:t>N	M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5425444" y="2134871"/>
            <a:ext cx="38544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dirty="0">
                <a:latin typeface="Times New Roman"/>
                <a:cs typeface="Times New Roman"/>
              </a:rPr>
              <a:t>M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3977644" y="2134871"/>
            <a:ext cx="30099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dirty="0">
                <a:latin typeface="Times New Roman"/>
                <a:cs typeface="Times New Roman"/>
              </a:rPr>
              <a:t>N</a:t>
            </a:r>
            <a:endParaRPr sz="3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" name="object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8418490"/>
              </p:ext>
            </p:extLst>
          </p:nvPr>
        </p:nvGraphicFramePr>
        <p:xfrm>
          <a:off x="644216" y="303213"/>
          <a:ext cx="9136375" cy="702373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26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3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476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624204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9593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1178559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480059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119379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682625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</a:tblGrid>
              <a:tr h="307340">
                <a:tc gridSpan="4">
                  <a:txBody>
                    <a:bodyPr/>
                    <a:lstStyle/>
                    <a:p>
                      <a:pPr marL="68897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600" b="1" spc="-5" dirty="0">
                          <a:latin typeface="Tahoma"/>
                          <a:cs typeface="Tahoma"/>
                        </a:rPr>
                        <a:t>Professoren</a:t>
                      </a:r>
                      <a:endParaRPr sz="1600" dirty="0">
                        <a:latin typeface="Tahoma"/>
                        <a:cs typeface="Tahoma"/>
                      </a:endParaRPr>
                    </a:p>
                  </a:txBody>
                  <a:tcPr marL="0" marR="0" marT="254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7">
                  <a:txBody>
                    <a:bodyPr/>
                    <a:lstStyle/>
                    <a:p>
                      <a:pPr marL="918844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b="1" spc="-5" dirty="0">
                          <a:latin typeface="Tahoma"/>
                          <a:cs typeface="Tahoma"/>
                        </a:rPr>
                        <a:t>Studenten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7">
                  <a:txBody>
                    <a:bodyPr/>
                    <a:lstStyle/>
                    <a:p>
                      <a:pPr marL="120078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600" b="1" dirty="0">
                          <a:latin typeface="Tahoma"/>
                          <a:cs typeface="Tahoma"/>
                        </a:rPr>
                        <a:t>Vorlesungen</a:t>
                      </a:r>
                      <a:endParaRPr sz="1600" dirty="0">
                        <a:latin typeface="Tahoma"/>
                        <a:cs typeface="Tahoma"/>
                      </a:endParaRPr>
                    </a:p>
                  </a:txBody>
                  <a:tcPr marL="0" marR="0" marT="254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 marL="508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b="1" dirty="0">
                          <a:latin typeface="Tahoma"/>
                          <a:cs typeface="Tahoma"/>
                        </a:rPr>
                        <a:t>P</a:t>
                      </a:r>
                      <a:r>
                        <a:rPr sz="1400" b="1" spc="-5" dirty="0">
                          <a:latin typeface="Tahoma"/>
                          <a:cs typeface="Tahoma"/>
                        </a:rPr>
                        <a:t>ersN</a:t>
                      </a:r>
                      <a:r>
                        <a:rPr sz="1400" b="1" dirty="0">
                          <a:latin typeface="Tahoma"/>
                          <a:cs typeface="Tahoma"/>
                        </a:rPr>
                        <a:t>r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20764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b="1" dirty="0">
                          <a:latin typeface="Tahoma"/>
                          <a:cs typeface="Tahoma"/>
                        </a:rPr>
                        <a:t>Name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b="1" spc="-5" dirty="0">
                          <a:latin typeface="Tahoma"/>
                          <a:cs typeface="Tahoma"/>
                        </a:rPr>
                        <a:t>Rang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1714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b="1" dirty="0">
                          <a:latin typeface="Tahoma"/>
                          <a:cs typeface="Tahoma"/>
                        </a:rPr>
                        <a:t>R</a:t>
                      </a:r>
                      <a:r>
                        <a:rPr sz="1400" b="1" spc="-5" dirty="0">
                          <a:latin typeface="Tahoma"/>
                          <a:cs typeface="Tahoma"/>
                        </a:rPr>
                        <a:t>aum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b="1" dirty="0">
                          <a:latin typeface="Tahoma"/>
                          <a:cs typeface="Tahoma"/>
                        </a:rPr>
                        <a:t>M</a:t>
                      </a:r>
                      <a:r>
                        <a:rPr sz="1400" b="1" spc="-5" dirty="0">
                          <a:latin typeface="Tahoma"/>
                          <a:cs typeface="Tahoma"/>
                        </a:rPr>
                        <a:t>atrN</a:t>
                      </a:r>
                      <a:r>
                        <a:rPr sz="1400" b="1" dirty="0">
                          <a:latin typeface="Tahoma"/>
                          <a:cs typeface="Tahoma"/>
                        </a:rPr>
                        <a:t>r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2702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b="1" dirty="0">
                          <a:latin typeface="Tahoma"/>
                          <a:cs typeface="Tahoma"/>
                        </a:rPr>
                        <a:t>Name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4635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b="1" spc="-5" dirty="0">
                          <a:latin typeface="Tahoma"/>
                          <a:cs typeface="Tahoma"/>
                        </a:rPr>
                        <a:t>Semester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17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rowSpan="2" gridSpan="2"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400" b="1" dirty="0">
                          <a:latin typeface="Tahoma"/>
                          <a:cs typeface="Tahoma"/>
                        </a:rPr>
                        <a:t>VorlNr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1114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17780"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400" b="1" spc="-5" dirty="0">
                          <a:latin typeface="Tahoma"/>
                          <a:cs typeface="Tahoma"/>
                        </a:rPr>
                        <a:t>Titel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111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400" b="1" spc="-5" dirty="0">
                          <a:latin typeface="Tahoma"/>
                          <a:cs typeface="Tahoma"/>
                        </a:rPr>
                        <a:t>SWS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111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marL="297180" indent="-292100">
                        <a:lnSpc>
                          <a:spcPts val="1500"/>
                        </a:lnSpc>
                        <a:spcBef>
                          <a:spcPts val="445"/>
                        </a:spcBef>
                      </a:pPr>
                      <a:r>
                        <a:rPr sz="1400" b="1" dirty="0">
                          <a:latin typeface="Tahoma"/>
                          <a:cs typeface="Tahoma"/>
                        </a:rPr>
                        <a:t>g</a:t>
                      </a:r>
                      <a:r>
                        <a:rPr sz="1400" b="1" spc="-5" dirty="0">
                          <a:latin typeface="Tahoma"/>
                          <a:cs typeface="Tahoma"/>
                        </a:rPr>
                        <a:t>elese</a:t>
                      </a:r>
                      <a:r>
                        <a:rPr sz="1400" b="1" dirty="0">
                          <a:latin typeface="Tahoma"/>
                          <a:cs typeface="Tahoma"/>
                        </a:rPr>
                        <a:t>nV  on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5651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4945">
                <a:tc rowSpan="2">
                  <a:txBody>
                    <a:bodyPr/>
                    <a:lstStyle/>
                    <a:p>
                      <a:pPr marL="113664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2125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3144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Sokrates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7462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C4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226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rowSpan="2" gridSpan="2">
                  <a:txBody>
                    <a:bodyPr/>
                    <a:lstStyle/>
                    <a:p>
                      <a:pPr marL="10541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24002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15430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spc="-10" dirty="0">
                          <a:latin typeface="Tahoma"/>
                          <a:cs typeface="Tahoma"/>
                        </a:rPr>
                        <a:t>Xenokrates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3"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18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1114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111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111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5651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26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76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rowSpan="2" gridSpan="2"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5001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421640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Grundzüge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marL="1651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4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marL="21526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2137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945">
                <a:tc rowSpan="2">
                  <a:txBody>
                    <a:bodyPr/>
                    <a:lstStyle/>
                    <a:p>
                      <a:pPr marL="113664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2126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21653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Russel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7462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C4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232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rowSpan="2" gridSpan="2">
                  <a:txBody>
                    <a:bodyPr/>
                    <a:lstStyle/>
                    <a:p>
                      <a:pPr marL="10541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25403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36512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Jonas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3"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12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826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76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rowSpan="2" gridSpan="2"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5041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18415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Ethik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marL="1651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4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marL="21526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2125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4945">
                <a:tc rowSpan="2">
                  <a:txBody>
                    <a:bodyPr/>
                    <a:lstStyle/>
                    <a:p>
                      <a:pPr marL="113664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2127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3746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spc="-10" dirty="0">
                          <a:latin typeface="Tahoma"/>
                          <a:cs typeface="Tahoma"/>
                        </a:rPr>
                        <a:t>Kopernikus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7462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C3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310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rowSpan="2" gridSpan="2">
                  <a:txBody>
                    <a:bodyPr/>
                    <a:lstStyle/>
                    <a:p>
                      <a:pPr marL="10541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26120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35242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Fichte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3"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10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826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76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rowSpan="2" gridSpan="2"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5043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16192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Erkenntnistheorie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marL="1651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3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marL="21526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2126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4945">
                <a:tc rowSpan="2">
                  <a:txBody>
                    <a:bodyPr/>
                    <a:lstStyle/>
                    <a:p>
                      <a:pPr marL="113664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2133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9494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spc="-10" dirty="0">
                          <a:latin typeface="Tahoma"/>
                          <a:cs typeface="Tahoma"/>
                        </a:rPr>
                        <a:t>Popper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7462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C3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7970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rowSpan="2" gridSpan="2">
                  <a:txBody>
                    <a:bodyPr/>
                    <a:lstStyle/>
                    <a:p>
                      <a:pPr marL="10541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26830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Aristoxenos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3"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8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8826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76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rowSpan="2" gridSpan="2"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5049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54038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Mäeutik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marL="1651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marL="21526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2125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4945">
                <a:tc rowSpan="2">
                  <a:txBody>
                    <a:bodyPr/>
                    <a:lstStyle/>
                    <a:p>
                      <a:pPr marL="113664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2134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3746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Augustinus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7462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C3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309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rowSpan="2" gridSpan="2">
                  <a:txBody>
                    <a:bodyPr/>
                    <a:lstStyle/>
                    <a:p>
                      <a:pPr marL="10541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27550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2730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Schopenhauer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3"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6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8826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76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rowSpan="2" gridSpan="2"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4052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1778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Logik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marL="1651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4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marL="21526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2125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4945">
                <a:tc rowSpan="2">
                  <a:txBody>
                    <a:bodyPr/>
                    <a:lstStyle/>
                    <a:p>
                      <a:pPr marL="113664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2136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26479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Curie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7462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C4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7970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36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rowSpan="2" gridSpan="2">
                  <a:txBody>
                    <a:bodyPr/>
                    <a:lstStyle/>
                    <a:p>
                      <a:pPr marL="10541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28106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30861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Carnap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3"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3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8826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76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rowSpan="2" gridSpan="2"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5052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2159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Wissenschaftstheorie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marL="1651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3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marL="21526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2126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94945">
                <a:tc rowSpan="2">
                  <a:txBody>
                    <a:bodyPr/>
                    <a:lstStyle/>
                    <a:p>
                      <a:pPr marL="113664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lang="en-GB" sz="1400" dirty="0">
                          <a:latin typeface="Tahoma"/>
                          <a:cs typeface="Tahoma"/>
                        </a:rPr>
                        <a:t>2137</a:t>
                      </a: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29083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lang="en-GB" sz="1400" spc="-10">
                          <a:latin typeface="Tahoma"/>
                          <a:cs typeface="Tahoma"/>
                        </a:rPr>
                        <a:t>Kant</a:t>
                      </a:r>
                      <a:endParaRPr lang="en-GB"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7462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lang="en-GB" sz="1400" spc="-5">
                          <a:latin typeface="Tahoma"/>
                          <a:cs typeface="Tahoma"/>
                        </a:rPr>
                        <a:t>C4</a:t>
                      </a:r>
                      <a:endParaRPr lang="en-GB"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7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rowSpan="2" gridSpan="2">
                  <a:txBody>
                    <a:bodyPr/>
                    <a:lstStyle/>
                    <a:p>
                      <a:pPr marL="10541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29120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Theophrastos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3"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9080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76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rowSpan="2" gridSpan="2"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5216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53403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Bioethik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marL="1651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marL="21526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2126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91770">
                <a:tc rowSpan="2"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GB"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10541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29555</a:t>
                      </a:r>
                    </a:p>
                  </a:txBody>
                  <a:tcPr marL="0" marR="0" marT="2159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18034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400" spc="-10" dirty="0">
                          <a:latin typeface="Tahoma"/>
                          <a:cs typeface="Tahoma"/>
                        </a:rPr>
                        <a:t>Feuerbach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15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3"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15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93980">
                <a:tc gridSpan="5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159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15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15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rowSpan="2" gridSpan="2"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5259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18542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Der Wiener</a:t>
                      </a:r>
                      <a:r>
                        <a:rPr sz="1400" spc="-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5" dirty="0">
                          <a:latin typeface="Tahoma"/>
                          <a:cs typeface="Tahoma"/>
                        </a:rPr>
                        <a:t>Kreis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marL="1651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marL="21526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2133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89230">
                <a:tc rowSpan="17" grid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rowSpan="17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17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17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17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17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4">
                  <a:txBody>
                    <a:bodyPr/>
                    <a:lstStyle/>
                    <a:p>
                      <a:pPr marL="1968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b="1" spc="-5" dirty="0">
                          <a:latin typeface="Tahoma"/>
                          <a:cs typeface="Tahoma"/>
                        </a:rPr>
                        <a:t>hören</a:t>
                      </a:r>
                      <a:endParaRPr sz="1600" dirty="0">
                        <a:latin typeface="Tahoma"/>
                        <a:cs typeface="Tahoma"/>
                      </a:endParaRPr>
                    </a:p>
                  </a:txBody>
                  <a:tcPr marL="0" marR="0" marT="3365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5"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 rowSpan="5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5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29539">
                <a:tc gridSpan="6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4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365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5022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Glaube und</a:t>
                      </a:r>
                      <a:r>
                        <a:rPr sz="1400" spc="-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5" dirty="0">
                          <a:latin typeface="Tahoma"/>
                          <a:cs typeface="Tahoma"/>
                        </a:rPr>
                        <a:t>Wissen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marL="1651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marL="21526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2134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53035">
                <a:tc gridSpan="6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b="1" spc="-5" dirty="0">
                          <a:latin typeface="Tahoma"/>
                          <a:cs typeface="Tahoma"/>
                        </a:rPr>
                        <a:t>MatrNr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217804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b="1" dirty="0">
                          <a:latin typeface="Tahoma"/>
                          <a:cs typeface="Tahoma"/>
                        </a:rPr>
                        <a:t>VorlNr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29539">
                <a:tc gridSpan="6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4630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320040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Die </a:t>
                      </a:r>
                      <a:r>
                        <a:rPr sz="1400" dirty="0">
                          <a:latin typeface="Tahoma"/>
                          <a:cs typeface="Tahoma"/>
                        </a:rPr>
                        <a:t>3</a:t>
                      </a:r>
                      <a:r>
                        <a:rPr sz="1400" spc="-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5" dirty="0">
                          <a:latin typeface="Tahoma"/>
                          <a:cs typeface="Tahoma"/>
                        </a:rPr>
                        <a:t>Kritiken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marL="1651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4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marL="21526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2137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53035">
                <a:tc gridSpan="6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224154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26120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311150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5001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30175">
                <a:tc gridSpan="6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3" gridSpan="10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3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3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3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3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3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3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3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3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283210">
                <a:tc gridSpan="6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24154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27550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11150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5001</a:t>
                      </a: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10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232410">
                <a:tc gridSpan="6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24154">
                        <a:lnSpc>
                          <a:spcPts val="151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27550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11150">
                        <a:lnSpc>
                          <a:spcPts val="151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4052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10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310515">
                <a:tc gridSpan="6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24154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28106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1115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5041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9">
                  <a:txBody>
                    <a:bodyPr/>
                    <a:lstStyle/>
                    <a:p>
                      <a:pPr marL="20955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600" b="1" dirty="0">
                          <a:latin typeface="Tahoma"/>
                          <a:cs typeface="Tahoma"/>
                        </a:rPr>
                        <a:t>Assistenten</a:t>
                      </a:r>
                      <a:endParaRPr sz="1600" dirty="0">
                        <a:latin typeface="Tahoma"/>
                        <a:cs typeface="Tahoma"/>
                      </a:endParaRPr>
                    </a:p>
                  </a:txBody>
                  <a:tcPr marL="0" marR="0" marT="254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283210">
                <a:tc gridSpan="6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24154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28106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5143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11150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5052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5143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3"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b="1" dirty="0">
                          <a:latin typeface="Tahoma"/>
                          <a:cs typeface="Tahoma"/>
                        </a:rPr>
                        <a:t>P</a:t>
                      </a:r>
                      <a:r>
                        <a:rPr sz="1400" b="1" spc="-5" dirty="0">
                          <a:latin typeface="Tahoma"/>
                          <a:cs typeface="Tahoma"/>
                        </a:rPr>
                        <a:t>ers</a:t>
                      </a:r>
                      <a:r>
                        <a:rPr sz="1400" b="1" dirty="0">
                          <a:latin typeface="Tahoma"/>
                          <a:cs typeface="Tahoma"/>
                        </a:rPr>
                        <a:t>l</a:t>
                      </a:r>
                      <a:r>
                        <a:rPr sz="1400" b="1" spc="-5" dirty="0">
                          <a:latin typeface="Tahoma"/>
                          <a:cs typeface="Tahoma"/>
                        </a:rPr>
                        <a:t>N</a:t>
                      </a:r>
                      <a:r>
                        <a:rPr sz="1400" b="1" dirty="0">
                          <a:latin typeface="Tahoma"/>
                          <a:cs typeface="Tahoma"/>
                        </a:rPr>
                        <a:t>r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0988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b="1" dirty="0">
                          <a:latin typeface="Tahoma"/>
                          <a:cs typeface="Tahoma"/>
                        </a:rPr>
                        <a:t>Name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40640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b="1" spc="-5" dirty="0">
                          <a:latin typeface="Tahoma"/>
                          <a:cs typeface="Tahoma"/>
                        </a:rPr>
                        <a:t>Fachgebiet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b="1" spc="-5" dirty="0">
                          <a:latin typeface="Tahoma"/>
                          <a:cs typeface="Tahoma"/>
                        </a:rPr>
                        <a:t>Boss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  <a:tr h="283210">
                <a:tc gridSpan="6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24154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28106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5143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11150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5216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5143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3">
                  <a:txBody>
                    <a:bodyPr/>
                    <a:lstStyle/>
                    <a:p>
                      <a:pPr marL="15875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3002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2575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Platon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476884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spc="-10" dirty="0">
                          <a:latin typeface="Tahoma"/>
                          <a:cs typeface="Tahoma"/>
                        </a:rPr>
                        <a:t>Ideenlehre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621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2125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8"/>
                  </a:ext>
                </a:extLst>
              </a:tr>
              <a:tr h="283210">
                <a:tc gridSpan="6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24154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28106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508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1115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5259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508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3">
                  <a:txBody>
                    <a:bodyPr/>
                    <a:lstStyle/>
                    <a:p>
                      <a:pPr marL="15875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3003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Aristoteles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51117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Syllogistik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621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2125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9"/>
                  </a:ext>
                </a:extLst>
              </a:tr>
              <a:tr h="283210">
                <a:tc gridSpan="6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24154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29120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508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1115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5001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508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3">
                  <a:txBody>
                    <a:bodyPr/>
                    <a:lstStyle/>
                    <a:p>
                      <a:pPr marL="15875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3004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Wittgenstein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35623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Sprachtheorie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621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2126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30"/>
                  </a:ext>
                </a:extLst>
              </a:tr>
              <a:tr h="283210">
                <a:tc gridSpan="6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24154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29120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508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1115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5041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508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3">
                  <a:txBody>
                    <a:bodyPr/>
                    <a:lstStyle/>
                    <a:p>
                      <a:pPr marL="15875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3005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3431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Rhetikus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Planetenbewegung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621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2127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31"/>
                  </a:ext>
                </a:extLst>
              </a:tr>
              <a:tr h="283210">
                <a:tc gridSpan="6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24154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29120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508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1115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5049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508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3">
                  <a:txBody>
                    <a:bodyPr/>
                    <a:lstStyle/>
                    <a:p>
                      <a:pPr marL="15875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3006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6987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Newton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13843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spc="-10" dirty="0">
                          <a:latin typeface="Tahoma"/>
                          <a:cs typeface="Tahoma"/>
                        </a:rPr>
                        <a:t>Keplersche</a:t>
                      </a:r>
                      <a:r>
                        <a:rPr sz="1400" spc="-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5" dirty="0">
                          <a:latin typeface="Tahoma"/>
                          <a:cs typeface="Tahoma"/>
                        </a:rPr>
                        <a:t>Gesetze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621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2127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32"/>
                  </a:ext>
                </a:extLst>
              </a:tr>
              <a:tr h="283210">
                <a:tc gridSpan="6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24154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29555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508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1115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5022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508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3">
                  <a:txBody>
                    <a:bodyPr/>
                    <a:lstStyle/>
                    <a:p>
                      <a:pPr marL="15875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3007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6670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Spinoza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30861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Gott und</a:t>
                      </a:r>
                      <a:r>
                        <a:rPr sz="1400" spc="-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400" dirty="0">
                          <a:latin typeface="Tahoma"/>
                          <a:cs typeface="Tahoma"/>
                        </a:rPr>
                        <a:t>Natur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621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2126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33"/>
                  </a:ext>
                </a:extLst>
              </a:tr>
              <a:tr h="295275">
                <a:tc gridSpan="6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24154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25403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508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1115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5022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508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10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34"/>
                  </a:ext>
                </a:extLst>
              </a:tr>
            </a:tbl>
          </a:graphicData>
        </a:graphic>
      </p:graphicFrame>
      <p:graphicFrame>
        <p:nvGraphicFramePr>
          <p:cNvPr id="26" name="object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7602131"/>
              </p:ext>
            </p:extLst>
          </p:nvPr>
        </p:nvGraphicFramePr>
        <p:xfrm>
          <a:off x="636588" y="5672137"/>
          <a:ext cx="2736214" cy="162305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692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1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5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515">
                <a:tc gridSpan="4"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600" b="1" spc="-5" dirty="0">
                          <a:latin typeface="Tahoma"/>
                          <a:cs typeface="Tahoma"/>
                        </a:rPr>
                        <a:t>prüfen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254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b="1" dirty="0">
                          <a:latin typeface="Tahoma"/>
                          <a:cs typeface="Tahoma"/>
                        </a:rPr>
                        <a:t>M</a:t>
                      </a:r>
                      <a:r>
                        <a:rPr sz="1400" b="1" spc="-5" dirty="0">
                          <a:latin typeface="Tahoma"/>
                          <a:cs typeface="Tahoma"/>
                        </a:rPr>
                        <a:t>atrN</a:t>
                      </a:r>
                      <a:r>
                        <a:rPr sz="1400" b="1" dirty="0">
                          <a:latin typeface="Tahoma"/>
                          <a:cs typeface="Tahoma"/>
                        </a:rPr>
                        <a:t>r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b="1" dirty="0">
                          <a:latin typeface="Tahoma"/>
                          <a:cs typeface="Tahoma"/>
                        </a:rPr>
                        <a:t>VorlNr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b="1" dirty="0">
                          <a:latin typeface="Tahoma"/>
                          <a:cs typeface="Tahoma"/>
                        </a:rPr>
                        <a:t>P</a:t>
                      </a:r>
                      <a:r>
                        <a:rPr sz="1400" b="1" spc="-5" dirty="0">
                          <a:latin typeface="Tahoma"/>
                          <a:cs typeface="Tahoma"/>
                        </a:rPr>
                        <a:t>ersN</a:t>
                      </a:r>
                      <a:r>
                        <a:rPr sz="1400" b="1" dirty="0">
                          <a:latin typeface="Tahoma"/>
                          <a:cs typeface="Tahoma"/>
                        </a:rPr>
                        <a:t>r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b="1" dirty="0">
                          <a:latin typeface="Tahoma"/>
                          <a:cs typeface="Tahoma"/>
                        </a:rPr>
                        <a:t>Note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9720"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28106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5001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2126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25403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5041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2125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955"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27550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4630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2137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</a:t>
                      </a: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9" name="object 16">
            <a:extLst>
              <a:ext uri="{FF2B5EF4-FFF2-40B4-BE49-F238E27FC236}">
                <a16:creationId xmlns:a16="http://schemas.microsoft.com/office/drawing/2014/main" id="{79636E09-509C-8B4D-C852-2EF3534529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8319603"/>
              </p:ext>
            </p:extLst>
          </p:nvPr>
        </p:nvGraphicFramePr>
        <p:xfrm>
          <a:off x="1003300" y="3092450"/>
          <a:ext cx="2134235" cy="250348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242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99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1751">
                <a:tc gridSpan="2">
                  <a:txBody>
                    <a:bodyPr/>
                    <a:lstStyle/>
                    <a:p>
                      <a:pPr marL="40640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600" b="1" dirty="0">
                          <a:latin typeface="Tahoma"/>
                          <a:cs typeface="Tahoma"/>
                        </a:rPr>
                        <a:t>voraussetzen</a:t>
                      </a:r>
                      <a:endParaRPr sz="1600" dirty="0">
                        <a:latin typeface="Tahoma"/>
                        <a:cs typeface="Tahoma"/>
                      </a:endParaRPr>
                    </a:p>
                  </a:txBody>
                  <a:tcPr marL="0" marR="0" marT="254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5217"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b="1" dirty="0">
                          <a:latin typeface="Tahoma"/>
                          <a:cs typeface="Tahoma"/>
                        </a:rPr>
                        <a:t>Vorgänger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b="1" spc="-5" dirty="0">
                          <a:latin typeface="Tahoma"/>
                          <a:cs typeface="Tahoma"/>
                        </a:rPr>
                        <a:t>Nachfolger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5217"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5001</a:t>
                      </a: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5041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5217"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5001</a:t>
                      </a: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5043</a:t>
                      </a: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5217"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5001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5049</a:t>
                      </a: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5217"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5041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5216</a:t>
                      </a: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5217"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5043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5052</a:t>
                      </a: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5217"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5041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5052</a:t>
                      </a: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5217"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5052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5259</a:t>
                      </a: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25">
            <a:extLst>
              <a:ext uri="{FF2B5EF4-FFF2-40B4-BE49-F238E27FC236}">
                <a16:creationId xmlns:a16="http://schemas.microsoft.com/office/drawing/2014/main" id="{DF304EA3-86BC-07C6-977C-DF542AF949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9228929"/>
              </p:ext>
            </p:extLst>
          </p:nvPr>
        </p:nvGraphicFramePr>
        <p:xfrm>
          <a:off x="1163325" y="107317"/>
          <a:ext cx="9136375" cy="702373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26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3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476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624204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9593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1178559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480059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119379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682625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</a:tblGrid>
              <a:tr h="307340">
                <a:tc gridSpan="4">
                  <a:txBody>
                    <a:bodyPr/>
                    <a:lstStyle/>
                    <a:p>
                      <a:pPr marL="68897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600" b="1" spc="-5" dirty="0">
                          <a:latin typeface="Tahoma"/>
                          <a:cs typeface="Tahoma"/>
                        </a:rPr>
                        <a:t>Professoren</a:t>
                      </a:r>
                      <a:endParaRPr sz="1600" dirty="0">
                        <a:latin typeface="Tahoma"/>
                        <a:cs typeface="Tahoma"/>
                      </a:endParaRPr>
                    </a:p>
                  </a:txBody>
                  <a:tcPr marL="0" marR="0" marT="254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7">
                  <a:txBody>
                    <a:bodyPr/>
                    <a:lstStyle/>
                    <a:p>
                      <a:pPr marL="918844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b="1" spc="-5" dirty="0">
                          <a:latin typeface="Tahoma"/>
                          <a:cs typeface="Tahoma"/>
                        </a:rPr>
                        <a:t>Studenten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7">
                  <a:txBody>
                    <a:bodyPr/>
                    <a:lstStyle/>
                    <a:p>
                      <a:pPr marL="120078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600" b="1" dirty="0">
                          <a:latin typeface="Tahoma"/>
                          <a:cs typeface="Tahoma"/>
                        </a:rPr>
                        <a:t>Vorlesungen</a:t>
                      </a:r>
                      <a:endParaRPr sz="1600" dirty="0">
                        <a:latin typeface="Tahoma"/>
                        <a:cs typeface="Tahoma"/>
                      </a:endParaRPr>
                    </a:p>
                  </a:txBody>
                  <a:tcPr marL="0" marR="0" marT="254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 marL="508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b="1" dirty="0">
                          <a:latin typeface="Tahoma"/>
                          <a:cs typeface="Tahoma"/>
                        </a:rPr>
                        <a:t>P</a:t>
                      </a:r>
                      <a:r>
                        <a:rPr sz="1400" b="1" spc="-5" dirty="0">
                          <a:latin typeface="Tahoma"/>
                          <a:cs typeface="Tahoma"/>
                        </a:rPr>
                        <a:t>ersN</a:t>
                      </a:r>
                      <a:r>
                        <a:rPr sz="1400" b="1" dirty="0">
                          <a:latin typeface="Tahoma"/>
                          <a:cs typeface="Tahoma"/>
                        </a:rPr>
                        <a:t>r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20764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b="1" dirty="0">
                          <a:latin typeface="Tahoma"/>
                          <a:cs typeface="Tahoma"/>
                        </a:rPr>
                        <a:t>Name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b="1" spc="-5" dirty="0">
                          <a:latin typeface="Tahoma"/>
                          <a:cs typeface="Tahoma"/>
                        </a:rPr>
                        <a:t>Rang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1714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b="1" dirty="0">
                          <a:latin typeface="Tahoma"/>
                          <a:cs typeface="Tahoma"/>
                        </a:rPr>
                        <a:t>R</a:t>
                      </a:r>
                      <a:r>
                        <a:rPr sz="1400" b="1" spc="-5" dirty="0">
                          <a:latin typeface="Tahoma"/>
                          <a:cs typeface="Tahoma"/>
                        </a:rPr>
                        <a:t>aum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b="1" dirty="0">
                          <a:latin typeface="Tahoma"/>
                          <a:cs typeface="Tahoma"/>
                        </a:rPr>
                        <a:t>M</a:t>
                      </a:r>
                      <a:r>
                        <a:rPr sz="1400" b="1" spc="-5" dirty="0">
                          <a:latin typeface="Tahoma"/>
                          <a:cs typeface="Tahoma"/>
                        </a:rPr>
                        <a:t>atrN</a:t>
                      </a:r>
                      <a:r>
                        <a:rPr sz="1400" b="1" dirty="0">
                          <a:latin typeface="Tahoma"/>
                          <a:cs typeface="Tahoma"/>
                        </a:rPr>
                        <a:t>r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2702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b="1" dirty="0">
                          <a:latin typeface="Tahoma"/>
                          <a:cs typeface="Tahoma"/>
                        </a:rPr>
                        <a:t>Name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4635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b="1" spc="-5" dirty="0">
                          <a:latin typeface="Tahoma"/>
                          <a:cs typeface="Tahoma"/>
                        </a:rPr>
                        <a:t>Semester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17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rowSpan="2" gridSpan="2"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400" b="1" dirty="0">
                          <a:latin typeface="Tahoma"/>
                          <a:cs typeface="Tahoma"/>
                        </a:rPr>
                        <a:t>VorlNr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1114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17780"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400" b="1" spc="-5" dirty="0">
                          <a:latin typeface="Tahoma"/>
                          <a:cs typeface="Tahoma"/>
                        </a:rPr>
                        <a:t>Titel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111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400" b="1" spc="-5" dirty="0">
                          <a:latin typeface="Tahoma"/>
                          <a:cs typeface="Tahoma"/>
                        </a:rPr>
                        <a:t>SWS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111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marL="297180" indent="-292100">
                        <a:lnSpc>
                          <a:spcPts val="1500"/>
                        </a:lnSpc>
                        <a:spcBef>
                          <a:spcPts val="445"/>
                        </a:spcBef>
                      </a:pPr>
                      <a:r>
                        <a:rPr sz="1400" b="1" dirty="0">
                          <a:latin typeface="Tahoma"/>
                          <a:cs typeface="Tahoma"/>
                        </a:rPr>
                        <a:t>g</a:t>
                      </a:r>
                      <a:r>
                        <a:rPr sz="1400" b="1" spc="-5" dirty="0">
                          <a:latin typeface="Tahoma"/>
                          <a:cs typeface="Tahoma"/>
                        </a:rPr>
                        <a:t>elese</a:t>
                      </a:r>
                      <a:r>
                        <a:rPr sz="1400" b="1" dirty="0">
                          <a:latin typeface="Tahoma"/>
                          <a:cs typeface="Tahoma"/>
                        </a:rPr>
                        <a:t>nV  on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5651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4945">
                <a:tc rowSpan="2">
                  <a:txBody>
                    <a:bodyPr/>
                    <a:lstStyle/>
                    <a:p>
                      <a:pPr marL="113664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2125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3144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Sokrates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7462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C4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226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rowSpan="2" gridSpan="2">
                  <a:txBody>
                    <a:bodyPr/>
                    <a:lstStyle/>
                    <a:p>
                      <a:pPr marL="10541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24002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15430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spc="-10" dirty="0">
                          <a:latin typeface="Tahoma"/>
                          <a:cs typeface="Tahoma"/>
                        </a:rPr>
                        <a:t>Xenokrates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3"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18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1114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111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111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5651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26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76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rowSpan="2" gridSpan="2"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5001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421640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Grundzüge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marL="1651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4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marL="21526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2137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945">
                <a:tc rowSpan="2">
                  <a:txBody>
                    <a:bodyPr/>
                    <a:lstStyle/>
                    <a:p>
                      <a:pPr marL="113664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2126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21653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Russel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7462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C4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232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rowSpan="2" gridSpan="2">
                  <a:txBody>
                    <a:bodyPr/>
                    <a:lstStyle/>
                    <a:p>
                      <a:pPr marL="10541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25403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36512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Jonas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3"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12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826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76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rowSpan="2" gridSpan="2"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5041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18415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Ethik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marL="1651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4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marL="21526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2125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4945">
                <a:tc rowSpan="2">
                  <a:txBody>
                    <a:bodyPr/>
                    <a:lstStyle/>
                    <a:p>
                      <a:pPr marL="113664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2127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3746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spc="-10" dirty="0">
                          <a:latin typeface="Tahoma"/>
                          <a:cs typeface="Tahoma"/>
                        </a:rPr>
                        <a:t>Kopernikus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7462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C3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310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rowSpan="2" gridSpan="2">
                  <a:txBody>
                    <a:bodyPr/>
                    <a:lstStyle/>
                    <a:p>
                      <a:pPr marL="10541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26120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35242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Fichte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3"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10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826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76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rowSpan="2" gridSpan="2"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5043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16192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Erkenntnistheorie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marL="1651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3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marL="21526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2126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4945">
                <a:tc rowSpan="2">
                  <a:txBody>
                    <a:bodyPr/>
                    <a:lstStyle/>
                    <a:p>
                      <a:pPr marL="113664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2133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9494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spc="-10" dirty="0">
                          <a:latin typeface="Tahoma"/>
                          <a:cs typeface="Tahoma"/>
                        </a:rPr>
                        <a:t>Popper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7462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C3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7970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rowSpan="2" gridSpan="2">
                  <a:txBody>
                    <a:bodyPr/>
                    <a:lstStyle/>
                    <a:p>
                      <a:pPr marL="10541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26830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Aristoxenos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3"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8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8826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76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rowSpan="2" gridSpan="2"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5049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54038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Mäeutik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marL="1651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marL="21526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2125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4945">
                <a:tc rowSpan="2">
                  <a:txBody>
                    <a:bodyPr/>
                    <a:lstStyle/>
                    <a:p>
                      <a:pPr marL="113664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2134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3746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Augustinus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7462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C3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309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rowSpan="2" gridSpan="2">
                  <a:txBody>
                    <a:bodyPr/>
                    <a:lstStyle/>
                    <a:p>
                      <a:pPr marL="10541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27550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2730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Schopenhauer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3"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6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8826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76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rowSpan="2" gridSpan="2"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4052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1778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Logik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marL="1651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4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marL="21526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2125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4945">
                <a:tc rowSpan="2">
                  <a:txBody>
                    <a:bodyPr/>
                    <a:lstStyle/>
                    <a:p>
                      <a:pPr marL="113664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2136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26479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Curie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7462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C4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7970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36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rowSpan="2" gridSpan="2">
                  <a:txBody>
                    <a:bodyPr/>
                    <a:lstStyle/>
                    <a:p>
                      <a:pPr marL="10541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28106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30861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Carnap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3"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3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8826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76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rowSpan="2" gridSpan="2"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5052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2159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Wissenschaftstheorie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marL="1651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3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marL="21526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2126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94945">
                <a:tc rowSpan="2">
                  <a:txBody>
                    <a:bodyPr/>
                    <a:lstStyle/>
                    <a:p>
                      <a:pPr marL="113664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lang="en-GB" sz="1400" dirty="0">
                          <a:latin typeface="Tahoma"/>
                          <a:cs typeface="Tahoma"/>
                        </a:rPr>
                        <a:t>2137</a:t>
                      </a: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29083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lang="en-GB" sz="1400" spc="-10">
                          <a:latin typeface="Tahoma"/>
                          <a:cs typeface="Tahoma"/>
                        </a:rPr>
                        <a:t>Kant</a:t>
                      </a:r>
                      <a:endParaRPr lang="en-GB"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7462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lang="en-GB" sz="1400" spc="-5">
                          <a:latin typeface="Tahoma"/>
                          <a:cs typeface="Tahoma"/>
                        </a:rPr>
                        <a:t>C4</a:t>
                      </a:r>
                      <a:endParaRPr lang="en-GB"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7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rowSpan="2" gridSpan="2">
                  <a:txBody>
                    <a:bodyPr/>
                    <a:lstStyle/>
                    <a:p>
                      <a:pPr marL="10541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29120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Theophrastos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3"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9080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76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rowSpan="2" gridSpan="2"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5216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53403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Bioethik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marL="1651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marL="21526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2126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91770">
                <a:tc rowSpan="2"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GB"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10541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29555</a:t>
                      </a:r>
                    </a:p>
                  </a:txBody>
                  <a:tcPr marL="0" marR="0" marT="2159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18034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400" spc="-10" dirty="0">
                          <a:latin typeface="Tahoma"/>
                          <a:cs typeface="Tahoma"/>
                        </a:rPr>
                        <a:t>Feuerbach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15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3"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15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93980">
                <a:tc gridSpan="5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159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15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15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rowSpan="2" gridSpan="2"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5259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18542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Der Wiener</a:t>
                      </a:r>
                      <a:r>
                        <a:rPr sz="1400" spc="-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5" dirty="0">
                          <a:latin typeface="Tahoma"/>
                          <a:cs typeface="Tahoma"/>
                        </a:rPr>
                        <a:t>Kreis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marL="1651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marL="21526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2133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89230">
                <a:tc rowSpan="17" grid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rowSpan="17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17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17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17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17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4">
                  <a:txBody>
                    <a:bodyPr/>
                    <a:lstStyle/>
                    <a:p>
                      <a:pPr marL="1968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b="1" spc="-5" dirty="0">
                          <a:latin typeface="Tahoma"/>
                          <a:cs typeface="Tahoma"/>
                        </a:rPr>
                        <a:t>hören</a:t>
                      </a:r>
                      <a:endParaRPr sz="1600" dirty="0">
                        <a:latin typeface="Tahoma"/>
                        <a:cs typeface="Tahoma"/>
                      </a:endParaRPr>
                    </a:p>
                  </a:txBody>
                  <a:tcPr marL="0" marR="0" marT="3365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5"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 rowSpan="5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5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29539">
                <a:tc gridSpan="6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4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365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5022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Glaube und</a:t>
                      </a:r>
                      <a:r>
                        <a:rPr sz="1400" spc="-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5" dirty="0">
                          <a:latin typeface="Tahoma"/>
                          <a:cs typeface="Tahoma"/>
                        </a:rPr>
                        <a:t>Wissen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marL="1651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marL="21526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2134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53035">
                <a:tc gridSpan="6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b="1" spc="-5" dirty="0">
                          <a:latin typeface="Tahoma"/>
                          <a:cs typeface="Tahoma"/>
                        </a:rPr>
                        <a:t>MatrNr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217804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b="1" dirty="0">
                          <a:latin typeface="Tahoma"/>
                          <a:cs typeface="Tahoma"/>
                        </a:rPr>
                        <a:t>VorlNr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29539">
                <a:tc gridSpan="6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4630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320040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Die </a:t>
                      </a:r>
                      <a:r>
                        <a:rPr sz="1400" dirty="0">
                          <a:latin typeface="Tahoma"/>
                          <a:cs typeface="Tahoma"/>
                        </a:rPr>
                        <a:t>3</a:t>
                      </a:r>
                      <a:r>
                        <a:rPr sz="1400" spc="-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5" dirty="0">
                          <a:latin typeface="Tahoma"/>
                          <a:cs typeface="Tahoma"/>
                        </a:rPr>
                        <a:t>Kritiken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marL="1651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4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marL="21526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2137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53035">
                <a:tc gridSpan="6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224154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26120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311150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5001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30175">
                <a:tc gridSpan="6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3" gridSpan="10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3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3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3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3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3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3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3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3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283210">
                <a:tc gridSpan="6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24154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27550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11150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5001</a:t>
                      </a: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10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232410">
                <a:tc gridSpan="6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24154">
                        <a:lnSpc>
                          <a:spcPts val="151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27550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11150">
                        <a:lnSpc>
                          <a:spcPts val="151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4052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10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310515">
                <a:tc gridSpan="6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24154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28106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1115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5041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9">
                  <a:txBody>
                    <a:bodyPr/>
                    <a:lstStyle/>
                    <a:p>
                      <a:pPr marL="20955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600" b="1" dirty="0">
                          <a:latin typeface="Tahoma"/>
                          <a:cs typeface="Tahoma"/>
                        </a:rPr>
                        <a:t>Assistenten</a:t>
                      </a:r>
                      <a:endParaRPr sz="1600" dirty="0">
                        <a:latin typeface="Tahoma"/>
                        <a:cs typeface="Tahoma"/>
                      </a:endParaRPr>
                    </a:p>
                  </a:txBody>
                  <a:tcPr marL="0" marR="0" marT="254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283210">
                <a:tc gridSpan="6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24154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28106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5143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11150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5052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5143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3"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b="1" dirty="0">
                          <a:latin typeface="Tahoma"/>
                          <a:cs typeface="Tahoma"/>
                        </a:rPr>
                        <a:t>P</a:t>
                      </a:r>
                      <a:r>
                        <a:rPr sz="1400" b="1" spc="-5" dirty="0">
                          <a:latin typeface="Tahoma"/>
                          <a:cs typeface="Tahoma"/>
                        </a:rPr>
                        <a:t>ers</a:t>
                      </a:r>
                      <a:r>
                        <a:rPr sz="1400" b="1" dirty="0">
                          <a:latin typeface="Tahoma"/>
                          <a:cs typeface="Tahoma"/>
                        </a:rPr>
                        <a:t>l</a:t>
                      </a:r>
                      <a:r>
                        <a:rPr sz="1400" b="1" spc="-5" dirty="0">
                          <a:latin typeface="Tahoma"/>
                          <a:cs typeface="Tahoma"/>
                        </a:rPr>
                        <a:t>N</a:t>
                      </a:r>
                      <a:r>
                        <a:rPr sz="1400" b="1" dirty="0">
                          <a:latin typeface="Tahoma"/>
                          <a:cs typeface="Tahoma"/>
                        </a:rPr>
                        <a:t>r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0988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b="1" dirty="0">
                          <a:latin typeface="Tahoma"/>
                          <a:cs typeface="Tahoma"/>
                        </a:rPr>
                        <a:t>Name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40640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b="1" spc="-5" dirty="0">
                          <a:latin typeface="Tahoma"/>
                          <a:cs typeface="Tahoma"/>
                        </a:rPr>
                        <a:t>Fachgebiet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b="1" spc="-5" dirty="0">
                          <a:latin typeface="Tahoma"/>
                          <a:cs typeface="Tahoma"/>
                        </a:rPr>
                        <a:t>Boss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  <a:tr h="283210">
                <a:tc gridSpan="6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24154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28106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5143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11150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5216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5143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3">
                  <a:txBody>
                    <a:bodyPr/>
                    <a:lstStyle/>
                    <a:p>
                      <a:pPr marL="15875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3002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2575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Platon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476884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spc="-10" dirty="0">
                          <a:latin typeface="Tahoma"/>
                          <a:cs typeface="Tahoma"/>
                        </a:rPr>
                        <a:t>Ideenlehre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621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2125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8"/>
                  </a:ext>
                </a:extLst>
              </a:tr>
              <a:tr h="283210">
                <a:tc gridSpan="6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24154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28106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508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1115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5259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508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3">
                  <a:txBody>
                    <a:bodyPr/>
                    <a:lstStyle/>
                    <a:p>
                      <a:pPr marL="15875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3003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Aristoteles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51117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Syllogistik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621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2125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9"/>
                  </a:ext>
                </a:extLst>
              </a:tr>
              <a:tr h="283210">
                <a:tc gridSpan="6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24154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29120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508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1115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5001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508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3">
                  <a:txBody>
                    <a:bodyPr/>
                    <a:lstStyle/>
                    <a:p>
                      <a:pPr marL="15875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3004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Wittgenstein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35623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Sprachtheorie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621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2126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30"/>
                  </a:ext>
                </a:extLst>
              </a:tr>
              <a:tr h="283210">
                <a:tc gridSpan="6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24154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29120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508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1115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5041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508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3">
                  <a:txBody>
                    <a:bodyPr/>
                    <a:lstStyle/>
                    <a:p>
                      <a:pPr marL="15875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3005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3431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Rhetikus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Planetenbewegung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621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2127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31"/>
                  </a:ext>
                </a:extLst>
              </a:tr>
              <a:tr h="283210">
                <a:tc gridSpan="6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24154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29120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508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1115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5049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508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3">
                  <a:txBody>
                    <a:bodyPr/>
                    <a:lstStyle/>
                    <a:p>
                      <a:pPr marL="15875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3006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6987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Newton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13843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spc="-10" dirty="0">
                          <a:latin typeface="Tahoma"/>
                          <a:cs typeface="Tahoma"/>
                        </a:rPr>
                        <a:t>Keplersche</a:t>
                      </a:r>
                      <a:r>
                        <a:rPr sz="1400" spc="-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5" dirty="0">
                          <a:latin typeface="Tahoma"/>
                          <a:cs typeface="Tahoma"/>
                        </a:rPr>
                        <a:t>Gesetze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621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2127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32"/>
                  </a:ext>
                </a:extLst>
              </a:tr>
              <a:tr h="283210">
                <a:tc gridSpan="6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24154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29555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508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1115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5022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508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3">
                  <a:txBody>
                    <a:bodyPr/>
                    <a:lstStyle/>
                    <a:p>
                      <a:pPr marL="15875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3007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6670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Spinoza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30861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Gott und</a:t>
                      </a:r>
                      <a:r>
                        <a:rPr sz="1400" spc="-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400" dirty="0">
                          <a:latin typeface="Tahoma"/>
                          <a:cs typeface="Tahoma"/>
                        </a:rPr>
                        <a:t>Natur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621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2126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33"/>
                  </a:ext>
                </a:extLst>
              </a:tr>
              <a:tr h="295275">
                <a:tc gridSpan="6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24154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25403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508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1115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5022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508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10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34"/>
                  </a:ext>
                </a:extLst>
              </a:tr>
            </a:tbl>
          </a:graphicData>
        </a:graphic>
      </p:graphicFrame>
      <p:graphicFrame>
        <p:nvGraphicFramePr>
          <p:cNvPr id="11" name="object 26">
            <a:extLst>
              <a:ext uri="{FF2B5EF4-FFF2-40B4-BE49-F238E27FC236}">
                <a16:creationId xmlns:a16="http://schemas.microsoft.com/office/drawing/2014/main" id="{5140401F-46F9-2395-8E60-F89AF89808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1775588"/>
              </p:ext>
            </p:extLst>
          </p:nvPr>
        </p:nvGraphicFramePr>
        <p:xfrm>
          <a:off x="1155697" y="5476241"/>
          <a:ext cx="2736214" cy="162305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692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1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5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515">
                <a:tc gridSpan="4"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600" b="1" spc="-5" dirty="0">
                          <a:latin typeface="Tahoma"/>
                          <a:cs typeface="Tahoma"/>
                        </a:rPr>
                        <a:t>prüfen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254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b="1" dirty="0">
                          <a:latin typeface="Tahoma"/>
                          <a:cs typeface="Tahoma"/>
                        </a:rPr>
                        <a:t>M</a:t>
                      </a:r>
                      <a:r>
                        <a:rPr sz="1400" b="1" spc="-5" dirty="0">
                          <a:latin typeface="Tahoma"/>
                          <a:cs typeface="Tahoma"/>
                        </a:rPr>
                        <a:t>atrN</a:t>
                      </a:r>
                      <a:r>
                        <a:rPr sz="1400" b="1" dirty="0">
                          <a:latin typeface="Tahoma"/>
                          <a:cs typeface="Tahoma"/>
                        </a:rPr>
                        <a:t>r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b="1" dirty="0">
                          <a:latin typeface="Tahoma"/>
                          <a:cs typeface="Tahoma"/>
                        </a:rPr>
                        <a:t>VorlNr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b="1" dirty="0">
                          <a:latin typeface="Tahoma"/>
                          <a:cs typeface="Tahoma"/>
                        </a:rPr>
                        <a:t>P</a:t>
                      </a:r>
                      <a:r>
                        <a:rPr sz="1400" b="1" spc="-5" dirty="0">
                          <a:latin typeface="Tahoma"/>
                          <a:cs typeface="Tahoma"/>
                        </a:rPr>
                        <a:t>ersN</a:t>
                      </a:r>
                      <a:r>
                        <a:rPr sz="1400" b="1" dirty="0">
                          <a:latin typeface="Tahoma"/>
                          <a:cs typeface="Tahoma"/>
                        </a:rPr>
                        <a:t>r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b="1" dirty="0">
                          <a:latin typeface="Tahoma"/>
                          <a:cs typeface="Tahoma"/>
                        </a:rPr>
                        <a:t>Note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9720"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28106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5001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2126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25403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5041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2125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955"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27550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4630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2137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</a:t>
                      </a: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2" name="object 16">
            <a:extLst>
              <a:ext uri="{FF2B5EF4-FFF2-40B4-BE49-F238E27FC236}">
                <a16:creationId xmlns:a16="http://schemas.microsoft.com/office/drawing/2014/main" id="{435D0FE9-E968-4754-11B0-646C516718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6513589"/>
              </p:ext>
            </p:extLst>
          </p:nvPr>
        </p:nvGraphicFramePr>
        <p:xfrm>
          <a:off x="1522409" y="2896554"/>
          <a:ext cx="2134235" cy="250348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242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99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1751">
                <a:tc gridSpan="2">
                  <a:txBody>
                    <a:bodyPr/>
                    <a:lstStyle/>
                    <a:p>
                      <a:pPr marL="40640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600" b="1" dirty="0">
                          <a:latin typeface="Tahoma"/>
                          <a:cs typeface="Tahoma"/>
                        </a:rPr>
                        <a:t>voraussetzen</a:t>
                      </a:r>
                      <a:endParaRPr sz="1600" dirty="0">
                        <a:latin typeface="Tahoma"/>
                        <a:cs typeface="Tahoma"/>
                      </a:endParaRPr>
                    </a:p>
                  </a:txBody>
                  <a:tcPr marL="0" marR="0" marT="254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5217"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b="1" dirty="0">
                          <a:latin typeface="Tahoma"/>
                          <a:cs typeface="Tahoma"/>
                        </a:rPr>
                        <a:t>Vorgänger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b="1" spc="-5" dirty="0">
                          <a:latin typeface="Tahoma"/>
                          <a:cs typeface="Tahoma"/>
                        </a:rPr>
                        <a:t>Nachfolger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5217"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5001</a:t>
                      </a: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5041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5217"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5001</a:t>
                      </a: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5043</a:t>
                      </a: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5217"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5001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5049</a:t>
                      </a: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5217"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5041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5216</a:t>
                      </a: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5217"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5043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5052</a:t>
                      </a: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5217"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5041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5052</a:t>
                      </a: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5217"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5052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5259</a:t>
                      </a: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74701" y="760960"/>
            <a:ext cx="6172200" cy="540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694170" algn="l"/>
                <a:tab pos="7303770" algn="l"/>
              </a:tabLst>
            </a:pPr>
            <a:r>
              <a:rPr dirty="0"/>
              <a:t>(Einfache) </a:t>
            </a:r>
            <a:r>
              <a:rPr spc="-5" dirty="0" err="1"/>
              <a:t>D</a:t>
            </a:r>
            <a:r>
              <a:rPr dirty="0" err="1"/>
              <a:t>a</a:t>
            </a:r>
            <a:r>
              <a:rPr spc="-5" dirty="0" err="1"/>
              <a:t>t</a:t>
            </a:r>
            <a:r>
              <a:rPr dirty="0" err="1"/>
              <a:t>endefini</a:t>
            </a:r>
            <a:r>
              <a:rPr spc="-5" dirty="0" err="1"/>
              <a:t>tio</a:t>
            </a:r>
            <a:r>
              <a:rPr dirty="0" err="1"/>
              <a:t>n</a:t>
            </a:r>
            <a:r>
              <a:rPr lang="en-GB" dirty="0" err="1"/>
              <a:t>en</a:t>
            </a:r>
            <a:r>
              <a:rPr lang="en-GB" dirty="0"/>
              <a:t> </a:t>
            </a:r>
            <a:r>
              <a:rPr spc="-5" dirty="0"/>
              <a:t>i</a:t>
            </a:r>
            <a:r>
              <a:rPr dirty="0"/>
              <a:t>n</a:t>
            </a:r>
            <a:r>
              <a:rPr lang="en-GB" dirty="0"/>
              <a:t> </a:t>
            </a:r>
            <a:r>
              <a:rPr dirty="0"/>
              <a:t>S</a:t>
            </a:r>
            <a:r>
              <a:rPr spc="-5" dirty="0"/>
              <a:t>QL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10640" y="1570875"/>
            <a:ext cx="6240780" cy="44565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Datentypen</a:t>
            </a:r>
            <a:endParaRPr sz="2400" dirty="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145"/>
              </a:spcBef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sz="2400" b="1" spc="-5" dirty="0">
                <a:latin typeface="Tahoma"/>
                <a:cs typeface="Tahoma"/>
              </a:rPr>
              <a:t>character </a:t>
            </a:r>
            <a:r>
              <a:rPr sz="2450" i="1" spc="-25" dirty="0">
                <a:latin typeface="Tahoma"/>
                <a:cs typeface="Tahoma"/>
              </a:rPr>
              <a:t>(n), </a:t>
            </a:r>
            <a:r>
              <a:rPr sz="2450" b="1" i="1" spc="-35" dirty="0">
                <a:latin typeface="Tahoma"/>
                <a:cs typeface="Tahoma"/>
              </a:rPr>
              <a:t>char</a:t>
            </a:r>
            <a:r>
              <a:rPr sz="2450" b="1" i="1" spc="-305" dirty="0">
                <a:latin typeface="Tahoma"/>
                <a:cs typeface="Tahoma"/>
              </a:rPr>
              <a:t> </a:t>
            </a:r>
            <a:r>
              <a:rPr sz="2450" i="1" spc="-25" dirty="0">
                <a:latin typeface="Tahoma"/>
                <a:cs typeface="Tahoma"/>
              </a:rPr>
              <a:t>(n)</a:t>
            </a:r>
            <a:endParaRPr sz="2450" dirty="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260"/>
              </a:spcBef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sz="2400" b="1" spc="-5" dirty="0">
                <a:latin typeface="Tahoma"/>
                <a:cs typeface="Tahoma"/>
              </a:rPr>
              <a:t>character </a:t>
            </a:r>
            <a:r>
              <a:rPr sz="2400" b="1" dirty="0">
                <a:latin typeface="Tahoma"/>
                <a:cs typeface="Tahoma"/>
              </a:rPr>
              <a:t>varying </a:t>
            </a:r>
            <a:r>
              <a:rPr sz="2450" i="1" spc="-25" dirty="0">
                <a:latin typeface="Tahoma"/>
                <a:cs typeface="Tahoma"/>
              </a:rPr>
              <a:t>(n), </a:t>
            </a:r>
            <a:r>
              <a:rPr sz="2400" b="1" spc="-5" dirty="0">
                <a:latin typeface="Tahoma"/>
                <a:cs typeface="Tahoma"/>
              </a:rPr>
              <a:t>varchar</a:t>
            </a:r>
            <a:r>
              <a:rPr sz="2400" b="1" spc="-305" dirty="0">
                <a:latin typeface="Tahoma"/>
                <a:cs typeface="Tahoma"/>
              </a:rPr>
              <a:t> </a:t>
            </a:r>
            <a:r>
              <a:rPr sz="2450" i="1" spc="-25" dirty="0">
                <a:latin typeface="Tahoma"/>
                <a:cs typeface="Tahoma"/>
              </a:rPr>
              <a:t>(n)</a:t>
            </a:r>
            <a:endParaRPr sz="2450" dirty="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260"/>
              </a:spcBef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sz="2400" b="1" spc="-5" dirty="0">
                <a:latin typeface="Tahoma"/>
                <a:cs typeface="Tahoma"/>
              </a:rPr>
              <a:t>numeric </a:t>
            </a:r>
            <a:r>
              <a:rPr sz="2450" i="1" spc="-25" dirty="0">
                <a:latin typeface="Tahoma"/>
                <a:cs typeface="Tahoma"/>
              </a:rPr>
              <a:t>(p,s), </a:t>
            </a:r>
            <a:r>
              <a:rPr sz="2400" b="1" dirty="0">
                <a:latin typeface="Tahoma"/>
                <a:cs typeface="Tahoma"/>
              </a:rPr>
              <a:t>integer,</a:t>
            </a:r>
            <a:r>
              <a:rPr sz="2400" b="1" spc="-350" dirty="0">
                <a:latin typeface="Tahoma"/>
                <a:cs typeface="Tahoma"/>
              </a:rPr>
              <a:t> </a:t>
            </a:r>
            <a:r>
              <a:rPr sz="2400" b="1" spc="-5" dirty="0">
                <a:latin typeface="Tahoma"/>
                <a:cs typeface="Tahoma"/>
              </a:rPr>
              <a:t>decimal</a:t>
            </a:r>
            <a:endParaRPr sz="2400" dirty="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210"/>
              </a:spcBef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sz="2400" b="1" spc="-5" dirty="0">
                <a:latin typeface="Tahoma"/>
                <a:cs typeface="Tahoma"/>
              </a:rPr>
              <a:t>blob </a:t>
            </a:r>
            <a:r>
              <a:rPr sz="2400" spc="-5" dirty="0">
                <a:latin typeface="Tahoma"/>
                <a:cs typeface="Tahoma"/>
              </a:rPr>
              <a:t>oder </a:t>
            </a:r>
            <a:r>
              <a:rPr sz="2400" b="1" dirty="0">
                <a:latin typeface="Tahoma"/>
                <a:cs typeface="Tahoma"/>
              </a:rPr>
              <a:t>raw </a:t>
            </a:r>
            <a:r>
              <a:rPr sz="2400" dirty="0">
                <a:latin typeface="Tahoma"/>
                <a:cs typeface="Tahoma"/>
              </a:rPr>
              <a:t>für sehr </a:t>
            </a:r>
            <a:r>
              <a:rPr sz="2400" spc="-5" dirty="0">
                <a:latin typeface="Tahoma"/>
                <a:cs typeface="Tahoma"/>
              </a:rPr>
              <a:t>große binäre</a:t>
            </a:r>
            <a:r>
              <a:rPr sz="2400" spc="-29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Daten</a:t>
            </a:r>
            <a:endParaRPr sz="2400" dirty="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320"/>
              </a:spcBef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sz="2400" b="1" spc="-5" dirty="0" err="1">
                <a:latin typeface="Tahoma"/>
                <a:cs typeface="Tahoma"/>
              </a:rPr>
              <a:t>clob</a:t>
            </a:r>
            <a:r>
              <a:rPr sz="2400" b="1" spc="-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für sehr </a:t>
            </a:r>
            <a:r>
              <a:rPr sz="2400" spc="-5" dirty="0">
                <a:latin typeface="Tahoma"/>
                <a:cs typeface="Tahoma"/>
              </a:rPr>
              <a:t>große</a:t>
            </a:r>
            <a:r>
              <a:rPr sz="2400" spc="-29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String-Attribute</a:t>
            </a:r>
            <a:endParaRPr sz="2400" dirty="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320"/>
              </a:spcBef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sz="2400" b="1" spc="-5" dirty="0">
                <a:latin typeface="Tahoma"/>
                <a:cs typeface="Tahoma"/>
              </a:rPr>
              <a:t>date </a:t>
            </a:r>
            <a:r>
              <a:rPr sz="2400" spc="-5" dirty="0">
                <a:latin typeface="Tahoma"/>
                <a:cs typeface="Tahoma"/>
              </a:rPr>
              <a:t>für</a:t>
            </a:r>
            <a:r>
              <a:rPr sz="2400" spc="-30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Datumsangaben</a:t>
            </a:r>
            <a:endParaRPr sz="2400" dirty="0">
              <a:latin typeface="Tahoma"/>
              <a:cs typeface="Tahoma"/>
            </a:endParaRPr>
          </a:p>
          <a:p>
            <a:pPr marL="355600" marR="2531745" indent="-342900">
              <a:lnSpc>
                <a:spcPct val="107600"/>
              </a:lnSpc>
              <a:spcBef>
                <a:spcPts val="100"/>
              </a:spcBef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sz="2400" b="1" spc="-5" dirty="0">
                <a:latin typeface="Tahoma"/>
                <a:cs typeface="Tahoma"/>
              </a:rPr>
              <a:t>xml </a:t>
            </a:r>
            <a:r>
              <a:rPr sz="2400" dirty="0">
                <a:latin typeface="Tahoma"/>
                <a:cs typeface="Tahoma"/>
              </a:rPr>
              <a:t>für</a:t>
            </a:r>
            <a:r>
              <a:rPr sz="2400" spc="-33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XML-Dokumente  </a:t>
            </a:r>
            <a:endParaRPr lang="en-GB" sz="2400" spc="-5" dirty="0">
              <a:latin typeface="Tahoma"/>
              <a:cs typeface="Tahoma"/>
            </a:endParaRPr>
          </a:p>
          <a:p>
            <a:pPr marL="12700" marR="2531745">
              <a:lnSpc>
                <a:spcPct val="107600"/>
              </a:lnSpc>
              <a:spcBef>
                <a:spcPts val="100"/>
              </a:spcBef>
            </a:pPr>
            <a:endParaRPr lang="en-GB" sz="2400" spc="-5" dirty="0">
              <a:latin typeface="Tahoma"/>
              <a:cs typeface="Tahoma"/>
            </a:endParaRPr>
          </a:p>
          <a:p>
            <a:pPr marL="12700" marR="2531745">
              <a:lnSpc>
                <a:spcPct val="1076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Anlegen von Tabelle</a:t>
            </a:r>
            <a:endParaRPr sz="2400" dirty="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320"/>
              </a:spcBef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sz="2400" b="1" spc="-5" dirty="0">
                <a:latin typeface="Tahoma"/>
                <a:cs typeface="Tahoma"/>
              </a:rPr>
              <a:t>create table</a:t>
            </a:r>
            <a:r>
              <a:rPr sz="2400" b="1" spc="-30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Professoren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225040" y="5988050"/>
            <a:ext cx="1029969" cy="121920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01600" marR="5080" indent="-89535">
              <a:lnSpc>
                <a:spcPct val="109400"/>
              </a:lnSpc>
              <a:spcBef>
                <a:spcPts val="50"/>
              </a:spcBef>
            </a:pPr>
            <a:r>
              <a:rPr sz="2400" dirty="0">
                <a:latin typeface="Tahoma"/>
                <a:cs typeface="Tahoma"/>
              </a:rPr>
              <a:t>(PersNr  </a:t>
            </a:r>
            <a:r>
              <a:rPr sz="2400" spc="-5" dirty="0">
                <a:latin typeface="Tahoma"/>
                <a:cs typeface="Tahoma"/>
              </a:rPr>
              <a:t>Name  Rang</a:t>
            </a:r>
            <a:endParaRPr sz="2400" dirty="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53840" y="5988050"/>
            <a:ext cx="3497580" cy="121920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>
              <a:lnSpc>
                <a:spcPct val="109400"/>
              </a:lnSpc>
              <a:spcBef>
                <a:spcPts val="50"/>
              </a:spcBef>
            </a:pPr>
            <a:r>
              <a:rPr sz="2400" b="1" spc="-5" dirty="0">
                <a:latin typeface="Tahoma"/>
                <a:cs typeface="Tahoma"/>
              </a:rPr>
              <a:t>integer not null,  varchar </a:t>
            </a:r>
            <a:r>
              <a:rPr sz="2400" spc="-5" dirty="0">
                <a:latin typeface="Tahoma"/>
                <a:cs typeface="Tahoma"/>
              </a:rPr>
              <a:t>(30) </a:t>
            </a:r>
            <a:r>
              <a:rPr sz="2400" b="1" spc="-5" dirty="0">
                <a:latin typeface="Tahoma"/>
                <a:cs typeface="Tahoma"/>
              </a:rPr>
              <a:t>not null</a:t>
            </a:r>
            <a:r>
              <a:rPr lang="en-GB" sz="2400" b="1" spc="-5" dirty="0">
                <a:latin typeface="Tahoma"/>
                <a:cs typeface="Tahoma"/>
              </a:rPr>
              <a:t>,</a:t>
            </a:r>
            <a:r>
              <a:rPr sz="2400" b="1" spc="-5" dirty="0">
                <a:latin typeface="Tahoma"/>
                <a:cs typeface="Tahoma"/>
              </a:rPr>
              <a:t>  character </a:t>
            </a:r>
            <a:r>
              <a:rPr sz="2400" dirty="0">
                <a:latin typeface="Tahoma"/>
                <a:cs typeface="Tahoma"/>
              </a:rPr>
              <a:t>(2)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);</a:t>
            </a:r>
            <a:endParaRPr sz="2400" dirty="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38790385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27100" y="613524"/>
            <a:ext cx="6400800" cy="540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365500" algn="l"/>
                <a:tab pos="4280535" algn="l"/>
              </a:tabLst>
            </a:pPr>
            <a:r>
              <a:rPr spc="-5" dirty="0" err="1"/>
              <a:t>Veränderung</a:t>
            </a:r>
            <a:r>
              <a:rPr lang="en-GB" spc="-5" dirty="0"/>
              <a:t> </a:t>
            </a:r>
            <a:r>
              <a:rPr dirty="0"/>
              <a:t>am</a:t>
            </a:r>
            <a:r>
              <a:rPr lang="en-GB" dirty="0"/>
              <a:t> </a:t>
            </a:r>
            <a:r>
              <a:rPr spc="-5" dirty="0" err="1"/>
              <a:t>Datenbestand</a:t>
            </a:r>
            <a:endParaRPr spc="-5" dirty="0"/>
          </a:p>
        </p:txBody>
      </p:sp>
      <p:sp>
        <p:nvSpPr>
          <p:cNvPr id="4" name="object 4"/>
          <p:cNvSpPr txBox="1"/>
          <p:nvPr/>
        </p:nvSpPr>
        <p:spPr>
          <a:xfrm>
            <a:off x="1386840" y="1404823"/>
            <a:ext cx="5244465" cy="4449936"/>
          </a:xfrm>
          <a:prstGeom prst="rect">
            <a:avLst/>
          </a:prstGeom>
        </p:spPr>
        <p:txBody>
          <a:bodyPr vert="horz" wrap="square" lIns="0" tIns="1854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60"/>
              </a:spcBef>
            </a:pPr>
            <a:r>
              <a:rPr sz="2400" spc="-5" dirty="0">
                <a:latin typeface="Tahoma"/>
                <a:cs typeface="Tahoma"/>
              </a:rPr>
              <a:t>Einfügen </a:t>
            </a:r>
            <a:r>
              <a:rPr sz="2400" spc="-10" dirty="0">
                <a:latin typeface="Tahoma"/>
                <a:cs typeface="Tahoma"/>
              </a:rPr>
              <a:t>von</a:t>
            </a:r>
            <a:r>
              <a:rPr sz="2400" dirty="0">
                <a:latin typeface="Tahoma"/>
                <a:cs typeface="Tahoma"/>
              </a:rPr>
              <a:t> </a:t>
            </a:r>
            <a:r>
              <a:rPr sz="2400" spc="-40" dirty="0">
                <a:latin typeface="Tahoma"/>
                <a:cs typeface="Tahoma"/>
              </a:rPr>
              <a:t>Tupeln</a:t>
            </a:r>
            <a:endParaRPr sz="24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360"/>
              </a:spcBef>
            </a:pPr>
            <a:r>
              <a:rPr sz="2400" b="1" spc="-5" dirty="0">
                <a:latin typeface="Tahoma"/>
                <a:cs typeface="Tahoma"/>
              </a:rPr>
              <a:t>insert into</a:t>
            </a:r>
            <a:r>
              <a:rPr sz="2400" b="1" spc="4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h</a:t>
            </a:r>
            <a:r>
              <a:rPr lang="en-GB" sz="2400" spc="-5" dirty="0" err="1">
                <a:latin typeface="Tahoma"/>
                <a:cs typeface="Tahoma"/>
              </a:rPr>
              <a:t>oe</a:t>
            </a:r>
            <a:r>
              <a:rPr sz="2400" spc="-5" dirty="0">
                <a:latin typeface="Tahoma"/>
                <a:cs typeface="Tahoma"/>
              </a:rPr>
              <a:t>ren</a:t>
            </a:r>
            <a:endParaRPr sz="2400" dirty="0">
              <a:latin typeface="Tahoma"/>
              <a:cs typeface="Tahoma"/>
            </a:endParaRPr>
          </a:p>
          <a:p>
            <a:pPr marL="685800">
              <a:lnSpc>
                <a:spcPct val="100000"/>
              </a:lnSpc>
              <a:spcBef>
                <a:spcPts val="1520"/>
              </a:spcBef>
            </a:pPr>
            <a:r>
              <a:rPr sz="2400" b="1" spc="-5" dirty="0">
                <a:latin typeface="Tahoma"/>
                <a:cs typeface="Tahoma"/>
              </a:rPr>
              <a:t>select </a:t>
            </a:r>
            <a:r>
              <a:rPr sz="2400" spc="-50" dirty="0">
                <a:latin typeface="Tahoma"/>
                <a:cs typeface="Tahoma"/>
              </a:rPr>
              <a:t>MatrNr,</a:t>
            </a:r>
            <a:r>
              <a:rPr sz="2400" spc="40" dirty="0">
                <a:latin typeface="Tahoma"/>
                <a:cs typeface="Tahoma"/>
              </a:rPr>
              <a:t> </a:t>
            </a:r>
            <a:r>
              <a:rPr sz="2400" spc="-20" dirty="0">
                <a:latin typeface="Tahoma"/>
                <a:cs typeface="Tahoma"/>
              </a:rPr>
              <a:t>VorlNr</a:t>
            </a:r>
            <a:endParaRPr sz="2400" dirty="0">
              <a:latin typeface="Tahoma"/>
              <a:cs typeface="Tahoma"/>
            </a:endParaRPr>
          </a:p>
          <a:p>
            <a:pPr marL="685800">
              <a:lnSpc>
                <a:spcPct val="100000"/>
              </a:lnSpc>
              <a:spcBef>
                <a:spcPts val="1420"/>
              </a:spcBef>
            </a:pPr>
            <a:r>
              <a:rPr sz="2400" b="1" spc="-5" dirty="0">
                <a:latin typeface="Tahoma"/>
                <a:cs typeface="Tahoma"/>
              </a:rPr>
              <a:t>from </a:t>
            </a:r>
            <a:r>
              <a:rPr sz="2400" spc="-5" dirty="0">
                <a:latin typeface="Tahoma"/>
                <a:cs typeface="Tahoma"/>
              </a:rPr>
              <a:t>Studenten,</a:t>
            </a:r>
            <a:r>
              <a:rPr sz="2400" spc="45" dirty="0">
                <a:latin typeface="Tahoma"/>
                <a:cs typeface="Tahoma"/>
              </a:rPr>
              <a:t> </a:t>
            </a:r>
            <a:r>
              <a:rPr sz="2400" spc="-15" dirty="0">
                <a:latin typeface="Tahoma"/>
                <a:cs typeface="Tahoma"/>
              </a:rPr>
              <a:t>Vorlesungen</a:t>
            </a:r>
            <a:endParaRPr sz="2400" dirty="0">
              <a:latin typeface="Tahoma"/>
              <a:cs typeface="Tahoma"/>
            </a:endParaRPr>
          </a:p>
          <a:p>
            <a:pPr marL="685800">
              <a:lnSpc>
                <a:spcPct val="100000"/>
              </a:lnSpc>
              <a:spcBef>
                <a:spcPts val="1420"/>
              </a:spcBef>
            </a:pPr>
            <a:r>
              <a:rPr sz="2400" b="1" spc="-5" dirty="0">
                <a:latin typeface="Tahoma"/>
                <a:cs typeface="Tahoma"/>
              </a:rPr>
              <a:t>where </a:t>
            </a:r>
            <a:r>
              <a:rPr sz="2400" spc="-5" dirty="0">
                <a:latin typeface="Tahoma"/>
                <a:cs typeface="Tahoma"/>
              </a:rPr>
              <a:t>Titel= </a:t>
            </a:r>
            <a:r>
              <a:rPr lang="en-GB" sz="2400" spc="-5" dirty="0">
                <a:latin typeface="Tahoma"/>
                <a:cs typeface="Tahoma"/>
              </a:rPr>
              <a:t>'</a:t>
            </a:r>
            <a:r>
              <a:rPr sz="2400" spc="-5" dirty="0" err="1">
                <a:latin typeface="Tahoma"/>
                <a:cs typeface="Tahoma"/>
              </a:rPr>
              <a:t>Logik</a:t>
            </a:r>
            <a:r>
              <a:rPr lang="en-GB" sz="2400" spc="-5" dirty="0">
                <a:latin typeface="Tahoma"/>
                <a:cs typeface="Tahoma"/>
              </a:rPr>
              <a:t>'</a:t>
            </a:r>
            <a:r>
              <a:rPr sz="2400" spc="4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;</a:t>
            </a:r>
            <a:endParaRPr sz="24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29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385"/>
              </a:spcBef>
            </a:pPr>
            <a:r>
              <a:rPr sz="2400" b="1" spc="-5" dirty="0">
                <a:latin typeface="Tahoma"/>
                <a:cs typeface="Tahoma"/>
              </a:rPr>
              <a:t>insert into </a:t>
            </a:r>
            <a:r>
              <a:rPr sz="2400" spc="-5" dirty="0">
                <a:latin typeface="Tahoma"/>
                <a:cs typeface="Tahoma"/>
              </a:rPr>
              <a:t>Studenten </a:t>
            </a:r>
            <a:r>
              <a:rPr sz="2400" spc="-45" dirty="0">
                <a:latin typeface="Tahoma"/>
                <a:cs typeface="Tahoma"/>
              </a:rPr>
              <a:t>(MatrNr,</a:t>
            </a:r>
            <a:r>
              <a:rPr sz="2400" spc="5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Name)</a:t>
            </a:r>
            <a:endParaRPr sz="2400" dirty="0">
              <a:latin typeface="Tahoma"/>
              <a:cs typeface="Tahoma"/>
            </a:endParaRPr>
          </a:p>
          <a:p>
            <a:pPr marL="685800">
              <a:lnSpc>
                <a:spcPct val="100000"/>
              </a:lnSpc>
              <a:spcBef>
                <a:spcPts val="1520"/>
              </a:spcBef>
              <a:tabLst>
                <a:tab pos="2995295" algn="l"/>
              </a:tabLst>
            </a:pPr>
            <a:r>
              <a:rPr sz="2400" b="1" spc="-5" dirty="0">
                <a:latin typeface="Tahoma"/>
                <a:cs typeface="Tahoma"/>
              </a:rPr>
              <a:t>values</a:t>
            </a:r>
            <a:r>
              <a:rPr sz="2400" b="1" spc="5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(28121,	</a:t>
            </a:r>
            <a:r>
              <a:rPr lang="en-GB" sz="2400" spc="-5" dirty="0">
                <a:latin typeface="Tahoma"/>
                <a:cs typeface="Tahoma"/>
              </a:rPr>
              <a:t>'</a:t>
            </a:r>
            <a:r>
              <a:rPr sz="2400" spc="-5" dirty="0">
                <a:latin typeface="Tahoma"/>
                <a:cs typeface="Tahoma"/>
              </a:rPr>
              <a:t>Archimedes</a:t>
            </a:r>
            <a:r>
              <a:rPr lang="en-GB" sz="2400" spc="-5" dirty="0">
                <a:latin typeface="Tahoma"/>
                <a:cs typeface="Tahoma"/>
              </a:rPr>
              <a:t>'</a:t>
            </a:r>
            <a:r>
              <a:rPr sz="2400" spc="-5" dirty="0">
                <a:latin typeface="Tahoma"/>
                <a:cs typeface="Tahoma"/>
              </a:rPr>
              <a:t>);</a:t>
            </a:r>
            <a:endParaRPr sz="24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2">
            <a:extLst>
              <a:ext uri="{FF2B5EF4-FFF2-40B4-BE49-F238E27FC236}">
                <a16:creationId xmlns:a16="http://schemas.microsoft.com/office/drawing/2014/main" id="{F9FA7FA3-2525-839D-C312-7BE9585A90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6052575"/>
              </p:ext>
            </p:extLst>
          </p:nvPr>
        </p:nvGraphicFramePr>
        <p:xfrm>
          <a:off x="1536700" y="1685289"/>
          <a:ext cx="5864855" cy="26677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046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40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61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370">
                <a:tc gridSpan="3">
                  <a:txBody>
                    <a:bodyPr/>
                    <a:lstStyle/>
                    <a:p>
                      <a:pPr marL="3619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Studenten</a:t>
                      </a:r>
                      <a:endParaRPr sz="2400" dirty="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370">
                <a:tc>
                  <a:txBody>
                    <a:bodyPr/>
                    <a:lstStyle/>
                    <a:p>
                      <a:pPr marL="55943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MatrNr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62928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Name</a:t>
                      </a:r>
                      <a:endParaRPr sz="2400" dirty="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1940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Semester</a:t>
                      </a:r>
                      <a:endParaRPr sz="2400" dirty="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95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3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mr-IN" sz="2400" dirty="0">
                          <a:latin typeface="Times New Roman"/>
                          <a:cs typeface="Times New Roman"/>
                        </a:rPr>
                        <a:t>…</a:t>
                      </a:r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mr-IN" sz="2400" dirty="0">
                          <a:latin typeface="Times New Roman"/>
                          <a:cs typeface="Times New Roman"/>
                        </a:rPr>
                        <a:t>…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mr-IN" sz="2400" dirty="0">
                          <a:latin typeface="Times New Roman"/>
                          <a:cs typeface="Times New Roman"/>
                        </a:rPr>
                        <a:t>…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370">
                <a:tc>
                  <a:txBody>
                    <a:bodyPr/>
                    <a:lstStyle/>
                    <a:p>
                      <a:pPr marL="60388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29120</a:t>
                      </a:r>
                    </a:p>
                  </a:txBody>
                  <a:tcPr marL="0" marR="0" marT="152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112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Theophrastos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8100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2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370">
                <a:tc>
                  <a:txBody>
                    <a:bodyPr/>
                    <a:lstStyle/>
                    <a:p>
                      <a:pPr marL="60388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29555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559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10" dirty="0">
                          <a:latin typeface="Tahoma"/>
                          <a:cs typeface="Tahoma"/>
                        </a:rPr>
                        <a:t>Feuerbach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8100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2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370">
                <a:tc>
                  <a:txBody>
                    <a:bodyPr/>
                    <a:lstStyle/>
                    <a:p>
                      <a:pPr marL="60388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28121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257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Archimedes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-</a:t>
                      </a:r>
                    </a:p>
                  </a:txBody>
                  <a:tcPr marL="0" marR="0" marT="1524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object 3">
            <a:extLst>
              <a:ext uri="{FF2B5EF4-FFF2-40B4-BE49-F238E27FC236}">
                <a16:creationId xmlns:a16="http://schemas.microsoft.com/office/drawing/2014/main" id="{59BC7CBD-AF65-D881-58AC-979E2F997C11}"/>
              </a:ext>
            </a:extLst>
          </p:cNvPr>
          <p:cNvSpPr/>
          <p:nvPr/>
        </p:nvSpPr>
        <p:spPr>
          <a:xfrm>
            <a:off x="4979799" y="4234814"/>
            <a:ext cx="2362835" cy="1829435"/>
          </a:xfrm>
          <a:custGeom>
            <a:avLst/>
            <a:gdLst/>
            <a:ahLst/>
            <a:cxnLst/>
            <a:rect l="l" t="t" r="r" b="b"/>
            <a:pathLst>
              <a:path w="2362834" h="1829435">
                <a:moveTo>
                  <a:pt x="1494064" y="0"/>
                </a:moveTo>
                <a:lnTo>
                  <a:pt x="1037067" y="1069644"/>
                </a:lnTo>
                <a:lnTo>
                  <a:pt x="969389" y="1072973"/>
                </a:lnTo>
                <a:lnTo>
                  <a:pt x="902968" y="1077514"/>
                </a:lnTo>
                <a:lnTo>
                  <a:pt x="837925" y="1083235"/>
                </a:lnTo>
                <a:lnTo>
                  <a:pt x="774380" y="1090101"/>
                </a:lnTo>
                <a:lnTo>
                  <a:pt x="712454" y="1098079"/>
                </a:lnTo>
                <a:lnTo>
                  <a:pt x="652269" y="1107135"/>
                </a:lnTo>
                <a:lnTo>
                  <a:pt x="593944" y="1117234"/>
                </a:lnTo>
                <a:lnTo>
                  <a:pt x="537600" y="1128344"/>
                </a:lnTo>
                <a:lnTo>
                  <a:pt x="483358" y="1140430"/>
                </a:lnTo>
                <a:lnTo>
                  <a:pt x="431339" y="1153458"/>
                </a:lnTo>
                <a:lnTo>
                  <a:pt x="381663" y="1167394"/>
                </a:lnTo>
                <a:lnTo>
                  <a:pt x="334452" y="1182205"/>
                </a:lnTo>
                <a:lnTo>
                  <a:pt x="289826" y="1197857"/>
                </a:lnTo>
                <a:lnTo>
                  <a:pt x="247905" y="1214315"/>
                </a:lnTo>
                <a:lnTo>
                  <a:pt x="208810" y="1231547"/>
                </a:lnTo>
                <a:lnTo>
                  <a:pt x="172663" y="1249517"/>
                </a:lnTo>
                <a:lnTo>
                  <a:pt x="109693" y="1287541"/>
                </a:lnTo>
                <a:lnTo>
                  <a:pt x="59959" y="1328114"/>
                </a:lnTo>
                <a:lnTo>
                  <a:pt x="23287" y="1372742"/>
                </a:lnTo>
                <a:lnTo>
                  <a:pt x="3206" y="1419612"/>
                </a:lnTo>
                <a:lnTo>
                  <a:pt x="0" y="1442903"/>
                </a:lnTo>
                <a:lnTo>
                  <a:pt x="1219" y="1466026"/>
                </a:lnTo>
                <a:lnTo>
                  <a:pt x="16544" y="1511546"/>
                </a:lnTo>
                <a:lnTo>
                  <a:pt x="48398" y="1555736"/>
                </a:lnTo>
                <a:lnTo>
                  <a:pt x="95998" y="1598158"/>
                </a:lnTo>
                <a:lnTo>
                  <a:pt x="158560" y="1638376"/>
                </a:lnTo>
                <a:lnTo>
                  <a:pt x="195208" y="1657521"/>
                </a:lnTo>
                <a:lnTo>
                  <a:pt x="235303" y="1675951"/>
                </a:lnTo>
                <a:lnTo>
                  <a:pt x="278747" y="1693611"/>
                </a:lnTo>
                <a:lnTo>
                  <a:pt x="325442" y="1710446"/>
                </a:lnTo>
                <a:lnTo>
                  <a:pt x="375291" y="1726403"/>
                </a:lnTo>
                <a:lnTo>
                  <a:pt x="428196" y="1741425"/>
                </a:lnTo>
                <a:lnTo>
                  <a:pt x="484058" y="1755459"/>
                </a:lnTo>
                <a:lnTo>
                  <a:pt x="542781" y="1768450"/>
                </a:lnTo>
                <a:lnTo>
                  <a:pt x="604265" y="1780343"/>
                </a:lnTo>
                <a:lnTo>
                  <a:pt x="668414" y="1791084"/>
                </a:lnTo>
                <a:lnTo>
                  <a:pt x="735129" y="1800618"/>
                </a:lnTo>
                <a:lnTo>
                  <a:pt x="804312" y="1808890"/>
                </a:lnTo>
                <a:lnTo>
                  <a:pt x="875866" y="1815846"/>
                </a:lnTo>
                <a:lnTo>
                  <a:pt x="936882" y="1820567"/>
                </a:lnTo>
                <a:lnTo>
                  <a:pt x="997907" y="1824215"/>
                </a:lnTo>
                <a:lnTo>
                  <a:pt x="1058841" y="1826806"/>
                </a:lnTo>
                <a:lnTo>
                  <a:pt x="1119585" y="1828360"/>
                </a:lnTo>
                <a:lnTo>
                  <a:pt x="1180037" y="1828896"/>
                </a:lnTo>
                <a:lnTo>
                  <a:pt x="1240099" y="1828432"/>
                </a:lnTo>
                <a:lnTo>
                  <a:pt x="1299669" y="1826987"/>
                </a:lnTo>
                <a:lnTo>
                  <a:pt x="1358649" y="1824579"/>
                </a:lnTo>
                <a:lnTo>
                  <a:pt x="1416939" y="1821226"/>
                </a:lnTo>
                <a:lnTo>
                  <a:pt x="1474437" y="1816949"/>
                </a:lnTo>
                <a:lnTo>
                  <a:pt x="1531045" y="1811764"/>
                </a:lnTo>
                <a:lnTo>
                  <a:pt x="1586662" y="1805692"/>
                </a:lnTo>
                <a:lnTo>
                  <a:pt x="1641189" y="1798750"/>
                </a:lnTo>
                <a:lnTo>
                  <a:pt x="1694525" y="1790957"/>
                </a:lnTo>
                <a:lnTo>
                  <a:pt x="1746570" y="1782331"/>
                </a:lnTo>
                <a:lnTo>
                  <a:pt x="1797225" y="1772892"/>
                </a:lnTo>
                <a:lnTo>
                  <a:pt x="1846390" y="1762658"/>
                </a:lnTo>
                <a:lnTo>
                  <a:pt x="1893964" y="1751647"/>
                </a:lnTo>
                <a:lnTo>
                  <a:pt x="1939848" y="1739879"/>
                </a:lnTo>
                <a:lnTo>
                  <a:pt x="1983941" y="1727371"/>
                </a:lnTo>
                <a:lnTo>
                  <a:pt x="2026144" y="1714143"/>
                </a:lnTo>
                <a:lnTo>
                  <a:pt x="2066357" y="1700213"/>
                </a:lnTo>
                <a:lnTo>
                  <a:pt x="2104480" y="1685599"/>
                </a:lnTo>
                <a:lnTo>
                  <a:pt x="2140412" y="1670321"/>
                </a:lnTo>
                <a:lnTo>
                  <a:pt x="2205307" y="1637845"/>
                </a:lnTo>
                <a:lnTo>
                  <a:pt x="2260241" y="1602934"/>
                </a:lnTo>
                <a:lnTo>
                  <a:pt x="2304416" y="1565736"/>
                </a:lnTo>
                <a:lnTo>
                  <a:pt x="2339287" y="1522857"/>
                </a:lnTo>
                <a:lnTo>
                  <a:pt x="2359366" y="1475987"/>
                </a:lnTo>
                <a:lnTo>
                  <a:pt x="2362572" y="1452696"/>
                </a:lnTo>
                <a:lnTo>
                  <a:pt x="2361351" y="1429573"/>
                </a:lnTo>
                <a:lnTo>
                  <a:pt x="2346024" y="1384053"/>
                </a:lnTo>
                <a:lnTo>
                  <a:pt x="2314170" y="1339863"/>
                </a:lnTo>
                <a:lnTo>
                  <a:pt x="2266569" y="1297441"/>
                </a:lnTo>
                <a:lnTo>
                  <a:pt x="2204006" y="1257223"/>
                </a:lnTo>
                <a:lnTo>
                  <a:pt x="2167359" y="1238078"/>
                </a:lnTo>
                <a:lnTo>
                  <a:pt x="2127264" y="1219648"/>
                </a:lnTo>
                <a:lnTo>
                  <a:pt x="2083820" y="1201988"/>
                </a:lnTo>
                <a:lnTo>
                  <a:pt x="2037125" y="1185153"/>
                </a:lnTo>
                <a:lnTo>
                  <a:pt x="1987277" y="1169196"/>
                </a:lnTo>
                <a:lnTo>
                  <a:pt x="1934373" y="1154174"/>
                </a:lnTo>
                <a:lnTo>
                  <a:pt x="1878511" y="1140140"/>
                </a:lnTo>
                <a:lnTo>
                  <a:pt x="1819789" y="1127149"/>
                </a:lnTo>
                <a:lnTo>
                  <a:pt x="1758306" y="1115256"/>
                </a:lnTo>
                <a:lnTo>
                  <a:pt x="1694158" y="1104515"/>
                </a:lnTo>
                <a:lnTo>
                  <a:pt x="1627445" y="1094981"/>
                </a:lnTo>
                <a:lnTo>
                  <a:pt x="1558263" y="1086709"/>
                </a:lnTo>
                <a:lnTo>
                  <a:pt x="1486710" y="1079754"/>
                </a:lnTo>
                <a:lnTo>
                  <a:pt x="1494064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D74A82A6-F924-B446-97FD-E9AEF2D06E51}"/>
              </a:ext>
            </a:extLst>
          </p:cNvPr>
          <p:cNvSpPr/>
          <p:nvPr/>
        </p:nvSpPr>
        <p:spPr>
          <a:xfrm>
            <a:off x="4979803" y="4234815"/>
            <a:ext cx="2362835" cy="1829435"/>
          </a:xfrm>
          <a:custGeom>
            <a:avLst/>
            <a:gdLst/>
            <a:ahLst/>
            <a:cxnLst/>
            <a:rect l="l" t="t" r="r" b="b"/>
            <a:pathLst>
              <a:path w="2362834" h="1829435">
                <a:moveTo>
                  <a:pt x="1494063" y="0"/>
                </a:moveTo>
                <a:lnTo>
                  <a:pt x="1486703" y="1079758"/>
                </a:lnTo>
                <a:lnTo>
                  <a:pt x="1558257" y="1086713"/>
                </a:lnTo>
                <a:lnTo>
                  <a:pt x="1627440" y="1094984"/>
                </a:lnTo>
                <a:lnTo>
                  <a:pt x="1694154" y="1104517"/>
                </a:lnTo>
                <a:lnTo>
                  <a:pt x="1758303" y="1115257"/>
                </a:lnTo>
                <a:lnTo>
                  <a:pt x="1819787" y="1127150"/>
                </a:lnTo>
                <a:lnTo>
                  <a:pt x="1878509" y="1140140"/>
                </a:lnTo>
                <a:lnTo>
                  <a:pt x="1934371" y="1154174"/>
                </a:lnTo>
                <a:lnTo>
                  <a:pt x="1987276" y="1169196"/>
                </a:lnTo>
                <a:lnTo>
                  <a:pt x="2037125" y="1185152"/>
                </a:lnTo>
                <a:lnTo>
                  <a:pt x="2083821" y="1201987"/>
                </a:lnTo>
                <a:lnTo>
                  <a:pt x="2127265" y="1219646"/>
                </a:lnTo>
                <a:lnTo>
                  <a:pt x="2167360" y="1238076"/>
                </a:lnTo>
                <a:lnTo>
                  <a:pt x="2204008" y="1257221"/>
                </a:lnTo>
                <a:lnTo>
                  <a:pt x="2237111" y="1277026"/>
                </a:lnTo>
                <a:lnTo>
                  <a:pt x="2292290" y="1318400"/>
                </a:lnTo>
                <a:lnTo>
                  <a:pt x="2332115" y="1361760"/>
                </a:lnTo>
                <a:lnTo>
                  <a:pt x="2355803" y="1406670"/>
                </a:lnTo>
                <a:lnTo>
                  <a:pt x="2362570" y="1452691"/>
                </a:lnTo>
                <a:lnTo>
                  <a:pt x="2359364" y="1475982"/>
                </a:lnTo>
                <a:lnTo>
                  <a:pt x="2339283" y="1522852"/>
                </a:lnTo>
                <a:lnTo>
                  <a:pt x="2304411" y="1565731"/>
                </a:lnTo>
                <a:lnTo>
                  <a:pt x="2260236" y="1602929"/>
                </a:lnTo>
                <a:lnTo>
                  <a:pt x="2205302" y="1637841"/>
                </a:lnTo>
                <a:lnTo>
                  <a:pt x="2140408" y="1670317"/>
                </a:lnTo>
                <a:lnTo>
                  <a:pt x="2104476" y="1685595"/>
                </a:lnTo>
                <a:lnTo>
                  <a:pt x="2066353" y="1700209"/>
                </a:lnTo>
                <a:lnTo>
                  <a:pt x="2026140" y="1714139"/>
                </a:lnTo>
                <a:lnTo>
                  <a:pt x="1983937" y="1727368"/>
                </a:lnTo>
                <a:lnTo>
                  <a:pt x="1939844" y="1739875"/>
                </a:lnTo>
                <a:lnTo>
                  <a:pt x="1893960" y="1751644"/>
                </a:lnTo>
                <a:lnTo>
                  <a:pt x="1846386" y="1762655"/>
                </a:lnTo>
                <a:lnTo>
                  <a:pt x="1797221" y="1772889"/>
                </a:lnTo>
                <a:lnTo>
                  <a:pt x="1746567" y="1782328"/>
                </a:lnTo>
                <a:lnTo>
                  <a:pt x="1694521" y="1790954"/>
                </a:lnTo>
                <a:lnTo>
                  <a:pt x="1641185" y="1798747"/>
                </a:lnTo>
                <a:lnTo>
                  <a:pt x="1586659" y="1805689"/>
                </a:lnTo>
                <a:lnTo>
                  <a:pt x="1531041" y="1811761"/>
                </a:lnTo>
                <a:lnTo>
                  <a:pt x="1474434" y="1816946"/>
                </a:lnTo>
                <a:lnTo>
                  <a:pt x="1416935" y="1821223"/>
                </a:lnTo>
                <a:lnTo>
                  <a:pt x="1358646" y="1824575"/>
                </a:lnTo>
                <a:lnTo>
                  <a:pt x="1299666" y="1826983"/>
                </a:lnTo>
                <a:lnTo>
                  <a:pt x="1240095" y="1828428"/>
                </a:lnTo>
                <a:lnTo>
                  <a:pt x="1180034" y="1828892"/>
                </a:lnTo>
                <a:lnTo>
                  <a:pt x="1119581" y="1828356"/>
                </a:lnTo>
                <a:lnTo>
                  <a:pt x="1058838" y="1826801"/>
                </a:lnTo>
                <a:lnTo>
                  <a:pt x="997903" y="1824209"/>
                </a:lnTo>
                <a:lnTo>
                  <a:pt x="936878" y="1820562"/>
                </a:lnTo>
                <a:lnTo>
                  <a:pt x="875862" y="1815839"/>
                </a:lnTo>
                <a:lnTo>
                  <a:pt x="804309" y="1808884"/>
                </a:lnTo>
                <a:lnTo>
                  <a:pt x="735126" y="1800613"/>
                </a:lnTo>
                <a:lnTo>
                  <a:pt x="668412" y="1791080"/>
                </a:lnTo>
                <a:lnTo>
                  <a:pt x="604264" y="1780340"/>
                </a:lnTo>
                <a:lnTo>
                  <a:pt x="542780" y="1768447"/>
                </a:lnTo>
                <a:lnTo>
                  <a:pt x="484058" y="1755457"/>
                </a:lnTo>
                <a:lnTo>
                  <a:pt x="428196" y="1741423"/>
                </a:lnTo>
                <a:lnTo>
                  <a:pt x="375292" y="1726401"/>
                </a:lnTo>
                <a:lnTo>
                  <a:pt x="325443" y="1710445"/>
                </a:lnTo>
                <a:lnTo>
                  <a:pt x="278748" y="1693610"/>
                </a:lnTo>
                <a:lnTo>
                  <a:pt x="235304" y="1675950"/>
                </a:lnTo>
                <a:lnTo>
                  <a:pt x="195209" y="1657521"/>
                </a:lnTo>
                <a:lnTo>
                  <a:pt x="158561" y="1638376"/>
                </a:lnTo>
                <a:lnTo>
                  <a:pt x="125458" y="1618571"/>
                </a:lnTo>
                <a:lnTo>
                  <a:pt x="70279" y="1577197"/>
                </a:lnTo>
                <a:lnTo>
                  <a:pt x="30454" y="1533837"/>
                </a:lnTo>
                <a:lnTo>
                  <a:pt x="6767" y="1488927"/>
                </a:lnTo>
                <a:lnTo>
                  <a:pt x="0" y="1442906"/>
                </a:lnTo>
                <a:lnTo>
                  <a:pt x="3206" y="1419614"/>
                </a:lnTo>
                <a:lnTo>
                  <a:pt x="23287" y="1372745"/>
                </a:lnTo>
                <a:lnTo>
                  <a:pt x="59959" y="1328116"/>
                </a:lnTo>
                <a:lnTo>
                  <a:pt x="109693" y="1287542"/>
                </a:lnTo>
                <a:lnTo>
                  <a:pt x="172665" y="1249518"/>
                </a:lnTo>
                <a:lnTo>
                  <a:pt x="208812" y="1231547"/>
                </a:lnTo>
                <a:lnTo>
                  <a:pt x="247906" y="1214315"/>
                </a:lnTo>
                <a:lnTo>
                  <a:pt x="289827" y="1197856"/>
                </a:lnTo>
                <a:lnTo>
                  <a:pt x="334454" y="1182204"/>
                </a:lnTo>
                <a:lnTo>
                  <a:pt x="381665" y="1167393"/>
                </a:lnTo>
                <a:lnTo>
                  <a:pt x="431340" y="1153457"/>
                </a:lnTo>
                <a:lnTo>
                  <a:pt x="483359" y="1140429"/>
                </a:lnTo>
                <a:lnTo>
                  <a:pt x="537600" y="1128343"/>
                </a:lnTo>
                <a:lnTo>
                  <a:pt x="593944" y="1117234"/>
                </a:lnTo>
                <a:lnTo>
                  <a:pt x="652269" y="1107135"/>
                </a:lnTo>
                <a:lnTo>
                  <a:pt x="712454" y="1098080"/>
                </a:lnTo>
                <a:lnTo>
                  <a:pt x="774379" y="1090103"/>
                </a:lnTo>
                <a:lnTo>
                  <a:pt x="837923" y="1083237"/>
                </a:lnTo>
                <a:lnTo>
                  <a:pt x="902966" y="1077517"/>
                </a:lnTo>
                <a:lnTo>
                  <a:pt x="969386" y="1072977"/>
                </a:lnTo>
                <a:lnTo>
                  <a:pt x="1037064" y="1069650"/>
                </a:lnTo>
                <a:lnTo>
                  <a:pt x="1494063" y="0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5">
            <a:extLst>
              <a:ext uri="{FF2B5EF4-FFF2-40B4-BE49-F238E27FC236}">
                <a16:creationId xmlns:a16="http://schemas.microsoft.com/office/drawing/2014/main" id="{9CE12352-E11B-9F49-237B-3EEC8D50FE28}"/>
              </a:ext>
            </a:extLst>
          </p:cNvPr>
          <p:cNvSpPr txBox="1"/>
          <p:nvPr/>
        </p:nvSpPr>
        <p:spPr>
          <a:xfrm>
            <a:off x="5536722" y="5487034"/>
            <a:ext cx="12534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Nu</a:t>
            </a:r>
            <a:r>
              <a:rPr sz="2400" spc="-5" dirty="0">
                <a:latin typeface="Times New Roman"/>
                <a:cs typeface="Times New Roman"/>
              </a:rPr>
              <a:t>ll</a:t>
            </a:r>
            <a:r>
              <a:rPr sz="2400" dirty="0">
                <a:latin typeface="Times New Roman"/>
                <a:cs typeface="Times New Roman"/>
              </a:rPr>
              <a:t>-</a:t>
            </a:r>
            <a:r>
              <a:rPr sz="2400" spc="-195" dirty="0">
                <a:latin typeface="Times New Roman"/>
                <a:cs typeface="Times New Roman"/>
              </a:rPr>
              <a:t>W</a:t>
            </a:r>
            <a:r>
              <a:rPr sz="2400" spc="-5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rt</a:t>
            </a:r>
          </a:p>
        </p:txBody>
      </p:sp>
      <p:sp>
        <p:nvSpPr>
          <p:cNvPr id="10" name="object 6">
            <a:extLst>
              <a:ext uri="{FF2B5EF4-FFF2-40B4-BE49-F238E27FC236}">
                <a16:creationId xmlns:a16="http://schemas.microsoft.com/office/drawing/2014/main" id="{FF113AF2-044E-CED9-6FB9-5D79771A0E59}"/>
              </a:ext>
            </a:extLst>
          </p:cNvPr>
          <p:cNvSpPr/>
          <p:nvPr/>
        </p:nvSpPr>
        <p:spPr>
          <a:xfrm>
            <a:off x="6179846" y="4026014"/>
            <a:ext cx="706755" cy="285115"/>
          </a:xfrm>
          <a:custGeom>
            <a:avLst/>
            <a:gdLst/>
            <a:ahLst/>
            <a:cxnLst/>
            <a:rect l="l" t="t" r="r" b="b"/>
            <a:pathLst>
              <a:path w="706754" h="285114">
                <a:moveTo>
                  <a:pt x="622131" y="160666"/>
                </a:moveTo>
                <a:lnTo>
                  <a:pt x="614585" y="151158"/>
                </a:lnTo>
                <a:lnTo>
                  <a:pt x="608421" y="142291"/>
                </a:lnTo>
                <a:lnTo>
                  <a:pt x="602459" y="133625"/>
                </a:lnTo>
                <a:lnTo>
                  <a:pt x="595520" y="124723"/>
                </a:lnTo>
                <a:lnTo>
                  <a:pt x="582950" y="110177"/>
                </a:lnTo>
                <a:lnTo>
                  <a:pt x="571560" y="98934"/>
                </a:lnTo>
                <a:lnTo>
                  <a:pt x="558754" y="89442"/>
                </a:lnTo>
                <a:lnTo>
                  <a:pt x="541937" y="80153"/>
                </a:lnTo>
                <a:lnTo>
                  <a:pt x="509656" y="61047"/>
                </a:lnTo>
                <a:lnTo>
                  <a:pt x="476262" y="38908"/>
                </a:lnTo>
                <a:lnTo>
                  <a:pt x="442261" y="19600"/>
                </a:lnTo>
                <a:lnTo>
                  <a:pt x="363803" y="4397"/>
                </a:lnTo>
                <a:lnTo>
                  <a:pt x="319244" y="1662"/>
                </a:lnTo>
                <a:lnTo>
                  <a:pt x="274550" y="342"/>
                </a:lnTo>
                <a:lnTo>
                  <a:pt x="229789" y="0"/>
                </a:lnTo>
                <a:lnTo>
                  <a:pt x="187719" y="2566"/>
                </a:lnTo>
                <a:lnTo>
                  <a:pt x="116661" y="24413"/>
                </a:lnTo>
                <a:lnTo>
                  <a:pt x="78031" y="44569"/>
                </a:lnTo>
                <a:lnTo>
                  <a:pt x="17031" y="85994"/>
                </a:lnTo>
                <a:lnTo>
                  <a:pt x="0" y="115333"/>
                </a:lnTo>
                <a:lnTo>
                  <a:pt x="6467" y="151680"/>
                </a:lnTo>
                <a:lnTo>
                  <a:pt x="56184" y="202810"/>
                </a:lnTo>
                <a:lnTo>
                  <a:pt x="122623" y="231834"/>
                </a:lnTo>
                <a:lnTo>
                  <a:pt x="173262" y="245672"/>
                </a:lnTo>
                <a:lnTo>
                  <a:pt x="224305" y="257354"/>
                </a:lnTo>
                <a:lnTo>
                  <a:pt x="275753" y="267418"/>
                </a:lnTo>
                <a:lnTo>
                  <a:pt x="327605" y="276404"/>
                </a:lnTo>
                <a:lnTo>
                  <a:pt x="379564" y="282975"/>
                </a:lnTo>
                <a:lnTo>
                  <a:pt x="430410" y="285030"/>
                </a:lnTo>
                <a:lnTo>
                  <a:pt x="481190" y="282773"/>
                </a:lnTo>
                <a:lnTo>
                  <a:pt x="532947" y="276404"/>
                </a:lnTo>
                <a:lnTo>
                  <a:pt x="573077" y="269361"/>
                </a:lnTo>
                <a:lnTo>
                  <a:pt x="618535" y="257803"/>
                </a:lnTo>
                <a:lnTo>
                  <a:pt x="661296" y="239910"/>
                </a:lnTo>
                <a:lnTo>
                  <a:pt x="693336" y="213862"/>
                </a:lnTo>
                <a:lnTo>
                  <a:pt x="706192" y="178908"/>
                </a:lnTo>
                <a:lnTo>
                  <a:pt x="697202" y="144222"/>
                </a:lnTo>
                <a:lnTo>
                  <a:pt x="648744" y="89139"/>
                </a:lnTo>
                <a:lnTo>
                  <a:pt x="601543" y="60789"/>
                </a:lnTo>
                <a:lnTo>
                  <a:pt x="550568" y="44569"/>
                </a:lnTo>
              </a:path>
            </a:pathLst>
          </a:custGeom>
          <a:ln w="19049">
            <a:solidFill>
              <a:srgbClr val="0085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1940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27101" y="723650"/>
            <a:ext cx="6172199" cy="540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975735" algn="l"/>
                <a:tab pos="4890135" algn="l"/>
              </a:tabLst>
            </a:pPr>
            <a:r>
              <a:rPr spc="-5" dirty="0" err="1"/>
              <a:t>Veränderungen</a:t>
            </a:r>
            <a:r>
              <a:rPr lang="en-GB" spc="-5" dirty="0"/>
              <a:t> </a:t>
            </a:r>
            <a:r>
              <a:rPr dirty="0"/>
              <a:t>am</a:t>
            </a:r>
            <a:r>
              <a:rPr lang="en-GB" dirty="0"/>
              <a:t> </a:t>
            </a:r>
            <a:r>
              <a:rPr spc="-5" dirty="0" err="1"/>
              <a:t>Datenbestand</a:t>
            </a:r>
            <a:endParaRPr spc="-5" dirty="0"/>
          </a:p>
        </p:txBody>
      </p:sp>
      <p:sp>
        <p:nvSpPr>
          <p:cNvPr id="4" name="object 4"/>
          <p:cNvSpPr txBox="1"/>
          <p:nvPr/>
        </p:nvSpPr>
        <p:spPr>
          <a:xfrm>
            <a:off x="1386840" y="1733435"/>
            <a:ext cx="3190240" cy="166116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20"/>
              </a:spcBef>
            </a:pPr>
            <a:r>
              <a:rPr sz="2400" spc="-5" dirty="0">
                <a:solidFill>
                  <a:srgbClr val="CC0099"/>
                </a:solidFill>
                <a:latin typeface="Tahoma"/>
                <a:cs typeface="Tahoma"/>
              </a:rPr>
              <a:t>Löschen </a:t>
            </a:r>
            <a:r>
              <a:rPr sz="2400" spc="-10" dirty="0">
                <a:solidFill>
                  <a:srgbClr val="CC0099"/>
                </a:solidFill>
                <a:latin typeface="Tahoma"/>
                <a:cs typeface="Tahoma"/>
              </a:rPr>
              <a:t>von </a:t>
            </a:r>
            <a:r>
              <a:rPr sz="2400" spc="-40" dirty="0">
                <a:solidFill>
                  <a:srgbClr val="CC0099"/>
                </a:solidFill>
                <a:latin typeface="Tahoma"/>
                <a:cs typeface="Tahoma"/>
              </a:rPr>
              <a:t>Tupeln  </a:t>
            </a:r>
            <a:r>
              <a:rPr sz="2400" b="1" spc="-5" dirty="0">
                <a:latin typeface="Tahoma"/>
                <a:cs typeface="Tahoma"/>
              </a:rPr>
              <a:t>delete </a:t>
            </a:r>
            <a:r>
              <a:rPr sz="2400" spc="-5" dirty="0">
                <a:latin typeface="Tahoma"/>
                <a:cs typeface="Tahoma"/>
              </a:rPr>
              <a:t>Studenten  </a:t>
            </a:r>
            <a:r>
              <a:rPr sz="2400" b="1" spc="-5" dirty="0">
                <a:latin typeface="Tahoma"/>
                <a:cs typeface="Tahoma"/>
              </a:rPr>
              <a:t>where </a:t>
            </a:r>
            <a:r>
              <a:rPr sz="2400" dirty="0">
                <a:latin typeface="Tahoma"/>
                <a:cs typeface="Tahoma"/>
              </a:rPr>
              <a:t>Semester </a:t>
            </a:r>
            <a:r>
              <a:rPr sz="2400" spc="-5" dirty="0">
                <a:latin typeface="Tahoma"/>
                <a:cs typeface="Tahoma"/>
              </a:rPr>
              <a:t>&gt;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13;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86840" y="4461395"/>
            <a:ext cx="5015230" cy="1676400"/>
          </a:xfrm>
          <a:prstGeom prst="rect">
            <a:avLst/>
          </a:prstGeom>
        </p:spPr>
        <p:txBody>
          <a:bodyPr vert="horz" wrap="square" lIns="0" tIns="1930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20"/>
              </a:spcBef>
            </a:pPr>
            <a:r>
              <a:rPr sz="2400" spc="-15" dirty="0">
                <a:solidFill>
                  <a:srgbClr val="CC0099"/>
                </a:solidFill>
                <a:latin typeface="Tahoma"/>
                <a:cs typeface="Tahoma"/>
              </a:rPr>
              <a:t>Verändern </a:t>
            </a:r>
            <a:r>
              <a:rPr sz="2400" spc="-10" dirty="0">
                <a:solidFill>
                  <a:srgbClr val="CC0099"/>
                </a:solidFill>
                <a:latin typeface="Tahoma"/>
                <a:cs typeface="Tahoma"/>
              </a:rPr>
              <a:t>von</a:t>
            </a:r>
            <a:r>
              <a:rPr sz="2400" spc="5" dirty="0">
                <a:solidFill>
                  <a:srgbClr val="CC0099"/>
                </a:solidFill>
                <a:latin typeface="Tahoma"/>
                <a:cs typeface="Tahoma"/>
              </a:rPr>
              <a:t> </a:t>
            </a:r>
            <a:r>
              <a:rPr sz="2400" spc="-40" dirty="0">
                <a:solidFill>
                  <a:srgbClr val="CC0099"/>
                </a:solidFill>
                <a:latin typeface="Tahoma"/>
                <a:cs typeface="Tahoma"/>
              </a:rPr>
              <a:t>Tupeln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2400" b="1" spc="-5" dirty="0">
                <a:latin typeface="Tahoma"/>
                <a:cs typeface="Tahoma"/>
              </a:rPr>
              <a:t>update</a:t>
            </a:r>
            <a:r>
              <a:rPr sz="2400" b="1" spc="4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Studenten</a:t>
            </a:r>
            <a:endParaRPr sz="2400">
              <a:latin typeface="Tahoma"/>
              <a:cs typeface="Tahoma"/>
            </a:endParaRPr>
          </a:p>
          <a:p>
            <a:pPr marL="927100">
              <a:lnSpc>
                <a:spcPct val="100000"/>
              </a:lnSpc>
              <a:spcBef>
                <a:spcPts val="1520"/>
              </a:spcBef>
            </a:pPr>
            <a:r>
              <a:rPr sz="2400" b="1" spc="-5" dirty="0">
                <a:latin typeface="Tahoma"/>
                <a:cs typeface="Tahoma"/>
              </a:rPr>
              <a:t>set </a:t>
            </a:r>
            <a:r>
              <a:rPr sz="2400" dirty="0">
                <a:latin typeface="Tahoma"/>
                <a:cs typeface="Tahoma"/>
              </a:rPr>
              <a:t>Semester= Semester </a:t>
            </a:r>
            <a:r>
              <a:rPr sz="2400" spc="-5" dirty="0">
                <a:latin typeface="Tahoma"/>
                <a:cs typeface="Tahoma"/>
              </a:rPr>
              <a:t>+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1;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0900" y="557543"/>
            <a:ext cx="6400800" cy="540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350135" algn="l"/>
              </a:tabLst>
            </a:pPr>
            <a:r>
              <a:rPr dirty="0" err="1"/>
              <a:t>Einfache</a:t>
            </a:r>
            <a:r>
              <a:rPr lang="en-GB" dirty="0"/>
              <a:t> </a:t>
            </a:r>
            <a:r>
              <a:rPr spc="-5" dirty="0"/>
              <a:t>SQL-</a:t>
            </a:r>
            <a:r>
              <a:rPr spc="-5" dirty="0" err="1"/>
              <a:t>Anfrage</a:t>
            </a:r>
            <a:endParaRPr spc="-5"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47639"/>
              </p:ext>
            </p:extLst>
          </p:nvPr>
        </p:nvGraphicFramePr>
        <p:xfrm>
          <a:off x="5940399" y="3085985"/>
          <a:ext cx="2819400" cy="2209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52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6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0370"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15" dirty="0">
                          <a:latin typeface="Tahoma"/>
                          <a:cs typeface="Tahoma"/>
                        </a:rPr>
                        <a:t>PersNr</a:t>
                      </a:r>
                      <a:endParaRPr sz="2400" dirty="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Name</a:t>
                      </a:r>
                      <a:endParaRPr sz="2400" dirty="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370"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2125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Sokrates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2126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Russel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370"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2136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Curie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370"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2137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15" dirty="0">
                          <a:latin typeface="Tahoma"/>
                          <a:cs typeface="Tahoma"/>
                        </a:rPr>
                        <a:t>Kant</a:t>
                      </a:r>
                      <a:endParaRPr sz="2400" dirty="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1461427" y="1581035"/>
            <a:ext cx="986155" cy="166116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20"/>
              </a:spcBef>
            </a:pPr>
            <a:r>
              <a:rPr sz="2400" b="1" spc="-5" dirty="0">
                <a:latin typeface="Tahoma"/>
                <a:cs typeface="Tahoma"/>
              </a:rPr>
              <a:t>select  from  w</a:t>
            </a:r>
            <a:r>
              <a:rPr sz="2400" b="1" dirty="0">
                <a:latin typeface="Tahoma"/>
                <a:cs typeface="Tahoma"/>
              </a:rPr>
              <a:t>h</a:t>
            </a:r>
            <a:r>
              <a:rPr sz="2400" b="1" spc="-5" dirty="0">
                <a:latin typeface="Tahoma"/>
                <a:cs typeface="Tahoma"/>
              </a:rPr>
              <a:t>ere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90227" y="1581035"/>
            <a:ext cx="1832610" cy="1589218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20"/>
              </a:spcBef>
            </a:pPr>
            <a:r>
              <a:rPr sz="2400" spc="-60" dirty="0">
                <a:latin typeface="Tahoma"/>
                <a:cs typeface="Tahoma"/>
              </a:rPr>
              <a:t>PersNr, </a:t>
            </a:r>
            <a:r>
              <a:rPr sz="2400" spc="-5" dirty="0">
                <a:latin typeface="Tahoma"/>
                <a:cs typeface="Tahoma"/>
              </a:rPr>
              <a:t>Name  Professoren  </a:t>
            </a:r>
            <a:r>
              <a:rPr sz="2400" spc="-10" dirty="0">
                <a:latin typeface="Tahoma"/>
                <a:cs typeface="Tahoma"/>
              </a:rPr>
              <a:t>Rang=</a:t>
            </a:r>
            <a:r>
              <a:rPr sz="2400" spc="-60" dirty="0">
                <a:latin typeface="Tahoma"/>
                <a:cs typeface="Tahoma"/>
              </a:rPr>
              <a:t> </a:t>
            </a:r>
            <a:r>
              <a:rPr lang="en-GB" sz="2400" spc="-5" dirty="0">
                <a:latin typeface="Tahoma"/>
                <a:cs typeface="Tahoma"/>
              </a:rPr>
              <a:t>'</a:t>
            </a:r>
            <a:r>
              <a:rPr sz="2400" spc="-5" dirty="0">
                <a:latin typeface="Tahoma"/>
                <a:cs typeface="Tahoma"/>
              </a:rPr>
              <a:t>C4</a:t>
            </a:r>
            <a:r>
              <a:rPr lang="en-GB" sz="2400" spc="-5" dirty="0">
                <a:latin typeface="Tahoma"/>
                <a:cs typeface="Tahoma"/>
              </a:rPr>
              <a:t>'</a:t>
            </a:r>
            <a:r>
              <a:rPr sz="2400" spc="-5" dirty="0">
                <a:latin typeface="Tahoma"/>
                <a:cs typeface="Tahoma"/>
              </a:rPr>
              <a:t>;</a:t>
            </a:r>
            <a:endParaRPr sz="24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50900" y="709943"/>
            <a:ext cx="6481445" cy="540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350135" algn="l"/>
              </a:tabLst>
            </a:pPr>
            <a:r>
              <a:rPr dirty="0" err="1"/>
              <a:t>Einfache</a:t>
            </a:r>
            <a:r>
              <a:rPr lang="en-GB" dirty="0"/>
              <a:t> </a:t>
            </a:r>
            <a:r>
              <a:rPr spc="-5" dirty="0"/>
              <a:t>SQL-</a:t>
            </a:r>
            <a:r>
              <a:rPr spc="-5" dirty="0" err="1"/>
              <a:t>Anfragen</a:t>
            </a:r>
            <a:endParaRPr spc="-5" dirty="0"/>
          </a:p>
        </p:txBody>
      </p:sp>
      <p:sp>
        <p:nvSpPr>
          <p:cNvPr id="4" name="object 4"/>
          <p:cNvSpPr txBox="1"/>
          <p:nvPr/>
        </p:nvSpPr>
        <p:spPr>
          <a:xfrm>
            <a:off x="1844040" y="1385888"/>
            <a:ext cx="4544695" cy="2207260"/>
          </a:xfrm>
          <a:prstGeom prst="rect">
            <a:avLst/>
          </a:prstGeom>
        </p:spPr>
        <p:txBody>
          <a:bodyPr vert="horz" wrap="square" lIns="0" tIns="1854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60"/>
              </a:spcBef>
            </a:pPr>
            <a:r>
              <a:rPr sz="2400" b="1" spc="-5" dirty="0">
                <a:solidFill>
                  <a:srgbClr val="CC0099"/>
                </a:solidFill>
                <a:latin typeface="Tahoma"/>
                <a:cs typeface="Tahoma"/>
              </a:rPr>
              <a:t>Sortierung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360"/>
              </a:spcBef>
            </a:pPr>
            <a:r>
              <a:rPr sz="2400" b="1" spc="-5" dirty="0">
                <a:latin typeface="Tahoma"/>
                <a:cs typeface="Tahoma"/>
              </a:rPr>
              <a:t>select </a:t>
            </a:r>
            <a:r>
              <a:rPr sz="2400" spc="-60" dirty="0">
                <a:latin typeface="Tahoma"/>
                <a:cs typeface="Tahoma"/>
              </a:rPr>
              <a:t>PersNr, </a:t>
            </a:r>
            <a:r>
              <a:rPr sz="2400" spc="-5" dirty="0">
                <a:latin typeface="Tahoma"/>
                <a:cs typeface="Tahoma"/>
              </a:rPr>
              <a:t>Name,</a:t>
            </a:r>
            <a:r>
              <a:rPr sz="2400" spc="17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Rang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520"/>
              </a:spcBef>
              <a:tabLst>
                <a:tab pos="926465" algn="l"/>
              </a:tabLst>
            </a:pPr>
            <a:r>
              <a:rPr sz="2400" b="1" spc="-5" dirty="0">
                <a:latin typeface="Tahoma"/>
                <a:cs typeface="Tahoma"/>
              </a:rPr>
              <a:t>from	</a:t>
            </a:r>
            <a:r>
              <a:rPr sz="2400" spc="-5" dirty="0">
                <a:latin typeface="Tahoma"/>
                <a:cs typeface="Tahoma"/>
              </a:rPr>
              <a:t>Professoren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2400" b="1" spc="-5" dirty="0">
                <a:latin typeface="Tahoma"/>
                <a:cs typeface="Tahoma"/>
              </a:rPr>
              <a:t>order by </a:t>
            </a:r>
            <a:r>
              <a:rPr sz="2400" spc="-10" dirty="0">
                <a:latin typeface="Tahoma"/>
                <a:cs typeface="Tahoma"/>
              </a:rPr>
              <a:t>Rang </a:t>
            </a:r>
            <a:r>
              <a:rPr sz="2400" b="1" spc="-5" dirty="0">
                <a:latin typeface="Tahoma"/>
                <a:cs typeface="Tahoma"/>
              </a:rPr>
              <a:t>desc</a:t>
            </a:r>
            <a:r>
              <a:rPr sz="2400" spc="-5" dirty="0">
                <a:latin typeface="Tahoma"/>
                <a:cs typeface="Tahoma"/>
              </a:rPr>
              <a:t>, Name</a:t>
            </a:r>
            <a:r>
              <a:rPr sz="2400" spc="30" dirty="0">
                <a:latin typeface="Tahoma"/>
                <a:cs typeface="Tahoma"/>
              </a:rPr>
              <a:t> </a:t>
            </a:r>
            <a:r>
              <a:rPr sz="2400" b="1" spc="-5" dirty="0">
                <a:latin typeface="Tahoma"/>
                <a:cs typeface="Tahoma"/>
              </a:rPr>
              <a:t>asc</a:t>
            </a:r>
            <a:r>
              <a:rPr sz="2400" spc="-5" dirty="0">
                <a:latin typeface="Tahoma"/>
                <a:cs typeface="Tahoma"/>
              </a:rPr>
              <a:t>;</a:t>
            </a:r>
            <a:endParaRPr sz="2400">
              <a:latin typeface="Tahoma"/>
              <a:cs typeface="Tahoma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1679307"/>
              </p:ext>
            </p:extLst>
          </p:nvPr>
        </p:nvGraphicFramePr>
        <p:xfrm>
          <a:off x="3441700" y="3844290"/>
          <a:ext cx="4191000" cy="3362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370"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15" dirty="0">
                          <a:latin typeface="Tahoma"/>
                          <a:cs typeface="Tahoma"/>
                        </a:rPr>
                        <a:t>PersNr</a:t>
                      </a:r>
                      <a:endParaRPr sz="2400" dirty="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Name</a:t>
                      </a:r>
                      <a:endParaRPr sz="2400" dirty="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10" dirty="0">
                          <a:latin typeface="Tahoma"/>
                          <a:cs typeface="Tahoma"/>
                        </a:rPr>
                        <a:t>Rang</a:t>
                      </a:r>
                      <a:endParaRPr sz="2400" dirty="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370"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2136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Curie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C4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370"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2137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15" dirty="0">
                          <a:latin typeface="Tahoma"/>
                          <a:cs typeface="Tahoma"/>
                        </a:rPr>
                        <a:t>Kant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C4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370"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2126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Russel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C4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370"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2125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Sokrates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C4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370"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2134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Augustinus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C3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370"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2127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10" dirty="0">
                          <a:latin typeface="Tahoma"/>
                          <a:cs typeface="Tahoma"/>
                        </a:rPr>
                        <a:t>Kopernikus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C3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370"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2133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15" dirty="0">
                          <a:latin typeface="Tahoma"/>
                          <a:cs typeface="Tahoma"/>
                        </a:rPr>
                        <a:t>Popper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C3</a:t>
                      </a:r>
                      <a:endParaRPr sz="2400" dirty="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539240" y="2419350"/>
            <a:ext cx="2929255" cy="1102360"/>
          </a:xfrm>
          <a:prstGeom prst="rect">
            <a:avLst/>
          </a:prstGeom>
        </p:spPr>
        <p:txBody>
          <a:bodyPr vert="horz" wrap="square" lIns="0" tIns="1854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60"/>
              </a:spcBef>
            </a:pPr>
            <a:r>
              <a:rPr sz="2400" b="1" spc="-5" dirty="0">
                <a:latin typeface="Tahoma"/>
                <a:cs typeface="Tahoma"/>
              </a:rPr>
              <a:t>select distinct</a:t>
            </a:r>
            <a:r>
              <a:rPr sz="2400" b="1" spc="-5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Rang</a:t>
            </a:r>
            <a:endParaRPr sz="24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360"/>
              </a:spcBef>
            </a:pPr>
            <a:r>
              <a:rPr sz="2400" b="1" spc="-5" dirty="0">
                <a:latin typeface="Tahoma"/>
                <a:cs typeface="Tahoma"/>
              </a:rPr>
              <a:t>from</a:t>
            </a:r>
            <a:r>
              <a:rPr sz="2400" b="1" spc="3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Professoren</a:t>
            </a:r>
            <a:endParaRPr sz="2400" dirty="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023103" y="3992563"/>
            <a:ext cx="0" cy="1395730"/>
          </a:xfrm>
          <a:custGeom>
            <a:avLst/>
            <a:gdLst/>
            <a:ahLst/>
            <a:cxnLst/>
            <a:rect l="l" t="t" r="r" b="b"/>
            <a:pathLst>
              <a:path h="1395729">
                <a:moveTo>
                  <a:pt x="0" y="0"/>
                </a:moveTo>
                <a:lnTo>
                  <a:pt x="0" y="1395417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928105" y="3992563"/>
            <a:ext cx="0" cy="1395730"/>
          </a:xfrm>
          <a:custGeom>
            <a:avLst/>
            <a:gdLst/>
            <a:ahLst/>
            <a:cxnLst/>
            <a:rect l="l" t="t" r="r" b="b"/>
            <a:pathLst>
              <a:path h="1395729">
                <a:moveTo>
                  <a:pt x="0" y="0"/>
                </a:moveTo>
                <a:lnTo>
                  <a:pt x="0" y="1395417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023103" y="4006850"/>
            <a:ext cx="1905000" cy="455930"/>
          </a:xfrm>
          <a:prstGeom prst="rect">
            <a:avLst/>
          </a:prstGeom>
          <a:solidFill>
            <a:schemeClr val="accent1"/>
          </a:solidFill>
          <a:ln w="28575">
            <a:solidFill>
              <a:srgbClr val="000000"/>
            </a:solidFill>
          </a:ln>
        </p:spPr>
        <p:txBody>
          <a:bodyPr vert="horz" wrap="square" lIns="0" tIns="15240" rIns="0" bIns="0" rtlCol="0">
            <a:spAutoFit/>
          </a:bodyPr>
          <a:lstStyle/>
          <a:p>
            <a:pPr marL="612775">
              <a:lnSpc>
                <a:spcPct val="100000"/>
              </a:lnSpc>
              <a:spcBef>
                <a:spcPts val="120"/>
              </a:spcBef>
            </a:pPr>
            <a:r>
              <a:rPr sz="2400" spc="-10" dirty="0">
                <a:latin typeface="Tahoma"/>
                <a:cs typeface="Tahoma"/>
              </a:rPr>
              <a:t>Rang</a:t>
            </a:r>
            <a:endParaRPr sz="2400" dirty="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023103" y="4462463"/>
            <a:ext cx="1905000" cy="455930"/>
          </a:xfrm>
          <a:prstGeom prst="rect">
            <a:avLst/>
          </a:prstGeom>
          <a:ln w="28575">
            <a:solidFill>
              <a:srgbClr val="000000"/>
            </a:solidFill>
          </a:ln>
        </p:spPr>
        <p:txBody>
          <a:bodyPr vert="horz" wrap="square" lIns="0" tIns="15240" rIns="0" bIns="0" rtlCol="0">
            <a:spAutoFit/>
          </a:bodyPr>
          <a:lstStyle/>
          <a:p>
            <a:pPr marL="6350" algn="ctr">
              <a:lnSpc>
                <a:spcPct val="100000"/>
              </a:lnSpc>
              <a:spcBef>
                <a:spcPts val="120"/>
              </a:spcBef>
            </a:pPr>
            <a:r>
              <a:rPr sz="2400" spc="-5" dirty="0">
                <a:latin typeface="Tahoma"/>
                <a:cs typeface="Tahoma"/>
              </a:rPr>
              <a:t>C3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023103" y="4918077"/>
            <a:ext cx="1905000" cy="455930"/>
          </a:xfrm>
          <a:prstGeom prst="rect">
            <a:avLst/>
          </a:prstGeom>
          <a:ln w="28575">
            <a:solidFill>
              <a:srgbClr val="000000"/>
            </a:solidFill>
          </a:ln>
        </p:spPr>
        <p:txBody>
          <a:bodyPr vert="horz" wrap="square" lIns="0" tIns="15240" rIns="0" bIns="0" rtlCol="0">
            <a:spAutoFit/>
          </a:bodyPr>
          <a:lstStyle/>
          <a:p>
            <a:pPr marL="6350" algn="ctr">
              <a:lnSpc>
                <a:spcPct val="100000"/>
              </a:lnSpc>
              <a:spcBef>
                <a:spcPts val="120"/>
              </a:spcBef>
            </a:pPr>
            <a:r>
              <a:rPr sz="2400" spc="-5" dirty="0">
                <a:latin typeface="Tahoma"/>
                <a:cs typeface="Tahoma"/>
              </a:rPr>
              <a:t>C4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850900" y="799850"/>
            <a:ext cx="6779260" cy="540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5" dirty="0">
                <a:latin typeface="Tahoma"/>
                <a:cs typeface="Tahoma"/>
              </a:rPr>
              <a:t>Duplikateliminierung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25">
            <a:extLst>
              <a:ext uri="{FF2B5EF4-FFF2-40B4-BE49-F238E27FC236}">
                <a16:creationId xmlns:a16="http://schemas.microsoft.com/office/drawing/2014/main" id="{DF304EA3-86BC-07C6-977C-DF542AF949C6}"/>
              </a:ext>
            </a:extLst>
          </p:cNvPr>
          <p:cNvGraphicFramePr>
            <a:graphicFrameLocks noGrp="1"/>
          </p:cNvGraphicFramePr>
          <p:nvPr/>
        </p:nvGraphicFramePr>
        <p:xfrm>
          <a:off x="1163325" y="107317"/>
          <a:ext cx="9136375" cy="702373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26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3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476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624204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9593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1178559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480059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119379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682625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</a:tblGrid>
              <a:tr h="307340">
                <a:tc gridSpan="4">
                  <a:txBody>
                    <a:bodyPr/>
                    <a:lstStyle/>
                    <a:p>
                      <a:pPr marL="68897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600" b="1" spc="-5" dirty="0">
                          <a:latin typeface="Tahoma"/>
                          <a:cs typeface="Tahoma"/>
                        </a:rPr>
                        <a:t>Professoren</a:t>
                      </a:r>
                      <a:endParaRPr sz="1600" dirty="0">
                        <a:latin typeface="Tahoma"/>
                        <a:cs typeface="Tahoma"/>
                      </a:endParaRPr>
                    </a:p>
                  </a:txBody>
                  <a:tcPr marL="0" marR="0" marT="254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7">
                  <a:txBody>
                    <a:bodyPr/>
                    <a:lstStyle/>
                    <a:p>
                      <a:pPr marL="918844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b="1" spc="-5" dirty="0">
                          <a:latin typeface="Tahoma"/>
                          <a:cs typeface="Tahoma"/>
                        </a:rPr>
                        <a:t>Studenten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7">
                  <a:txBody>
                    <a:bodyPr/>
                    <a:lstStyle/>
                    <a:p>
                      <a:pPr marL="120078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600" b="1" dirty="0">
                          <a:latin typeface="Tahoma"/>
                          <a:cs typeface="Tahoma"/>
                        </a:rPr>
                        <a:t>Vorlesungen</a:t>
                      </a:r>
                      <a:endParaRPr sz="1600" dirty="0">
                        <a:latin typeface="Tahoma"/>
                        <a:cs typeface="Tahoma"/>
                      </a:endParaRPr>
                    </a:p>
                  </a:txBody>
                  <a:tcPr marL="0" marR="0" marT="254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 marL="508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b="1" dirty="0">
                          <a:latin typeface="Tahoma"/>
                          <a:cs typeface="Tahoma"/>
                        </a:rPr>
                        <a:t>P</a:t>
                      </a:r>
                      <a:r>
                        <a:rPr sz="1400" b="1" spc="-5" dirty="0">
                          <a:latin typeface="Tahoma"/>
                          <a:cs typeface="Tahoma"/>
                        </a:rPr>
                        <a:t>ersN</a:t>
                      </a:r>
                      <a:r>
                        <a:rPr sz="1400" b="1" dirty="0">
                          <a:latin typeface="Tahoma"/>
                          <a:cs typeface="Tahoma"/>
                        </a:rPr>
                        <a:t>r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20764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b="1" dirty="0">
                          <a:latin typeface="Tahoma"/>
                          <a:cs typeface="Tahoma"/>
                        </a:rPr>
                        <a:t>Name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b="1" spc="-5" dirty="0">
                          <a:latin typeface="Tahoma"/>
                          <a:cs typeface="Tahoma"/>
                        </a:rPr>
                        <a:t>Rang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1714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b="1" dirty="0">
                          <a:latin typeface="Tahoma"/>
                          <a:cs typeface="Tahoma"/>
                        </a:rPr>
                        <a:t>R</a:t>
                      </a:r>
                      <a:r>
                        <a:rPr sz="1400" b="1" spc="-5" dirty="0">
                          <a:latin typeface="Tahoma"/>
                          <a:cs typeface="Tahoma"/>
                        </a:rPr>
                        <a:t>aum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b="1" dirty="0">
                          <a:latin typeface="Tahoma"/>
                          <a:cs typeface="Tahoma"/>
                        </a:rPr>
                        <a:t>M</a:t>
                      </a:r>
                      <a:r>
                        <a:rPr sz="1400" b="1" spc="-5" dirty="0">
                          <a:latin typeface="Tahoma"/>
                          <a:cs typeface="Tahoma"/>
                        </a:rPr>
                        <a:t>atrN</a:t>
                      </a:r>
                      <a:r>
                        <a:rPr sz="1400" b="1" dirty="0">
                          <a:latin typeface="Tahoma"/>
                          <a:cs typeface="Tahoma"/>
                        </a:rPr>
                        <a:t>r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2702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b="1" dirty="0">
                          <a:latin typeface="Tahoma"/>
                          <a:cs typeface="Tahoma"/>
                        </a:rPr>
                        <a:t>Name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4635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b="1" spc="-5" dirty="0">
                          <a:latin typeface="Tahoma"/>
                          <a:cs typeface="Tahoma"/>
                        </a:rPr>
                        <a:t>Semester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17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rowSpan="2" gridSpan="2"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400" b="1" dirty="0">
                          <a:latin typeface="Tahoma"/>
                          <a:cs typeface="Tahoma"/>
                        </a:rPr>
                        <a:t>VorlNr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1114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17780"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400" b="1" spc="-5" dirty="0">
                          <a:latin typeface="Tahoma"/>
                          <a:cs typeface="Tahoma"/>
                        </a:rPr>
                        <a:t>Titel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111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400" b="1" spc="-5" dirty="0">
                          <a:latin typeface="Tahoma"/>
                          <a:cs typeface="Tahoma"/>
                        </a:rPr>
                        <a:t>SWS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111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marL="297180" indent="-292100">
                        <a:lnSpc>
                          <a:spcPts val="1500"/>
                        </a:lnSpc>
                        <a:spcBef>
                          <a:spcPts val="445"/>
                        </a:spcBef>
                      </a:pPr>
                      <a:r>
                        <a:rPr sz="1400" b="1" dirty="0">
                          <a:latin typeface="Tahoma"/>
                          <a:cs typeface="Tahoma"/>
                        </a:rPr>
                        <a:t>g</a:t>
                      </a:r>
                      <a:r>
                        <a:rPr sz="1400" b="1" spc="-5" dirty="0">
                          <a:latin typeface="Tahoma"/>
                          <a:cs typeface="Tahoma"/>
                        </a:rPr>
                        <a:t>elese</a:t>
                      </a:r>
                      <a:r>
                        <a:rPr sz="1400" b="1" dirty="0">
                          <a:latin typeface="Tahoma"/>
                          <a:cs typeface="Tahoma"/>
                        </a:rPr>
                        <a:t>nV  on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5651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4945">
                <a:tc rowSpan="2">
                  <a:txBody>
                    <a:bodyPr/>
                    <a:lstStyle/>
                    <a:p>
                      <a:pPr marL="113664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2125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3144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Sokrates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7462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C4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226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rowSpan="2" gridSpan="2">
                  <a:txBody>
                    <a:bodyPr/>
                    <a:lstStyle/>
                    <a:p>
                      <a:pPr marL="10541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24002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15430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spc="-10" dirty="0">
                          <a:latin typeface="Tahoma"/>
                          <a:cs typeface="Tahoma"/>
                        </a:rPr>
                        <a:t>Xenokrates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3"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18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1114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111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111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5651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26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76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rowSpan="2" gridSpan="2"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5001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421640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Grundzüge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marL="1651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4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marL="21526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2137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945">
                <a:tc rowSpan="2">
                  <a:txBody>
                    <a:bodyPr/>
                    <a:lstStyle/>
                    <a:p>
                      <a:pPr marL="113664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2126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21653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Russel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7462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C4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232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rowSpan="2" gridSpan="2">
                  <a:txBody>
                    <a:bodyPr/>
                    <a:lstStyle/>
                    <a:p>
                      <a:pPr marL="10541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25403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36512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Jonas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3"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12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826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76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rowSpan="2" gridSpan="2"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5041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18415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Ethik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marL="1651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4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marL="21526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2125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4945">
                <a:tc rowSpan="2">
                  <a:txBody>
                    <a:bodyPr/>
                    <a:lstStyle/>
                    <a:p>
                      <a:pPr marL="113664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2127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3746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spc="-10" dirty="0">
                          <a:latin typeface="Tahoma"/>
                          <a:cs typeface="Tahoma"/>
                        </a:rPr>
                        <a:t>Kopernikus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7462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C3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310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rowSpan="2" gridSpan="2">
                  <a:txBody>
                    <a:bodyPr/>
                    <a:lstStyle/>
                    <a:p>
                      <a:pPr marL="10541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26120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35242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Fichte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3"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10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826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76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rowSpan="2" gridSpan="2"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5043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16192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Erkenntnistheorie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marL="1651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3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marL="21526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2126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4945">
                <a:tc rowSpan="2">
                  <a:txBody>
                    <a:bodyPr/>
                    <a:lstStyle/>
                    <a:p>
                      <a:pPr marL="113664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2133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9494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spc="-10" dirty="0">
                          <a:latin typeface="Tahoma"/>
                          <a:cs typeface="Tahoma"/>
                        </a:rPr>
                        <a:t>Popper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7462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C3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7970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rowSpan="2" gridSpan="2">
                  <a:txBody>
                    <a:bodyPr/>
                    <a:lstStyle/>
                    <a:p>
                      <a:pPr marL="10541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26830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Aristoxenos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3"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8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8826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76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rowSpan="2" gridSpan="2"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5049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54038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Mäeutik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marL="1651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marL="21526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2125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4945">
                <a:tc rowSpan="2">
                  <a:txBody>
                    <a:bodyPr/>
                    <a:lstStyle/>
                    <a:p>
                      <a:pPr marL="113664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2134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3746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Augustinus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7462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C3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309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rowSpan="2" gridSpan="2">
                  <a:txBody>
                    <a:bodyPr/>
                    <a:lstStyle/>
                    <a:p>
                      <a:pPr marL="10541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27550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2730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Schopenhauer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3"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6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8826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76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rowSpan="2" gridSpan="2"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4052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1778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Logik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marL="1651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4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marL="21526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2125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4945">
                <a:tc rowSpan="2">
                  <a:txBody>
                    <a:bodyPr/>
                    <a:lstStyle/>
                    <a:p>
                      <a:pPr marL="113664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2136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26479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Curie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7462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C4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7970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36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rowSpan="2" gridSpan="2">
                  <a:txBody>
                    <a:bodyPr/>
                    <a:lstStyle/>
                    <a:p>
                      <a:pPr marL="10541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28106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30861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Carnap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3"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3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8826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76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rowSpan="2" gridSpan="2"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5052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2159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Wissenschaftstheorie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marL="1651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3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marL="21526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2126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94945">
                <a:tc rowSpan="2">
                  <a:txBody>
                    <a:bodyPr/>
                    <a:lstStyle/>
                    <a:p>
                      <a:pPr marL="113664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lang="en-GB" sz="1400" dirty="0">
                          <a:latin typeface="Tahoma"/>
                          <a:cs typeface="Tahoma"/>
                        </a:rPr>
                        <a:t>2137</a:t>
                      </a: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29083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lang="en-GB" sz="1400" spc="-10">
                          <a:latin typeface="Tahoma"/>
                          <a:cs typeface="Tahoma"/>
                        </a:rPr>
                        <a:t>Kant</a:t>
                      </a:r>
                      <a:endParaRPr lang="en-GB"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7462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lang="en-GB" sz="1400" spc="-5">
                          <a:latin typeface="Tahoma"/>
                          <a:cs typeface="Tahoma"/>
                        </a:rPr>
                        <a:t>C4</a:t>
                      </a:r>
                      <a:endParaRPr lang="en-GB"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7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rowSpan="2" gridSpan="2">
                  <a:txBody>
                    <a:bodyPr/>
                    <a:lstStyle/>
                    <a:p>
                      <a:pPr marL="10541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29120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Theophrastos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3"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9080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76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rowSpan="2" gridSpan="2"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5216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53403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Bioethik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marL="1651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marL="21526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2126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91770">
                <a:tc rowSpan="2"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GB"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10541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29555</a:t>
                      </a:r>
                    </a:p>
                  </a:txBody>
                  <a:tcPr marL="0" marR="0" marT="2159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18034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400" spc="-10" dirty="0">
                          <a:latin typeface="Tahoma"/>
                          <a:cs typeface="Tahoma"/>
                        </a:rPr>
                        <a:t>Feuerbach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15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3"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15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93980">
                <a:tc gridSpan="5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159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15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15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rowSpan="2" gridSpan="2"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5259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18542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Der Wiener</a:t>
                      </a:r>
                      <a:r>
                        <a:rPr sz="1400" spc="-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5" dirty="0">
                          <a:latin typeface="Tahoma"/>
                          <a:cs typeface="Tahoma"/>
                        </a:rPr>
                        <a:t>Kreis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marL="1651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marL="21526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2133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89230">
                <a:tc rowSpan="17" grid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rowSpan="17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17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17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17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17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4">
                  <a:txBody>
                    <a:bodyPr/>
                    <a:lstStyle/>
                    <a:p>
                      <a:pPr marL="1968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b="1" spc="-5" dirty="0">
                          <a:latin typeface="Tahoma"/>
                          <a:cs typeface="Tahoma"/>
                        </a:rPr>
                        <a:t>hören</a:t>
                      </a:r>
                      <a:endParaRPr sz="1600" dirty="0">
                        <a:latin typeface="Tahoma"/>
                        <a:cs typeface="Tahoma"/>
                      </a:endParaRPr>
                    </a:p>
                  </a:txBody>
                  <a:tcPr marL="0" marR="0" marT="3365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5"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 rowSpan="5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5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29539">
                <a:tc gridSpan="6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4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365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5022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Glaube und</a:t>
                      </a:r>
                      <a:r>
                        <a:rPr sz="1400" spc="-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5" dirty="0">
                          <a:latin typeface="Tahoma"/>
                          <a:cs typeface="Tahoma"/>
                        </a:rPr>
                        <a:t>Wissen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marL="1651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marL="21526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2134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53035">
                <a:tc gridSpan="6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b="1" spc="-5" dirty="0">
                          <a:latin typeface="Tahoma"/>
                          <a:cs typeface="Tahoma"/>
                        </a:rPr>
                        <a:t>MatrNr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217804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b="1" dirty="0">
                          <a:latin typeface="Tahoma"/>
                          <a:cs typeface="Tahoma"/>
                        </a:rPr>
                        <a:t>VorlNr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29539">
                <a:tc gridSpan="6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4630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320040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Die </a:t>
                      </a:r>
                      <a:r>
                        <a:rPr sz="1400" dirty="0">
                          <a:latin typeface="Tahoma"/>
                          <a:cs typeface="Tahoma"/>
                        </a:rPr>
                        <a:t>3</a:t>
                      </a:r>
                      <a:r>
                        <a:rPr sz="1400" spc="-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5" dirty="0">
                          <a:latin typeface="Tahoma"/>
                          <a:cs typeface="Tahoma"/>
                        </a:rPr>
                        <a:t>Kritiken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marL="1651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4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marL="21526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2137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53035">
                <a:tc gridSpan="6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224154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26120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311150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5001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30175">
                <a:tc gridSpan="6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3" gridSpan="10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3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3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3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3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3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3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3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3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283210">
                <a:tc gridSpan="6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24154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27550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11150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5001</a:t>
                      </a: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10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232410">
                <a:tc gridSpan="6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24154">
                        <a:lnSpc>
                          <a:spcPts val="151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27550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11150">
                        <a:lnSpc>
                          <a:spcPts val="151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4052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10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310515">
                <a:tc gridSpan="6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24154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28106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1115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5041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9">
                  <a:txBody>
                    <a:bodyPr/>
                    <a:lstStyle/>
                    <a:p>
                      <a:pPr marL="20955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600" b="1" dirty="0">
                          <a:latin typeface="Tahoma"/>
                          <a:cs typeface="Tahoma"/>
                        </a:rPr>
                        <a:t>Assistenten</a:t>
                      </a:r>
                      <a:endParaRPr sz="1600" dirty="0">
                        <a:latin typeface="Tahoma"/>
                        <a:cs typeface="Tahoma"/>
                      </a:endParaRPr>
                    </a:p>
                  </a:txBody>
                  <a:tcPr marL="0" marR="0" marT="254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283210">
                <a:tc gridSpan="6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24154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28106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5143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11150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5052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5143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3"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b="1" dirty="0">
                          <a:latin typeface="Tahoma"/>
                          <a:cs typeface="Tahoma"/>
                        </a:rPr>
                        <a:t>P</a:t>
                      </a:r>
                      <a:r>
                        <a:rPr sz="1400" b="1" spc="-5" dirty="0">
                          <a:latin typeface="Tahoma"/>
                          <a:cs typeface="Tahoma"/>
                        </a:rPr>
                        <a:t>ers</a:t>
                      </a:r>
                      <a:r>
                        <a:rPr sz="1400" b="1" dirty="0">
                          <a:latin typeface="Tahoma"/>
                          <a:cs typeface="Tahoma"/>
                        </a:rPr>
                        <a:t>l</a:t>
                      </a:r>
                      <a:r>
                        <a:rPr sz="1400" b="1" spc="-5" dirty="0">
                          <a:latin typeface="Tahoma"/>
                          <a:cs typeface="Tahoma"/>
                        </a:rPr>
                        <a:t>N</a:t>
                      </a:r>
                      <a:r>
                        <a:rPr sz="1400" b="1" dirty="0">
                          <a:latin typeface="Tahoma"/>
                          <a:cs typeface="Tahoma"/>
                        </a:rPr>
                        <a:t>r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0988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b="1" dirty="0">
                          <a:latin typeface="Tahoma"/>
                          <a:cs typeface="Tahoma"/>
                        </a:rPr>
                        <a:t>Name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40640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b="1" spc="-5" dirty="0">
                          <a:latin typeface="Tahoma"/>
                          <a:cs typeface="Tahoma"/>
                        </a:rPr>
                        <a:t>Fachgebiet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b="1" spc="-5" dirty="0">
                          <a:latin typeface="Tahoma"/>
                          <a:cs typeface="Tahoma"/>
                        </a:rPr>
                        <a:t>Boss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  <a:tr h="283210">
                <a:tc gridSpan="6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24154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28106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5143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11150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5216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5143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3">
                  <a:txBody>
                    <a:bodyPr/>
                    <a:lstStyle/>
                    <a:p>
                      <a:pPr marL="15875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3002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2575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Platon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476884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spc="-10" dirty="0">
                          <a:latin typeface="Tahoma"/>
                          <a:cs typeface="Tahoma"/>
                        </a:rPr>
                        <a:t>Ideenlehre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621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2125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8"/>
                  </a:ext>
                </a:extLst>
              </a:tr>
              <a:tr h="283210">
                <a:tc gridSpan="6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24154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28106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508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1115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5259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508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3">
                  <a:txBody>
                    <a:bodyPr/>
                    <a:lstStyle/>
                    <a:p>
                      <a:pPr marL="15875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3003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Aristoteles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51117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Syllogistik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621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2125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9"/>
                  </a:ext>
                </a:extLst>
              </a:tr>
              <a:tr h="283210">
                <a:tc gridSpan="6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24154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29120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508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1115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5001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508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3">
                  <a:txBody>
                    <a:bodyPr/>
                    <a:lstStyle/>
                    <a:p>
                      <a:pPr marL="15875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3004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Wittgenstein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35623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Sprachtheorie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621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2126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30"/>
                  </a:ext>
                </a:extLst>
              </a:tr>
              <a:tr h="283210">
                <a:tc gridSpan="6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24154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29120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508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1115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5041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508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3">
                  <a:txBody>
                    <a:bodyPr/>
                    <a:lstStyle/>
                    <a:p>
                      <a:pPr marL="15875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3005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3431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Rhetikus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Planetenbewegung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621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2127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31"/>
                  </a:ext>
                </a:extLst>
              </a:tr>
              <a:tr h="283210">
                <a:tc gridSpan="6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24154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29120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508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1115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5049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508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3">
                  <a:txBody>
                    <a:bodyPr/>
                    <a:lstStyle/>
                    <a:p>
                      <a:pPr marL="15875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3006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6987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Newton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13843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spc="-10" dirty="0">
                          <a:latin typeface="Tahoma"/>
                          <a:cs typeface="Tahoma"/>
                        </a:rPr>
                        <a:t>Keplersche</a:t>
                      </a:r>
                      <a:r>
                        <a:rPr sz="1400" spc="-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5" dirty="0">
                          <a:latin typeface="Tahoma"/>
                          <a:cs typeface="Tahoma"/>
                        </a:rPr>
                        <a:t>Gesetze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621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2127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32"/>
                  </a:ext>
                </a:extLst>
              </a:tr>
              <a:tr h="283210">
                <a:tc gridSpan="6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24154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29555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508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1115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5022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508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3">
                  <a:txBody>
                    <a:bodyPr/>
                    <a:lstStyle/>
                    <a:p>
                      <a:pPr marL="15875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3007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6670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Spinoza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30861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Gott und</a:t>
                      </a:r>
                      <a:r>
                        <a:rPr sz="1400" spc="-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400" dirty="0">
                          <a:latin typeface="Tahoma"/>
                          <a:cs typeface="Tahoma"/>
                        </a:rPr>
                        <a:t>Natur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621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2126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33"/>
                  </a:ext>
                </a:extLst>
              </a:tr>
              <a:tr h="295275">
                <a:tc gridSpan="6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24154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25403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508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1115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5022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508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10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34"/>
                  </a:ext>
                </a:extLst>
              </a:tr>
            </a:tbl>
          </a:graphicData>
        </a:graphic>
      </p:graphicFrame>
      <p:graphicFrame>
        <p:nvGraphicFramePr>
          <p:cNvPr id="11" name="object 26">
            <a:extLst>
              <a:ext uri="{FF2B5EF4-FFF2-40B4-BE49-F238E27FC236}">
                <a16:creationId xmlns:a16="http://schemas.microsoft.com/office/drawing/2014/main" id="{5140401F-46F9-2395-8E60-F89AF8980849}"/>
              </a:ext>
            </a:extLst>
          </p:cNvPr>
          <p:cNvGraphicFramePr>
            <a:graphicFrameLocks noGrp="1"/>
          </p:cNvGraphicFramePr>
          <p:nvPr/>
        </p:nvGraphicFramePr>
        <p:xfrm>
          <a:off x="1155697" y="5476241"/>
          <a:ext cx="2736214" cy="162305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692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1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5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515">
                <a:tc gridSpan="4"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600" b="1" spc="-5" dirty="0">
                          <a:latin typeface="Tahoma"/>
                          <a:cs typeface="Tahoma"/>
                        </a:rPr>
                        <a:t>prüfen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254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b="1" dirty="0">
                          <a:latin typeface="Tahoma"/>
                          <a:cs typeface="Tahoma"/>
                        </a:rPr>
                        <a:t>M</a:t>
                      </a:r>
                      <a:r>
                        <a:rPr sz="1400" b="1" spc="-5" dirty="0">
                          <a:latin typeface="Tahoma"/>
                          <a:cs typeface="Tahoma"/>
                        </a:rPr>
                        <a:t>atrN</a:t>
                      </a:r>
                      <a:r>
                        <a:rPr sz="1400" b="1" dirty="0">
                          <a:latin typeface="Tahoma"/>
                          <a:cs typeface="Tahoma"/>
                        </a:rPr>
                        <a:t>r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b="1" dirty="0">
                          <a:latin typeface="Tahoma"/>
                          <a:cs typeface="Tahoma"/>
                        </a:rPr>
                        <a:t>VorlNr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b="1" dirty="0">
                          <a:latin typeface="Tahoma"/>
                          <a:cs typeface="Tahoma"/>
                        </a:rPr>
                        <a:t>P</a:t>
                      </a:r>
                      <a:r>
                        <a:rPr sz="1400" b="1" spc="-5" dirty="0">
                          <a:latin typeface="Tahoma"/>
                          <a:cs typeface="Tahoma"/>
                        </a:rPr>
                        <a:t>ersN</a:t>
                      </a:r>
                      <a:r>
                        <a:rPr sz="1400" b="1" dirty="0">
                          <a:latin typeface="Tahoma"/>
                          <a:cs typeface="Tahoma"/>
                        </a:rPr>
                        <a:t>r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b="1" dirty="0">
                          <a:latin typeface="Tahoma"/>
                          <a:cs typeface="Tahoma"/>
                        </a:rPr>
                        <a:t>Note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9720"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28106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5001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2126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25403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5041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2125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955"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27550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4630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2137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</a:t>
                      </a: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2" name="object 16">
            <a:extLst>
              <a:ext uri="{FF2B5EF4-FFF2-40B4-BE49-F238E27FC236}">
                <a16:creationId xmlns:a16="http://schemas.microsoft.com/office/drawing/2014/main" id="{435D0FE9-E968-4754-11B0-646C516718CB}"/>
              </a:ext>
            </a:extLst>
          </p:cNvPr>
          <p:cNvGraphicFramePr>
            <a:graphicFrameLocks noGrp="1"/>
          </p:cNvGraphicFramePr>
          <p:nvPr/>
        </p:nvGraphicFramePr>
        <p:xfrm>
          <a:off x="1522409" y="2896554"/>
          <a:ext cx="2134235" cy="250348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242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99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1751">
                <a:tc gridSpan="2">
                  <a:txBody>
                    <a:bodyPr/>
                    <a:lstStyle/>
                    <a:p>
                      <a:pPr marL="40640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600" b="1" dirty="0">
                          <a:latin typeface="Tahoma"/>
                          <a:cs typeface="Tahoma"/>
                        </a:rPr>
                        <a:t>voraussetzen</a:t>
                      </a:r>
                      <a:endParaRPr sz="1600" dirty="0">
                        <a:latin typeface="Tahoma"/>
                        <a:cs typeface="Tahoma"/>
                      </a:endParaRPr>
                    </a:p>
                  </a:txBody>
                  <a:tcPr marL="0" marR="0" marT="254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5217"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b="1" dirty="0">
                          <a:latin typeface="Tahoma"/>
                          <a:cs typeface="Tahoma"/>
                        </a:rPr>
                        <a:t>Vorgänger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b="1" spc="-5" dirty="0">
                          <a:latin typeface="Tahoma"/>
                          <a:cs typeface="Tahoma"/>
                        </a:rPr>
                        <a:t>Nachfolger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5217"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5001</a:t>
                      </a: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5041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5217"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5001</a:t>
                      </a: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5043</a:t>
                      </a: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5217"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5001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5049</a:t>
                      </a: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5217"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5041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5216</a:t>
                      </a: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5217"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5043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5052</a:t>
                      </a: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5217"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5041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5052</a:t>
                      </a: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5217"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5052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5259</a:t>
                      </a: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154824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50900" y="799850"/>
            <a:ext cx="6553200" cy="540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426335" algn="l"/>
                <a:tab pos="5931535" algn="l"/>
              </a:tabLst>
            </a:pPr>
            <a:r>
              <a:rPr spc="-5" dirty="0" err="1"/>
              <a:t>Anfragen</a:t>
            </a:r>
            <a:r>
              <a:rPr lang="en-GB" spc="-5" dirty="0"/>
              <a:t> </a:t>
            </a:r>
            <a:r>
              <a:rPr dirty="0" err="1"/>
              <a:t>über</a:t>
            </a:r>
            <a:r>
              <a:rPr spc="5" dirty="0"/>
              <a:t> </a:t>
            </a:r>
            <a:r>
              <a:rPr spc="-5" dirty="0" err="1"/>
              <a:t>mehrere</a:t>
            </a:r>
            <a:r>
              <a:rPr lang="en-GB" spc="-5" dirty="0"/>
              <a:t> </a:t>
            </a:r>
            <a:r>
              <a:rPr spc="-5" dirty="0" err="1"/>
              <a:t>Relationen</a:t>
            </a:r>
            <a:endParaRPr spc="-5" dirty="0"/>
          </a:p>
        </p:txBody>
      </p:sp>
      <p:sp>
        <p:nvSpPr>
          <p:cNvPr id="4" name="object 4"/>
          <p:cNvSpPr txBox="1"/>
          <p:nvPr/>
        </p:nvSpPr>
        <p:spPr>
          <a:xfrm>
            <a:off x="1902997" y="1883956"/>
            <a:ext cx="7538720" cy="202363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CC0099"/>
                </a:solidFill>
                <a:latin typeface="Tahoma"/>
                <a:cs typeface="Tahoma"/>
              </a:rPr>
              <a:t>Welcher </a:t>
            </a:r>
            <a:r>
              <a:rPr sz="2400" dirty="0">
                <a:solidFill>
                  <a:srgbClr val="CC0099"/>
                </a:solidFill>
                <a:latin typeface="Tahoma"/>
                <a:cs typeface="Tahoma"/>
              </a:rPr>
              <a:t>Professor liest </a:t>
            </a:r>
            <a:r>
              <a:rPr sz="2400" spc="-5" dirty="0">
                <a:solidFill>
                  <a:srgbClr val="CC0099"/>
                </a:solidFill>
                <a:latin typeface="Tahoma"/>
                <a:cs typeface="Tahoma"/>
              </a:rPr>
              <a:t>"Mäeutik"?</a:t>
            </a:r>
            <a:endParaRPr sz="24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0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1101090" algn="l"/>
                <a:tab pos="2163445" algn="l"/>
              </a:tabLst>
            </a:pPr>
            <a:r>
              <a:rPr sz="2400" b="1" spc="-5" dirty="0">
                <a:latin typeface="Tahoma"/>
                <a:cs typeface="Tahoma"/>
              </a:rPr>
              <a:t>select	</a:t>
            </a:r>
            <a:r>
              <a:rPr sz="2400" spc="-5" dirty="0">
                <a:latin typeface="Tahoma"/>
                <a:cs typeface="Tahoma"/>
              </a:rPr>
              <a:t>Name,	Titel</a:t>
            </a:r>
            <a:endParaRPr sz="24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z="2400" b="1" spc="-5" dirty="0">
                <a:latin typeface="Tahoma"/>
                <a:cs typeface="Tahoma"/>
              </a:rPr>
              <a:t>from </a:t>
            </a:r>
            <a:r>
              <a:rPr sz="2400" dirty="0">
                <a:latin typeface="Tahoma"/>
                <a:cs typeface="Tahoma"/>
              </a:rPr>
              <a:t>Professoren </a:t>
            </a:r>
            <a:r>
              <a:rPr sz="2400" spc="-5" dirty="0">
                <a:latin typeface="Tahoma"/>
                <a:cs typeface="Tahoma"/>
              </a:rPr>
              <a:t>,</a:t>
            </a:r>
            <a:r>
              <a:rPr sz="2400" spc="4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Vorlesungen</a:t>
            </a:r>
            <a:endParaRPr sz="24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  <a:tabLst>
                <a:tab pos="1163320" algn="l"/>
                <a:tab pos="2241550" algn="l"/>
                <a:tab pos="2653665" algn="l"/>
                <a:tab pos="5051425" algn="l"/>
              </a:tabLst>
            </a:pPr>
            <a:r>
              <a:rPr sz="2400" b="1" spc="-5" dirty="0">
                <a:latin typeface="Tahoma"/>
                <a:cs typeface="Tahoma"/>
              </a:rPr>
              <a:t>where	</a:t>
            </a:r>
            <a:r>
              <a:rPr sz="2400" dirty="0">
                <a:latin typeface="Tahoma"/>
                <a:cs typeface="Tahoma"/>
              </a:rPr>
              <a:t>PersNr	</a:t>
            </a:r>
            <a:r>
              <a:rPr sz="2400" spc="-5" dirty="0">
                <a:latin typeface="Tahoma"/>
                <a:cs typeface="Tahoma"/>
              </a:rPr>
              <a:t>=	gelesenVon</a:t>
            </a:r>
            <a:r>
              <a:rPr sz="2400" spc="15" dirty="0">
                <a:latin typeface="Tahoma"/>
                <a:cs typeface="Tahoma"/>
              </a:rPr>
              <a:t> </a:t>
            </a:r>
            <a:r>
              <a:rPr sz="2400" b="1" spc="-5" dirty="0">
                <a:latin typeface="Tahoma"/>
                <a:cs typeface="Tahoma"/>
              </a:rPr>
              <a:t>and	</a:t>
            </a:r>
            <a:r>
              <a:rPr sz="2400" spc="-5" dirty="0">
                <a:latin typeface="Tahoma"/>
                <a:cs typeface="Tahoma"/>
              </a:rPr>
              <a:t>Titel = </a:t>
            </a:r>
            <a:r>
              <a:rPr lang="en-GB" sz="2400" spc="-5" dirty="0">
                <a:latin typeface="Tahoma"/>
                <a:cs typeface="Tahoma"/>
              </a:rPr>
              <a:t>'</a:t>
            </a:r>
            <a:r>
              <a:rPr sz="2400" spc="-5" dirty="0">
                <a:latin typeface="Tahoma"/>
                <a:cs typeface="Tahoma"/>
              </a:rPr>
              <a:t>M</a:t>
            </a:r>
            <a:r>
              <a:rPr lang="de-DE" sz="2400" spc="-5" dirty="0">
                <a:latin typeface="Tahoma"/>
                <a:cs typeface="Tahoma"/>
              </a:rPr>
              <a:t>a</a:t>
            </a:r>
            <a:r>
              <a:rPr sz="2400" spc="-5" dirty="0">
                <a:latin typeface="Tahoma"/>
                <a:cs typeface="Tahoma"/>
              </a:rPr>
              <a:t>e</a:t>
            </a:r>
            <a:r>
              <a:rPr lang="en-GB" sz="2400" spc="-5" dirty="0">
                <a:latin typeface="Tahoma"/>
                <a:cs typeface="Tahoma"/>
              </a:rPr>
              <a:t>e</a:t>
            </a:r>
            <a:r>
              <a:rPr sz="2400" spc="-5" dirty="0" err="1">
                <a:latin typeface="Tahoma"/>
                <a:cs typeface="Tahoma"/>
              </a:rPr>
              <a:t>utik</a:t>
            </a:r>
            <a:r>
              <a:rPr lang="en-GB" sz="2400" spc="-5" dirty="0">
                <a:latin typeface="Tahoma"/>
                <a:cs typeface="Tahoma"/>
              </a:rPr>
              <a:t>’;</a:t>
            </a:r>
            <a:r>
              <a:rPr sz="2400" spc="-20" dirty="0">
                <a:latin typeface="Tahoma"/>
                <a:cs typeface="Tahoma"/>
              </a:rPr>
              <a:t> </a:t>
            </a:r>
            <a:endParaRPr sz="2400" dirty="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07845" y="4974949"/>
            <a:ext cx="7160259" cy="4451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latin typeface="Times New Roman"/>
                <a:cs typeface="Times New Roman"/>
              </a:rPr>
              <a:t>PersNr </a:t>
            </a:r>
            <a:r>
              <a:rPr sz="1600" spc="5" dirty="0">
                <a:latin typeface="Symbol"/>
                <a:cs typeface="Symbol"/>
              </a:rPr>
              <a:t>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30" dirty="0">
                <a:latin typeface="Times New Roman"/>
                <a:cs typeface="Times New Roman"/>
              </a:rPr>
              <a:t>gelesenVon </a:t>
            </a:r>
            <a:r>
              <a:rPr sz="1600" spc="10" dirty="0">
                <a:latin typeface="Symbol"/>
                <a:cs typeface="Symbol"/>
              </a:rPr>
              <a:t>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Titel </a:t>
            </a:r>
            <a:r>
              <a:rPr sz="1600" spc="30" dirty="0">
                <a:latin typeface="Symbol"/>
                <a:cs typeface="Symbol"/>
              </a:rPr>
              <a:t></a:t>
            </a:r>
            <a:r>
              <a:rPr sz="1600" spc="30" dirty="0">
                <a:latin typeface="Times New Roman"/>
                <a:cs typeface="Times New Roman"/>
              </a:rPr>
              <a:t>' </a:t>
            </a:r>
            <a:r>
              <a:rPr sz="1600" spc="-35" dirty="0">
                <a:latin typeface="Times New Roman"/>
                <a:cs typeface="Times New Roman"/>
              </a:rPr>
              <a:t>Mäeutik'</a:t>
            </a:r>
            <a:r>
              <a:rPr sz="2750" spc="-35" dirty="0">
                <a:latin typeface="Times New Roman"/>
                <a:cs typeface="Times New Roman"/>
              </a:rPr>
              <a:t>(Professoren </a:t>
            </a:r>
            <a:r>
              <a:rPr sz="2750" spc="10" dirty="0">
                <a:latin typeface="Symbol"/>
                <a:cs typeface="Symbol"/>
              </a:rPr>
              <a:t></a:t>
            </a:r>
            <a:r>
              <a:rPr sz="2750" spc="-285" dirty="0">
                <a:latin typeface="Times New Roman"/>
                <a:cs typeface="Times New Roman"/>
              </a:rPr>
              <a:t> </a:t>
            </a:r>
            <a:r>
              <a:rPr sz="2750" spc="-75" dirty="0">
                <a:latin typeface="Times New Roman"/>
                <a:cs typeface="Times New Roman"/>
              </a:rPr>
              <a:t>Vorlesungen)</a:t>
            </a:r>
            <a:endParaRPr sz="27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16568" y="4799965"/>
            <a:ext cx="1757680" cy="6546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150" spc="442" baseline="-8807" dirty="0">
                <a:latin typeface="Symbol"/>
                <a:cs typeface="Symbol"/>
              </a:rPr>
              <a:t></a:t>
            </a:r>
            <a:r>
              <a:rPr sz="1600" spc="-55" dirty="0">
                <a:latin typeface="Times New Roman"/>
                <a:cs typeface="Times New Roman"/>
              </a:rPr>
              <a:t>N</a:t>
            </a:r>
            <a:r>
              <a:rPr sz="1600" spc="-85" dirty="0">
                <a:latin typeface="Times New Roman"/>
                <a:cs typeface="Times New Roman"/>
              </a:rPr>
              <a:t>a</a:t>
            </a:r>
            <a:r>
              <a:rPr sz="1600" spc="10" dirty="0">
                <a:latin typeface="Times New Roman"/>
                <a:cs typeface="Times New Roman"/>
              </a:rPr>
              <a:t>m</a:t>
            </a:r>
            <a:r>
              <a:rPr sz="1600" spc="-80" dirty="0">
                <a:latin typeface="Times New Roman"/>
                <a:cs typeface="Times New Roman"/>
              </a:rPr>
              <a:t>e</a:t>
            </a:r>
            <a:r>
              <a:rPr sz="1600" dirty="0">
                <a:latin typeface="Times New Roman"/>
                <a:cs typeface="Times New Roman"/>
              </a:rPr>
              <a:t>,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spc="-35" dirty="0">
                <a:latin typeface="Times New Roman"/>
                <a:cs typeface="Times New Roman"/>
              </a:rPr>
              <a:t>T</a:t>
            </a:r>
            <a:r>
              <a:rPr sz="1600" spc="20" dirty="0">
                <a:latin typeface="Times New Roman"/>
                <a:cs typeface="Times New Roman"/>
              </a:rPr>
              <a:t>it</a:t>
            </a:r>
            <a:r>
              <a:rPr sz="1600" spc="-85" dirty="0">
                <a:latin typeface="Times New Roman"/>
                <a:cs typeface="Times New Roman"/>
              </a:rPr>
              <a:t>e</a:t>
            </a:r>
            <a:r>
              <a:rPr sz="1600" spc="110" dirty="0">
                <a:latin typeface="Times New Roman"/>
                <a:cs typeface="Times New Roman"/>
              </a:rPr>
              <a:t>l</a:t>
            </a:r>
            <a:r>
              <a:rPr sz="2750" spc="-180" dirty="0">
                <a:latin typeface="Times New Roman"/>
                <a:cs typeface="Times New Roman"/>
              </a:rPr>
              <a:t>(</a:t>
            </a:r>
            <a:r>
              <a:rPr sz="2900" i="1" spc="-80" dirty="0">
                <a:latin typeface="Symbol"/>
                <a:cs typeface="Symbol"/>
              </a:rPr>
              <a:t></a:t>
            </a:r>
            <a:endParaRPr sz="2900" dirty="0">
              <a:latin typeface="Symbol"/>
              <a:cs typeface="Symbo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F2B8F4-C5DD-2925-0171-1BB648A011EC}"/>
              </a:ext>
            </a:extLst>
          </p:cNvPr>
          <p:cNvSpPr txBox="1"/>
          <p:nvPr/>
        </p:nvSpPr>
        <p:spPr>
          <a:xfrm>
            <a:off x="7278697" y="5835650"/>
            <a:ext cx="316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800000"/>
                </a:solidFill>
              </a:rPr>
              <a:t>In </a:t>
            </a:r>
            <a:r>
              <a:rPr lang="en-GB" dirty="0" err="1">
                <a:solidFill>
                  <a:srgbClr val="800000"/>
                </a:solidFill>
              </a:rPr>
              <a:t>relationer</a:t>
            </a:r>
            <a:r>
              <a:rPr lang="en-GB" dirty="0">
                <a:solidFill>
                  <a:srgbClr val="800000"/>
                </a:solidFill>
              </a:rPr>
              <a:t> Algebra …</a:t>
            </a:r>
            <a:endParaRPr lang="en-US" dirty="0">
              <a:solidFill>
                <a:srgbClr val="80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8DE958-B411-EC8A-F88C-CA1CF3065FCE}"/>
              </a:ext>
            </a:extLst>
          </p:cNvPr>
          <p:cNvSpPr txBox="1"/>
          <p:nvPr/>
        </p:nvSpPr>
        <p:spPr>
          <a:xfrm>
            <a:off x="7431097" y="2635250"/>
            <a:ext cx="316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800000"/>
                </a:solidFill>
              </a:rPr>
              <a:t>Als SQL  …</a:t>
            </a:r>
            <a:endParaRPr lang="en-US" dirty="0">
              <a:solidFill>
                <a:srgbClr val="800000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50900" y="730250"/>
            <a:ext cx="6477000" cy="540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426335" algn="l"/>
              </a:tabLst>
            </a:pPr>
            <a:r>
              <a:rPr spc="-5" dirty="0" err="1"/>
              <a:t>Anfragen</a:t>
            </a:r>
            <a:r>
              <a:rPr lang="en-GB" spc="-5" dirty="0"/>
              <a:t> </a:t>
            </a:r>
            <a:r>
              <a:rPr dirty="0" err="1"/>
              <a:t>über</a:t>
            </a:r>
            <a:r>
              <a:rPr spc="-75" dirty="0"/>
              <a:t> </a:t>
            </a:r>
            <a:r>
              <a:rPr spc="-5" dirty="0" err="1"/>
              <a:t>mehrere</a:t>
            </a:r>
            <a:r>
              <a:rPr lang="en-GB" spc="-5" dirty="0"/>
              <a:t> </a:t>
            </a:r>
            <a:r>
              <a:rPr lang="en-GB" spc="-5" dirty="0" err="1"/>
              <a:t>Relationen</a:t>
            </a:r>
            <a:endParaRPr spc="-5" dirty="0"/>
          </a:p>
        </p:txBody>
      </p:sp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8000166"/>
              </p:ext>
            </p:extLst>
          </p:nvPr>
        </p:nvGraphicFramePr>
        <p:xfrm>
          <a:off x="1446212" y="1806575"/>
          <a:ext cx="3810000" cy="22612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125">
                <a:tc gridSpan="4">
                  <a:txBody>
                    <a:bodyPr/>
                    <a:lstStyle/>
                    <a:p>
                      <a:pPr marL="1237615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Professoren</a:t>
                      </a:r>
                      <a:endParaRPr sz="2000" dirty="0">
                        <a:latin typeface="Arial"/>
                        <a:cs typeface="Arial"/>
                      </a:endParaRPr>
                    </a:p>
                  </a:txBody>
                  <a:tcPr marL="0" marR="0" marT="4571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4490"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PersNr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571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Name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571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Rang</a:t>
                      </a:r>
                      <a:endParaRPr sz="2000" dirty="0">
                        <a:latin typeface="Arial"/>
                        <a:cs typeface="Arial"/>
                      </a:endParaRPr>
                    </a:p>
                  </a:txBody>
                  <a:tcPr marL="0" marR="0" marT="4571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Raum</a:t>
                      </a:r>
                    </a:p>
                  </a:txBody>
                  <a:tcPr marL="0" marR="0" marT="4571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855"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2125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571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Sokrates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571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C4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571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226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571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4290" algn="ctr">
                        <a:lnSpc>
                          <a:spcPts val="2295"/>
                        </a:lnSpc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2126</a:t>
                      </a:r>
                      <a:endParaRPr lang="en-GB" sz="2000" spc="-5" dirty="0">
                        <a:latin typeface="Arial"/>
                        <a:cs typeface="Arial"/>
                      </a:endParaRPr>
                    </a:p>
                    <a:p>
                      <a:pPr marL="34290" algn="ctr">
                        <a:lnSpc>
                          <a:spcPts val="2295"/>
                        </a:lnSpc>
                      </a:pPr>
                      <a:r>
                        <a:rPr lang="mr-IN" sz="2000" spc="-5" dirty="0">
                          <a:latin typeface="Arial"/>
                          <a:cs typeface="Arial"/>
                        </a:rPr>
                        <a:t>…</a:t>
                      </a:r>
                      <a:endParaRPr sz="20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ts val="2295"/>
                        </a:lnSpc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Russel</a:t>
                      </a:r>
                      <a:endParaRPr lang="en-GB" sz="2000" dirty="0">
                        <a:latin typeface="Arial"/>
                        <a:cs typeface="Arial"/>
                      </a:endParaRPr>
                    </a:p>
                    <a:p>
                      <a:pPr marL="34925" algn="ctr">
                        <a:lnSpc>
                          <a:spcPts val="2295"/>
                        </a:lnSpc>
                      </a:pPr>
                      <a:r>
                        <a:rPr lang="mr-IN" sz="2000" dirty="0">
                          <a:latin typeface="Arial"/>
                          <a:cs typeface="Arial"/>
                        </a:rPr>
                        <a:t>…</a:t>
                      </a:r>
                      <a:endParaRPr sz="20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4290" algn="ctr">
                        <a:lnSpc>
                          <a:spcPts val="2295"/>
                        </a:lnSpc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C4</a:t>
                      </a:r>
                      <a:endParaRPr lang="en-GB" sz="2000" spc="-5" dirty="0">
                        <a:latin typeface="Arial"/>
                        <a:cs typeface="Arial"/>
                      </a:endParaRPr>
                    </a:p>
                    <a:p>
                      <a:pPr marL="34290" algn="ctr">
                        <a:lnSpc>
                          <a:spcPts val="2295"/>
                        </a:lnSpc>
                      </a:pPr>
                      <a:r>
                        <a:rPr lang="mr-IN" sz="2000" spc="-5" dirty="0">
                          <a:latin typeface="Arial"/>
                          <a:cs typeface="Arial"/>
                        </a:rPr>
                        <a:t>…</a:t>
                      </a:r>
                      <a:endParaRPr sz="20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4290" algn="ctr">
                        <a:lnSpc>
                          <a:spcPts val="2295"/>
                        </a:lnSpc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232</a:t>
                      </a:r>
                      <a:endParaRPr lang="en-GB" sz="2000" spc="-5" dirty="0">
                        <a:latin typeface="Arial"/>
                        <a:cs typeface="Arial"/>
                      </a:endParaRPr>
                    </a:p>
                    <a:p>
                      <a:pPr marL="34290" algn="ctr">
                        <a:lnSpc>
                          <a:spcPts val="2295"/>
                        </a:lnSpc>
                      </a:pPr>
                      <a:r>
                        <a:rPr lang="mr-IN" sz="2000" spc="-5" dirty="0">
                          <a:latin typeface="Arial"/>
                          <a:cs typeface="Arial"/>
                        </a:rPr>
                        <a:t>…</a:t>
                      </a:r>
                      <a:endParaRPr sz="20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81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950" dirty="0">
                        <a:latin typeface="Times New Roman"/>
                        <a:cs typeface="Times New Roman"/>
                      </a:endParaRPr>
                    </a:p>
                    <a:p>
                      <a:pPr marL="34290" algn="ctr">
                        <a:lnSpc>
                          <a:spcPts val="2005"/>
                        </a:lnSpc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2137</a:t>
                      </a:r>
                      <a:endParaRPr sz="2000" dirty="0">
                        <a:latin typeface="Arial"/>
                        <a:cs typeface="Arial"/>
                      </a:endParaRPr>
                    </a:p>
                  </a:txBody>
                  <a:tcPr marL="0" marR="0" marT="635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950" dirty="0">
                        <a:latin typeface="Times New Roman"/>
                        <a:cs typeface="Times New Roman"/>
                      </a:endParaRPr>
                    </a:p>
                    <a:p>
                      <a:pPr marL="34925" algn="ctr">
                        <a:lnSpc>
                          <a:spcPts val="2005"/>
                        </a:lnSpc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Kant</a:t>
                      </a:r>
                    </a:p>
                  </a:txBody>
                  <a:tcPr marL="0" marR="0" marT="63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950">
                        <a:latin typeface="Times New Roman"/>
                        <a:cs typeface="Times New Roman"/>
                      </a:endParaRPr>
                    </a:p>
                    <a:p>
                      <a:pPr marL="34290" algn="ctr">
                        <a:lnSpc>
                          <a:spcPts val="2005"/>
                        </a:lnSpc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C4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63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950" dirty="0">
                        <a:latin typeface="Times New Roman"/>
                        <a:cs typeface="Times New Roman"/>
                      </a:endParaRPr>
                    </a:p>
                    <a:p>
                      <a:pPr marL="34925" algn="ctr">
                        <a:lnSpc>
                          <a:spcPts val="2005"/>
                        </a:lnSpc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7</a:t>
                      </a:r>
                    </a:p>
                  </a:txBody>
                  <a:tcPr marL="0" marR="0" marT="63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" name="object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5252561"/>
              </p:ext>
            </p:extLst>
          </p:nvPr>
        </p:nvGraphicFramePr>
        <p:xfrm>
          <a:off x="5484816" y="1782763"/>
          <a:ext cx="4954905" cy="332358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1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37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6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770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4490">
                <a:tc gridSpan="4">
                  <a:txBody>
                    <a:bodyPr/>
                    <a:lstStyle/>
                    <a:p>
                      <a:pPr marL="33020" algn="ctr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2000" spc="-15" dirty="0">
                          <a:latin typeface="Arial"/>
                          <a:cs typeface="Arial"/>
                        </a:rPr>
                        <a:t>Vorlesungen</a:t>
                      </a:r>
                      <a:endParaRPr sz="2000" dirty="0">
                        <a:latin typeface="Arial"/>
                        <a:cs typeface="Arial"/>
                      </a:endParaRPr>
                    </a:p>
                  </a:txBody>
                  <a:tcPr marL="0" marR="0" marT="4571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2000" spc="-20" dirty="0">
                          <a:latin typeface="Arial"/>
                          <a:cs typeface="Arial"/>
                        </a:rPr>
                        <a:t>VorlNr</a:t>
                      </a:r>
                      <a:endParaRPr sz="2000" dirty="0">
                        <a:latin typeface="Arial"/>
                        <a:cs typeface="Arial"/>
                      </a:endParaRPr>
                    </a:p>
                  </a:txBody>
                  <a:tcPr marL="0" marR="0" marT="4571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2000" spc="-20" dirty="0">
                          <a:latin typeface="Arial"/>
                          <a:cs typeface="Arial"/>
                        </a:rPr>
                        <a:t>Titel</a:t>
                      </a:r>
                      <a:endParaRPr sz="2000" dirty="0">
                        <a:latin typeface="Arial"/>
                        <a:cs typeface="Arial"/>
                      </a:endParaRPr>
                    </a:p>
                  </a:txBody>
                  <a:tcPr marL="0" marR="0" marT="4571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SWS</a:t>
                      </a:r>
                      <a:endParaRPr sz="2000" dirty="0">
                        <a:latin typeface="Arial"/>
                        <a:cs typeface="Arial"/>
                      </a:endParaRPr>
                    </a:p>
                  </a:txBody>
                  <a:tcPr marL="0" marR="0" marT="4571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1750" algn="ctr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gelesen</a:t>
                      </a:r>
                      <a:r>
                        <a:rPr sz="20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spc="-40" dirty="0">
                          <a:latin typeface="Arial"/>
                          <a:cs typeface="Arial"/>
                        </a:rPr>
                        <a:t>Von</a:t>
                      </a:r>
                      <a:endParaRPr sz="2000" dirty="0">
                        <a:latin typeface="Arial"/>
                        <a:cs typeface="Arial"/>
                      </a:endParaRPr>
                    </a:p>
                  </a:txBody>
                  <a:tcPr marL="0" marR="0" marT="4571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5001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571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Grundzüge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571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3020" algn="ctr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4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571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1115" algn="ctr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2137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571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420"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5041</a:t>
                      </a:r>
                      <a:endParaRPr lang="en-GB" sz="2000" spc="-5" dirty="0">
                        <a:latin typeface="Arial"/>
                        <a:cs typeface="Arial"/>
                      </a:endParaRPr>
                    </a:p>
                    <a:p>
                      <a:pPr marL="34290"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lang="mr-IN" sz="2000" spc="-5" dirty="0">
                          <a:latin typeface="Arial"/>
                          <a:cs typeface="Arial"/>
                        </a:rPr>
                        <a:t>…</a:t>
                      </a:r>
                      <a:endParaRPr sz="2000" dirty="0">
                        <a:latin typeface="Arial"/>
                        <a:cs typeface="Arial"/>
                      </a:endParaRPr>
                    </a:p>
                  </a:txBody>
                  <a:tcPr marL="0" marR="0" marT="1651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1750"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Ethik</a:t>
                      </a:r>
                      <a:endParaRPr lang="en-GB" sz="2000" spc="-5" dirty="0">
                        <a:latin typeface="Arial"/>
                        <a:cs typeface="Arial"/>
                      </a:endParaRPr>
                    </a:p>
                    <a:p>
                      <a:pPr marL="31750"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lang="mr-IN" sz="2000" spc="-5" dirty="0">
                          <a:latin typeface="Arial"/>
                          <a:cs typeface="Arial"/>
                        </a:rPr>
                        <a:t>…</a:t>
                      </a:r>
                      <a:endParaRPr sz="2000" dirty="0">
                        <a:latin typeface="Arial"/>
                        <a:cs typeface="Arial"/>
                      </a:endParaRPr>
                    </a:p>
                  </a:txBody>
                  <a:tcPr marL="0" marR="0" marT="165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3020"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4</a:t>
                      </a:r>
                      <a:endParaRPr lang="en-GB" sz="2000" dirty="0">
                        <a:latin typeface="Arial"/>
                        <a:cs typeface="Arial"/>
                      </a:endParaRPr>
                    </a:p>
                    <a:p>
                      <a:pPr marL="33020"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lang="mr-IN" sz="2000" dirty="0">
                          <a:latin typeface="Arial"/>
                          <a:cs typeface="Arial"/>
                        </a:rPr>
                        <a:t>…</a:t>
                      </a:r>
                      <a:endParaRPr sz="2000" dirty="0">
                        <a:latin typeface="Arial"/>
                        <a:cs typeface="Arial"/>
                      </a:endParaRPr>
                    </a:p>
                  </a:txBody>
                  <a:tcPr marL="0" marR="0" marT="165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1115"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2125</a:t>
                      </a:r>
                      <a:endParaRPr lang="en-GB" sz="2000" spc="-5" dirty="0">
                        <a:latin typeface="Arial"/>
                        <a:cs typeface="Arial"/>
                      </a:endParaRPr>
                    </a:p>
                    <a:p>
                      <a:pPr marL="31115"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lang="mr-IN" sz="2000" spc="-5" dirty="0">
                          <a:latin typeface="Arial"/>
                          <a:cs typeface="Arial"/>
                        </a:rPr>
                        <a:t>…</a:t>
                      </a:r>
                      <a:endParaRPr sz="2000" dirty="0">
                        <a:latin typeface="Arial"/>
                        <a:cs typeface="Arial"/>
                      </a:endParaRPr>
                    </a:p>
                  </a:txBody>
                  <a:tcPr marL="0" marR="0" marT="165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9152"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1714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5049</a:t>
                      </a:r>
                      <a:endParaRPr lang="en-GB" sz="2000" spc="0" dirty="0">
                        <a:latin typeface="Arial"/>
                        <a:cs typeface="Arial"/>
                      </a:endParaRPr>
                    </a:p>
                    <a:p>
                      <a:pPr marL="34290" algn="ctr">
                        <a:lnSpc>
                          <a:spcPct val="100000"/>
                        </a:lnSpc>
                        <a:spcBef>
                          <a:spcPts val="1714"/>
                        </a:spcBef>
                      </a:pPr>
                      <a:r>
                        <a:rPr lang="mr-IN" sz="2000" spc="0" dirty="0">
                          <a:latin typeface="Arial"/>
                          <a:cs typeface="Arial"/>
                        </a:rPr>
                        <a:t>…</a:t>
                      </a:r>
                      <a:endParaRPr lang="en-GB" sz="2000" spc="-5" dirty="0">
                        <a:latin typeface="Arial"/>
                        <a:cs typeface="Arial"/>
                      </a:endParaRPr>
                    </a:p>
                  </a:txBody>
                  <a:tcPr marL="0" marR="0" marT="217804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ct val="100000"/>
                        </a:lnSpc>
                        <a:spcBef>
                          <a:spcPts val="1714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Mäeutik</a:t>
                      </a:r>
                      <a:endParaRPr lang="en-GB" sz="2000" spc="-5" dirty="0">
                        <a:latin typeface="Arial"/>
                        <a:cs typeface="Arial"/>
                      </a:endParaRPr>
                    </a:p>
                    <a:p>
                      <a:pPr marL="32384" algn="ctr">
                        <a:lnSpc>
                          <a:spcPct val="100000"/>
                        </a:lnSpc>
                        <a:spcBef>
                          <a:spcPts val="1714"/>
                        </a:spcBef>
                      </a:pPr>
                      <a:r>
                        <a:rPr lang="mr-IN" sz="2000" spc="-5" dirty="0">
                          <a:latin typeface="Arial"/>
                          <a:cs typeface="Arial"/>
                        </a:rPr>
                        <a:t>…</a:t>
                      </a:r>
                      <a:endParaRPr sz="2000" dirty="0">
                        <a:latin typeface="Arial"/>
                        <a:cs typeface="Arial"/>
                      </a:endParaRPr>
                    </a:p>
                  </a:txBody>
                  <a:tcPr marL="0" marR="0" marT="21780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3020" algn="ctr">
                        <a:lnSpc>
                          <a:spcPct val="100000"/>
                        </a:lnSpc>
                        <a:spcBef>
                          <a:spcPts val="1714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2</a:t>
                      </a:r>
                      <a:endParaRPr lang="en-GB" sz="2000" dirty="0">
                        <a:latin typeface="Arial"/>
                        <a:cs typeface="Arial"/>
                      </a:endParaRPr>
                    </a:p>
                    <a:p>
                      <a:pPr marL="33020" algn="ctr">
                        <a:lnSpc>
                          <a:spcPct val="100000"/>
                        </a:lnSpc>
                        <a:spcBef>
                          <a:spcPts val="1714"/>
                        </a:spcBef>
                      </a:pPr>
                      <a:r>
                        <a:rPr lang="mr-IN" sz="2000" dirty="0">
                          <a:latin typeface="Arial"/>
                          <a:cs typeface="Arial"/>
                        </a:rPr>
                        <a:t>…</a:t>
                      </a:r>
                      <a:endParaRPr sz="2000" dirty="0">
                        <a:latin typeface="Arial"/>
                        <a:cs typeface="Arial"/>
                      </a:endParaRPr>
                    </a:p>
                  </a:txBody>
                  <a:tcPr marL="0" marR="0" marT="21780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1115" algn="ctr">
                        <a:lnSpc>
                          <a:spcPct val="100000"/>
                        </a:lnSpc>
                        <a:spcBef>
                          <a:spcPts val="1714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2125</a:t>
                      </a:r>
                      <a:endParaRPr lang="en-GB" sz="2000" spc="-5" dirty="0">
                        <a:latin typeface="Arial"/>
                        <a:cs typeface="Arial"/>
                      </a:endParaRPr>
                    </a:p>
                    <a:p>
                      <a:pPr marL="31115" algn="ctr">
                        <a:lnSpc>
                          <a:spcPct val="100000"/>
                        </a:lnSpc>
                        <a:spcBef>
                          <a:spcPts val="1714"/>
                        </a:spcBef>
                      </a:pPr>
                      <a:r>
                        <a:rPr lang="mr-IN" sz="2000" spc="-5" dirty="0">
                          <a:latin typeface="Arial"/>
                          <a:cs typeface="Arial"/>
                        </a:rPr>
                        <a:t>…</a:t>
                      </a:r>
                      <a:endParaRPr sz="2000" dirty="0">
                        <a:latin typeface="Arial"/>
                        <a:cs typeface="Arial"/>
                      </a:endParaRPr>
                    </a:p>
                  </a:txBody>
                  <a:tcPr marL="0" marR="0" marT="21780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1565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4630</a:t>
                      </a:r>
                      <a:endParaRPr sz="2000" dirty="0">
                        <a:latin typeface="Arial"/>
                        <a:cs typeface="Arial"/>
                      </a:endParaRPr>
                    </a:p>
                  </a:txBody>
                  <a:tcPr marL="0" marR="0" marT="19875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ct val="100000"/>
                        </a:lnSpc>
                        <a:spcBef>
                          <a:spcPts val="156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Die 3</a:t>
                      </a:r>
                      <a:r>
                        <a:rPr sz="20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spc="-5" dirty="0">
                          <a:latin typeface="Arial"/>
                          <a:cs typeface="Arial"/>
                        </a:rPr>
                        <a:t>Kritiken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19875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020" algn="ctr">
                        <a:lnSpc>
                          <a:spcPct val="100000"/>
                        </a:lnSpc>
                        <a:spcBef>
                          <a:spcPts val="156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4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19875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115" algn="ctr">
                        <a:lnSpc>
                          <a:spcPct val="100000"/>
                        </a:lnSpc>
                        <a:spcBef>
                          <a:spcPts val="1565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2137</a:t>
                      </a:r>
                      <a:endParaRPr sz="2000" dirty="0">
                        <a:latin typeface="Arial"/>
                        <a:cs typeface="Arial"/>
                      </a:endParaRPr>
                    </a:p>
                  </a:txBody>
                  <a:tcPr marL="0" marR="0" marT="19875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object 19"/>
          <p:cNvSpPr txBox="1"/>
          <p:nvPr/>
        </p:nvSpPr>
        <p:spPr>
          <a:xfrm>
            <a:off x="4709456" y="5335270"/>
            <a:ext cx="20421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5" dirty="0">
                <a:latin typeface="Tahoma"/>
                <a:cs typeface="Tahoma"/>
              </a:rPr>
              <a:t>Verknüpfung</a:t>
            </a:r>
            <a:r>
              <a:rPr sz="2400" spc="-85" dirty="0">
                <a:latin typeface="Tahoma"/>
                <a:cs typeface="Tahoma"/>
              </a:rPr>
              <a:t> </a:t>
            </a:r>
            <a:r>
              <a:rPr sz="2400" dirty="0">
                <a:latin typeface="Symbol"/>
                <a:cs typeface="Symbol"/>
              </a:rPr>
              <a:t>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822703" y="5759450"/>
            <a:ext cx="588645" cy="514984"/>
          </a:xfrm>
          <a:custGeom>
            <a:avLst/>
            <a:gdLst/>
            <a:ahLst/>
            <a:cxnLst/>
            <a:rect l="l" t="t" r="r" b="b"/>
            <a:pathLst>
              <a:path w="588645" h="514985">
                <a:moveTo>
                  <a:pt x="0" y="0"/>
                </a:moveTo>
                <a:lnTo>
                  <a:pt x="588094" y="514582"/>
                </a:lnTo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339556" y="6204141"/>
            <a:ext cx="93345" cy="88900"/>
          </a:xfrm>
          <a:custGeom>
            <a:avLst/>
            <a:gdLst/>
            <a:ahLst/>
            <a:cxnLst/>
            <a:rect l="l" t="t" r="r" b="b"/>
            <a:pathLst>
              <a:path w="93345" h="88900">
                <a:moveTo>
                  <a:pt x="56451" y="0"/>
                </a:moveTo>
                <a:lnTo>
                  <a:pt x="0" y="64516"/>
                </a:lnTo>
                <a:lnTo>
                  <a:pt x="92748" y="88709"/>
                </a:lnTo>
                <a:lnTo>
                  <a:pt x="5645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6974230" y="5829351"/>
            <a:ext cx="577850" cy="452755"/>
          </a:xfrm>
          <a:custGeom>
            <a:avLst/>
            <a:gdLst/>
            <a:ahLst/>
            <a:cxnLst/>
            <a:rect l="l" t="t" r="r" b="b"/>
            <a:pathLst>
              <a:path w="577850" h="452754">
                <a:moveTo>
                  <a:pt x="577446" y="0"/>
                </a:moveTo>
                <a:lnTo>
                  <a:pt x="0" y="45218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951729" y="6212548"/>
            <a:ext cx="93980" cy="86995"/>
          </a:xfrm>
          <a:custGeom>
            <a:avLst/>
            <a:gdLst/>
            <a:ahLst/>
            <a:cxnLst/>
            <a:rect l="l" t="t" r="r" b="b"/>
            <a:pathLst>
              <a:path w="93979" h="86995">
                <a:moveTo>
                  <a:pt x="41059" y="0"/>
                </a:moveTo>
                <a:lnTo>
                  <a:pt x="0" y="86601"/>
                </a:lnTo>
                <a:lnTo>
                  <a:pt x="93916" y="67487"/>
                </a:lnTo>
                <a:lnTo>
                  <a:pt x="4105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013328" y="6913562"/>
            <a:ext cx="36195" cy="107950"/>
          </a:xfrm>
          <a:custGeom>
            <a:avLst/>
            <a:gdLst/>
            <a:ahLst/>
            <a:cxnLst/>
            <a:rect l="l" t="t" r="r" b="b"/>
            <a:pathLst>
              <a:path w="36195" h="107950">
                <a:moveTo>
                  <a:pt x="36147" y="0"/>
                </a:moveTo>
                <a:lnTo>
                  <a:pt x="30345" y="27980"/>
                </a:lnTo>
                <a:lnTo>
                  <a:pt x="22044" y="54606"/>
                </a:lnTo>
                <a:lnTo>
                  <a:pt x="11758" y="80827"/>
                </a:lnTo>
                <a:lnTo>
                  <a:pt x="0" y="107588"/>
                </a:lnTo>
              </a:path>
            </a:pathLst>
          </a:custGeom>
          <a:ln w="19049">
            <a:solidFill>
              <a:srgbClr val="0085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881E44D8-631D-0471-36F8-52A206A38FF3}"/>
              </a:ext>
            </a:extLst>
          </p:cNvPr>
          <p:cNvSpPr txBox="1"/>
          <p:nvPr/>
        </p:nvSpPr>
        <p:spPr>
          <a:xfrm>
            <a:off x="7785100" y="273050"/>
            <a:ext cx="2667000" cy="12954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7" name="object 2">
            <a:extLst>
              <a:ext uri="{FF2B5EF4-FFF2-40B4-BE49-F238E27FC236}">
                <a16:creationId xmlns:a16="http://schemas.microsoft.com/office/drawing/2014/main" id="{6B038C85-1F81-738F-A600-74E8C7BD5D8C}"/>
              </a:ext>
            </a:extLst>
          </p:cNvPr>
          <p:cNvSpPr txBox="1"/>
          <p:nvPr/>
        </p:nvSpPr>
        <p:spPr>
          <a:xfrm>
            <a:off x="1516793" y="756229"/>
            <a:ext cx="85090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210"/>
              </a:lnSpc>
            </a:pPr>
            <a:r>
              <a:rPr sz="2000" dirty="0">
                <a:latin typeface="Arial"/>
                <a:cs typeface="Arial"/>
              </a:rPr>
              <a:t>r</a:t>
            </a:r>
            <a:endParaRPr sz="2000">
              <a:latin typeface="Arial"/>
              <a:cs typeface="Arial"/>
            </a:endParaRPr>
          </a:p>
        </p:txBody>
      </p:sp>
      <p:sp>
        <p:nvSpPr>
          <p:cNvPr id="18" name="object 3">
            <a:extLst>
              <a:ext uri="{FF2B5EF4-FFF2-40B4-BE49-F238E27FC236}">
                <a16:creationId xmlns:a16="http://schemas.microsoft.com/office/drawing/2014/main" id="{F4FD3CDD-5D01-7A72-BE86-6BC781ED5EB2}"/>
              </a:ext>
            </a:extLst>
          </p:cNvPr>
          <p:cNvSpPr/>
          <p:nvPr/>
        </p:nvSpPr>
        <p:spPr>
          <a:xfrm>
            <a:off x="1172529" y="746773"/>
            <a:ext cx="767080" cy="396875"/>
          </a:xfrm>
          <a:custGeom>
            <a:avLst/>
            <a:gdLst/>
            <a:ahLst/>
            <a:cxnLst/>
            <a:rect l="l" t="t" r="r" b="b"/>
            <a:pathLst>
              <a:path w="767080" h="396875">
                <a:moveTo>
                  <a:pt x="0" y="0"/>
                </a:moveTo>
                <a:lnTo>
                  <a:pt x="766766" y="0"/>
                </a:lnTo>
                <a:lnTo>
                  <a:pt x="766766" y="396875"/>
                </a:lnTo>
                <a:lnTo>
                  <a:pt x="0" y="3968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9" name="object 4">
            <a:extLst>
              <a:ext uri="{FF2B5EF4-FFF2-40B4-BE49-F238E27FC236}">
                <a16:creationId xmlns:a16="http://schemas.microsoft.com/office/drawing/2014/main" id="{D2C925AF-E5ED-DB3A-1C93-AFFEDF1179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5654361"/>
              </p:ext>
            </p:extLst>
          </p:nvPr>
        </p:nvGraphicFramePr>
        <p:xfrm>
          <a:off x="1158241" y="153163"/>
          <a:ext cx="9141459" cy="446976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7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0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36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20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757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99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1859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5125"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PersN</a:t>
                      </a:r>
                    </a:p>
                  </a:txBody>
                  <a:tcPr marL="0" marR="0" marT="4571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Name</a:t>
                      </a:r>
                    </a:p>
                  </a:txBody>
                  <a:tcPr marL="0" marR="0" marT="4571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Rang</a:t>
                      </a:r>
                      <a:endParaRPr sz="2000" dirty="0">
                        <a:latin typeface="Arial"/>
                        <a:cs typeface="Arial"/>
                      </a:endParaRPr>
                    </a:p>
                  </a:txBody>
                  <a:tcPr marL="0" marR="0" marT="4571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Raum</a:t>
                      </a:r>
                    </a:p>
                  </a:txBody>
                  <a:tcPr marL="0" marR="0" marT="4571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139065" algn="ctr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2000" spc="-20" dirty="0">
                          <a:latin typeface="Arial"/>
                          <a:cs typeface="Arial"/>
                        </a:rPr>
                        <a:t>VorlNr</a:t>
                      </a:r>
                      <a:endParaRPr sz="2000" dirty="0">
                        <a:latin typeface="Arial"/>
                        <a:cs typeface="Arial"/>
                      </a:endParaRPr>
                    </a:p>
                  </a:txBody>
                  <a:tcPr marL="0" marR="0" marT="4571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220979" algn="ctr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2000" spc="-20" dirty="0">
                          <a:latin typeface="Arial"/>
                          <a:cs typeface="Arial"/>
                        </a:rPr>
                        <a:t>Titel</a:t>
                      </a:r>
                      <a:endParaRPr sz="2000" dirty="0">
                        <a:latin typeface="Arial"/>
                        <a:cs typeface="Arial"/>
                      </a:endParaRPr>
                    </a:p>
                  </a:txBody>
                  <a:tcPr marL="0" marR="0" marT="4571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116839" algn="ctr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SWS</a:t>
                      </a:r>
                      <a:endParaRPr sz="2000" dirty="0">
                        <a:latin typeface="Arial"/>
                        <a:cs typeface="Arial"/>
                      </a:endParaRPr>
                    </a:p>
                  </a:txBody>
                  <a:tcPr marL="0" marR="0" marT="4571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29845" algn="ctr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gelesen</a:t>
                      </a:r>
                      <a:r>
                        <a:rPr sz="2000" spc="-9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spc="-40" dirty="0">
                          <a:latin typeface="Arial"/>
                          <a:cs typeface="Arial"/>
                        </a:rPr>
                        <a:t>Von</a:t>
                      </a:r>
                      <a:endParaRPr sz="2000" dirty="0">
                        <a:latin typeface="Arial"/>
                        <a:cs typeface="Arial"/>
                      </a:endParaRPr>
                    </a:p>
                  </a:txBody>
                  <a:tcPr marL="0" marR="0" marT="4571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2125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571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Sokrates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571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C4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571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226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571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38430" algn="ctr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5001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571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20979" algn="ctr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Grundzüge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571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17475" algn="ctr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4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571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8735" algn="ctr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2137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571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2</a:t>
                      </a:r>
                      <a:r>
                        <a:rPr lang="en-GB" sz="2000" spc="-5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2000" spc="-5" dirty="0">
                          <a:latin typeface="Arial"/>
                          <a:cs typeface="Arial"/>
                        </a:rPr>
                        <a:t>25</a:t>
                      </a:r>
                      <a:endParaRPr lang="en-GB" sz="2000" spc="-5" dirty="0">
                        <a:latin typeface="Arial"/>
                        <a:cs typeface="Arial"/>
                      </a:endParaRPr>
                    </a:p>
                    <a:p>
                      <a:pPr marL="3429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lang="mr-IN" sz="2000" spc="-5" dirty="0">
                          <a:latin typeface="Arial"/>
                          <a:cs typeface="Arial"/>
                        </a:rPr>
                        <a:t>…</a:t>
                      </a:r>
                      <a:endParaRPr lang="en-GB" sz="2000" spc="-5" dirty="0">
                        <a:latin typeface="Arial"/>
                        <a:cs typeface="Arial"/>
                      </a:endParaRPr>
                    </a:p>
                  </a:txBody>
                  <a:tcPr marL="0" marR="0" marT="32384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Sokrates</a:t>
                      </a:r>
                      <a:endParaRPr lang="en-GB" sz="2000" spc="-5" dirty="0">
                        <a:latin typeface="Arial"/>
                        <a:cs typeface="Arial"/>
                      </a:endParaRPr>
                    </a:p>
                    <a:p>
                      <a:pPr marL="3429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lang="mr-IN" sz="2000" spc="-5" dirty="0">
                          <a:latin typeface="Arial"/>
                          <a:cs typeface="Arial"/>
                        </a:rPr>
                        <a:t>…</a:t>
                      </a:r>
                      <a:endParaRPr sz="2000" dirty="0">
                        <a:latin typeface="Arial"/>
                        <a:cs typeface="Arial"/>
                      </a:endParaRPr>
                    </a:p>
                  </a:txBody>
                  <a:tcPr marL="0" marR="0" marT="3238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C4</a:t>
                      </a:r>
                      <a:endParaRPr lang="en-GB" sz="2000" spc="-5" dirty="0">
                        <a:latin typeface="Arial"/>
                        <a:cs typeface="Arial"/>
                      </a:endParaRPr>
                    </a:p>
                    <a:p>
                      <a:pPr marL="32384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lang="mr-IN" sz="2000" spc="-5" dirty="0">
                          <a:latin typeface="Arial"/>
                          <a:cs typeface="Arial"/>
                        </a:rPr>
                        <a:t>…</a:t>
                      </a:r>
                      <a:endParaRPr sz="2000" dirty="0">
                        <a:latin typeface="Arial"/>
                        <a:cs typeface="Arial"/>
                      </a:endParaRPr>
                    </a:p>
                  </a:txBody>
                  <a:tcPr marL="0" marR="0" marT="3238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226</a:t>
                      </a:r>
                      <a:endParaRPr lang="en-GB" sz="2000" spc="-5" dirty="0">
                        <a:latin typeface="Arial"/>
                        <a:cs typeface="Arial"/>
                      </a:endParaRPr>
                    </a:p>
                    <a:p>
                      <a:pPr marL="3492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lang="mr-IN" sz="2000" spc="-5" dirty="0">
                          <a:latin typeface="Arial"/>
                          <a:cs typeface="Arial"/>
                        </a:rPr>
                        <a:t>…</a:t>
                      </a:r>
                      <a:endParaRPr sz="2000" dirty="0">
                        <a:latin typeface="Arial"/>
                        <a:cs typeface="Arial"/>
                      </a:endParaRPr>
                    </a:p>
                  </a:txBody>
                  <a:tcPr marL="0" marR="0" marT="3238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3843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5041</a:t>
                      </a:r>
                      <a:endParaRPr lang="en-GB" sz="2000" spc="-5" dirty="0">
                        <a:latin typeface="Arial"/>
                        <a:cs typeface="Arial"/>
                      </a:endParaRPr>
                    </a:p>
                    <a:p>
                      <a:pPr marL="13843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lang="mr-IN" sz="2000" spc="-5" dirty="0">
                          <a:latin typeface="Arial"/>
                          <a:cs typeface="Arial"/>
                        </a:rPr>
                        <a:t>…</a:t>
                      </a:r>
                      <a:endParaRPr sz="2000" dirty="0">
                        <a:latin typeface="Arial"/>
                        <a:cs typeface="Arial"/>
                      </a:endParaRPr>
                    </a:p>
                  </a:txBody>
                  <a:tcPr marL="0" marR="0" marT="3238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2034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Ethik</a:t>
                      </a:r>
                      <a:endParaRPr lang="en-GB" sz="2000" spc="-5" dirty="0">
                        <a:latin typeface="Arial"/>
                        <a:cs typeface="Arial"/>
                      </a:endParaRPr>
                    </a:p>
                    <a:p>
                      <a:pPr marL="22034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lang="mr-IN" sz="2000" spc="-5" dirty="0">
                          <a:latin typeface="Arial"/>
                          <a:cs typeface="Arial"/>
                        </a:rPr>
                        <a:t>…</a:t>
                      </a:r>
                      <a:endParaRPr sz="2000" dirty="0">
                        <a:latin typeface="Arial"/>
                        <a:cs typeface="Arial"/>
                      </a:endParaRPr>
                    </a:p>
                  </a:txBody>
                  <a:tcPr marL="0" marR="0" marT="3238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1747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4</a:t>
                      </a:r>
                      <a:endParaRPr lang="en-GB" sz="2000" dirty="0">
                        <a:latin typeface="Arial"/>
                        <a:cs typeface="Arial"/>
                      </a:endParaRPr>
                    </a:p>
                    <a:p>
                      <a:pPr marL="11747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lang="mr-IN" sz="2000" dirty="0">
                          <a:latin typeface="Arial"/>
                          <a:cs typeface="Arial"/>
                        </a:rPr>
                        <a:t>…</a:t>
                      </a:r>
                      <a:endParaRPr sz="2000" dirty="0">
                        <a:latin typeface="Arial"/>
                        <a:cs typeface="Arial"/>
                      </a:endParaRPr>
                    </a:p>
                  </a:txBody>
                  <a:tcPr marL="0" marR="0" marT="3238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873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2125</a:t>
                      </a:r>
                      <a:endParaRPr lang="en-GB" sz="2000" spc="-5" dirty="0">
                        <a:latin typeface="Arial"/>
                        <a:cs typeface="Arial"/>
                      </a:endParaRPr>
                    </a:p>
                    <a:p>
                      <a:pPr marL="3873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lang="mr-IN" sz="2000" spc="-5" dirty="0">
                          <a:latin typeface="Arial"/>
                          <a:cs typeface="Arial"/>
                        </a:rPr>
                        <a:t>…</a:t>
                      </a:r>
                      <a:endParaRPr sz="2000" dirty="0">
                        <a:latin typeface="Arial"/>
                        <a:cs typeface="Arial"/>
                      </a:endParaRPr>
                    </a:p>
                  </a:txBody>
                  <a:tcPr marL="0" marR="0" marT="3238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4658"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1565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2125</a:t>
                      </a:r>
                      <a:endParaRPr lang="en-GB" sz="2000" spc="-5" dirty="0">
                        <a:latin typeface="Arial"/>
                        <a:cs typeface="Arial"/>
                      </a:endParaRPr>
                    </a:p>
                    <a:p>
                      <a:pPr marL="34290" algn="ctr">
                        <a:lnSpc>
                          <a:spcPct val="100000"/>
                        </a:lnSpc>
                        <a:spcBef>
                          <a:spcPts val="1565"/>
                        </a:spcBef>
                      </a:pPr>
                      <a:r>
                        <a:rPr lang="mr-IN" sz="2000" spc="-5" dirty="0">
                          <a:latin typeface="Arial"/>
                          <a:cs typeface="Arial"/>
                        </a:rPr>
                        <a:t>…</a:t>
                      </a:r>
                      <a:endParaRPr sz="2000" dirty="0">
                        <a:latin typeface="Arial"/>
                        <a:cs typeface="Arial"/>
                      </a:endParaRPr>
                    </a:p>
                  </a:txBody>
                  <a:tcPr marL="0" marR="0" marT="19875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1565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Sokrates</a:t>
                      </a:r>
                      <a:endParaRPr lang="en-GB" sz="2000" spc="-5" dirty="0">
                        <a:latin typeface="Arial"/>
                        <a:cs typeface="Arial"/>
                      </a:endParaRPr>
                    </a:p>
                    <a:p>
                      <a:pPr marL="34290" algn="ctr">
                        <a:lnSpc>
                          <a:spcPct val="100000"/>
                        </a:lnSpc>
                        <a:spcBef>
                          <a:spcPts val="1565"/>
                        </a:spcBef>
                      </a:pPr>
                      <a:r>
                        <a:rPr lang="mr-IN" sz="2000" spc="-5" dirty="0">
                          <a:latin typeface="Arial"/>
                          <a:cs typeface="Arial"/>
                        </a:rPr>
                        <a:t>…</a:t>
                      </a:r>
                      <a:endParaRPr sz="2000" dirty="0">
                        <a:latin typeface="Arial"/>
                        <a:cs typeface="Arial"/>
                      </a:endParaRPr>
                    </a:p>
                  </a:txBody>
                  <a:tcPr marL="0" marR="0" marT="19875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ct val="100000"/>
                        </a:lnSpc>
                        <a:spcBef>
                          <a:spcPts val="1565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C4</a:t>
                      </a:r>
                      <a:endParaRPr lang="en-GB" sz="2000" spc="-5" dirty="0">
                        <a:latin typeface="Arial"/>
                        <a:cs typeface="Arial"/>
                      </a:endParaRPr>
                    </a:p>
                    <a:p>
                      <a:pPr marL="32384" algn="ctr">
                        <a:lnSpc>
                          <a:spcPct val="100000"/>
                        </a:lnSpc>
                        <a:spcBef>
                          <a:spcPts val="1565"/>
                        </a:spcBef>
                      </a:pPr>
                      <a:r>
                        <a:rPr lang="mr-IN" sz="2000" spc="-5" dirty="0">
                          <a:latin typeface="Arial"/>
                          <a:cs typeface="Arial"/>
                        </a:rPr>
                        <a:t>…</a:t>
                      </a:r>
                      <a:endParaRPr sz="2000" dirty="0">
                        <a:latin typeface="Arial"/>
                        <a:cs typeface="Arial"/>
                      </a:endParaRPr>
                    </a:p>
                  </a:txBody>
                  <a:tcPr marL="0" marR="0" marT="19875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565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226</a:t>
                      </a:r>
                      <a:endParaRPr lang="en-GB" sz="2000" spc="-5" dirty="0">
                        <a:latin typeface="Arial"/>
                        <a:cs typeface="Arial"/>
                      </a:endParaRPr>
                    </a:p>
                    <a:p>
                      <a:pPr marL="34925" algn="ctr">
                        <a:lnSpc>
                          <a:spcPct val="100000"/>
                        </a:lnSpc>
                        <a:spcBef>
                          <a:spcPts val="1565"/>
                        </a:spcBef>
                      </a:pPr>
                      <a:r>
                        <a:rPr lang="mr-IN" sz="2000" spc="-5" dirty="0">
                          <a:latin typeface="Arial"/>
                          <a:cs typeface="Arial"/>
                        </a:rPr>
                        <a:t>…</a:t>
                      </a:r>
                      <a:endParaRPr sz="2000" dirty="0">
                        <a:latin typeface="Arial"/>
                        <a:cs typeface="Arial"/>
                      </a:endParaRPr>
                    </a:p>
                  </a:txBody>
                  <a:tcPr marL="0" marR="0" marT="19875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38430" algn="ctr">
                        <a:lnSpc>
                          <a:spcPct val="100000"/>
                        </a:lnSpc>
                        <a:spcBef>
                          <a:spcPts val="1565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5049</a:t>
                      </a:r>
                      <a:endParaRPr lang="en-GB" sz="2000" spc="-5" dirty="0">
                        <a:latin typeface="Arial"/>
                        <a:cs typeface="Arial"/>
                      </a:endParaRPr>
                    </a:p>
                    <a:p>
                      <a:pPr marL="138430" algn="ctr">
                        <a:lnSpc>
                          <a:spcPct val="100000"/>
                        </a:lnSpc>
                        <a:spcBef>
                          <a:spcPts val="1565"/>
                        </a:spcBef>
                      </a:pPr>
                      <a:r>
                        <a:rPr lang="mr-IN" sz="2000" spc="-5" dirty="0">
                          <a:latin typeface="Arial"/>
                          <a:cs typeface="Arial"/>
                        </a:rPr>
                        <a:t>…</a:t>
                      </a:r>
                      <a:endParaRPr sz="2000" dirty="0">
                        <a:latin typeface="Arial"/>
                        <a:cs typeface="Arial"/>
                      </a:endParaRPr>
                    </a:p>
                  </a:txBody>
                  <a:tcPr marL="0" marR="0" marT="19875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20979" algn="ctr">
                        <a:lnSpc>
                          <a:spcPct val="100000"/>
                        </a:lnSpc>
                        <a:spcBef>
                          <a:spcPts val="1565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Mäeutik</a:t>
                      </a:r>
                      <a:endParaRPr lang="en-GB" sz="2000" spc="-5" dirty="0">
                        <a:latin typeface="Arial"/>
                        <a:cs typeface="Arial"/>
                      </a:endParaRPr>
                    </a:p>
                    <a:p>
                      <a:pPr marL="220979" algn="ctr">
                        <a:lnSpc>
                          <a:spcPct val="100000"/>
                        </a:lnSpc>
                        <a:spcBef>
                          <a:spcPts val="1565"/>
                        </a:spcBef>
                      </a:pPr>
                      <a:r>
                        <a:rPr lang="mr-IN" sz="2000" spc="-5" dirty="0">
                          <a:latin typeface="Arial"/>
                          <a:cs typeface="Arial"/>
                        </a:rPr>
                        <a:t>…</a:t>
                      </a:r>
                      <a:endParaRPr sz="2000" dirty="0">
                        <a:latin typeface="Arial"/>
                        <a:cs typeface="Arial"/>
                      </a:endParaRPr>
                    </a:p>
                  </a:txBody>
                  <a:tcPr marL="0" marR="0" marT="19875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17475" algn="ctr">
                        <a:lnSpc>
                          <a:spcPct val="100000"/>
                        </a:lnSpc>
                        <a:spcBef>
                          <a:spcPts val="156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2</a:t>
                      </a:r>
                      <a:endParaRPr lang="en-GB" sz="2000" dirty="0">
                        <a:latin typeface="Arial"/>
                        <a:cs typeface="Arial"/>
                      </a:endParaRPr>
                    </a:p>
                    <a:p>
                      <a:pPr marL="117475" algn="ctr">
                        <a:lnSpc>
                          <a:spcPct val="100000"/>
                        </a:lnSpc>
                        <a:spcBef>
                          <a:spcPts val="1565"/>
                        </a:spcBef>
                      </a:pPr>
                      <a:r>
                        <a:rPr lang="mr-IN" sz="2000" dirty="0">
                          <a:latin typeface="Arial"/>
                          <a:cs typeface="Arial"/>
                        </a:rPr>
                        <a:t>…</a:t>
                      </a:r>
                      <a:endParaRPr sz="2000" dirty="0">
                        <a:latin typeface="Arial"/>
                        <a:cs typeface="Arial"/>
                      </a:endParaRPr>
                    </a:p>
                  </a:txBody>
                  <a:tcPr marL="0" marR="0" marT="19875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8735" algn="ctr">
                        <a:lnSpc>
                          <a:spcPct val="100000"/>
                        </a:lnSpc>
                        <a:spcBef>
                          <a:spcPts val="1565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2125</a:t>
                      </a:r>
                      <a:endParaRPr lang="en-GB" sz="2000" spc="-5" dirty="0">
                        <a:latin typeface="Arial"/>
                        <a:cs typeface="Arial"/>
                      </a:endParaRPr>
                    </a:p>
                    <a:p>
                      <a:pPr marL="38735" algn="ctr">
                        <a:lnSpc>
                          <a:spcPct val="100000"/>
                        </a:lnSpc>
                        <a:spcBef>
                          <a:spcPts val="1565"/>
                        </a:spcBef>
                      </a:pPr>
                      <a:r>
                        <a:rPr lang="mr-IN" sz="2000" spc="-5" dirty="0">
                          <a:latin typeface="Arial"/>
                          <a:cs typeface="Arial"/>
                        </a:rPr>
                        <a:t>…</a:t>
                      </a:r>
                      <a:endParaRPr sz="2000" dirty="0">
                        <a:latin typeface="Arial"/>
                        <a:cs typeface="Arial"/>
                      </a:endParaRPr>
                    </a:p>
                  </a:txBody>
                  <a:tcPr marL="0" marR="0" marT="19875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7370"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1565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2126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19875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156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Russel</a:t>
                      </a:r>
                    </a:p>
                  </a:txBody>
                  <a:tcPr marL="0" marR="0" marT="19875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ct val="100000"/>
                        </a:lnSpc>
                        <a:spcBef>
                          <a:spcPts val="1565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C4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19875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565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232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19875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38430" algn="ctr">
                        <a:lnSpc>
                          <a:spcPct val="100000"/>
                        </a:lnSpc>
                        <a:spcBef>
                          <a:spcPts val="1565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5001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19875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20979" algn="ctr">
                        <a:lnSpc>
                          <a:spcPct val="100000"/>
                        </a:lnSpc>
                        <a:spcBef>
                          <a:spcPts val="1565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Grundzüge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19875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17475" algn="ctr">
                        <a:lnSpc>
                          <a:spcPct val="100000"/>
                        </a:lnSpc>
                        <a:spcBef>
                          <a:spcPts val="156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4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19875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8735" algn="ctr">
                        <a:lnSpc>
                          <a:spcPct val="100000"/>
                        </a:lnSpc>
                        <a:spcBef>
                          <a:spcPts val="1565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2137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19875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6260"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2126</a:t>
                      </a:r>
                      <a:endParaRPr lang="en-GB" sz="2000" spc="-5" dirty="0">
                        <a:latin typeface="Arial"/>
                        <a:cs typeface="Arial"/>
                      </a:endParaRPr>
                    </a:p>
                    <a:p>
                      <a:pPr marL="34290"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lang="mr-IN" sz="2000" spc="-5" dirty="0">
                          <a:latin typeface="Arial"/>
                          <a:cs typeface="Arial"/>
                        </a:rPr>
                        <a:t>…</a:t>
                      </a:r>
                      <a:endParaRPr sz="2000" dirty="0">
                        <a:latin typeface="Arial"/>
                        <a:cs typeface="Arial"/>
                      </a:endParaRPr>
                    </a:p>
                  </a:txBody>
                  <a:tcPr marL="0" marR="0" marT="1651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Russel</a:t>
                      </a:r>
                      <a:endParaRPr lang="en-GB" sz="2000" dirty="0">
                        <a:latin typeface="Arial"/>
                        <a:cs typeface="Arial"/>
                      </a:endParaRPr>
                    </a:p>
                    <a:p>
                      <a:pPr marL="34290"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lang="mr-IN" sz="2000" dirty="0">
                          <a:latin typeface="Arial"/>
                          <a:cs typeface="Arial"/>
                        </a:rPr>
                        <a:t>…</a:t>
                      </a:r>
                      <a:endParaRPr sz="2000" dirty="0">
                        <a:latin typeface="Arial"/>
                        <a:cs typeface="Arial"/>
                      </a:endParaRPr>
                    </a:p>
                  </a:txBody>
                  <a:tcPr marL="0" marR="0" marT="165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C4</a:t>
                      </a:r>
                      <a:endParaRPr lang="en-GB" sz="2000" spc="-5" dirty="0">
                        <a:latin typeface="Arial"/>
                        <a:cs typeface="Arial"/>
                      </a:endParaRPr>
                    </a:p>
                    <a:p>
                      <a:pPr marL="32384"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lang="mr-IN" sz="2000" spc="-5" dirty="0">
                          <a:latin typeface="Arial"/>
                          <a:cs typeface="Arial"/>
                        </a:rPr>
                        <a:t>…</a:t>
                      </a:r>
                      <a:endParaRPr sz="2000" dirty="0">
                        <a:latin typeface="Arial"/>
                        <a:cs typeface="Arial"/>
                      </a:endParaRPr>
                    </a:p>
                  </a:txBody>
                  <a:tcPr marL="0" marR="0" marT="165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232</a:t>
                      </a:r>
                      <a:endParaRPr lang="en-GB" sz="2000" spc="-5" dirty="0">
                        <a:latin typeface="Arial"/>
                        <a:cs typeface="Arial"/>
                      </a:endParaRPr>
                    </a:p>
                    <a:p>
                      <a:pPr marL="34925"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lang="mr-IN" sz="2000" spc="-5" dirty="0">
                          <a:latin typeface="Arial"/>
                          <a:cs typeface="Arial"/>
                        </a:rPr>
                        <a:t>…</a:t>
                      </a:r>
                      <a:endParaRPr sz="2000" dirty="0">
                        <a:latin typeface="Arial"/>
                        <a:cs typeface="Arial"/>
                      </a:endParaRPr>
                    </a:p>
                  </a:txBody>
                  <a:tcPr marL="0" marR="0" marT="165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38430"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5041</a:t>
                      </a:r>
                      <a:endParaRPr lang="en-GB" sz="2000" spc="-5" dirty="0">
                        <a:latin typeface="Arial"/>
                        <a:cs typeface="Arial"/>
                      </a:endParaRPr>
                    </a:p>
                    <a:p>
                      <a:pPr marL="138430"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lang="mr-IN" sz="2000" spc="-5" dirty="0">
                          <a:latin typeface="Arial"/>
                          <a:cs typeface="Arial"/>
                        </a:rPr>
                        <a:t>…</a:t>
                      </a:r>
                      <a:endParaRPr sz="2000" dirty="0">
                        <a:latin typeface="Arial"/>
                        <a:cs typeface="Arial"/>
                      </a:endParaRPr>
                    </a:p>
                  </a:txBody>
                  <a:tcPr marL="0" marR="0" marT="165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20345"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Ethik</a:t>
                      </a:r>
                      <a:endParaRPr lang="en-GB" sz="2000" spc="-5" dirty="0">
                        <a:latin typeface="Arial"/>
                        <a:cs typeface="Arial"/>
                      </a:endParaRPr>
                    </a:p>
                    <a:p>
                      <a:pPr marL="220345"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lang="mr-IN" sz="2000" spc="-5" dirty="0">
                          <a:latin typeface="Arial"/>
                          <a:cs typeface="Arial"/>
                        </a:rPr>
                        <a:t>…</a:t>
                      </a:r>
                      <a:endParaRPr sz="2000" dirty="0">
                        <a:latin typeface="Arial"/>
                        <a:cs typeface="Arial"/>
                      </a:endParaRPr>
                    </a:p>
                  </a:txBody>
                  <a:tcPr marL="0" marR="0" marT="165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17475"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4</a:t>
                      </a:r>
                      <a:endParaRPr lang="en-GB" sz="2000" dirty="0">
                        <a:latin typeface="Arial"/>
                        <a:cs typeface="Arial"/>
                      </a:endParaRPr>
                    </a:p>
                    <a:p>
                      <a:pPr marL="117475"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lang="mr-IN" sz="2000" dirty="0">
                          <a:latin typeface="Arial"/>
                          <a:cs typeface="Arial"/>
                        </a:rPr>
                        <a:t>…</a:t>
                      </a:r>
                      <a:endParaRPr sz="2000" dirty="0">
                        <a:latin typeface="Arial"/>
                        <a:cs typeface="Arial"/>
                      </a:endParaRPr>
                    </a:p>
                  </a:txBody>
                  <a:tcPr marL="0" marR="0" marT="165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8735"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2125</a:t>
                      </a:r>
                      <a:endParaRPr lang="en-GB" sz="2000" spc="-5" dirty="0">
                        <a:latin typeface="Arial"/>
                        <a:cs typeface="Arial"/>
                      </a:endParaRPr>
                    </a:p>
                    <a:p>
                      <a:pPr marL="38735"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lang="mr-IN" sz="2000" spc="-5" dirty="0">
                          <a:latin typeface="Arial"/>
                          <a:cs typeface="Arial"/>
                        </a:rPr>
                        <a:t>…</a:t>
                      </a:r>
                      <a:endParaRPr sz="2000" dirty="0">
                        <a:latin typeface="Arial"/>
                        <a:cs typeface="Arial"/>
                      </a:endParaRPr>
                    </a:p>
                  </a:txBody>
                  <a:tcPr marL="0" marR="0" marT="165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7050"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1635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2137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20764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163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Kant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20764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ct val="100000"/>
                        </a:lnSpc>
                        <a:spcBef>
                          <a:spcPts val="1635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C4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20764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63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7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20764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8430" algn="ctr">
                        <a:lnSpc>
                          <a:spcPct val="100000"/>
                        </a:lnSpc>
                        <a:spcBef>
                          <a:spcPts val="1635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4630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20764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3040" algn="ctr">
                        <a:lnSpc>
                          <a:spcPct val="100000"/>
                        </a:lnSpc>
                        <a:spcBef>
                          <a:spcPts val="163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Die 3</a:t>
                      </a:r>
                      <a:r>
                        <a:rPr sz="2000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spc="-5" dirty="0">
                          <a:latin typeface="Arial"/>
                          <a:cs typeface="Arial"/>
                        </a:rPr>
                        <a:t>Kritiken</a:t>
                      </a:r>
                      <a:endParaRPr sz="2000" dirty="0">
                        <a:latin typeface="Arial"/>
                        <a:cs typeface="Arial"/>
                      </a:endParaRPr>
                    </a:p>
                  </a:txBody>
                  <a:tcPr marL="0" marR="0" marT="20764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7475" algn="ctr">
                        <a:lnSpc>
                          <a:spcPct val="100000"/>
                        </a:lnSpc>
                        <a:spcBef>
                          <a:spcPts val="163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4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20764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735" algn="ctr">
                        <a:lnSpc>
                          <a:spcPct val="100000"/>
                        </a:lnSpc>
                        <a:spcBef>
                          <a:spcPts val="1635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2137</a:t>
                      </a:r>
                      <a:endParaRPr sz="2000" dirty="0">
                        <a:latin typeface="Arial"/>
                        <a:cs typeface="Arial"/>
                      </a:endParaRPr>
                    </a:p>
                  </a:txBody>
                  <a:tcPr marL="0" marR="0" marT="20764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20" name="object 28">
            <a:extLst>
              <a:ext uri="{FF2B5EF4-FFF2-40B4-BE49-F238E27FC236}">
                <a16:creationId xmlns:a16="http://schemas.microsoft.com/office/drawing/2014/main" id="{F06BEC3C-3A8A-2FA4-7A2F-B6EB38830E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0922247"/>
              </p:ext>
            </p:extLst>
          </p:nvPr>
        </p:nvGraphicFramePr>
        <p:xfrm>
          <a:off x="1231900" y="5148581"/>
          <a:ext cx="8839200" cy="1005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355600" marR="2540" indent="-311150">
                        <a:lnSpc>
                          <a:spcPts val="2100"/>
                        </a:lnSpc>
                        <a:spcBef>
                          <a:spcPts val="48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PersN  r</a:t>
                      </a:r>
                    </a:p>
                  </a:txBody>
                  <a:tcPr marL="0" marR="0" marT="6096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Name</a:t>
                      </a: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Rang</a:t>
                      </a: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Raum</a:t>
                      </a: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spc="-20" dirty="0">
                          <a:latin typeface="Arial"/>
                          <a:cs typeface="Arial"/>
                        </a:rPr>
                        <a:t>VorlNr</a:t>
                      </a:r>
                      <a:endParaRPr sz="2000" dirty="0">
                        <a:latin typeface="Arial"/>
                        <a:cs typeface="Arial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spc="-20" dirty="0">
                          <a:latin typeface="Arial"/>
                          <a:cs typeface="Arial"/>
                        </a:rPr>
                        <a:t>Titel</a:t>
                      </a:r>
                      <a:endParaRPr sz="2000" dirty="0">
                        <a:latin typeface="Arial"/>
                        <a:cs typeface="Arial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SWS</a:t>
                      </a:r>
                      <a:endParaRPr sz="2000" dirty="0">
                        <a:latin typeface="Arial"/>
                        <a:cs typeface="Arial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483870" marR="250825" indent="-261620">
                        <a:lnSpc>
                          <a:spcPts val="2100"/>
                        </a:lnSpc>
                        <a:spcBef>
                          <a:spcPts val="48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gelesen  </a:t>
                      </a:r>
                      <a:r>
                        <a:rPr sz="2000" spc="-40" dirty="0">
                          <a:latin typeface="Arial"/>
                          <a:cs typeface="Arial"/>
                        </a:rPr>
                        <a:t>Von</a:t>
                      </a:r>
                      <a:endParaRPr sz="2000" dirty="0">
                        <a:latin typeface="Arial"/>
                        <a:cs typeface="Arial"/>
                      </a:endParaRPr>
                    </a:p>
                  </a:txBody>
                  <a:tcPr marL="0" marR="0" marT="609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115570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2125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2032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Sokrates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C4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226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5049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Mäeutik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2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0370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2125</a:t>
                      </a: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1" name="object 29">
            <a:extLst>
              <a:ext uri="{FF2B5EF4-FFF2-40B4-BE49-F238E27FC236}">
                <a16:creationId xmlns:a16="http://schemas.microsoft.com/office/drawing/2014/main" id="{2DC851EC-744B-DE5E-B1E6-5E2BAFD05E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6813566"/>
              </p:ext>
            </p:extLst>
          </p:nvPr>
        </p:nvGraphicFramePr>
        <p:xfrm>
          <a:off x="4340199" y="6704330"/>
          <a:ext cx="2362200" cy="731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spc="-5" dirty="0">
                          <a:latin typeface="Tahoma"/>
                          <a:cs typeface="Tahoma"/>
                        </a:rPr>
                        <a:t>Name</a:t>
                      </a:r>
                      <a:endParaRPr sz="2000" dirty="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Titel</a:t>
                      </a: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spc="-5" dirty="0">
                          <a:latin typeface="Tahoma"/>
                          <a:cs typeface="Tahoma"/>
                        </a:rPr>
                        <a:t>Sokrates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spc="-5" dirty="0">
                          <a:latin typeface="Tahoma"/>
                          <a:cs typeface="Tahoma"/>
                        </a:rPr>
                        <a:t>Mäeutik</a:t>
                      </a:r>
                      <a:endParaRPr sz="2000" dirty="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2" name="object 30">
            <a:extLst>
              <a:ext uri="{FF2B5EF4-FFF2-40B4-BE49-F238E27FC236}">
                <a16:creationId xmlns:a16="http://schemas.microsoft.com/office/drawing/2014/main" id="{4BF9507D-199F-C607-0C08-6BBC9BF89103}"/>
              </a:ext>
            </a:extLst>
          </p:cNvPr>
          <p:cNvSpPr txBox="1"/>
          <p:nvPr/>
        </p:nvSpPr>
        <p:spPr>
          <a:xfrm>
            <a:off x="4855923" y="4692650"/>
            <a:ext cx="11360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Tahoma"/>
                <a:cs typeface="Tahoma"/>
              </a:rPr>
              <a:t>A</a:t>
            </a:r>
            <a:r>
              <a:rPr sz="2400" spc="-5" dirty="0">
                <a:latin typeface="Tahoma"/>
                <a:cs typeface="Tahoma"/>
              </a:rPr>
              <a:t>u</a:t>
            </a:r>
            <a:r>
              <a:rPr sz="2400" dirty="0">
                <a:latin typeface="Tahoma"/>
                <a:cs typeface="Tahoma"/>
              </a:rPr>
              <a:t>s</a:t>
            </a:r>
            <a:r>
              <a:rPr sz="2400" spc="-25" dirty="0">
                <a:latin typeface="Tahoma"/>
                <a:cs typeface="Tahoma"/>
              </a:rPr>
              <a:t>w</a:t>
            </a:r>
            <a:r>
              <a:rPr sz="2400" spc="-5" dirty="0">
                <a:latin typeface="Tahoma"/>
                <a:cs typeface="Tahoma"/>
              </a:rPr>
              <a:t>ahl</a:t>
            </a:r>
            <a:endParaRPr sz="2400" dirty="0">
              <a:latin typeface="Tahoma"/>
              <a:cs typeface="Tahoma"/>
            </a:endParaRPr>
          </a:p>
        </p:txBody>
      </p:sp>
      <p:sp>
        <p:nvSpPr>
          <p:cNvPr id="23" name="object 33">
            <a:extLst>
              <a:ext uri="{FF2B5EF4-FFF2-40B4-BE49-F238E27FC236}">
                <a16:creationId xmlns:a16="http://schemas.microsoft.com/office/drawing/2014/main" id="{49CCA224-4593-7D13-77D8-D21DC5CB8AC7}"/>
              </a:ext>
            </a:extLst>
          </p:cNvPr>
          <p:cNvSpPr txBox="1"/>
          <p:nvPr/>
        </p:nvSpPr>
        <p:spPr>
          <a:xfrm>
            <a:off x="4944010" y="6186488"/>
            <a:ext cx="13728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Projektion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4" name="object 34">
            <a:extLst>
              <a:ext uri="{FF2B5EF4-FFF2-40B4-BE49-F238E27FC236}">
                <a16:creationId xmlns:a16="http://schemas.microsoft.com/office/drawing/2014/main" id="{21F6F0C3-E26A-0622-E94B-02B2F224B487}"/>
              </a:ext>
            </a:extLst>
          </p:cNvPr>
          <p:cNvSpPr/>
          <p:nvPr/>
        </p:nvSpPr>
        <p:spPr>
          <a:xfrm>
            <a:off x="4751391" y="6229668"/>
            <a:ext cx="0" cy="279400"/>
          </a:xfrm>
          <a:custGeom>
            <a:avLst/>
            <a:gdLst/>
            <a:ahLst/>
            <a:cxnLst/>
            <a:rect l="l" t="t" r="r" b="b"/>
            <a:pathLst>
              <a:path h="279400">
                <a:moveTo>
                  <a:pt x="0" y="0"/>
                </a:moveTo>
                <a:lnTo>
                  <a:pt x="0" y="279399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35">
            <a:extLst>
              <a:ext uri="{FF2B5EF4-FFF2-40B4-BE49-F238E27FC236}">
                <a16:creationId xmlns:a16="http://schemas.microsoft.com/office/drawing/2014/main" id="{944411C6-A9E2-2669-7876-79E1FB84B8BA}"/>
              </a:ext>
            </a:extLst>
          </p:cNvPr>
          <p:cNvSpPr/>
          <p:nvPr/>
        </p:nvSpPr>
        <p:spPr>
          <a:xfrm>
            <a:off x="4713291" y="6458268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76200" y="0"/>
                </a:moveTo>
                <a:lnTo>
                  <a:pt x="0" y="0"/>
                </a:ln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34">
            <a:extLst>
              <a:ext uri="{FF2B5EF4-FFF2-40B4-BE49-F238E27FC236}">
                <a16:creationId xmlns:a16="http://schemas.microsoft.com/office/drawing/2014/main" id="{62D8FF40-A00E-9F40-3E9D-6E8EB97EEAD2}"/>
              </a:ext>
            </a:extLst>
          </p:cNvPr>
          <p:cNvSpPr/>
          <p:nvPr/>
        </p:nvSpPr>
        <p:spPr>
          <a:xfrm>
            <a:off x="4699000" y="4692650"/>
            <a:ext cx="0" cy="279400"/>
          </a:xfrm>
          <a:custGeom>
            <a:avLst/>
            <a:gdLst/>
            <a:ahLst/>
            <a:cxnLst/>
            <a:rect l="l" t="t" r="r" b="b"/>
            <a:pathLst>
              <a:path h="279400">
                <a:moveTo>
                  <a:pt x="0" y="0"/>
                </a:moveTo>
                <a:lnTo>
                  <a:pt x="0" y="279399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35">
            <a:extLst>
              <a:ext uri="{FF2B5EF4-FFF2-40B4-BE49-F238E27FC236}">
                <a16:creationId xmlns:a16="http://schemas.microsoft.com/office/drawing/2014/main" id="{3D4EE71C-294E-62D6-649C-56FEE1BA0F37}"/>
              </a:ext>
            </a:extLst>
          </p:cNvPr>
          <p:cNvSpPr/>
          <p:nvPr/>
        </p:nvSpPr>
        <p:spPr>
          <a:xfrm>
            <a:off x="4660900" y="49212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76200" y="0"/>
                </a:moveTo>
                <a:lnTo>
                  <a:pt x="0" y="0"/>
                </a:ln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518988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385223" y="1863725"/>
            <a:ext cx="3162300" cy="111506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5080">
              <a:lnSpc>
                <a:spcPct val="99000"/>
              </a:lnSpc>
              <a:spcBef>
                <a:spcPts val="125"/>
              </a:spcBef>
            </a:pPr>
            <a:r>
              <a:rPr sz="2400" spc="-5" dirty="0">
                <a:latin typeface="Tahoma"/>
                <a:cs typeface="Tahoma"/>
              </a:rPr>
              <a:t>Allgemein </a:t>
            </a:r>
            <a:r>
              <a:rPr sz="2400" dirty="0">
                <a:latin typeface="Tahoma"/>
                <a:cs typeface="Tahoma"/>
              </a:rPr>
              <a:t>hat eine  (ungeschachtelte)</a:t>
            </a:r>
            <a:r>
              <a:rPr sz="2400" spc="-85" dirty="0">
                <a:latin typeface="Tahoma"/>
                <a:cs typeface="Tahoma"/>
              </a:rPr>
              <a:t> </a:t>
            </a:r>
            <a:r>
              <a:rPr sz="2400" spc="-50" dirty="0">
                <a:latin typeface="Tahoma"/>
                <a:cs typeface="Tahoma"/>
              </a:rPr>
              <a:t>SQL-  </a:t>
            </a:r>
            <a:r>
              <a:rPr sz="2400" spc="-10" dirty="0">
                <a:latin typeface="Tahoma"/>
                <a:cs typeface="Tahoma"/>
              </a:rPr>
              <a:t>Anfrage </a:t>
            </a:r>
            <a:r>
              <a:rPr sz="2400" spc="-5" dirty="0">
                <a:latin typeface="Tahoma"/>
                <a:cs typeface="Tahoma"/>
              </a:rPr>
              <a:t>die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spc="-15" dirty="0">
                <a:latin typeface="Tahoma"/>
                <a:cs typeface="Tahoma"/>
              </a:rPr>
              <a:t>Form: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85223" y="4039841"/>
            <a:ext cx="2235200" cy="1689100"/>
          </a:xfrm>
          <a:prstGeom prst="rect">
            <a:avLst/>
          </a:prstGeom>
        </p:spPr>
        <p:txBody>
          <a:bodyPr vert="horz" wrap="square" lIns="0" tIns="1974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5"/>
              </a:spcBef>
            </a:pPr>
            <a:r>
              <a:rPr sz="2400" b="1" spc="-5" dirty="0">
                <a:latin typeface="Tahoma"/>
                <a:cs typeface="Tahoma"/>
              </a:rPr>
              <a:t>select </a:t>
            </a:r>
            <a:r>
              <a:rPr sz="2450" i="1" spc="-15" dirty="0">
                <a:latin typeface="Tahoma"/>
                <a:cs typeface="Tahoma"/>
              </a:rPr>
              <a:t>A</a:t>
            </a:r>
            <a:r>
              <a:rPr sz="2400" spc="-22" baseline="-20833" dirty="0">
                <a:latin typeface="Tahoma"/>
                <a:cs typeface="Tahoma"/>
              </a:rPr>
              <a:t>1</a:t>
            </a:r>
            <a:r>
              <a:rPr sz="2400" spc="-15" dirty="0">
                <a:latin typeface="Tahoma"/>
                <a:cs typeface="Tahoma"/>
              </a:rPr>
              <a:t>, </a:t>
            </a:r>
            <a:r>
              <a:rPr sz="2400" spc="-45" dirty="0">
                <a:latin typeface="Tahoma"/>
                <a:cs typeface="Tahoma"/>
              </a:rPr>
              <a:t>...,</a:t>
            </a:r>
            <a:r>
              <a:rPr sz="2400" spc="-55" dirty="0">
                <a:latin typeface="Tahoma"/>
                <a:cs typeface="Tahoma"/>
              </a:rPr>
              <a:t> </a:t>
            </a:r>
            <a:r>
              <a:rPr sz="2450" i="1" spc="-30" dirty="0">
                <a:latin typeface="Tahoma"/>
                <a:cs typeface="Tahoma"/>
              </a:rPr>
              <a:t>A</a:t>
            </a:r>
            <a:r>
              <a:rPr sz="2475" i="1" spc="-44" baseline="-20202" dirty="0">
                <a:latin typeface="Tahoma"/>
                <a:cs typeface="Tahoma"/>
              </a:rPr>
              <a:t>n</a:t>
            </a:r>
            <a:endParaRPr sz="2475" baseline="-20202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460"/>
              </a:spcBef>
            </a:pPr>
            <a:r>
              <a:rPr sz="2400" b="1" spc="-5" dirty="0">
                <a:latin typeface="Tahoma"/>
                <a:cs typeface="Tahoma"/>
              </a:rPr>
              <a:t>from </a:t>
            </a:r>
            <a:r>
              <a:rPr sz="2450" i="1" spc="-30" dirty="0">
                <a:latin typeface="Tahoma"/>
                <a:cs typeface="Tahoma"/>
              </a:rPr>
              <a:t>R</a:t>
            </a:r>
            <a:r>
              <a:rPr sz="2475" i="1" spc="-44" baseline="-20202" dirty="0">
                <a:latin typeface="Tahoma"/>
                <a:cs typeface="Tahoma"/>
              </a:rPr>
              <a:t>1</a:t>
            </a:r>
            <a:r>
              <a:rPr sz="2450" i="1" spc="-30" dirty="0">
                <a:latin typeface="Tahoma"/>
                <a:cs typeface="Tahoma"/>
              </a:rPr>
              <a:t>, </a:t>
            </a:r>
            <a:r>
              <a:rPr sz="2450" i="1" spc="-60" dirty="0">
                <a:latin typeface="Tahoma"/>
                <a:cs typeface="Tahoma"/>
              </a:rPr>
              <a:t>...,</a:t>
            </a:r>
            <a:r>
              <a:rPr sz="2450" i="1" spc="-35" dirty="0">
                <a:latin typeface="Tahoma"/>
                <a:cs typeface="Tahoma"/>
              </a:rPr>
              <a:t> R</a:t>
            </a:r>
            <a:r>
              <a:rPr sz="2475" i="1" spc="-52" baseline="-20202" dirty="0">
                <a:latin typeface="Tahoma"/>
                <a:cs typeface="Tahoma"/>
              </a:rPr>
              <a:t>k</a:t>
            </a:r>
            <a:endParaRPr sz="2475" baseline="-20202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360"/>
              </a:spcBef>
            </a:pPr>
            <a:r>
              <a:rPr sz="2400" b="1" spc="-5" dirty="0">
                <a:latin typeface="Tahoma"/>
                <a:cs typeface="Tahoma"/>
              </a:rPr>
              <a:t>where</a:t>
            </a:r>
            <a:r>
              <a:rPr sz="2400" b="1" spc="35" dirty="0">
                <a:latin typeface="Tahoma"/>
                <a:cs typeface="Tahoma"/>
              </a:rPr>
              <a:t> </a:t>
            </a:r>
            <a:r>
              <a:rPr sz="2450" i="1" spc="-25" dirty="0">
                <a:latin typeface="Tahoma"/>
                <a:cs typeface="Tahoma"/>
              </a:rPr>
              <a:t>P;</a:t>
            </a:r>
            <a:endParaRPr sz="245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935886" y="3659505"/>
            <a:ext cx="0" cy="381000"/>
          </a:xfrm>
          <a:custGeom>
            <a:avLst/>
            <a:gdLst/>
            <a:ahLst/>
            <a:cxnLst/>
            <a:rect l="l" t="t" r="r" b="b"/>
            <a:pathLst>
              <a:path h="381000">
                <a:moveTo>
                  <a:pt x="0" y="0"/>
                </a:moveTo>
                <a:lnTo>
                  <a:pt x="0" y="380999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935886" y="4497705"/>
            <a:ext cx="0" cy="304800"/>
          </a:xfrm>
          <a:custGeom>
            <a:avLst/>
            <a:gdLst/>
            <a:ahLst/>
            <a:cxnLst/>
            <a:rect l="l" t="t" r="r" b="b"/>
            <a:pathLst>
              <a:path h="304800">
                <a:moveTo>
                  <a:pt x="0" y="0"/>
                </a:moveTo>
                <a:lnTo>
                  <a:pt x="0" y="304799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631247" y="5183505"/>
            <a:ext cx="289560" cy="381000"/>
          </a:xfrm>
          <a:custGeom>
            <a:avLst/>
            <a:gdLst/>
            <a:ahLst/>
            <a:cxnLst/>
            <a:rect l="l" t="t" r="r" b="b"/>
            <a:pathLst>
              <a:path w="289559" h="381000">
                <a:moveTo>
                  <a:pt x="289094" y="0"/>
                </a:moveTo>
                <a:lnTo>
                  <a:pt x="0" y="380999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064893" y="5183505"/>
            <a:ext cx="289560" cy="381000"/>
          </a:xfrm>
          <a:custGeom>
            <a:avLst/>
            <a:gdLst/>
            <a:ahLst/>
            <a:cxnLst/>
            <a:rect l="l" t="t" r="r" b="b"/>
            <a:pathLst>
              <a:path w="289559" h="381000">
                <a:moveTo>
                  <a:pt x="0" y="0"/>
                </a:moveTo>
                <a:lnTo>
                  <a:pt x="289094" y="380999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607274" y="5869305"/>
            <a:ext cx="288925" cy="381000"/>
          </a:xfrm>
          <a:custGeom>
            <a:avLst/>
            <a:gdLst/>
            <a:ahLst/>
            <a:cxnLst/>
            <a:rect l="l" t="t" r="r" b="b"/>
            <a:pathLst>
              <a:path w="288925" h="381000">
                <a:moveTo>
                  <a:pt x="0" y="0"/>
                </a:moveTo>
                <a:lnTo>
                  <a:pt x="288925" y="380999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097687" y="5869305"/>
            <a:ext cx="304800" cy="381000"/>
          </a:xfrm>
          <a:custGeom>
            <a:avLst/>
            <a:gdLst/>
            <a:ahLst/>
            <a:cxnLst/>
            <a:rect l="l" t="t" r="r" b="b"/>
            <a:pathLst>
              <a:path w="304800" h="381000">
                <a:moveTo>
                  <a:pt x="304799" y="0"/>
                </a:moveTo>
                <a:lnTo>
                  <a:pt x="0" y="380999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150074" y="6569392"/>
            <a:ext cx="288925" cy="381000"/>
          </a:xfrm>
          <a:custGeom>
            <a:avLst/>
            <a:gdLst/>
            <a:ahLst/>
            <a:cxnLst/>
            <a:rect l="l" t="t" r="r" b="b"/>
            <a:pathLst>
              <a:path w="288925" h="381000">
                <a:moveTo>
                  <a:pt x="0" y="0"/>
                </a:moveTo>
                <a:lnTo>
                  <a:pt x="288924" y="380999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716687" y="6555104"/>
            <a:ext cx="304800" cy="381000"/>
          </a:xfrm>
          <a:custGeom>
            <a:avLst/>
            <a:gdLst/>
            <a:ahLst/>
            <a:cxnLst/>
            <a:rect l="l" t="t" r="r" b="b"/>
            <a:pathLst>
              <a:path w="304800" h="381000">
                <a:moveTo>
                  <a:pt x="304799" y="0"/>
                </a:moveTo>
                <a:lnTo>
                  <a:pt x="0" y="380999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6490627" y="6892924"/>
            <a:ext cx="36131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i="1" dirty="0">
                <a:latin typeface="Times New Roman"/>
                <a:cs typeface="Times New Roman"/>
              </a:rPr>
              <a:t>R</a:t>
            </a:r>
            <a:r>
              <a:rPr sz="2775" i="1" spc="7" baseline="-21021" dirty="0">
                <a:latin typeface="Times New Roman"/>
                <a:cs typeface="Times New Roman"/>
              </a:rPr>
              <a:t>1</a:t>
            </a:r>
            <a:endParaRPr sz="2775" baseline="-21021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423827" y="1879600"/>
            <a:ext cx="4334510" cy="548005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" marR="313055">
              <a:lnSpc>
                <a:spcPts val="2800"/>
              </a:lnSpc>
              <a:spcBef>
                <a:spcPts val="260"/>
              </a:spcBef>
            </a:pPr>
            <a:r>
              <a:rPr sz="2400" spc="-5" dirty="0">
                <a:latin typeface="Tahoma"/>
                <a:cs typeface="Tahoma"/>
              </a:rPr>
              <a:t>Übersetzung in die relationale  </a:t>
            </a:r>
            <a:r>
              <a:rPr sz="2400" spc="-10" dirty="0">
                <a:latin typeface="Tahoma"/>
                <a:cs typeface="Tahoma"/>
              </a:rPr>
              <a:t>Algebra:</a:t>
            </a:r>
            <a:endParaRPr sz="2400">
              <a:latin typeface="Tahoma"/>
              <a:cs typeface="Tahoma"/>
            </a:endParaRPr>
          </a:p>
          <a:p>
            <a:pPr marL="533400" algn="ctr">
              <a:lnSpc>
                <a:spcPct val="100000"/>
              </a:lnSpc>
              <a:spcBef>
                <a:spcPts val="365"/>
              </a:spcBef>
            </a:pPr>
            <a:r>
              <a:rPr sz="2800" dirty="0">
                <a:latin typeface="Symbol"/>
                <a:cs typeface="Symbol"/>
              </a:rPr>
              <a:t>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400" i="1" baseline="-20833" dirty="0">
                <a:latin typeface="Times New Roman"/>
                <a:cs typeface="Times New Roman"/>
              </a:rPr>
              <a:t>A</a:t>
            </a:r>
            <a:r>
              <a:rPr sz="2400" baseline="-20833" dirty="0">
                <a:latin typeface="Times New Roman"/>
                <a:cs typeface="Times New Roman"/>
              </a:rPr>
              <a:t>1, ..., </a:t>
            </a:r>
            <a:r>
              <a:rPr sz="2400" i="1" spc="-7" baseline="-20833" dirty="0">
                <a:latin typeface="Times New Roman"/>
                <a:cs typeface="Times New Roman"/>
              </a:rPr>
              <a:t>An</a:t>
            </a:r>
            <a:r>
              <a:rPr sz="2800" i="1" spc="-5" dirty="0">
                <a:latin typeface="Times New Roman"/>
                <a:cs typeface="Times New Roman"/>
              </a:rPr>
              <a:t>(</a:t>
            </a:r>
            <a:r>
              <a:rPr sz="2850" i="1" spc="-5" dirty="0">
                <a:latin typeface="Symbol"/>
                <a:cs typeface="Symbol"/>
              </a:rPr>
              <a:t></a:t>
            </a:r>
            <a:r>
              <a:rPr sz="2775" i="1" spc="-7" baseline="-21021" dirty="0">
                <a:latin typeface="Times New Roman"/>
                <a:cs typeface="Times New Roman"/>
              </a:rPr>
              <a:t>P </a:t>
            </a:r>
            <a:r>
              <a:rPr sz="2800" i="1" dirty="0">
                <a:latin typeface="Times New Roman"/>
                <a:cs typeface="Times New Roman"/>
              </a:rPr>
              <a:t>(R</a:t>
            </a:r>
            <a:r>
              <a:rPr sz="2775" i="1" baseline="-21021" dirty="0">
                <a:latin typeface="Times New Roman"/>
                <a:cs typeface="Times New Roman"/>
              </a:rPr>
              <a:t>1 </a:t>
            </a:r>
            <a:r>
              <a:rPr sz="2800" dirty="0">
                <a:latin typeface="Tahoma"/>
                <a:cs typeface="Tahoma"/>
              </a:rPr>
              <a:t>x </a:t>
            </a:r>
            <a:r>
              <a:rPr sz="2800" dirty="0">
                <a:latin typeface="Times New Roman"/>
                <a:cs typeface="Times New Roman"/>
              </a:rPr>
              <a:t>... </a:t>
            </a:r>
            <a:r>
              <a:rPr sz="2800" dirty="0">
                <a:latin typeface="Tahoma"/>
                <a:cs typeface="Tahoma"/>
              </a:rPr>
              <a:t>x</a:t>
            </a:r>
            <a:r>
              <a:rPr sz="2800" spc="-560" dirty="0">
                <a:latin typeface="Tahoma"/>
                <a:cs typeface="Tahoma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R</a:t>
            </a:r>
            <a:r>
              <a:rPr sz="2775" i="1" baseline="-21021" dirty="0">
                <a:latin typeface="Times New Roman"/>
                <a:cs typeface="Times New Roman"/>
              </a:rPr>
              <a:t>k </a:t>
            </a:r>
            <a:r>
              <a:rPr sz="2800" i="1" dirty="0">
                <a:latin typeface="Times New Roman"/>
                <a:cs typeface="Times New Roman"/>
              </a:rPr>
              <a:t>))</a:t>
            </a:r>
            <a:endParaRPr sz="2800">
              <a:latin typeface="Times New Roman"/>
              <a:cs typeface="Times New Roman"/>
            </a:endParaRPr>
          </a:p>
          <a:p>
            <a:pPr marL="625475" algn="ctr">
              <a:lnSpc>
                <a:spcPct val="100000"/>
              </a:lnSpc>
              <a:spcBef>
                <a:spcPts val="1005"/>
              </a:spcBef>
            </a:pPr>
            <a:r>
              <a:rPr sz="4200" baseline="11904" dirty="0">
                <a:latin typeface="Symbol"/>
                <a:cs typeface="Symbol"/>
              </a:rPr>
              <a:t></a:t>
            </a:r>
            <a:r>
              <a:rPr sz="4200" baseline="11904" dirty="0">
                <a:latin typeface="Times New Roman"/>
                <a:cs typeface="Times New Roman"/>
              </a:rPr>
              <a:t> </a:t>
            </a:r>
            <a:r>
              <a:rPr sz="1600" i="1" dirty="0">
                <a:latin typeface="Times New Roman"/>
                <a:cs typeface="Times New Roman"/>
              </a:rPr>
              <a:t>A</a:t>
            </a:r>
            <a:r>
              <a:rPr sz="1600" dirty="0">
                <a:latin typeface="Times New Roman"/>
                <a:cs typeface="Times New Roman"/>
              </a:rPr>
              <a:t>1, ...,</a:t>
            </a:r>
            <a:r>
              <a:rPr sz="1600" spc="-114" dirty="0">
                <a:latin typeface="Times New Roman"/>
                <a:cs typeface="Times New Roman"/>
              </a:rPr>
              <a:t> </a:t>
            </a:r>
            <a:r>
              <a:rPr sz="1600" i="1" spc="-5" dirty="0">
                <a:latin typeface="Times New Roman"/>
                <a:cs typeface="Times New Roman"/>
              </a:rPr>
              <a:t>An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450">
              <a:latin typeface="Times New Roman"/>
              <a:cs typeface="Times New Roman"/>
            </a:endParaRPr>
          </a:p>
          <a:p>
            <a:pPr marL="774700" algn="ctr">
              <a:lnSpc>
                <a:spcPct val="100000"/>
              </a:lnSpc>
            </a:pPr>
            <a:r>
              <a:rPr sz="2850" i="1" spc="-10" dirty="0">
                <a:latin typeface="Symbol"/>
                <a:cs typeface="Symbol"/>
              </a:rPr>
              <a:t></a:t>
            </a:r>
            <a:r>
              <a:rPr sz="2775" i="1" spc="-15" baseline="-21021" dirty="0">
                <a:latin typeface="Times New Roman"/>
                <a:cs typeface="Times New Roman"/>
              </a:rPr>
              <a:t>P</a:t>
            </a:r>
            <a:endParaRPr sz="2775" baseline="-21021">
              <a:latin typeface="Times New Roman"/>
              <a:cs typeface="Times New Roman"/>
            </a:endParaRPr>
          </a:p>
          <a:p>
            <a:pPr marL="743585" algn="ctr">
              <a:lnSpc>
                <a:spcPct val="100000"/>
              </a:lnSpc>
              <a:spcBef>
                <a:spcPts val="2515"/>
              </a:spcBef>
            </a:pPr>
            <a:r>
              <a:rPr sz="2800" dirty="0">
                <a:latin typeface="Tahoma"/>
                <a:cs typeface="Tahoma"/>
              </a:rPr>
              <a:t>x</a:t>
            </a:r>
            <a:endParaRPr sz="2800">
              <a:latin typeface="Tahoma"/>
              <a:cs typeface="Tahoma"/>
            </a:endParaRPr>
          </a:p>
          <a:p>
            <a:pPr marL="2009775">
              <a:lnSpc>
                <a:spcPct val="100000"/>
              </a:lnSpc>
              <a:spcBef>
                <a:spcPts val="2039"/>
              </a:spcBef>
              <a:tabLst>
                <a:tab pos="2933700" algn="l"/>
              </a:tabLst>
            </a:pPr>
            <a:r>
              <a:rPr sz="2800" dirty="0">
                <a:latin typeface="Tahoma"/>
                <a:cs typeface="Tahoma"/>
              </a:rPr>
              <a:t>x	</a:t>
            </a:r>
            <a:r>
              <a:rPr sz="2800" i="1" dirty="0">
                <a:latin typeface="Times New Roman"/>
                <a:cs typeface="Times New Roman"/>
              </a:rPr>
              <a:t>R</a:t>
            </a:r>
            <a:r>
              <a:rPr sz="2775" i="1" baseline="-21021" dirty="0">
                <a:latin typeface="Times New Roman"/>
                <a:cs typeface="Times New Roman"/>
              </a:rPr>
              <a:t>k</a:t>
            </a:r>
            <a:endParaRPr sz="2775" baseline="-21021">
              <a:latin typeface="Times New Roman"/>
              <a:cs typeface="Times New Roman"/>
            </a:endParaRPr>
          </a:p>
          <a:p>
            <a:pPr marL="30480" algn="ctr">
              <a:lnSpc>
                <a:spcPct val="100000"/>
              </a:lnSpc>
              <a:spcBef>
                <a:spcPts val="2039"/>
              </a:spcBef>
              <a:tabLst>
                <a:tab pos="954405" algn="l"/>
              </a:tabLst>
            </a:pPr>
            <a:r>
              <a:rPr sz="2800" dirty="0">
                <a:latin typeface="Tahoma"/>
                <a:cs typeface="Tahoma"/>
              </a:rPr>
              <a:t>x	</a:t>
            </a:r>
            <a:r>
              <a:rPr sz="2800" i="1" dirty="0">
                <a:latin typeface="Times New Roman"/>
                <a:cs typeface="Times New Roman"/>
              </a:rPr>
              <a:t>R</a:t>
            </a:r>
            <a:r>
              <a:rPr sz="2775" i="1" baseline="-21021" dirty="0">
                <a:latin typeface="Times New Roman"/>
                <a:cs typeface="Times New Roman"/>
              </a:rPr>
              <a:t>3</a:t>
            </a:r>
            <a:endParaRPr sz="2775" baseline="-21021">
              <a:latin typeface="Times New Roman"/>
              <a:cs typeface="Times New Roman"/>
            </a:endParaRPr>
          </a:p>
          <a:p>
            <a:pPr marL="40005" algn="ctr">
              <a:lnSpc>
                <a:spcPct val="100000"/>
              </a:lnSpc>
              <a:spcBef>
                <a:spcPts val="2755"/>
              </a:spcBef>
            </a:pPr>
            <a:r>
              <a:rPr sz="2800" i="1" dirty="0">
                <a:latin typeface="Times New Roman"/>
                <a:cs typeface="Times New Roman"/>
              </a:rPr>
              <a:t>R</a:t>
            </a:r>
            <a:r>
              <a:rPr sz="2775" i="1" baseline="-21021" dirty="0">
                <a:latin typeface="Times New Roman"/>
                <a:cs typeface="Times New Roman"/>
              </a:rPr>
              <a:t>2</a:t>
            </a:r>
            <a:endParaRPr sz="2775" baseline="-21021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278286" y="4802505"/>
            <a:ext cx="2362200" cy="457200"/>
          </a:xfrm>
          <a:custGeom>
            <a:avLst/>
            <a:gdLst/>
            <a:ahLst/>
            <a:cxnLst/>
            <a:rect l="l" t="t" r="r" b="b"/>
            <a:pathLst>
              <a:path w="2362200" h="457200">
                <a:moveTo>
                  <a:pt x="1771637" y="0"/>
                </a:moveTo>
                <a:lnTo>
                  <a:pt x="1771637" y="114300"/>
                </a:lnTo>
                <a:lnTo>
                  <a:pt x="0" y="114300"/>
                </a:lnTo>
                <a:lnTo>
                  <a:pt x="0" y="342900"/>
                </a:lnTo>
                <a:lnTo>
                  <a:pt x="1771637" y="342900"/>
                </a:lnTo>
                <a:lnTo>
                  <a:pt x="1771637" y="457200"/>
                </a:lnTo>
                <a:lnTo>
                  <a:pt x="2362200" y="228600"/>
                </a:lnTo>
                <a:lnTo>
                  <a:pt x="1771637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278287" y="4802505"/>
            <a:ext cx="2362200" cy="457200"/>
          </a:xfrm>
          <a:custGeom>
            <a:avLst/>
            <a:gdLst/>
            <a:ahLst/>
            <a:cxnLst/>
            <a:rect l="l" t="t" r="r" b="b"/>
            <a:pathLst>
              <a:path w="2362200" h="457200">
                <a:moveTo>
                  <a:pt x="0" y="114299"/>
                </a:moveTo>
                <a:lnTo>
                  <a:pt x="1771648" y="114299"/>
                </a:lnTo>
                <a:lnTo>
                  <a:pt x="1771648" y="0"/>
                </a:lnTo>
                <a:lnTo>
                  <a:pt x="2362198" y="228599"/>
                </a:lnTo>
                <a:lnTo>
                  <a:pt x="1771648" y="457199"/>
                </a:lnTo>
                <a:lnTo>
                  <a:pt x="1771648" y="342899"/>
                </a:lnTo>
                <a:lnTo>
                  <a:pt x="0" y="342899"/>
                </a:lnTo>
                <a:lnTo>
                  <a:pt x="0" y="114299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117932" y="4748328"/>
            <a:ext cx="1518920" cy="534035"/>
          </a:xfrm>
          <a:custGeom>
            <a:avLst/>
            <a:gdLst/>
            <a:ahLst/>
            <a:cxnLst/>
            <a:rect l="l" t="t" r="r" b="b"/>
            <a:pathLst>
              <a:path w="1518920" h="534035">
                <a:moveTo>
                  <a:pt x="1322193" y="131080"/>
                </a:moveTo>
                <a:lnTo>
                  <a:pt x="1331514" y="121789"/>
                </a:lnTo>
                <a:lnTo>
                  <a:pt x="1337933" y="115404"/>
                </a:lnTo>
                <a:lnTo>
                  <a:pt x="1343138" y="110100"/>
                </a:lnTo>
                <a:lnTo>
                  <a:pt x="1348813" y="104053"/>
                </a:lnTo>
                <a:lnTo>
                  <a:pt x="1343492" y="98620"/>
                </a:lnTo>
                <a:lnTo>
                  <a:pt x="1337528" y="91395"/>
                </a:lnTo>
                <a:lnTo>
                  <a:pt x="1292109" y="62702"/>
                </a:lnTo>
                <a:lnTo>
                  <a:pt x="1228840" y="42522"/>
                </a:lnTo>
                <a:lnTo>
                  <a:pt x="1197344" y="32702"/>
                </a:lnTo>
                <a:lnTo>
                  <a:pt x="1144555" y="19549"/>
                </a:lnTo>
                <a:lnTo>
                  <a:pt x="1091870" y="14504"/>
                </a:lnTo>
                <a:lnTo>
                  <a:pt x="1038311" y="14053"/>
                </a:lnTo>
                <a:lnTo>
                  <a:pt x="982897" y="14684"/>
                </a:lnTo>
                <a:lnTo>
                  <a:pt x="933739" y="12364"/>
                </a:lnTo>
                <a:lnTo>
                  <a:pt x="884850" y="7747"/>
                </a:lnTo>
                <a:lnTo>
                  <a:pt x="835962" y="4346"/>
                </a:lnTo>
                <a:lnTo>
                  <a:pt x="786804" y="5675"/>
                </a:lnTo>
                <a:lnTo>
                  <a:pt x="734363" y="10033"/>
                </a:lnTo>
                <a:lnTo>
                  <a:pt x="683811" y="11891"/>
                </a:lnTo>
                <a:lnTo>
                  <a:pt x="633393" y="10641"/>
                </a:lnTo>
                <a:lnTo>
                  <a:pt x="581357" y="5675"/>
                </a:lnTo>
                <a:lnTo>
                  <a:pt x="543471" y="1621"/>
                </a:lnTo>
                <a:lnTo>
                  <a:pt x="506023" y="0"/>
                </a:lnTo>
                <a:lnTo>
                  <a:pt x="468373" y="1216"/>
                </a:lnTo>
                <a:lnTo>
                  <a:pt x="429880" y="5675"/>
                </a:lnTo>
                <a:lnTo>
                  <a:pt x="398566" y="9222"/>
                </a:lnTo>
                <a:lnTo>
                  <a:pt x="370692" y="9729"/>
                </a:lnTo>
                <a:lnTo>
                  <a:pt x="343358" y="8209"/>
                </a:lnTo>
                <a:lnTo>
                  <a:pt x="313663" y="5675"/>
                </a:lnTo>
                <a:lnTo>
                  <a:pt x="279645" y="6706"/>
                </a:lnTo>
                <a:lnTo>
                  <a:pt x="211204" y="22955"/>
                </a:lnTo>
                <a:lnTo>
                  <a:pt x="155805" y="41548"/>
                </a:lnTo>
                <a:lnTo>
                  <a:pt x="109132" y="68834"/>
                </a:lnTo>
                <a:lnTo>
                  <a:pt x="71544" y="111480"/>
                </a:lnTo>
                <a:lnTo>
                  <a:pt x="41152" y="164892"/>
                </a:lnTo>
                <a:lnTo>
                  <a:pt x="16179" y="220781"/>
                </a:lnTo>
                <a:lnTo>
                  <a:pt x="0" y="279824"/>
                </a:lnTo>
                <a:lnTo>
                  <a:pt x="1354" y="309818"/>
                </a:lnTo>
                <a:lnTo>
                  <a:pt x="24562" y="374322"/>
                </a:lnTo>
                <a:lnTo>
                  <a:pt x="72595" y="425854"/>
                </a:lnTo>
                <a:lnTo>
                  <a:pt x="112573" y="456327"/>
                </a:lnTo>
                <a:lnTo>
                  <a:pt x="156564" y="485583"/>
                </a:lnTo>
                <a:lnTo>
                  <a:pt x="203187" y="509570"/>
                </a:lnTo>
                <a:lnTo>
                  <a:pt x="251057" y="524232"/>
                </a:lnTo>
                <a:lnTo>
                  <a:pt x="303842" y="530809"/>
                </a:lnTo>
                <a:lnTo>
                  <a:pt x="357874" y="533331"/>
                </a:lnTo>
                <a:lnTo>
                  <a:pt x="412109" y="533556"/>
                </a:lnTo>
                <a:lnTo>
                  <a:pt x="465500" y="533241"/>
                </a:lnTo>
                <a:lnTo>
                  <a:pt x="518481" y="532746"/>
                </a:lnTo>
                <a:lnTo>
                  <a:pt x="572541" y="531169"/>
                </a:lnTo>
                <a:lnTo>
                  <a:pt x="626602" y="528376"/>
                </a:lnTo>
                <a:lnTo>
                  <a:pt x="679583" y="524232"/>
                </a:lnTo>
                <a:lnTo>
                  <a:pt x="727796" y="519487"/>
                </a:lnTo>
                <a:lnTo>
                  <a:pt x="776096" y="514378"/>
                </a:lnTo>
                <a:lnTo>
                  <a:pt x="824396" y="508976"/>
                </a:lnTo>
                <a:lnTo>
                  <a:pt x="872610" y="503348"/>
                </a:lnTo>
                <a:lnTo>
                  <a:pt x="920651" y="497565"/>
                </a:lnTo>
                <a:lnTo>
                  <a:pt x="967860" y="492436"/>
                </a:lnTo>
                <a:lnTo>
                  <a:pt x="1014308" y="488103"/>
                </a:lnTo>
                <a:lnTo>
                  <a:pt x="1060360" y="483632"/>
                </a:lnTo>
                <a:lnTo>
                  <a:pt x="1106377" y="478088"/>
                </a:lnTo>
                <a:lnTo>
                  <a:pt x="1152724" y="470538"/>
                </a:lnTo>
                <a:lnTo>
                  <a:pt x="1194583" y="463545"/>
                </a:lnTo>
                <a:lnTo>
                  <a:pt x="1238535" y="456484"/>
                </a:lnTo>
                <a:lnTo>
                  <a:pt x="1281948" y="447532"/>
                </a:lnTo>
                <a:lnTo>
                  <a:pt x="1322193" y="434862"/>
                </a:lnTo>
                <a:lnTo>
                  <a:pt x="1377693" y="406214"/>
                </a:lnTo>
                <a:lnTo>
                  <a:pt x="1429413" y="372160"/>
                </a:lnTo>
                <a:lnTo>
                  <a:pt x="1463640" y="344503"/>
                </a:lnTo>
                <a:lnTo>
                  <a:pt x="1491663" y="309818"/>
                </a:lnTo>
                <a:lnTo>
                  <a:pt x="1517252" y="254728"/>
                </a:lnTo>
                <a:lnTo>
                  <a:pt x="1518428" y="225545"/>
                </a:lnTo>
                <a:lnTo>
                  <a:pt x="1509653" y="193422"/>
                </a:lnTo>
                <a:lnTo>
                  <a:pt x="1483296" y="152843"/>
                </a:lnTo>
                <a:lnTo>
                  <a:pt x="1445336" y="120134"/>
                </a:lnTo>
                <a:lnTo>
                  <a:pt x="1401575" y="95061"/>
                </a:lnTo>
                <a:lnTo>
                  <a:pt x="1357813" y="77386"/>
                </a:lnTo>
                <a:lnTo>
                  <a:pt x="1351121" y="75168"/>
                </a:lnTo>
                <a:lnTo>
                  <a:pt x="1344498" y="72882"/>
                </a:lnTo>
                <a:lnTo>
                  <a:pt x="1337876" y="70596"/>
                </a:lnTo>
                <a:lnTo>
                  <a:pt x="1331183" y="68378"/>
                </a:lnTo>
              </a:path>
            </a:pathLst>
          </a:custGeom>
          <a:ln w="19049">
            <a:solidFill>
              <a:srgbClr val="00BA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3">
            <a:extLst>
              <a:ext uri="{FF2B5EF4-FFF2-40B4-BE49-F238E27FC236}">
                <a16:creationId xmlns:a16="http://schemas.microsoft.com/office/drawing/2014/main" id="{3EB04C3E-150D-BFFF-63B4-844B45535153}"/>
              </a:ext>
            </a:extLst>
          </p:cNvPr>
          <p:cNvSpPr txBox="1">
            <a:spLocks/>
          </p:cNvSpPr>
          <p:nvPr/>
        </p:nvSpPr>
        <p:spPr>
          <a:xfrm>
            <a:off x="950913" y="775574"/>
            <a:ext cx="6299174" cy="540000"/>
          </a:xfrm>
          <a:prstGeom prst="rect">
            <a:avLst/>
          </a:prstGeom>
          <a:solidFill>
            <a:schemeClr val="accent2"/>
          </a:solidFill>
        </p:spPr>
        <p:txBody>
          <a:bodyPr vert="horz" wrap="square" lIns="0" tIns="12700" rIns="0" bIns="0" rtlCol="0" anchor="ctr">
            <a:spAutoFit/>
          </a:bodyPr>
          <a:lstStyle>
            <a:lvl1pPr marL="78932" algn="l" defTabSz="801945" rtl="0" eaLnBrk="1" fontAlgn="ctr" latinLnBrk="0" hangingPunct="1">
              <a:lnSpc>
                <a:spcPct val="90000"/>
              </a:lnSpc>
              <a:spcBef>
                <a:spcPct val="0"/>
              </a:spcBef>
              <a:buNone/>
              <a:defRPr sz="2193" b="0" i="0" kern="1200" baseline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426335" algn="l"/>
              </a:tabLst>
            </a:pPr>
            <a:r>
              <a:rPr lang="en-GB" dirty="0" err="1"/>
              <a:t>Kanoni</a:t>
            </a:r>
            <a:r>
              <a:rPr lang="en-GB" spc="-5" dirty="0" err="1"/>
              <a:t>s</a:t>
            </a:r>
            <a:r>
              <a:rPr lang="en-GB" dirty="0" err="1"/>
              <a:t>che</a:t>
            </a:r>
            <a:r>
              <a:rPr lang="en-GB" dirty="0"/>
              <a:t> </a:t>
            </a:r>
            <a:r>
              <a:rPr lang="en-GB" dirty="0" err="1"/>
              <a:t>Übe</a:t>
            </a:r>
            <a:r>
              <a:rPr lang="en-GB" spc="-5" dirty="0" err="1"/>
              <a:t>rs</a:t>
            </a:r>
            <a:r>
              <a:rPr lang="en-GB" dirty="0" err="1"/>
              <a:t>e</a:t>
            </a:r>
            <a:r>
              <a:rPr lang="en-GB" spc="-5" dirty="0" err="1"/>
              <a:t>t</a:t>
            </a:r>
            <a:r>
              <a:rPr lang="en-GB" dirty="0" err="1"/>
              <a:t>zung</a:t>
            </a:r>
            <a:r>
              <a:rPr lang="en-GB" dirty="0"/>
              <a:t> </a:t>
            </a:r>
            <a:r>
              <a:rPr lang="en-GB" spc="-5" dirty="0"/>
              <a:t>in </a:t>
            </a:r>
            <a:r>
              <a:rPr lang="en-GB" dirty="0"/>
              <a:t>die </a:t>
            </a:r>
            <a:r>
              <a:rPr lang="en-GB" spc="-5" dirty="0" err="1"/>
              <a:t>relationale</a:t>
            </a:r>
            <a:r>
              <a:rPr lang="en-GB" spc="-5" dirty="0"/>
              <a:t> Algebra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463040" y="1570875"/>
            <a:ext cx="6325870" cy="4660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CC0099"/>
                </a:solidFill>
                <a:latin typeface="Tahoma"/>
                <a:cs typeface="Tahoma"/>
              </a:rPr>
              <a:t>Welche Studenten </a:t>
            </a:r>
            <a:r>
              <a:rPr sz="2400" dirty="0">
                <a:solidFill>
                  <a:srgbClr val="CC0099"/>
                </a:solidFill>
                <a:latin typeface="Tahoma"/>
                <a:cs typeface="Tahoma"/>
              </a:rPr>
              <a:t>hören </a:t>
            </a:r>
            <a:r>
              <a:rPr sz="2400" spc="-5" dirty="0">
                <a:solidFill>
                  <a:srgbClr val="CC0099"/>
                </a:solidFill>
                <a:latin typeface="Tahoma"/>
                <a:cs typeface="Tahoma"/>
              </a:rPr>
              <a:t>welche</a:t>
            </a:r>
            <a:r>
              <a:rPr sz="2400" spc="40" dirty="0">
                <a:solidFill>
                  <a:srgbClr val="CC0099"/>
                </a:solidFill>
                <a:latin typeface="Tahoma"/>
                <a:cs typeface="Tahoma"/>
              </a:rPr>
              <a:t> </a:t>
            </a:r>
            <a:r>
              <a:rPr sz="2400" spc="-5" dirty="0">
                <a:solidFill>
                  <a:srgbClr val="CC0099"/>
                </a:solidFill>
                <a:latin typeface="Tahoma"/>
                <a:cs typeface="Tahoma"/>
              </a:rPr>
              <a:t>Vorlesungen?</a:t>
            </a:r>
            <a:endParaRPr sz="24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220"/>
              </a:spcBef>
            </a:pPr>
            <a:r>
              <a:rPr sz="2400" b="1" spc="-5" dirty="0">
                <a:latin typeface="Tahoma"/>
                <a:cs typeface="Tahoma"/>
              </a:rPr>
              <a:t>select </a:t>
            </a:r>
            <a:r>
              <a:rPr sz="2400" spc="-5" dirty="0">
                <a:latin typeface="Tahoma"/>
                <a:cs typeface="Tahoma"/>
              </a:rPr>
              <a:t>Name, Titel</a:t>
            </a:r>
            <a:endParaRPr sz="24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sz="2400" b="1" spc="-5" dirty="0">
                <a:latin typeface="Tahoma"/>
                <a:cs typeface="Tahoma"/>
              </a:rPr>
              <a:t>from </a:t>
            </a:r>
            <a:r>
              <a:rPr sz="2400" spc="-5" dirty="0">
                <a:latin typeface="Tahoma"/>
                <a:cs typeface="Tahoma"/>
              </a:rPr>
              <a:t>Studenten, h</a:t>
            </a:r>
            <a:r>
              <a:rPr lang="de-DE" sz="2400" spc="-5" dirty="0" err="1">
                <a:latin typeface="Tahoma"/>
                <a:cs typeface="Tahoma"/>
              </a:rPr>
              <a:t>oe</a:t>
            </a:r>
            <a:r>
              <a:rPr sz="2400" spc="-5" dirty="0">
                <a:latin typeface="Tahoma"/>
                <a:cs typeface="Tahoma"/>
              </a:rPr>
              <a:t>ren,</a:t>
            </a:r>
            <a:r>
              <a:rPr sz="2400" spc="1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Vorlesungen</a:t>
            </a:r>
            <a:endParaRPr sz="24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z="2400" b="1" spc="-5" dirty="0">
                <a:latin typeface="Tahoma"/>
                <a:cs typeface="Tahoma"/>
              </a:rPr>
              <a:t>where </a:t>
            </a:r>
            <a:r>
              <a:rPr sz="2400" spc="-5" dirty="0">
                <a:latin typeface="Tahoma"/>
                <a:cs typeface="Tahoma"/>
              </a:rPr>
              <a:t>Studenten.MatrNr = h</a:t>
            </a:r>
            <a:r>
              <a:rPr lang="de-DE" sz="2400" spc="-5" dirty="0" err="1">
                <a:latin typeface="Tahoma"/>
                <a:cs typeface="Tahoma"/>
              </a:rPr>
              <a:t>oe</a:t>
            </a:r>
            <a:r>
              <a:rPr sz="2400" spc="-5" dirty="0" err="1">
                <a:latin typeface="Tahoma"/>
                <a:cs typeface="Tahoma"/>
              </a:rPr>
              <a:t>ren.Mat</a:t>
            </a:r>
            <a:r>
              <a:rPr lang="de-DE" sz="2400" spc="-5" dirty="0" err="1">
                <a:latin typeface="Tahoma"/>
                <a:cs typeface="Tahoma"/>
              </a:rPr>
              <a:t>r</a:t>
            </a:r>
            <a:r>
              <a:rPr sz="2400" spc="-5" dirty="0">
                <a:latin typeface="Tahoma"/>
                <a:cs typeface="Tahoma"/>
              </a:rPr>
              <a:t>Nr</a:t>
            </a:r>
            <a:r>
              <a:rPr sz="2400" spc="60" dirty="0">
                <a:latin typeface="Tahoma"/>
                <a:cs typeface="Tahoma"/>
              </a:rPr>
              <a:t> </a:t>
            </a:r>
            <a:r>
              <a:rPr sz="2400" b="1" spc="-5" dirty="0">
                <a:latin typeface="Tahoma"/>
                <a:cs typeface="Tahoma"/>
              </a:rPr>
              <a:t>and</a:t>
            </a:r>
            <a:r>
              <a:rPr lang="en-GB" sz="2400" b="1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h</a:t>
            </a:r>
            <a:r>
              <a:rPr lang="de-DE" sz="2400" spc="-5" dirty="0" err="1">
                <a:latin typeface="Tahoma"/>
                <a:cs typeface="Tahoma"/>
              </a:rPr>
              <a:t>oe</a:t>
            </a:r>
            <a:r>
              <a:rPr sz="2400" spc="-5" dirty="0" err="1">
                <a:latin typeface="Tahoma"/>
                <a:cs typeface="Tahoma"/>
              </a:rPr>
              <a:t>ren.VorlNr</a:t>
            </a:r>
            <a:r>
              <a:rPr sz="2400" spc="-5" dirty="0">
                <a:latin typeface="Tahoma"/>
                <a:cs typeface="Tahoma"/>
              </a:rPr>
              <a:t> =</a:t>
            </a:r>
            <a:r>
              <a:rPr sz="2400" spc="1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Vorlesungen.VorlNr;</a:t>
            </a:r>
            <a:endParaRPr sz="24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9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b="1" spc="-5" dirty="0">
                <a:solidFill>
                  <a:srgbClr val="FF6600"/>
                </a:solidFill>
                <a:latin typeface="Tahoma"/>
                <a:cs typeface="Tahoma"/>
              </a:rPr>
              <a:t>Alternativ:</a:t>
            </a:r>
            <a:endParaRPr sz="24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z="2400" b="1" spc="-5" dirty="0">
                <a:latin typeface="Tahoma"/>
                <a:cs typeface="Tahoma"/>
              </a:rPr>
              <a:t>select </a:t>
            </a:r>
            <a:r>
              <a:rPr sz="2400" spc="-5" dirty="0">
                <a:latin typeface="Tahoma"/>
                <a:cs typeface="Tahoma"/>
              </a:rPr>
              <a:t>s.Name, v.Titel</a:t>
            </a:r>
            <a:endParaRPr sz="24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z="2400" b="1" spc="-5" dirty="0">
                <a:latin typeface="Tahoma"/>
                <a:cs typeface="Tahoma"/>
              </a:rPr>
              <a:t>from </a:t>
            </a:r>
            <a:r>
              <a:rPr sz="2400" spc="-5" dirty="0">
                <a:latin typeface="Tahoma"/>
                <a:cs typeface="Tahoma"/>
              </a:rPr>
              <a:t>Studenten </a:t>
            </a:r>
            <a:r>
              <a:rPr sz="2400" dirty="0">
                <a:latin typeface="Tahoma"/>
                <a:cs typeface="Tahoma"/>
              </a:rPr>
              <a:t>s, h</a:t>
            </a:r>
            <a:r>
              <a:rPr lang="de-DE" sz="2400" dirty="0" err="1">
                <a:latin typeface="Tahoma"/>
                <a:cs typeface="Tahoma"/>
              </a:rPr>
              <a:t>oe</a:t>
            </a:r>
            <a:r>
              <a:rPr sz="2400" dirty="0">
                <a:latin typeface="Tahoma"/>
                <a:cs typeface="Tahoma"/>
              </a:rPr>
              <a:t>ren </a:t>
            </a:r>
            <a:r>
              <a:rPr sz="2400" spc="-5" dirty="0">
                <a:latin typeface="Tahoma"/>
                <a:cs typeface="Tahoma"/>
              </a:rPr>
              <a:t>h, Vorlesungen</a:t>
            </a:r>
            <a:r>
              <a:rPr sz="2400" spc="6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v</a:t>
            </a: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z="2400" b="1" spc="-5" dirty="0">
                <a:latin typeface="Tahoma"/>
                <a:cs typeface="Tahoma"/>
              </a:rPr>
              <a:t>where </a:t>
            </a:r>
            <a:r>
              <a:rPr sz="2400" dirty="0">
                <a:latin typeface="Tahoma"/>
                <a:cs typeface="Tahoma"/>
              </a:rPr>
              <a:t>s. MatrNr </a:t>
            </a:r>
            <a:r>
              <a:rPr sz="2400" spc="-5" dirty="0">
                <a:latin typeface="Tahoma"/>
                <a:cs typeface="Tahoma"/>
              </a:rPr>
              <a:t>= h. </a:t>
            </a:r>
            <a:r>
              <a:rPr sz="2400" dirty="0">
                <a:latin typeface="Tahoma"/>
                <a:cs typeface="Tahoma"/>
              </a:rPr>
              <a:t>MatrNr</a:t>
            </a:r>
            <a:r>
              <a:rPr sz="2400" spc="30" dirty="0">
                <a:latin typeface="Tahoma"/>
                <a:cs typeface="Tahoma"/>
              </a:rPr>
              <a:t> </a:t>
            </a:r>
            <a:r>
              <a:rPr sz="2400" b="1" spc="-5" dirty="0">
                <a:latin typeface="Tahoma"/>
                <a:cs typeface="Tahoma"/>
              </a:rPr>
              <a:t>and</a:t>
            </a:r>
            <a:endParaRPr sz="2400" dirty="0">
              <a:latin typeface="Tahoma"/>
              <a:cs typeface="Tahoma"/>
            </a:endParaRPr>
          </a:p>
          <a:p>
            <a:pPr marL="1022350">
              <a:lnSpc>
                <a:spcPct val="100000"/>
              </a:lnSpc>
              <a:spcBef>
                <a:spcPts val="320"/>
              </a:spcBef>
            </a:pPr>
            <a:r>
              <a:rPr sz="2400" spc="-5" dirty="0">
                <a:latin typeface="Tahoma"/>
                <a:cs typeface="Tahoma"/>
              </a:rPr>
              <a:t>h.VorlNr =</a:t>
            </a:r>
            <a:r>
              <a:rPr sz="240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v.VorlNr</a:t>
            </a:r>
            <a:endParaRPr sz="2400" dirty="0">
              <a:latin typeface="Tahoma"/>
              <a:cs typeface="Tahoma"/>
            </a:endParaRP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E363FFB2-A0CE-C411-1587-47F669400740}"/>
              </a:ext>
            </a:extLst>
          </p:cNvPr>
          <p:cNvSpPr txBox="1">
            <a:spLocks/>
          </p:cNvSpPr>
          <p:nvPr/>
        </p:nvSpPr>
        <p:spPr>
          <a:xfrm>
            <a:off x="1003300" y="730250"/>
            <a:ext cx="6477000" cy="540000"/>
          </a:xfrm>
          <a:prstGeom prst="rect">
            <a:avLst/>
          </a:prstGeom>
          <a:solidFill>
            <a:schemeClr val="accent2"/>
          </a:solidFill>
        </p:spPr>
        <p:txBody>
          <a:bodyPr vert="horz" wrap="square" lIns="0" tIns="12700" rIns="0" bIns="0" rtlCol="0" anchor="ctr">
            <a:spAutoFit/>
          </a:bodyPr>
          <a:lstStyle>
            <a:lvl1pPr marL="78932" algn="l" defTabSz="801945" rtl="0" eaLnBrk="1" fontAlgn="ctr" latinLnBrk="0" hangingPunct="1">
              <a:lnSpc>
                <a:spcPct val="90000"/>
              </a:lnSpc>
              <a:spcBef>
                <a:spcPct val="0"/>
              </a:spcBef>
              <a:buNone/>
              <a:defRPr sz="2193" b="0" i="0" kern="1200" baseline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426335" algn="l"/>
              </a:tabLst>
            </a:pPr>
            <a:r>
              <a:rPr lang="en-GB" spc="-5"/>
              <a:t>Anfragen </a:t>
            </a:r>
            <a:r>
              <a:rPr lang="en-GB"/>
              <a:t>über</a:t>
            </a:r>
            <a:r>
              <a:rPr lang="en-GB" spc="-75"/>
              <a:t> </a:t>
            </a:r>
            <a:r>
              <a:rPr lang="en-GB" spc="-5"/>
              <a:t>mehrere Relationen</a:t>
            </a:r>
            <a:endParaRPr lang="en-GB" spc="-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310640" y="2099601"/>
            <a:ext cx="8531225" cy="1546860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sz="2400" b="1" spc="-5" dirty="0">
                <a:latin typeface="Tahoma"/>
                <a:cs typeface="Tahoma"/>
              </a:rPr>
              <a:t>select </a:t>
            </a:r>
            <a:r>
              <a:rPr sz="2400" spc="-5" dirty="0">
                <a:latin typeface="Tahoma"/>
                <a:cs typeface="Tahoma"/>
              </a:rPr>
              <a:t>s1.Name,</a:t>
            </a:r>
            <a:r>
              <a:rPr sz="2400" spc="4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s2.Name</a:t>
            </a:r>
            <a:endParaRPr sz="24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2400" b="1" spc="-5" dirty="0">
                <a:latin typeface="Tahoma"/>
                <a:cs typeface="Tahoma"/>
              </a:rPr>
              <a:t>from </a:t>
            </a:r>
            <a:r>
              <a:rPr sz="2400" spc="-5" dirty="0">
                <a:latin typeface="Tahoma"/>
                <a:cs typeface="Tahoma"/>
              </a:rPr>
              <a:t>Studenten s1, </a:t>
            </a:r>
            <a:r>
              <a:rPr sz="2400" dirty="0">
                <a:latin typeface="Tahoma"/>
                <a:cs typeface="Tahoma"/>
              </a:rPr>
              <a:t>hoeren </a:t>
            </a:r>
            <a:r>
              <a:rPr sz="2400" spc="-5" dirty="0">
                <a:latin typeface="Tahoma"/>
                <a:cs typeface="Tahoma"/>
              </a:rPr>
              <a:t>h1, </a:t>
            </a:r>
            <a:r>
              <a:rPr sz="2400" dirty="0">
                <a:latin typeface="Tahoma"/>
                <a:cs typeface="Tahoma"/>
              </a:rPr>
              <a:t>hoeren </a:t>
            </a:r>
            <a:r>
              <a:rPr sz="2400" spc="-5" dirty="0">
                <a:latin typeface="Tahoma"/>
                <a:cs typeface="Tahoma"/>
              </a:rPr>
              <a:t>h2, Studenten</a:t>
            </a:r>
            <a:r>
              <a:rPr sz="2400" spc="5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s2</a:t>
            </a:r>
          </a:p>
          <a:p>
            <a:pPr marL="12700">
              <a:lnSpc>
                <a:spcPts val="2750"/>
              </a:lnSpc>
              <a:spcBef>
                <a:spcPts val="320"/>
              </a:spcBef>
            </a:pPr>
            <a:r>
              <a:rPr sz="2400" b="1" spc="-5" dirty="0">
                <a:latin typeface="Tahoma"/>
                <a:cs typeface="Tahoma"/>
              </a:rPr>
              <a:t>where </a:t>
            </a:r>
            <a:r>
              <a:rPr sz="2400" spc="-5" dirty="0">
                <a:latin typeface="Tahoma"/>
                <a:cs typeface="Tahoma"/>
              </a:rPr>
              <a:t>h1.VorlNr = h2.VorlNr </a:t>
            </a:r>
            <a:r>
              <a:rPr sz="2400" b="1" spc="-5" dirty="0">
                <a:latin typeface="Tahoma"/>
                <a:cs typeface="Tahoma"/>
              </a:rPr>
              <a:t>and </a:t>
            </a:r>
            <a:r>
              <a:rPr sz="2400" spc="-5" dirty="0">
                <a:latin typeface="Tahoma"/>
                <a:cs typeface="Tahoma"/>
              </a:rPr>
              <a:t>h1.MatrNr = s1.MatrNr</a:t>
            </a:r>
            <a:r>
              <a:rPr sz="2400" spc="175" dirty="0">
                <a:latin typeface="Tahoma"/>
                <a:cs typeface="Tahoma"/>
              </a:rPr>
              <a:t> </a:t>
            </a:r>
            <a:r>
              <a:rPr sz="2400" b="1" spc="-5" dirty="0">
                <a:latin typeface="Tahoma"/>
                <a:cs typeface="Tahoma"/>
              </a:rPr>
              <a:t>and</a:t>
            </a:r>
            <a:endParaRPr sz="2400" dirty="0">
              <a:latin typeface="Tahoma"/>
              <a:cs typeface="Tahoma"/>
            </a:endParaRPr>
          </a:p>
          <a:p>
            <a:pPr marL="355600">
              <a:lnSpc>
                <a:spcPts val="2750"/>
              </a:lnSpc>
            </a:pPr>
            <a:r>
              <a:rPr sz="2400" dirty="0">
                <a:latin typeface="Tahoma"/>
                <a:cs typeface="Tahoma"/>
              </a:rPr>
              <a:t>h2.MatrNr </a:t>
            </a:r>
            <a:r>
              <a:rPr sz="2400" spc="-5" dirty="0">
                <a:latin typeface="Tahoma"/>
                <a:cs typeface="Tahoma"/>
              </a:rPr>
              <a:t>= s2.MatrNr</a:t>
            </a:r>
            <a:endParaRPr sz="2400" dirty="0">
              <a:latin typeface="Tahoma"/>
              <a:cs typeface="Tahom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27900" y="5036919"/>
            <a:ext cx="2438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Wie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sieht</a:t>
            </a:r>
            <a:r>
              <a:rPr lang="en-US" dirty="0">
                <a:solidFill>
                  <a:srgbClr val="FF0000"/>
                </a:solidFill>
              </a:rPr>
              <a:t> das </a:t>
            </a:r>
            <a:r>
              <a:rPr lang="en-US" dirty="0" err="1">
                <a:solidFill>
                  <a:srgbClr val="FF0000"/>
                </a:solidFill>
              </a:rPr>
              <a:t>Ergebnis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aus</a:t>
            </a:r>
            <a:r>
              <a:rPr lang="en-US" dirty="0">
                <a:solidFill>
                  <a:srgbClr val="FF0000"/>
                </a:solidFill>
              </a:rPr>
              <a:t>? </a:t>
            </a:r>
            <a:r>
              <a:rPr lang="en-US" dirty="0" err="1">
                <a:solidFill>
                  <a:srgbClr val="FF0000"/>
                </a:solidFill>
              </a:rPr>
              <a:t>Besonderheiten</a:t>
            </a:r>
            <a:r>
              <a:rPr lang="en-US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2ACAD824-D479-C838-8DB5-F11D83175115}"/>
              </a:ext>
            </a:extLst>
          </p:cNvPr>
          <p:cNvSpPr txBox="1">
            <a:spLocks/>
          </p:cNvSpPr>
          <p:nvPr/>
        </p:nvSpPr>
        <p:spPr>
          <a:xfrm>
            <a:off x="828589" y="882649"/>
            <a:ext cx="6477000" cy="540000"/>
          </a:xfrm>
          <a:prstGeom prst="rect">
            <a:avLst/>
          </a:prstGeom>
          <a:solidFill>
            <a:schemeClr val="accent2"/>
          </a:solidFill>
        </p:spPr>
        <p:txBody>
          <a:bodyPr vert="horz" wrap="square" lIns="0" tIns="12700" rIns="0" bIns="0" rtlCol="0" anchor="ctr">
            <a:spAutoFit/>
          </a:bodyPr>
          <a:lstStyle>
            <a:lvl1pPr marL="78932" algn="l" defTabSz="801945" rtl="0" eaLnBrk="1" fontAlgn="ctr" latinLnBrk="0" hangingPunct="1">
              <a:lnSpc>
                <a:spcPct val="90000"/>
              </a:lnSpc>
              <a:spcBef>
                <a:spcPct val="0"/>
              </a:spcBef>
              <a:buNone/>
              <a:defRPr sz="2193" b="0" i="0" kern="1200" baseline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426335" algn="l"/>
              </a:tabLst>
            </a:pPr>
            <a:r>
              <a:rPr lang="en-GB" dirty="0" err="1"/>
              <a:t>Welche</a:t>
            </a:r>
            <a:r>
              <a:rPr lang="en-GB" dirty="0"/>
              <a:t> </a:t>
            </a:r>
            <a:r>
              <a:rPr lang="en-GB" dirty="0" err="1"/>
              <a:t>S</a:t>
            </a:r>
            <a:r>
              <a:rPr lang="en-GB" spc="-5" dirty="0" err="1"/>
              <a:t>t</a:t>
            </a:r>
            <a:r>
              <a:rPr lang="en-GB" dirty="0" err="1"/>
              <a:t>uden</a:t>
            </a:r>
            <a:r>
              <a:rPr lang="en-GB" spc="-5" dirty="0" err="1"/>
              <a:t>t</a:t>
            </a:r>
            <a:r>
              <a:rPr lang="en-GB" dirty="0" err="1"/>
              <a:t>en</a:t>
            </a:r>
            <a:r>
              <a:rPr lang="en-GB" dirty="0"/>
              <a:t> </a:t>
            </a:r>
            <a:r>
              <a:rPr lang="en-GB" dirty="0" err="1"/>
              <a:t>kennen</a:t>
            </a:r>
            <a:r>
              <a:rPr lang="en-GB" dirty="0"/>
              <a:t> </a:t>
            </a:r>
            <a:r>
              <a:rPr lang="en-GB" spc="-5" dirty="0" err="1"/>
              <a:t>sic</a:t>
            </a:r>
            <a:r>
              <a:rPr lang="en-GB" dirty="0" err="1"/>
              <a:t>h</a:t>
            </a:r>
            <a:r>
              <a:rPr lang="en-GB" dirty="0"/>
              <a:t> </a:t>
            </a:r>
            <a:r>
              <a:rPr lang="en-GB" dirty="0" err="1"/>
              <a:t>aus</a:t>
            </a:r>
            <a:r>
              <a:rPr lang="en-GB" dirty="0"/>
              <a:t> </a:t>
            </a:r>
            <a:r>
              <a:rPr lang="en-GB" spc="-5" dirty="0" err="1"/>
              <a:t>Vorlesungen</a:t>
            </a:r>
            <a:endParaRPr lang="en-GB" spc="-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25">
            <a:extLst>
              <a:ext uri="{FF2B5EF4-FFF2-40B4-BE49-F238E27FC236}">
                <a16:creationId xmlns:a16="http://schemas.microsoft.com/office/drawing/2014/main" id="{DF304EA3-86BC-07C6-977C-DF542AF949C6}"/>
              </a:ext>
            </a:extLst>
          </p:cNvPr>
          <p:cNvGraphicFramePr>
            <a:graphicFrameLocks noGrp="1"/>
          </p:cNvGraphicFramePr>
          <p:nvPr/>
        </p:nvGraphicFramePr>
        <p:xfrm>
          <a:off x="1163325" y="107317"/>
          <a:ext cx="9136375" cy="702373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26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3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476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624204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9593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1178559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480059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119379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682625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</a:tblGrid>
              <a:tr h="307340">
                <a:tc gridSpan="4">
                  <a:txBody>
                    <a:bodyPr/>
                    <a:lstStyle/>
                    <a:p>
                      <a:pPr marL="68897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600" b="1" spc="-5" dirty="0">
                          <a:latin typeface="Tahoma"/>
                          <a:cs typeface="Tahoma"/>
                        </a:rPr>
                        <a:t>Professoren</a:t>
                      </a:r>
                      <a:endParaRPr sz="1600" dirty="0">
                        <a:latin typeface="Tahoma"/>
                        <a:cs typeface="Tahoma"/>
                      </a:endParaRPr>
                    </a:p>
                  </a:txBody>
                  <a:tcPr marL="0" marR="0" marT="254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7">
                  <a:txBody>
                    <a:bodyPr/>
                    <a:lstStyle/>
                    <a:p>
                      <a:pPr marL="918844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b="1" spc="-5" dirty="0">
                          <a:latin typeface="Tahoma"/>
                          <a:cs typeface="Tahoma"/>
                        </a:rPr>
                        <a:t>Studenten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7">
                  <a:txBody>
                    <a:bodyPr/>
                    <a:lstStyle/>
                    <a:p>
                      <a:pPr marL="120078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600" b="1" dirty="0">
                          <a:latin typeface="Tahoma"/>
                          <a:cs typeface="Tahoma"/>
                        </a:rPr>
                        <a:t>Vorlesungen</a:t>
                      </a:r>
                      <a:endParaRPr sz="1600" dirty="0">
                        <a:latin typeface="Tahoma"/>
                        <a:cs typeface="Tahoma"/>
                      </a:endParaRPr>
                    </a:p>
                  </a:txBody>
                  <a:tcPr marL="0" marR="0" marT="254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 marL="508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b="1" dirty="0">
                          <a:latin typeface="Tahoma"/>
                          <a:cs typeface="Tahoma"/>
                        </a:rPr>
                        <a:t>P</a:t>
                      </a:r>
                      <a:r>
                        <a:rPr sz="1400" b="1" spc="-5" dirty="0">
                          <a:latin typeface="Tahoma"/>
                          <a:cs typeface="Tahoma"/>
                        </a:rPr>
                        <a:t>ersN</a:t>
                      </a:r>
                      <a:r>
                        <a:rPr sz="1400" b="1" dirty="0">
                          <a:latin typeface="Tahoma"/>
                          <a:cs typeface="Tahoma"/>
                        </a:rPr>
                        <a:t>r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20764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b="1" dirty="0">
                          <a:latin typeface="Tahoma"/>
                          <a:cs typeface="Tahoma"/>
                        </a:rPr>
                        <a:t>Name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b="1" spc="-5" dirty="0">
                          <a:latin typeface="Tahoma"/>
                          <a:cs typeface="Tahoma"/>
                        </a:rPr>
                        <a:t>Rang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1714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b="1" dirty="0">
                          <a:latin typeface="Tahoma"/>
                          <a:cs typeface="Tahoma"/>
                        </a:rPr>
                        <a:t>R</a:t>
                      </a:r>
                      <a:r>
                        <a:rPr sz="1400" b="1" spc="-5" dirty="0">
                          <a:latin typeface="Tahoma"/>
                          <a:cs typeface="Tahoma"/>
                        </a:rPr>
                        <a:t>aum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b="1" dirty="0">
                          <a:latin typeface="Tahoma"/>
                          <a:cs typeface="Tahoma"/>
                        </a:rPr>
                        <a:t>M</a:t>
                      </a:r>
                      <a:r>
                        <a:rPr sz="1400" b="1" spc="-5" dirty="0">
                          <a:latin typeface="Tahoma"/>
                          <a:cs typeface="Tahoma"/>
                        </a:rPr>
                        <a:t>atrN</a:t>
                      </a:r>
                      <a:r>
                        <a:rPr sz="1400" b="1" dirty="0">
                          <a:latin typeface="Tahoma"/>
                          <a:cs typeface="Tahoma"/>
                        </a:rPr>
                        <a:t>r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2702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b="1" dirty="0">
                          <a:latin typeface="Tahoma"/>
                          <a:cs typeface="Tahoma"/>
                        </a:rPr>
                        <a:t>Name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4635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b="1" spc="-5" dirty="0">
                          <a:latin typeface="Tahoma"/>
                          <a:cs typeface="Tahoma"/>
                        </a:rPr>
                        <a:t>Semester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17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rowSpan="2" gridSpan="2"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400" b="1" dirty="0">
                          <a:latin typeface="Tahoma"/>
                          <a:cs typeface="Tahoma"/>
                        </a:rPr>
                        <a:t>VorlNr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1114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17780"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400" b="1" spc="-5" dirty="0">
                          <a:latin typeface="Tahoma"/>
                          <a:cs typeface="Tahoma"/>
                        </a:rPr>
                        <a:t>Titel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111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400" b="1" spc="-5" dirty="0">
                          <a:latin typeface="Tahoma"/>
                          <a:cs typeface="Tahoma"/>
                        </a:rPr>
                        <a:t>SWS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111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marL="297180" indent="-292100">
                        <a:lnSpc>
                          <a:spcPts val="1500"/>
                        </a:lnSpc>
                        <a:spcBef>
                          <a:spcPts val="445"/>
                        </a:spcBef>
                      </a:pPr>
                      <a:r>
                        <a:rPr sz="1400" b="1" dirty="0">
                          <a:latin typeface="Tahoma"/>
                          <a:cs typeface="Tahoma"/>
                        </a:rPr>
                        <a:t>g</a:t>
                      </a:r>
                      <a:r>
                        <a:rPr sz="1400" b="1" spc="-5" dirty="0">
                          <a:latin typeface="Tahoma"/>
                          <a:cs typeface="Tahoma"/>
                        </a:rPr>
                        <a:t>elese</a:t>
                      </a:r>
                      <a:r>
                        <a:rPr sz="1400" b="1" dirty="0">
                          <a:latin typeface="Tahoma"/>
                          <a:cs typeface="Tahoma"/>
                        </a:rPr>
                        <a:t>nV  on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5651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4945">
                <a:tc rowSpan="2">
                  <a:txBody>
                    <a:bodyPr/>
                    <a:lstStyle/>
                    <a:p>
                      <a:pPr marL="113664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2125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3144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Sokrates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7462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C4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226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rowSpan="2" gridSpan="2">
                  <a:txBody>
                    <a:bodyPr/>
                    <a:lstStyle/>
                    <a:p>
                      <a:pPr marL="10541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24002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15430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spc="-10" dirty="0">
                          <a:latin typeface="Tahoma"/>
                          <a:cs typeface="Tahoma"/>
                        </a:rPr>
                        <a:t>Xenokrates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3"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18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1114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111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111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5651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26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76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rowSpan="2" gridSpan="2"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5001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421640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Grundzüge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marL="1651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4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marL="21526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2137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945">
                <a:tc rowSpan="2">
                  <a:txBody>
                    <a:bodyPr/>
                    <a:lstStyle/>
                    <a:p>
                      <a:pPr marL="113664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2126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21653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Russel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7462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C4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232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rowSpan="2" gridSpan="2">
                  <a:txBody>
                    <a:bodyPr/>
                    <a:lstStyle/>
                    <a:p>
                      <a:pPr marL="10541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25403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36512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Jonas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3"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12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826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76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rowSpan="2" gridSpan="2"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5041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18415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Ethik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marL="1651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4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marL="21526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2125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4945">
                <a:tc rowSpan="2">
                  <a:txBody>
                    <a:bodyPr/>
                    <a:lstStyle/>
                    <a:p>
                      <a:pPr marL="113664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2127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3746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spc="-10" dirty="0">
                          <a:latin typeface="Tahoma"/>
                          <a:cs typeface="Tahoma"/>
                        </a:rPr>
                        <a:t>Kopernikus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7462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C3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310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rowSpan="2" gridSpan="2">
                  <a:txBody>
                    <a:bodyPr/>
                    <a:lstStyle/>
                    <a:p>
                      <a:pPr marL="10541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26120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35242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Fichte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3"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10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826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76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rowSpan="2" gridSpan="2"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5043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16192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Erkenntnistheorie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marL="1651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3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marL="21526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2126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4945">
                <a:tc rowSpan="2">
                  <a:txBody>
                    <a:bodyPr/>
                    <a:lstStyle/>
                    <a:p>
                      <a:pPr marL="113664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2133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9494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spc="-10" dirty="0">
                          <a:latin typeface="Tahoma"/>
                          <a:cs typeface="Tahoma"/>
                        </a:rPr>
                        <a:t>Popper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7462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C3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7970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rowSpan="2" gridSpan="2">
                  <a:txBody>
                    <a:bodyPr/>
                    <a:lstStyle/>
                    <a:p>
                      <a:pPr marL="10541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26830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Aristoxenos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3"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8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8826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76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rowSpan="2" gridSpan="2"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5049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54038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Mäeutik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marL="1651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marL="21526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2125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4945">
                <a:tc rowSpan="2">
                  <a:txBody>
                    <a:bodyPr/>
                    <a:lstStyle/>
                    <a:p>
                      <a:pPr marL="113664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2134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3746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Augustinus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7462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C3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309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rowSpan="2" gridSpan="2">
                  <a:txBody>
                    <a:bodyPr/>
                    <a:lstStyle/>
                    <a:p>
                      <a:pPr marL="10541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27550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2730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Schopenhauer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3"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6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8826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76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rowSpan="2" gridSpan="2"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4052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1778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Logik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marL="1651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4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marL="21526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2125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4945">
                <a:tc rowSpan="2">
                  <a:txBody>
                    <a:bodyPr/>
                    <a:lstStyle/>
                    <a:p>
                      <a:pPr marL="113664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2136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26479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Curie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7462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C4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7970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36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rowSpan="2" gridSpan="2">
                  <a:txBody>
                    <a:bodyPr/>
                    <a:lstStyle/>
                    <a:p>
                      <a:pPr marL="10541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28106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30861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Carnap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3"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3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8826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76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rowSpan="2" gridSpan="2"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5052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2159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Wissenschaftstheorie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marL="1651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3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marL="21526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2126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94945">
                <a:tc rowSpan="2">
                  <a:txBody>
                    <a:bodyPr/>
                    <a:lstStyle/>
                    <a:p>
                      <a:pPr marL="113664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lang="en-GB" sz="1400" dirty="0">
                          <a:latin typeface="Tahoma"/>
                          <a:cs typeface="Tahoma"/>
                        </a:rPr>
                        <a:t>2137</a:t>
                      </a: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29083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lang="en-GB" sz="1400" spc="-10">
                          <a:latin typeface="Tahoma"/>
                          <a:cs typeface="Tahoma"/>
                        </a:rPr>
                        <a:t>Kant</a:t>
                      </a:r>
                      <a:endParaRPr lang="en-GB"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7462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lang="en-GB" sz="1400" spc="-5">
                          <a:latin typeface="Tahoma"/>
                          <a:cs typeface="Tahoma"/>
                        </a:rPr>
                        <a:t>C4</a:t>
                      </a:r>
                      <a:endParaRPr lang="en-GB"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7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rowSpan="2" gridSpan="2">
                  <a:txBody>
                    <a:bodyPr/>
                    <a:lstStyle/>
                    <a:p>
                      <a:pPr marL="10541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29120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Theophrastos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3"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9080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76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rowSpan="2" gridSpan="2"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5216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53403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Bioethik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marL="1651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marL="21526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2126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91770">
                <a:tc rowSpan="2"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GB"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10541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29555</a:t>
                      </a:r>
                    </a:p>
                  </a:txBody>
                  <a:tcPr marL="0" marR="0" marT="2159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18034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400" spc="-10" dirty="0">
                          <a:latin typeface="Tahoma"/>
                          <a:cs typeface="Tahoma"/>
                        </a:rPr>
                        <a:t>Feuerbach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15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3"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15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93980">
                <a:tc gridSpan="5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159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15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15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rowSpan="2" gridSpan="2"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5259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18542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Der Wiener</a:t>
                      </a:r>
                      <a:r>
                        <a:rPr sz="1400" spc="-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5" dirty="0">
                          <a:latin typeface="Tahoma"/>
                          <a:cs typeface="Tahoma"/>
                        </a:rPr>
                        <a:t>Kreis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marL="1651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marL="21526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2133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89230">
                <a:tc rowSpan="17" grid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rowSpan="17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17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17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17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17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4">
                  <a:txBody>
                    <a:bodyPr/>
                    <a:lstStyle/>
                    <a:p>
                      <a:pPr marL="1968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b="1" spc="-5" dirty="0">
                          <a:latin typeface="Tahoma"/>
                          <a:cs typeface="Tahoma"/>
                        </a:rPr>
                        <a:t>hören</a:t>
                      </a:r>
                      <a:endParaRPr sz="1600" dirty="0">
                        <a:latin typeface="Tahoma"/>
                        <a:cs typeface="Tahoma"/>
                      </a:endParaRPr>
                    </a:p>
                  </a:txBody>
                  <a:tcPr marL="0" marR="0" marT="3365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5"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 rowSpan="5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5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29539">
                <a:tc gridSpan="6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4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365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5022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Glaube und</a:t>
                      </a:r>
                      <a:r>
                        <a:rPr sz="1400" spc="-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5" dirty="0">
                          <a:latin typeface="Tahoma"/>
                          <a:cs typeface="Tahoma"/>
                        </a:rPr>
                        <a:t>Wissen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marL="1651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marL="21526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2134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53035">
                <a:tc gridSpan="6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b="1" spc="-5" dirty="0">
                          <a:latin typeface="Tahoma"/>
                          <a:cs typeface="Tahoma"/>
                        </a:rPr>
                        <a:t>MatrNr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217804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b="1" dirty="0">
                          <a:latin typeface="Tahoma"/>
                          <a:cs typeface="Tahoma"/>
                        </a:rPr>
                        <a:t>VorlNr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29539">
                <a:tc gridSpan="6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4630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320040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Die </a:t>
                      </a:r>
                      <a:r>
                        <a:rPr sz="1400" dirty="0">
                          <a:latin typeface="Tahoma"/>
                          <a:cs typeface="Tahoma"/>
                        </a:rPr>
                        <a:t>3</a:t>
                      </a:r>
                      <a:r>
                        <a:rPr sz="1400" spc="-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5" dirty="0">
                          <a:latin typeface="Tahoma"/>
                          <a:cs typeface="Tahoma"/>
                        </a:rPr>
                        <a:t>Kritiken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marL="1651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4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marL="21526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2137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53035">
                <a:tc gridSpan="6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224154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26120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311150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5001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30175">
                <a:tc gridSpan="6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3" gridSpan="10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3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3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3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3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3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3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3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3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283210">
                <a:tc gridSpan="6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24154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27550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11150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5001</a:t>
                      </a: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10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232410">
                <a:tc gridSpan="6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24154">
                        <a:lnSpc>
                          <a:spcPts val="151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27550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11150">
                        <a:lnSpc>
                          <a:spcPts val="151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4052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10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310515">
                <a:tc gridSpan="6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24154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28106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1115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5041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9">
                  <a:txBody>
                    <a:bodyPr/>
                    <a:lstStyle/>
                    <a:p>
                      <a:pPr marL="20955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600" b="1" dirty="0">
                          <a:latin typeface="Tahoma"/>
                          <a:cs typeface="Tahoma"/>
                        </a:rPr>
                        <a:t>Assistenten</a:t>
                      </a:r>
                      <a:endParaRPr sz="1600" dirty="0">
                        <a:latin typeface="Tahoma"/>
                        <a:cs typeface="Tahoma"/>
                      </a:endParaRPr>
                    </a:p>
                  </a:txBody>
                  <a:tcPr marL="0" marR="0" marT="254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283210">
                <a:tc gridSpan="6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24154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28106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5143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11150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5052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5143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3"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b="1" dirty="0">
                          <a:latin typeface="Tahoma"/>
                          <a:cs typeface="Tahoma"/>
                        </a:rPr>
                        <a:t>P</a:t>
                      </a:r>
                      <a:r>
                        <a:rPr sz="1400" b="1" spc="-5" dirty="0">
                          <a:latin typeface="Tahoma"/>
                          <a:cs typeface="Tahoma"/>
                        </a:rPr>
                        <a:t>ers</a:t>
                      </a:r>
                      <a:r>
                        <a:rPr sz="1400" b="1" dirty="0">
                          <a:latin typeface="Tahoma"/>
                          <a:cs typeface="Tahoma"/>
                        </a:rPr>
                        <a:t>l</a:t>
                      </a:r>
                      <a:r>
                        <a:rPr sz="1400" b="1" spc="-5" dirty="0">
                          <a:latin typeface="Tahoma"/>
                          <a:cs typeface="Tahoma"/>
                        </a:rPr>
                        <a:t>N</a:t>
                      </a:r>
                      <a:r>
                        <a:rPr sz="1400" b="1" dirty="0">
                          <a:latin typeface="Tahoma"/>
                          <a:cs typeface="Tahoma"/>
                        </a:rPr>
                        <a:t>r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0988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b="1" dirty="0">
                          <a:latin typeface="Tahoma"/>
                          <a:cs typeface="Tahoma"/>
                        </a:rPr>
                        <a:t>Name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40640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b="1" spc="-5" dirty="0">
                          <a:latin typeface="Tahoma"/>
                          <a:cs typeface="Tahoma"/>
                        </a:rPr>
                        <a:t>Fachgebiet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b="1" spc="-5" dirty="0">
                          <a:latin typeface="Tahoma"/>
                          <a:cs typeface="Tahoma"/>
                        </a:rPr>
                        <a:t>Boss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  <a:tr h="283210">
                <a:tc gridSpan="6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24154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28106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5143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11150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5216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5143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3">
                  <a:txBody>
                    <a:bodyPr/>
                    <a:lstStyle/>
                    <a:p>
                      <a:pPr marL="15875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3002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2575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Platon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476884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spc="-10" dirty="0">
                          <a:latin typeface="Tahoma"/>
                          <a:cs typeface="Tahoma"/>
                        </a:rPr>
                        <a:t>Ideenlehre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621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2125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8"/>
                  </a:ext>
                </a:extLst>
              </a:tr>
              <a:tr h="283210">
                <a:tc gridSpan="6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24154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28106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508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1115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5259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508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3">
                  <a:txBody>
                    <a:bodyPr/>
                    <a:lstStyle/>
                    <a:p>
                      <a:pPr marL="15875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3003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Aristoteles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51117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Syllogistik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621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2125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9"/>
                  </a:ext>
                </a:extLst>
              </a:tr>
              <a:tr h="283210">
                <a:tc gridSpan="6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24154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29120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508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1115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5001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508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3">
                  <a:txBody>
                    <a:bodyPr/>
                    <a:lstStyle/>
                    <a:p>
                      <a:pPr marL="15875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3004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Wittgenstein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35623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Sprachtheorie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621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2126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30"/>
                  </a:ext>
                </a:extLst>
              </a:tr>
              <a:tr h="283210">
                <a:tc gridSpan="6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24154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29120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508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1115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5041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508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3">
                  <a:txBody>
                    <a:bodyPr/>
                    <a:lstStyle/>
                    <a:p>
                      <a:pPr marL="15875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3005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3431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Rhetikus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Planetenbewegung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621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2127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31"/>
                  </a:ext>
                </a:extLst>
              </a:tr>
              <a:tr h="283210">
                <a:tc gridSpan="6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24154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29120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508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1115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5049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508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3">
                  <a:txBody>
                    <a:bodyPr/>
                    <a:lstStyle/>
                    <a:p>
                      <a:pPr marL="15875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3006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6987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Newton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13843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spc="-10" dirty="0">
                          <a:latin typeface="Tahoma"/>
                          <a:cs typeface="Tahoma"/>
                        </a:rPr>
                        <a:t>Keplersche</a:t>
                      </a:r>
                      <a:r>
                        <a:rPr sz="1400" spc="-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5" dirty="0">
                          <a:latin typeface="Tahoma"/>
                          <a:cs typeface="Tahoma"/>
                        </a:rPr>
                        <a:t>Gesetze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621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2127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32"/>
                  </a:ext>
                </a:extLst>
              </a:tr>
              <a:tr h="283210">
                <a:tc gridSpan="6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24154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29555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508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1115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5022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508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3">
                  <a:txBody>
                    <a:bodyPr/>
                    <a:lstStyle/>
                    <a:p>
                      <a:pPr marL="15875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3007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6670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Spinoza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30861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Gott und</a:t>
                      </a:r>
                      <a:r>
                        <a:rPr sz="1400" spc="-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400" dirty="0">
                          <a:latin typeface="Tahoma"/>
                          <a:cs typeface="Tahoma"/>
                        </a:rPr>
                        <a:t>Natur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621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2126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33"/>
                  </a:ext>
                </a:extLst>
              </a:tr>
              <a:tr h="295275">
                <a:tc gridSpan="6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24154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25403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508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1115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5022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508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10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34"/>
                  </a:ext>
                </a:extLst>
              </a:tr>
            </a:tbl>
          </a:graphicData>
        </a:graphic>
      </p:graphicFrame>
      <p:graphicFrame>
        <p:nvGraphicFramePr>
          <p:cNvPr id="11" name="object 26">
            <a:extLst>
              <a:ext uri="{FF2B5EF4-FFF2-40B4-BE49-F238E27FC236}">
                <a16:creationId xmlns:a16="http://schemas.microsoft.com/office/drawing/2014/main" id="{5140401F-46F9-2395-8E60-F89AF8980849}"/>
              </a:ext>
            </a:extLst>
          </p:cNvPr>
          <p:cNvGraphicFramePr>
            <a:graphicFrameLocks noGrp="1"/>
          </p:cNvGraphicFramePr>
          <p:nvPr/>
        </p:nvGraphicFramePr>
        <p:xfrm>
          <a:off x="1155697" y="5476241"/>
          <a:ext cx="2736214" cy="162305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692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1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5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515">
                <a:tc gridSpan="4"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600" b="1" spc="-5" dirty="0">
                          <a:latin typeface="Tahoma"/>
                          <a:cs typeface="Tahoma"/>
                        </a:rPr>
                        <a:t>prüfen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254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b="1" dirty="0">
                          <a:latin typeface="Tahoma"/>
                          <a:cs typeface="Tahoma"/>
                        </a:rPr>
                        <a:t>M</a:t>
                      </a:r>
                      <a:r>
                        <a:rPr sz="1400" b="1" spc="-5" dirty="0">
                          <a:latin typeface="Tahoma"/>
                          <a:cs typeface="Tahoma"/>
                        </a:rPr>
                        <a:t>atrN</a:t>
                      </a:r>
                      <a:r>
                        <a:rPr sz="1400" b="1" dirty="0">
                          <a:latin typeface="Tahoma"/>
                          <a:cs typeface="Tahoma"/>
                        </a:rPr>
                        <a:t>r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b="1" dirty="0">
                          <a:latin typeface="Tahoma"/>
                          <a:cs typeface="Tahoma"/>
                        </a:rPr>
                        <a:t>VorlNr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b="1" dirty="0">
                          <a:latin typeface="Tahoma"/>
                          <a:cs typeface="Tahoma"/>
                        </a:rPr>
                        <a:t>P</a:t>
                      </a:r>
                      <a:r>
                        <a:rPr sz="1400" b="1" spc="-5" dirty="0">
                          <a:latin typeface="Tahoma"/>
                          <a:cs typeface="Tahoma"/>
                        </a:rPr>
                        <a:t>ersN</a:t>
                      </a:r>
                      <a:r>
                        <a:rPr sz="1400" b="1" dirty="0">
                          <a:latin typeface="Tahoma"/>
                          <a:cs typeface="Tahoma"/>
                        </a:rPr>
                        <a:t>r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b="1" dirty="0">
                          <a:latin typeface="Tahoma"/>
                          <a:cs typeface="Tahoma"/>
                        </a:rPr>
                        <a:t>Note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9720"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28106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5001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2126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25403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5041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2125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955"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27550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4630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2137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</a:t>
                      </a: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2" name="object 16">
            <a:extLst>
              <a:ext uri="{FF2B5EF4-FFF2-40B4-BE49-F238E27FC236}">
                <a16:creationId xmlns:a16="http://schemas.microsoft.com/office/drawing/2014/main" id="{435D0FE9-E968-4754-11B0-646C516718CB}"/>
              </a:ext>
            </a:extLst>
          </p:cNvPr>
          <p:cNvGraphicFramePr>
            <a:graphicFrameLocks noGrp="1"/>
          </p:cNvGraphicFramePr>
          <p:nvPr/>
        </p:nvGraphicFramePr>
        <p:xfrm>
          <a:off x="1522409" y="2896554"/>
          <a:ext cx="2134235" cy="250348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242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99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1751">
                <a:tc gridSpan="2">
                  <a:txBody>
                    <a:bodyPr/>
                    <a:lstStyle/>
                    <a:p>
                      <a:pPr marL="40640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600" b="1" dirty="0">
                          <a:latin typeface="Tahoma"/>
                          <a:cs typeface="Tahoma"/>
                        </a:rPr>
                        <a:t>voraussetzen</a:t>
                      </a:r>
                      <a:endParaRPr sz="1600" dirty="0">
                        <a:latin typeface="Tahoma"/>
                        <a:cs typeface="Tahoma"/>
                      </a:endParaRPr>
                    </a:p>
                  </a:txBody>
                  <a:tcPr marL="0" marR="0" marT="254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5217"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b="1" dirty="0">
                          <a:latin typeface="Tahoma"/>
                          <a:cs typeface="Tahoma"/>
                        </a:rPr>
                        <a:t>Vorgänger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b="1" spc="-5" dirty="0">
                          <a:latin typeface="Tahoma"/>
                          <a:cs typeface="Tahoma"/>
                        </a:rPr>
                        <a:t>Nachfolger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5217"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5001</a:t>
                      </a: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5041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5217"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5001</a:t>
                      </a: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5043</a:t>
                      </a: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5217"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5001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5049</a:t>
                      </a: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5217"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5041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5216</a:t>
                      </a: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5217"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5043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5052</a:t>
                      </a: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5217"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5041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5052</a:t>
                      </a: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5217"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5052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5259</a:t>
                      </a: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59119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615440" y="1761008"/>
            <a:ext cx="6303010" cy="28007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Mengenoperationen </a:t>
            </a:r>
            <a:r>
              <a:rPr sz="2400" b="1" spc="-5" dirty="0">
                <a:latin typeface="Tahoma"/>
                <a:cs typeface="Tahoma"/>
              </a:rPr>
              <a:t>union, intersect,</a:t>
            </a:r>
            <a:r>
              <a:rPr sz="2400" b="1" spc="20" dirty="0">
                <a:latin typeface="Tahoma"/>
                <a:cs typeface="Tahoma"/>
              </a:rPr>
              <a:t> </a:t>
            </a:r>
            <a:r>
              <a:rPr sz="2400" b="1" spc="-5" dirty="0">
                <a:latin typeface="Tahoma"/>
                <a:cs typeface="Tahoma"/>
              </a:rPr>
              <a:t>minus</a:t>
            </a:r>
            <a:endParaRPr sz="24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Tahoma"/>
                <a:cs typeface="Tahoma"/>
              </a:rPr>
              <a:t>( </a:t>
            </a:r>
            <a:r>
              <a:rPr sz="2400" b="1" spc="-5" dirty="0">
                <a:latin typeface="Tahoma"/>
                <a:cs typeface="Tahoma"/>
              </a:rPr>
              <a:t>select</a:t>
            </a:r>
            <a:r>
              <a:rPr sz="2400" b="1" spc="4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Name</a:t>
            </a:r>
            <a:endParaRPr sz="2400" dirty="0">
              <a:latin typeface="Tahoma"/>
              <a:cs typeface="Tahoma"/>
            </a:endParaRPr>
          </a:p>
          <a:p>
            <a:pPr marL="203200">
              <a:lnSpc>
                <a:spcPct val="100000"/>
              </a:lnSpc>
              <a:spcBef>
                <a:spcPts val="220"/>
              </a:spcBef>
            </a:pPr>
            <a:r>
              <a:rPr sz="2400" b="1" spc="-5" dirty="0">
                <a:latin typeface="Tahoma"/>
                <a:cs typeface="Tahoma"/>
              </a:rPr>
              <a:t>from </a:t>
            </a:r>
            <a:r>
              <a:rPr sz="2400" spc="-5" dirty="0">
                <a:latin typeface="Tahoma"/>
                <a:cs typeface="Tahoma"/>
              </a:rPr>
              <a:t>Assistenten</a:t>
            </a:r>
            <a:r>
              <a:rPr sz="2400" spc="4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)</a:t>
            </a: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z="2400" b="1" spc="-5" dirty="0">
                <a:latin typeface="Tahoma"/>
                <a:cs typeface="Tahoma"/>
              </a:rPr>
              <a:t>union</a:t>
            </a:r>
            <a:endParaRPr sz="24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z="2400" dirty="0">
                <a:latin typeface="Tahoma"/>
                <a:cs typeface="Tahoma"/>
              </a:rPr>
              <a:t>( </a:t>
            </a:r>
            <a:r>
              <a:rPr sz="2400" b="1" spc="-5" dirty="0">
                <a:latin typeface="Tahoma"/>
                <a:cs typeface="Tahoma"/>
              </a:rPr>
              <a:t>select</a:t>
            </a:r>
            <a:r>
              <a:rPr sz="2400" b="1" spc="-1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Name</a:t>
            </a:r>
            <a:endParaRPr sz="2400" dirty="0">
              <a:latin typeface="Tahoma"/>
              <a:cs typeface="Tahoma"/>
            </a:endParaRPr>
          </a:p>
          <a:p>
            <a:pPr marL="203200">
              <a:lnSpc>
                <a:spcPct val="100000"/>
              </a:lnSpc>
              <a:spcBef>
                <a:spcPts val="320"/>
              </a:spcBef>
            </a:pPr>
            <a:r>
              <a:rPr sz="2400" b="1" spc="-5" dirty="0">
                <a:latin typeface="Tahoma"/>
                <a:cs typeface="Tahoma"/>
              </a:rPr>
              <a:t>from</a:t>
            </a:r>
            <a:r>
              <a:rPr sz="2400" b="1" spc="4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Professoren);</a:t>
            </a: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4C9FFFEB-1B95-C94F-0430-D9DECF433F6F}"/>
              </a:ext>
            </a:extLst>
          </p:cNvPr>
          <p:cNvSpPr txBox="1">
            <a:spLocks/>
          </p:cNvSpPr>
          <p:nvPr/>
        </p:nvSpPr>
        <p:spPr>
          <a:xfrm>
            <a:off x="828589" y="901303"/>
            <a:ext cx="6194511" cy="540000"/>
          </a:xfrm>
          <a:prstGeom prst="rect">
            <a:avLst/>
          </a:prstGeom>
          <a:solidFill>
            <a:schemeClr val="accent2"/>
          </a:solidFill>
        </p:spPr>
        <p:txBody>
          <a:bodyPr vert="horz" wrap="square" lIns="0" tIns="12700" rIns="0" bIns="0" rtlCol="0" anchor="ctr">
            <a:spAutoFit/>
          </a:bodyPr>
          <a:lstStyle>
            <a:lvl1pPr marL="78932" algn="l" defTabSz="801945" rtl="0" eaLnBrk="1" fontAlgn="ctr" latinLnBrk="0" hangingPunct="1">
              <a:lnSpc>
                <a:spcPct val="90000"/>
              </a:lnSpc>
              <a:spcBef>
                <a:spcPct val="0"/>
              </a:spcBef>
              <a:buNone/>
              <a:defRPr sz="2193" b="0" i="0" kern="1200" baseline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426335" algn="l"/>
              </a:tabLst>
            </a:pPr>
            <a:r>
              <a:rPr lang="en-GB" dirty="0" err="1"/>
              <a:t>Mengenoperationen</a:t>
            </a:r>
            <a:endParaRPr lang="en-GB" spc="-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079500" y="1263650"/>
            <a:ext cx="6303010" cy="21057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24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r>
              <a:rPr lang="en-US" sz="2800" b="1" dirty="0">
                <a:latin typeface="Tahoma"/>
                <a:cs typeface="Tahoma"/>
              </a:rPr>
              <a:t>s</a:t>
            </a:r>
            <a:r>
              <a:rPr lang="en-GB" sz="2800" b="1" dirty="0">
                <a:latin typeface="Tahoma"/>
                <a:cs typeface="Tahoma"/>
              </a:rPr>
              <a:t>elect </a:t>
            </a:r>
            <a:r>
              <a:rPr lang="en-GB" sz="2800" dirty="0">
                <a:latin typeface="Tahoma"/>
                <a:cs typeface="Tahoma"/>
              </a:rPr>
              <a:t>* </a:t>
            </a:r>
          </a:p>
          <a:p>
            <a:pPr>
              <a:lnSpc>
                <a:spcPct val="100000"/>
              </a:lnSpc>
            </a:pPr>
            <a:r>
              <a:rPr lang="en-GB" sz="2800" b="1" dirty="0">
                <a:latin typeface="Tahoma"/>
                <a:cs typeface="Tahoma"/>
              </a:rPr>
              <a:t>from </a:t>
            </a:r>
            <a:r>
              <a:rPr lang="en-GB" sz="2800" dirty="0" err="1">
                <a:latin typeface="Tahoma"/>
                <a:cs typeface="Tahoma"/>
              </a:rPr>
              <a:t>pr</a:t>
            </a:r>
            <a:r>
              <a:rPr lang="en-GB" sz="2800" spc="-5" dirty="0" err="1">
                <a:latin typeface="Tahoma"/>
                <a:cs typeface="Tahoma"/>
              </a:rPr>
              <a:t>uefen</a:t>
            </a:r>
            <a:endParaRPr lang="en-GB" sz="2800" spc="-5" dirty="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r>
              <a:rPr lang="en-GB" sz="2800" b="1" spc="-5" dirty="0">
                <a:latin typeface="Tahoma"/>
                <a:cs typeface="Tahoma"/>
              </a:rPr>
              <a:t>where</a:t>
            </a:r>
            <a:r>
              <a:rPr lang="en-GB" sz="2800" spc="-5" dirty="0">
                <a:latin typeface="Tahoma"/>
                <a:cs typeface="Tahoma"/>
              </a:rPr>
              <a:t> Note = ( </a:t>
            </a:r>
            <a:r>
              <a:rPr lang="en-GB" sz="2800" b="1" spc="-5" dirty="0">
                <a:latin typeface="Tahoma"/>
                <a:cs typeface="Tahoma"/>
              </a:rPr>
              <a:t>select </a:t>
            </a:r>
            <a:r>
              <a:rPr lang="en-GB" sz="2800" b="1" spc="-5" dirty="0" err="1">
                <a:latin typeface="Tahoma"/>
                <a:cs typeface="Tahoma"/>
              </a:rPr>
              <a:t>avg</a:t>
            </a:r>
            <a:r>
              <a:rPr lang="en-GB" sz="2800" spc="-5" dirty="0">
                <a:latin typeface="Tahoma"/>
                <a:cs typeface="Tahoma"/>
              </a:rPr>
              <a:t>(Note)</a:t>
            </a:r>
          </a:p>
          <a:p>
            <a:r>
              <a:rPr lang="en-GB" sz="2800" spc="-5" dirty="0">
                <a:latin typeface="Tahoma"/>
                <a:cs typeface="Tahoma"/>
              </a:rPr>
              <a:t>		        </a:t>
            </a:r>
            <a:r>
              <a:rPr lang="en-GB" sz="2800" b="1" spc="-5" dirty="0">
                <a:latin typeface="Tahoma"/>
                <a:cs typeface="Tahoma"/>
              </a:rPr>
              <a:t>from </a:t>
            </a:r>
            <a:r>
              <a:rPr lang="en-GB" sz="2800" dirty="0" err="1">
                <a:latin typeface="Tahoma"/>
                <a:cs typeface="Tahoma"/>
              </a:rPr>
              <a:t>pr</a:t>
            </a:r>
            <a:r>
              <a:rPr lang="en-GB" sz="2800" spc="-5" dirty="0" err="1">
                <a:latin typeface="Tahoma"/>
                <a:cs typeface="Tahoma"/>
              </a:rPr>
              <a:t>uefen</a:t>
            </a:r>
            <a:r>
              <a:rPr lang="en-GB" sz="2800" spc="-5" dirty="0">
                <a:latin typeface="Tahoma"/>
                <a:cs typeface="Tahoma"/>
              </a:rPr>
              <a:t> )</a:t>
            </a:r>
            <a:r>
              <a:rPr sz="2800" dirty="0">
                <a:latin typeface="Tahoma"/>
                <a:cs typeface="Tahoma"/>
              </a:rPr>
              <a:t>;</a:t>
            </a:r>
          </a:p>
        </p:txBody>
      </p:sp>
      <p:sp>
        <p:nvSpPr>
          <p:cNvPr id="6" name="object 4"/>
          <p:cNvSpPr txBox="1"/>
          <p:nvPr/>
        </p:nvSpPr>
        <p:spPr>
          <a:xfrm>
            <a:off x="1155700" y="3702050"/>
            <a:ext cx="9448800" cy="253659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24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r>
              <a:rPr lang="en-US" sz="2800" b="1" dirty="0">
                <a:latin typeface="Tahoma"/>
                <a:cs typeface="Tahoma"/>
              </a:rPr>
              <a:t>S</a:t>
            </a:r>
            <a:r>
              <a:rPr lang="en-GB" sz="2800" b="1" dirty="0">
                <a:latin typeface="Tahoma"/>
                <a:cs typeface="Tahoma"/>
              </a:rPr>
              <a:t>elect </a:t>
            </a:r>
            <a:r>
              <a:rPr lang="en-GB" sz="2800" dirty="0" err="1">
                <a:latin typeface="Tahoma"/>
                <a:cs typeface="Tahoma"/>
              </a:rPr>
              <a:t>PersNr</a:t>
            </a:r>
            <a:r>
              <a:rPr lang="en-GB" sz="2800" dirty="0">
                <a:latin typeface="Tahoma"/>
                <a:cs typeface="Tahoma"/>
              </a:rPr>
              <a:t>, Name, (</a:t>
            </a:r>
            <a:r>
              <a:rPr lang="en-GB" sz="2800" b="1" dirty="0">
                <a:latin typeface="Tahoma"/>
                <a:cs typeface="Tahoma"/>
              </a:rPr>
              <a:t>select sum</a:t>
            </a:r>
            <a:r>
              <a:rPr lang="en-GB" sz="2800" dirty="0">
                <a:latin typeface="Tahoma"/>
                <a:cs typeface="Tahoma"/>
              </a:rPr>
              <a:t>(SWS) </a:t>
            </a:r>
            <a:r>
              <a:rPr lang="en-GB" sz="2800" b="1" dirty="0">
                <a:latin typeface="Tahoma"/>
                <a:cs typeface="Tahoma"/>
              </a:rPr>
              <a:t>as </a:t>
            </a:r>
            <a:r>
              <a:rPr lang="en-GB" sz="2800" dirty="0" err="1">
                <a:latin typeface="Tahoma"/>
                <a:cs typeface="Tahoma"/>
              </a:rPr>
              <a:t>Lehrbelastung</a:t>
            </a:r>
            <a:r>
              <a:rPr lang="en-GB" sz="2800" dirty="0">
                <a:latin typeface="Tahoma"/>
                <a:cs typeface="Tahoma"/>
              </a:rPr>
              <a:t> </a:t>
            </a:r>
          </a:p>
          <a:p>
            <a:pPr>
              <a:lnSpc>
                <a:spcPct val="100000"/>
              </a:lnSpc>
            </a:pPr>
            <a:r>
              <a:rPr lang="en-GB" sz="2800" b="1" dirty="0">
                <a:latin typeface="Tahoma"/>
                <a:cs typeface="Tahoma"/>
              </a:rPr>
              <a:t>				from </a:t>
            </a:r>
            <a:r>
              <a:rPr lang="en-GB" sz="2800" dirty="0" err="1">
                <a:latin typeface="Tahoma"/>
                <a:cs typeface="Tahoma"/>
              </a:rPr>
              <a:t>Vorlesungen</a:t>
            </a:r>
            <a:endParaRPr lang="en-GB" sz="2800" spc="-5" dirty="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r>
              <a:rPr lang="en-GB" sz="2800" b="1" spc="-5" dirty="0">
                <a:latin typeface="Tahoma"/>
                <a:cs typeface="Tahoma"/>
              </a:rPr>
              <a:t>				where </a:t>
            </a:r>
            <a:r>
              <a:rPr lang="en-GB" sz="2800" spc="-5" dirty="0" err="1">
                <a:latin typeface="Tahoma"/>
                <a:cs typeface="Tahoma"/>
              </a:rPr>
              <a:t>gelesenVon</a:t>
            </a:r>
            <a:r>
              <a:rPr lang="en-GB" sz="2800" spc="-5" dirty="0">
                <a:latin typeface="Tahoma"/>
                <a:cs typeface="Tahoma"/>
              </a:rPr>
              <a:t> = </a:t>
            </a:r>
            <a:r>
              <a:rPr lang="en-GB" sz="2800" spc="-5" dirty="0" err="1">
                <a:latin typeface="Tahoma"/>
                <a:cs typeface="Tahoma"/>
              </a:rPr>
              <a:t>PersNr</a:t>
            </a:r>
            <a:r>
              <a:rPr lang="en-GB" sz="2800" spc="-5" dirty="0">
                <a:latin typeface="Tahoma"/>
                <a:cs typeface="Tahoma"/>
              </a:rPr>
              <a:t>)</a:t>
            </a:r>
          </a:p>
          <a:p>
            <a:pPr>
              <a:lnSpc>
                <a:spcPct val="100000"/>
              </a:lnSpc>
            </a:pPr>
            <a:r>
              <a:rPr lang="en-GB" sz="2800" b="1" spc="-5" dirty="0">
                <a:latin typeface="Tahoma"/>
                <a:cs typeface="Tahoma"/>
              </a:rPr>
              <a:t>from </a:t>
            </a:r>
            <a:r>
              <a:rPr lang="en-GB" sz="2800" spc="-5" dirty="0" err="1">
                <a:latin typeface="Tahoma"/>
                <a:cs typeface="Tahoma"/>
              </a:rPr>
              <a:t>Professoren</a:t>
            </a:r>
            <a:r>
              <a:rPr lang="en-GB" sz="2800" spc="-5" dirty="0">
                <a:latin typeface="Tahoma"/>
                <a:cs typeface="Tahoma"/>
              </a:rPr>
              <a:t>;</a:t>
            </a:r>
            <a:endParaRPr lang="en-GB" sz="2800" b="1" spc="-5" dirty="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lang="en-GB" sz="2800" spc="-5" dirty="0">
              <a:latin typeface="Tahoma"/>
              <a:cs typeface="Tahom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84700" y="5759450"/>
            <a:ext cx="1676400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solidFill>
                  <a:srgbClr val="FF0000"/>
                </a:solidFill>
              </a:rPr>
              <a:t>Korrelation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0CA63104-6C33-CA1A-8B6E-9F2FBB99CFC5}"/>
              </a:ext>
            </a:extLst>
          </p:cNvPr>
          <p:cNvSpPr txBox="1">
            <a:spLocks/>
          </p:cNvSpPr>
          <p:nvPr/>
        </p:nvSpPr>
        <p:spPr>
          <a:xfrm>
            <a:off x="828589" y="654050"/>
            <a:ext cx="6194511" cy="540000"/>
          </a:xfrm>
          <a:prstGeom prst="rect">
            <a:avLst/>
          </a:prstGeom>
          <a:solidFill>
            <a:schemeClr val="accent2"/>
          </a:solidFill>
        </p:spPr>
        <p:txBody>
          <a:bodyPr vert="horz" wrap="square" lIns="0" tIns="12700" rIns="0" bIns="0" rtlCol="0" anchor="ctr">
            <a:spAutoFit/>
          </a:bodyPr>
          <a:lstStyle>
            <a:lvl1pPr marL="78932" algn="l" defTabSz="801945" rtl="0" eaLnBrk="1" fontAlgn="ctr" latinLnBrk="0" hangingPunct="1">
              <a:lnSpc>
                <a:spcPct val="90000"/>
              </a:lnSpc>
              <a:spcBef>
                <a:spcPct val="0"/>
              </a:spcBef>
              <a:buNone/>
              <a:defRPr sz="2193" b="0" i="0" kern="1200" baseline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426335" algn="l"/>
              </a:tabLst>
            </a:pPr>
            <a:r>
              <a:rPr lang="en-GB" dirty="0" err="1"/>
              <a:t>Geschachtelte</a:t>
            </a:r>
            <a:r>
              <a:rPr lang="en-GB" dirty="0"/>
              <a:t> </a:t>
            </a:r>
            <a:r>
              <a:rPr lang="en-GB" dirty="0" err="1"/>
              <a:t>Abfragen</a:t>
            </a:r>
            <a:endParaRPr lang="en-GB" spc="-5" dirty="0"/>
          </a:p>
        </p:txBody>
      </p:sp>
      <p:sp>
        <p:nvSpPr>
          <p:cNvPr id="12" name="Curved Left Arrow 11">
            <a:extLst>
              <a:ext uri="{FF2B5EF4-FFF2-40B4-BE49-F238E27FC236}">
                <a16:creationId xmlns:a16="http://schemas.microsoft.com/office/drawing/2014/main" id="{36DB36BF-7279-D7EC-BA90-24C239ED512C}"/>
              </a:ext>
            </a:extLst>
          </p:cNvPr>
          <p:cNvSpPr/>
          <p:nvPr/>
        </p:nvSpPr>
        <p:spPr>
          <a:xfrm rot="5156673">
            <a:off x="5326534" y="3811880"/>
            <a:ext cx="954731" cy="4724400"/>
          </a:xfrm>
          <a:prstGeom prst="curvedLeftArrow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42230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27100" y="723650"/>
            <a:ext cx="6931660" cy="540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>
                <a:latin typeface="Tahoma"/>
                <a:cs typeface="Tahoma"/>
              </a:rPr>
              <a:t>Existenzquantor</a:t>
            </a:r>
            <a:r>
              <a:rPr spc="-30" dirty="0">
                <a:latin typeface="Tahoma"/>
                <a:cs typeface="Tahoma"/>
              </a:rPr>
              <a:t> </a:t>
            </a:r>
            <a:r>
              <a:rPr b="1" spc="-5" dirty="0">
                <a:latin typeface="Tahoma"/>
                <a:cs typeface="Tahoma"/>
              </a:rPr>
              <a:t>exists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10640" y="2256675"/>
            <a:ext cx="8837295" cy="236982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2800" b="1" spc="-5" dirty="0">
                <a:latin typeface="Tahoma"/>
                <a:cs typeface="Tahoma"/>
              </a:rPr>
              <a:t>select</a:t>
            </a:r>
            <a:r>
              <a:rPr sz="2800" b="1" spc="-1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p.Name</a:t>
            </a:r>
            <a:endParaRPr sz="28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z="2800" b="1" spc="-5" dirty="0">
                <a:latin typeface="Tahoma"/>
                <a:cs typeface="Tahoma"/>
              </a:rPr>
              <a:t>from </a:t>
            </a:r>
            <a:r>
              <a:rPr sz="2800" spc="-5" dirty="0">
                <a:latin typeface="Tahoma"/>
                <a:cs typeface="Tahoma"/>
              </a:rPr>
              <a:t>Professoren</a:t>
            </a:r>
            <a:r>
              <a:rPr sz="2800" spc="5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p</a:t>
            </a:r>
            <a:endParaRPr sz="28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2800" b="1" spc="-5" dirty="0">
                <a:latin typeface="Tahoma"/>
                <a:cs typeface="Tahoma"/>
              </a:rPr>
              <a:t>where not exists </a:t>
            </a:r>
            <a:r>
              <a:rPr sz="2800" dirty="0">
                <a:latin typeface="Tahoma"/>
                <a:cs typeface="Tahoma"/>
              </a:rPr>
              <a:t>( </a:t>
            </a:r>
            <a:r>
              <a:rPr sz="2800" b="1" spc="-5" dirty="0">
                <a:latin typeface="Tahoma"/>
                <a:cs typeface="Tahoma"/>
              </a:rPr>
              <a:t>select</a:t>
            </a:r>
            <a:r>
              <a:rPr sz="2800" b="1" spc="-5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*</a:t>
            </a:r>
          </a:p>
          <a:p>
            <a:pPr marL="3371850">
              <a:lnSpc>
                <a:spcPct val="100000"/>
              </a:lnSpc>
              <a:spcBef>
                <a:spcPts val="340"/>
              </a:spcBef>
            </a:pPr>
            <a:r>
              <a:rPr sz="2800" b="1" spc="-5" dirty="0">
                <a:latin typeface="Tahoma"/>
                <a:cs typeface="Tahoma"/>
              </a:rPr>
              <a:t>from </a:t>
            </a:r>
            <a:r>
              <a:rPr sz="2800" spc="-15" dirty="0">
                <a:latin typeface="Tahoma"/>
                <a:cs typeface="Tahoma"/>
              </a:rPr>
              <a:t>Vorlesungen</a:t>
            </a:r>
            <a:r>
              <a:rPr sz="2800" spc="5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v</a:t>
            </a:r>
          </a:p>
          <a:p>
            <a:pPr marL="3371850">
              <a:lnSpc>
                <a:spcPct val="100000"/>
              </a:lnSpc>
              <a:spcBef>
                <a:spcPts val="340"/>
              </a:spcBef>
            </a:pPr>
            <a:r>
              <a:rPr sz="2800" b="1" spc="-5" dirty="0">
                <a:latin typeface="Tahoma"/>
                <a:cs typeface="Tahoma"/>
              </a:rPr>
              <a:t>where </a:t>
            </a:r>
            <a:r>
              <a:rPr sz="2800" spc="-35" dirty="0">
                <a:latin typeface="Tahoma"/>
                <a:cs typeface="Tahoma"/>
              </a:rPr>
              <a:t>v.gelesenVon </a:t>
            </a:r>
            <a:r>
              <a:rPr sz="2800" spc="-5" dirty="0">
                <a:latin typeface="Tahoma"/>
                <a:cs typeface="Tahoma"/>
              </a:rPr>
              <a:t>= </a:t>
            </a:r>
            <a:r>
              <a:rPr sz="2800" spc="-15" dirty="0">
                <a:latin typeface="Tahoma"/>
                <a:cs typeface="Tahoma"/>
              </a:rPr>
              <a:t>p.PersNr</a:t>
            </a:r>
            <a:r>
              <a:rPr sz="2800" spc="9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);</a:t>
            </a:r>
            <a:endParaRPr sz="2800" dirty="0">
              <a:latin typeface="Tahoma"/>
              <a:cs typeface="Tahom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708900" y="6140450"/>
            <a:ext cx="243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Bedeutung</a:t>
            </a:r>
            <a:r>
              <a:rPr lang="en-US" dirty="0">
                <a:solidFill>
                  <a:srgbClr val="FF0000"/>
                </a:solidFill>
              </a:rPr>
              <a:t> der </a:t>
            </a:r>
            <a:r>
              <a:rPr lang="en-US" dirty="0" err="1">
                <a:solidFill>
                  <a:srgbClr val="FF0000"/>
                </a:solidFill>
              </a:rPr>
              <a:t>Anfrage</a:t>
            </a:r>
            <a:r>
              <a:rPr lang="en-US" dirty="0">
                <a:solidFill>
                  <a:srgbClr val="FF0000"/>
                </a:solidFill>
              </a:rPr>
              <a:t>?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27100" y="753110"/>
            <a:ext cx="6933277" cy="540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>
                <a:latin typeface="Tahoma"/>
                <a:cs typeface="Tahoma"/>
              </a:rPr>
              <a:t>Existenzquantor</a:t>
            </a:r>
            <a:r>
              <a:rPr spc="-30" dirty="0">
                <a:latin typeface="Tahoma"/>
                <a:cs typeface="Tahoma"/>
              </a:rPr>
              <a:t> </a:t>
            </a:r>
            <a:r>
              <a:rPr spc="-5" dirty="0">
                <a:latin typeface="Tahoma"/>
                <a:cs typeface="Tahoma"/>
              </a:rPr>
              <a:t>exists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10640" y="2256675"/>
            <a:ext cx="8837295" cy="236982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2800" b="1" spc="-5" dirty="0">
                <a:latin typeface="Tahoma"/>
                <a:cs typeface="Tahoma"/>
              </a:rPr>
              <a:t>select</a:t>
            </a:r>
            <a:r>
              <a:rPr sz="2800" b="1" spc="-1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p.Name</a:t>
            </a:r>
            <a:endParaRPr sz="28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z="2800" b="1" spc="-5" dirty="0">
                <a:latin typeface="Tahoma"/>
                <a:cs typeface="Tahoma"/>
              </a:rPr>
              <a:t>from </a:t>
            </a:r>
            <a:r>
              <a:rPr sz="2800" spc="-5" dirty="0">
                <a:latin typeface="Tahoma"/>
                <a:cs typeface="Tahoma"/>
              </a:rPr>
              <a:t>Professoren</a:t>
            </a:r>
            <a:r>
              <a:rPr sz="2800" spc="5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p</a:t>
            </a:r>
            <a:endParaRPr sz="28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2800" b="1" spc="-5" dirty="0">
                <a:latin typeface="Tahoma"/>
                <a:cs typeface="Tahoma"/>
              </a:rPr>
              <a:t>where not exists </a:t>
            </a:r>
            <a:r>
              <a:rPr sz="2800" dirty="0">
                <a:latin typeface="Tahoma"/>
                <a:cs typeface="Tahoma"/>
              </a:rPr>
              <a:t>( </a:t>
            </a:r>
            <a:r>
              <a:rPr sz="2800" b="1" spc="-5" dirty="0">
                <a:latin typeface="Tahoma"/>
                <a:cs typeface="Tahoma"/>
              </a:rPr>
              <a:t>select</a:t>
            </a:r>
            <a:r>
              <a:rPr sz="2800" b="1" spc="-5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*</a:t>
            </a:r>
          </a:p>
          <a:p>
            <a:pPr marL="3371850">
              <a:lnSpc>
                <a:spcPct val="100000"/>
              </a:lnSpc>
              <a:spcBef>
                <a:spcPts val="340"/>
              </a:spcBef>
            </a:pPr>
            <a:r>
              <a:rPr sz="2800" b="1" spc="-5" dirty="0">
                <a:latin typeface="Tahoma"/>
                <a:cs typeface="Tahoma"/>
              </a:rPr>
              <a:t>from </a:t>
            </a:r>
            <a:r>
              <a:rPr sz="2800" spc="-15" dirty="0">
                <a:latin typeface="Tahoma"/>
                <a:cs typeface="Tahoma"/>
              </a:rPr>
              <a:t>Vorlesungen</a:t>
            </a:r>
            <a:r>
              <a:rPr sz="2800" spc="5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v</a:t>
            </a:r>
          </a:p>
          <a:p>
            <a:pPr marL="3371850">
              <a:lnSpc>
                <a:spcPct val="100000"/>
              </a:lnSpc>
              <a:spcBef>
                <a:spcPts val="340"/>
              </a:spcBef>
            </a:pPr>
            <a:r>
              <a:rPr sz="2800" b="1" spc="-5" dirty="0">
                <a:latin typeface="Tahoma"/>
                <a:cs typeface="Tahoma"/>
              </a:rPr>
              <a:t>where </a:t>
            </a:r>
            <a:r>
              <a:rPr sz="2800" spc="-35" dirty="0">
                <a:latin typeface="Tahoma"/>
                <a:cs typeface="Tahoma"/>
              </a:rPr>
              <a:t>v.gelesenVon </a:t>
            </a:r>
            <a:r>
              <a:rPr sz="2800" spc="-5" dirty="0">
                <a:latin typeface="Tahoma"/>
                <a:cs typeface="Tahoma"/>
              </a:rPr>
              <a:t>= </a:t>
            </a:r>
            <a:r>
              <a:rPr sz="2800" spc="-15" dirty="0">
                <a:latin typeface="Tahoma"/>
                <a:cs typeface="Tahoma"/>
              </a:rPr>
              <a:t>p.PersNr</a:t>
            </a:r>
            <a:r>
              <a:rPr sz="2800" spc="9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);</a:t>
            </a:r>
            <a:endParaRPr sz="2800" dirty="0">
              <a:latin typeface="Tahoma"/>
              <a:cs typeface="Tahoma"/>
            </a:endParaRPr>
          </a:p>
        </p:txBody>
      </p:sp>
      <p:sp>
        <p:nvSpPr>
          <p:cNvPr id="6" name="Curved Left Arrow 5">
            <a:extLst>
              <a:ext uri="{FF2B5EF4-FFF2-40B4-BE49-F238E27FC236}">
                <a16:creationId xmlns:a16="http://schemas.microsoft.com/office/drawing/2014/main" id="{153E25FD-E312-7DCD-0C57-75BBCCF9A9BE}"/>
              </a:ext>
            </a:extLst>
          </p:cNvPr>
          <p:cNvSpPr/>
          <p:nvPr/>
        </p:nvSpPr>
        <p:spPr>
          <a:xfrm rot="6457662" flipH="1">
            <a:off x="5976203" y="526031"/>
            <a:ext cx="1087900" cy="4724400"/>
          </a:xfrm>
          <a:prstGeom prst="curvedLeftArrow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755FAC-34E4-EEDA-8F9D-5D92621B1660}"/>
              </a:ext>
            </a:extLst>
          </p:cNvPr>
          <p:cNvSpPr txBox="1"/>
          <p:nvPr/>
        </p:nvSpPr>
        <p:spPr>
          <a:xfrm>
            <a:off x="5422900" y="2545400"/>
            <a:ext cx="1676400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solidFill>
                  <a:srgbClr val="FF0000"/>
                </a:solidFill>
              </a:rPr>
              <a:t>Korrelation</a:t>
            </a:r>
            <a:endParaRPr lang="en-US" sz="20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50900" y="613524"/>
            <a:ext cx="6172200" cy="540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Mengenvergleich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86840" y="2843530"/>
            <a:ext cx="3128645" cy="1112520"/>
          </a:xfrm>
          <a:prstGeom prst="rect">
            <a:avLst/>
          </a:prstGeom>
        </p:spPr>
        <p:txBody>
          <a:bodyPr vert="horz" wrap="square" lIns="0" tIns="129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20"/>
              </a:spcBef>
            </a:pPr>
            <a:r>
              <a:rPr sz="2800" b="1" spc="-5" dirty="0">
                <a:latin typeface="Tahoma"/>
                <a:cs typeface="Tahoma"/>
              </a:rPr>
              <a:t>select</a:t>
            </a:r>
            <a:r>
              <a:rPr sz="2800" b="1" spc="3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p.Name</a:t>
            </a:r>
            <a:endParaRPr sz="2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920"/>
              </a:spcBef>
            </a:pPr>
            <a:r>
              <a:rPr sz="2800" b="1" spc="-5" dirty="0">
                <a:latin typeface="Tahoma"/>
                <a:cs typeface="Tahoma"/>
              </a:rPr>
              <a:t>from </a:t>
            </a:r>
            <a:r>
              <a:rPr sz="2800" spc="-5" dirty="0">
                <a:latin typeface="Tahoma"/>
                <a:cs typeface="Tahoma"/>
              </a:rPr>
              <a:t>Professoren</a:t>
            </a:r>
            <a:r>
              <a:rPr sz="2800" spc="-2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p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86840" y="3930650"/>
            <a:ext cx="7509509" cy="1143000"/>
          </a:xfrm>
          <a:prstGeom prst="rect">
            <a:avLst/>
          </a:prstGeom>
        </p:spPr>
        <p:txBody>
          <a:bodyPr vert="horz" wrap="square" lIns="0" tIns="144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0"/>
              </a:spcBef>
            </a:pPr>
            <a:r>
              <a:rPr sz="2800" b="1" spc="-5" dirty="0">
                <a:latin typeface="Tahoma"/>
                <a:cs typeface="Tahoma"/>
              </a:rPr>
              <a:t>where </a:t>
            </a:r>
            <a:r>
              <a:rPr sz="2800" spc="-15" dirty="0">
                <a:latin typeface="Tahoma"/>
                <a:cs typeface="Tahoma"/>
              </a:rPr>
              <a:t>p.PersNr </a:t>
            </a:r>
            <a:r>
              <a:rPr sz="2800" b="1" spc="-5" dirty="0">
                <a:latin typeface="Tahoma"/>
                <a:cs typeface="Tahoma"/>
              </a:rPr>
              <a:t>not </a:t>
            </a:r>
            <a:r>
              <a:rPr sz="2800" b="1" dirty="0">
                <a:latin typeface="Tahoma"/>
                <a:cs typeface="Tahoma"/>
              </a:rPr>
              <a:t>in </a:t>
            </a:r>
            <a:r>
              <a:rPr sz="2800" dirty="0">
                <a:latin typeface="Tahoma"/>
                <a:cs typeface="Tahoma"/>
              </a:rPr>
              <a:t>( </a:t>
            </a:r>
            <a:r>
              <a:rPr sz="2800" b="1" spc="-5" dirty="0">
                <a:latin typeface="Tahoma"/>
                <a:cs typeface="Tahoma"/>
              </a:rPr>
              <a:t>select</a:t>
            </a:r>
            <a:r>
              <a:rPr sz="2800" b="1" spc="114" dirty="0">
                <a:latin typeface="Tahoma"/>
                <a:cs typeface="Tahoma"/>
              </a:rPr>
              <a:t> </a:t>
            </a:r>
            <a:r>
              <a:rPr sz="2800" spc="-35" dirty="0">
                <a:latin typeface="Tahoma"/>
                <a:cs typeface="Tahoma"/>
              </a:rPr>
              <a:t>v.gelesenVon</a:t>
            </a:r>
            <a:endParaRPr sz="2800">
              <a:latin typeface="Tahoma"/>
              <a:cs typeface="Tahoma"/>
            </a:endParaRPr>
          </a:p>
          <a:p>
            <a:pPr marL="4064000">
              <a:lnSpc>
                <a:spcPct val="100000"/>
              </a:lnSpc>
              <a:spcBef>
                <a:spcPts val="1040"/>
              </a:spcBef>
            </a:pPr>
            <a:r>
              <a:rPr sz="2800" b="1" spc="-5" dirty="0">
                <a:latin typeface="Tahoma"/>
                <a:cs typeface="Tahoma"/>
              </a:rPr>
              <a:t>from </a:t>
            </a:r>
            <a:r>
              <a:rPr sz="2800" spc="-15" dirty="0">
                <a:latin typeface="Tahoma"/>
                <a:cs typeface="Tahoma"/>
              </a:rPr>
              <a:t>Vorlesungen</a:t>
            </a:r>
            <a:r>
              <a:rPr sz="2800" spc="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v);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184932" y="1918994"/>
            <a:ext cx="3886200" cy="2027555"/>
          </a:xfrm>
          <a:custGeom>
            <a:avLst/>
            <a:gdLst/>
            <a:ahLst/>
            <a:cxnLst/>
            <a:rect l="l" t="t" r="r" b="b"/>
            <a:pathLst>
              <a:path w="3886200" h="2027554">
                <a:moveTo>
                  <a:pt x="1958101" y="0"/>
                </a:moveTo>
                <a:lnTo>
                  <a:pt x="1905758" y="135"/>
                </a:lnTo>
                <a:lnTo>
                  <a:pt x="1853438" y="902"/>
                </a:lnTo>
                <a:lnTo>
                  <a:pt x="1801172" y="2301"/>
                </a:lnTo>
                <a:lnTo>
                  <a:pt x="1748990" y="4332"/>
                </a:lnTo>
                <a:lnTo>
                  <a:pt x="1696923" y="6995"/>
                </a:lnTo>
                <a:lnTo>
                  <a:pt x="1645002" y="10289"/>
                </a:lnTo>
                <a:lnTo>
                  <a:pt x="1593257" y="14215"/>
                </a:lnTo>
                <a:lnTo>
                  <a:pt x="1541718" y="18772"/>
                </a:lnTo>
                <a:lnTo>
                  <a:pt x="1490417" y="23961"/>
                </a:lnTo>
                <a:lnTo>
                  <a:pt x="1439383" y="29780"/>
                </a:lnTo>
                <a:lnTo>
                  <a:pt x="1388647" y="36232"/>
                </a:lnTo>
                <a:lnTo>
                  <a:pt x="1338241" y="43314"/>
                </a:lnTo>
                <a:lnTo>
                  <a:pt x="1288193" y="51027"/>
                </a:lnTo>
                <a:lnTo>
                  <a:pt x="1238536" y="59371"/>
                </a:lnTo>
                <a:lnTo>
                  <a:pt x="1189299" y="68347"/>
                </a:lnTo>
                <a:lnTo>
                  <a:pt x="1140513" y="77953"/>
                </a:lnTo>
                <a:lnTo>
                  <a:pt x="1092208" y="88189"/>
                </a:lnTo>
                <a:lnTo>
                  <a:pt x="1044416" y="99057"/>
                </a:lnTo>
                <a:lnTo>
                  <a:pt x="997166" y="110555"/>
                </a:lnTo>
                <a:lnTo>
                  <a:pt x="950490" y="122683"/>
                </a:lnTo>
                <a:lnTo>
                  <a:pt x="904417" y="135442"/>
                </a:lnTo>
                <a:lnTo>
                  <a:pt x="858978" y="148831"/>
                </a:lnTo>
                <a:lnTo>
                  <a:pt x="814205" y="162851"/>
                </a:lnTo>
                <a:lnTo>
                  <a:pt x="770126" y="177500"/>
                </a:lnTo>
                <a:lnTo>
                  <a:pt x="726774" y="192780"/>
                </a:lnTo>
                <a:lnTo>
                  <a:pt x="684178" y="208690"/>
                </a:lnTo>
                <a:lnTo>
                  <a:pt x="642369" y="225230"/>
                </a:lnTo>
                <a:lnTo>
                  <a:pt x="601378" y="242399"/>
                </a:lnTo>
                <a:lnTo>
                  <a:pt x="561235" y="260198"/>
                </a:lnTo>
                <a:lnTo>
                  <a:pt x="510974" y="283986"/>
                </a:lnTo>
                <a:lnTo>
                  <a:pt x="463072" y="308397"/>
                </a:lnTo>
                <a:lnTo>
                  <a:pt x="417530" y="333400"/>
                </a:lnTo>
                <a:lnTo>
                  <a:pt x="374347" y="358967"/>
                </a:lnTo>
                <a:lnTo>
                  <a:pt x="333523" y="385066"/>
                </a:lnTo>
                <a:lnTo>
                  <a:pt x="295057" y="411669"/>
                </a:lnTo>
                <a:lnTo>
                  <a:pt x="258948" y="438745"/>
                </a:lnTo>
                <a:lnTo>
                  <a:pt x="225197" y="466264"/>
                </a:lnTo>
                <a:lnTo>
                  <a:pt x="193803" y="494197"/>
                </a:lnTo>
                <a:lnTo>
                  <a:pt x="164766" y="522512"/>
                </a:lnTo>
                <a:lnTo>
                  <a:pt x="138085" y="551181"/>
                </a:lnTo>
                <a:lnTo>
                  <a:pt x="91790" y="609460"/>
                </a:lnTo>
                <a:lnTo>
                  <a:pt x="54916" y="668792"/>
                </a:lnTo>
                <a:lnTo>
                  <a:pt x="27460" y="728939"/>
                </a:lnTo>
                <a:lnTo>
                  <a:pt x="9417" y="789661"/>
                </a:lnTo>
                <a:lnTo>
                  <a:pt x="787" y="850718"/>
                </a:lnTo>
                <a:lnTo>
                  <a:pt x="0" y="881297"/>
                </a:lnTo>
                <a:lnTo>
                  <a:pt x="1564" y="911870"/>
                </a:lnTo>
                <a:lnTo>
                  <a:pt x="11747" y="972878"/>
                </a:lnTo>
                <a:lnTo>
                  <a:pt x="31332" y="1033502"/>
                </a:lnTo>
                <a:lnTo>
                  <a:pt x="60316" y="1093503"/>
                </a:lnTo>
                <a:lnTo>
                  <a:pt x="98696" y="1152641"/>
                </a:lnTo>
                <a:lnTo>
                  <a:pt x="146469" y="1210676"/>
                </a:lnTo>
                <a:lnTo>
                  <a:pt x="173877" y="1239205"/>
                </a:lnTo>
                <a:lnTo>
                  <a:pt x="203632" y="1267369"/>
                </a:lnTo>
                <a:lnTo>
                  <a:pt x="235733" y="1295137"/>
                </a:lnTo>
                <a:lnTo>
                  <a:pt x="270181" y="1322480"/>
                </a:lnTo>
                <a:lnTo>
                  <a:pt x="306975" y="1349368"/>
                </a:lnTo>
                <a:lnTo>
                  <a:pt x="346115" y="1375770"/>
                </a:lnTo>
                <a:lnTo>
                  <a:pt x="387600" y="1401657"/>
                </a:lnTo>
                <a:lnTo>
                  <a:pt x="431429" y="1426998"/>
                </a:lnTo>
                <a:lnTo>
                  <a:pt x="477603" y="1451764"/>
                </a:lnTo>
                <a:lnTo>
                  <a:pt x="526121" y="1475926"/>
                </a:lnTo>
                <a:lnTo>
                  <a:pt x="576983" y="1499452"/>
                </a:lnTo>
                <a:lnTo>
                  <a:pt x="242858" y="2027226"/>
                </a:lnTo>
                <a:lnTo>
                  <a:pt x="1194101" y="1684859"/>
                </a:lnTo>
                <a:lnTo>
                  <a:pt x="2691877" y="1684859"/>
                </a:lnTo>
                <a:lnTo>
                  <a:pt x="2703718" y="1682675"/>
                </a:lnTo>
                <a:lnTo>
                  <a:pt x="2752365" y="1672991"/>
                </a:lnTo>
                <a:lnTo>
                  <a:pt x="2800475" y="1662695"/>
                </a:lnTo>
                <a:lnTo>
                  <a:pt x="2848016" y="1651789"/>
                </a:lnTo>
                <a:lnTo>
                  <a:pt x="2894960" y="1640275"/>
                </a:lnTo>
                <a:lnTo>
                  <a:pt x="2941275" y="1628158"/>
                </a:lnTo>
                <a:lnTo>
                  <a:pt x="2986933" y="1615439"/>
                </a:lnTo>
                <a:lnTo>
                  <a:pt x="3031902" y="1602121"/>
                </a:lnTo>
                <a:lnTo>
                  <a:pt x="3076153" y="1588207"/>
                </a:lnTo>
                <a:lnTo>
                  <a:pt x="3119656" y="1573699"/>
                </a:lnTo>
                <a:lnTo>
                  <a:pt x="3162381" y="1558600"/>
                </a:lnTo>
                <a:lnTo>
                  <a:pt x="3204297" y="1542914"/>
                </a:lnTo>
                <a:lnTo>
                  <a:pt x="3245375" y="1526642"/>
                </a:lnTo>
                <a:lnTo>
                  <a:pt x="3285584" y="1509787"/>
                </a:lnTo>
                <a:lnTo>
                  <a:pt x="3324894" y="1492352"/>
                </a:lnTo>
                <a:lnTo>
                  <a:pt x="3375156" y="1468565"/>
                </a:lnTo>
                <a:lnTo>
                  <a:pt x="3423057" y="1444154"/>
                </a:lnTo>
                <a:lnTo>
                  <a:pt x="3468599" y="1419151"/>
                </a:lnTo>
                <a:lnTo>
                  <a:pt x="3511782" y="1393584"/>
                </a:lnTo>
                <a:lnTo>
                  <a:pt x="3552607" y="1367485"/>
                </a:lnTo>
                <a:lnTo>
                  <a:pt x="3591073" y="1340882"/>
                </a:lnTo>
                <a:lnTo>
                  <a:pt x="3627182" y="1313806"/>
                </a:lnTo>
                <a:lnTo>
                  <a:pt x="3660933" y="1286287"/>
                </a:lnTo>
                <a:lnTo>
                  <a:pt x="3692327" y="1258354"/>
                </a:lnTo>
                <a:lnTo>
                  <a:pt x="3721365" y="1230039"/>
                </a:lnTo>
                <a:lnTo>
                  <a:pt x="3748046" y="1201369"/>
                </a:lnTo>
                <a:lnTo>
                  <a:pt x="3794341" y="1143091"/>
                </a:lnTo>
                <a:lnTo>
                  <a:pt x="3831216" y="1083759"/>
                </a:lnTo>
                <a:lnTo>
                  <a:pt x="3858673" y="1023612"/>
                </a:lnTo>
                <a:lnTo>
                  <a:pt x="3876716" y="962890"/>
                </a:lnTo>
                <a:lnTo>
                  <a:pt x="3885347" y="901833"/>
                </a:lnTo>
                <a:lnTo>
                  <a:pt x="3886134" y="871254"/>
                </a:lnTo>
                <a:lnTo>
                  <a:pt x="3884570" y="840681"/>
                </a:lnTo>
                <a:lnTo>
                  <a:pt x="3874388" y="779673"/>
                </a:lnTo>
                <a:lnTo>
                  <a:pt x="3854803" y="719049"/>
                </a:lnTo>
                <a:lnTo>
                  <a:pt x="3825819" y="659048"/>
                </a:lnTo>
                <a:lnTo>
                  <a:pt x="3787439" y="599910"/>
                </a:lnTo>
                <a:lnTo>
                  <a:pt x="3739666" y="541875"/>
                </a:lnTo>
                <a:lnTo>
                  <a:pt x="3712258" y="513346"/>
                </a:lnTo>
                <a:lnTo>
                  <a:pt x="3682503" y="485182"/>
                </a:lnTo>
                <a:lnTo>
                  <a:pt x="3650401" y="457414"/>
                </a:lnTo>
                <a:lnTo>
                  <a:pt x="3615952" y="430071"/>
                </a:lnTo>
                <a:lnTo>
                  <a:pt x="3579158" y="403183"/>
                </a:lnTo>
                <a:lnTo>
                  <a:pt x="3540018" y="376781"/>
                </a:lnTo>
                <a:lnTo>
                  <a:pt x="3498532" y="350894"/>
                </a:lnTo>
                <a:lnTo>
                  <a:pt x="3454702" y="325553"/>
                </a:lnTo>
                <a:lnTo>
                  <a:pt x="3408528" y="300786"/>
                </a:lnTo>
                <a:lnTo>
                  <a:pt x="3360009" y="276625"/>
                </a:lnTo>
                <a:lnTo>
                  <a:pt x="3309146" y="253099"/>
                </a:lnTo>
                <a:lnTo>
                  <a:pt x="3268553" y="235508"/>
                </a:lnTo>
                <a:lnTo>
                  <a:pt x="3227128" y="218551"/>
                </a:lnTo>
                <a:lnTo>
                  <a:pt x="3184902" y="202228"/>
                </a:lnTo>
                <a:lnTo>
                  <a:pt x="3141904" y="186539"/>
                </a:lnTo>
                <a:lnTo>
                  <a:pt x="3098166" y="171484"/>
                </a:lnTo>
                <a:lnTo>
                  <a:pt x="3053719" y="157063"/>
                </a:lnTo>
                <a:lnTo>
                  <a:pt x="3008591" y="143275"/>
                </a:lnTo>
                <a:lnTo>
                  <a:pt x="2962816" y="130122"/>
                </a:lnTo>
                <a:lnTo>
                  <a:pt x="2916421" y="117602"/>
                </a:lnTo>
                <a:lnTo>
                  <a:pt x="2869440" y="105715"/>
                </a:lnTo>
                <a:lnTo>
                  <a:pt x="2821901" y="94462"/>
                </a:lnTo>
                <a:lnTo>
                  <a:pt x="2773835" y="83842"/>
                </a:lnTo>
                <a:lnTo>
                  <a:pt x="2725274" y="73856"/>
                </a:lnTo>
                <a:lnTo>
                  <a:pt x="2676247" y="64502"/>
                </a:lnTo>
                <a:lnTo>
                  <a:pt x="2626785" y="55782"/>
                </a:lnTo>
                <a:lnTo>
                  <a:pt x="2576918" y="47695"/>
                </a:lnTo>
                <a:lnTo>
                  <a:pt x="2526678" y="40241"/>
                </a:lnTo>
                <a:lnTo>
                  <a:pt x="2476095" y="33420"/>
                </a:lnTo>
                <a:lnTo>
                  <a:pt x="2425199" y="27232"/>
                </a:lnTo>
                <a:lnTo>
                  <a:pt x="2374020" y="21676"/>
                </a:lnTo>
                <a:lnTo>
                  <a:pt x="2322590" y="16753"/>
                </a:lnTo>
                <a:lnTo>
                  <a:pt x="2270939" y="12462"/>
                </a:lnTo>
                <a:lnTo>
                  <a:pt x="2219098" y="8805"/>
                </a:lnTo>
                <a:lnTo>
                  <a:pt x="2167096" y="5779"/>
                </a:lnTo>
                <a:lnTo>
                  <a:pt x="2114965" y="3386"/>
                </a:lnTo>
                <a:lnTo>
                  <a:pt x="2062735" y="1625"/>
                </a:lnTo>
                <a:lnTo>
                  <a:pt x="2010437" y="496"/>
                </a:lnTo>
                <a:lnTo>
                  <a:pt x="1958101" y="0"/>
                </a:lnTo>
                <a:close/>
              </a:path>
              <a:path w="3886200" h="2027554">
                <a:moveTo>
                  <a:pt x="2691877" y="1684859"/>
                </a:moveTo>
                <a:lnTo>
                  <a:pt x="1194101" y="1684859"/>
                </a:lnTo>
                <a:lnTo>
                  <a:pt x="1245270" y="1694119"/>
                </a:lnTo>
                <a:lnTo>
                  <a:pt x="1296773" y="1702688"/>
                </a:lnTo>
                <a:lnTo>
                  <a:pt x="1348580" y="1710568"/>
                </a:lnTo>
                <a:lnTo>
                  <a:pt x="1400660" y="1717762"/>
                </a:lnTo>
                <a:lnTo>
                  <a:pt x="1452984" y="1724274"/>
                </a:lnTo>
                <a:lnTo>
                  <a:pt x="1505522" y="1730105"/>
                </a:lnTo>
                <a:lnTo>
                  <a:pt x="1558243" y="1735258"/>
                </a:lnTo>
                <a:lnTo>
                  <a:pt x="1611118" y="1739736"/>
                </a:lnTo>
                <a:lnTo>
                  <a:pt x="1664116" y="1743542"/>
                </a:lnTo>
                <a:lnTo>
                  <a:pt x="1717208" y="1746679"/>
                </a:lnTo>
                <a:lnTo>
                  <a:pt x="1770363" y="1749149"/>
                </a:lnTo>
                <a:lnTo>
                  <a:pt x="1823551" y="1750954"/>
                </a:lnTo>
                <a:lnTo>
                  <a:pt x="1876743" y="1752098"/>
                </a:lnTo>
                <a:lnTo>
                  <a:pt x="1929908" y="1752584"/>
                </a:lnTo>
                <a:lnTo>
                  <a:pt x="1983015" y="1752414"/>
                </a:lnTo>
                <a:lnTo>
                  <a:pt x="2036036" y="1751590"/>
                </a:lnTo>
                <a:lnTo>
                  <a:pt x="2088940" y="1750116"/>
                </a:lnTo>
                <a:lnTo>
                  <a:pt x="2141697" y="1747994"/>
                </a:lnTo>
                <a:lnTo>
                  <a:pt x="2194277" y="1745227"/>
                </a:lnTo>
                <a:lnTo>
                  <a:pt x="2246649" y="1741818"/>
                </a:lnTo>
                <a:lnTo>
                  <a:pt x="2298784" y="1737769"/>
                </a:lnTo>
                <a:lnTo>
                  <a:pt x="2350652" y="1733083"/>
                </a:lnTo>
                <a:lnTo>
                  <a:pt x="2402223" y="1727762"/>
                </a:lnTo>
                <a:lnTo>
                  <a:pt x="2453466" y="1721811"/>
                </a:lnTo>
                <a:lnTo>
                  <a:pt x="2504351" y="1715230"/>
                </a:lnTo>
                <a:lnTo>
                  <a:pt x="2554850" y="1708024"/>
                </a:lnTo>
                <a:lnTo>
                  <a:pt x="2604930" y="1700194"/>
                </a:lnTo>
                <a:lnTo>
                  <a:pt x="2654563" y="1691743"/>
                </a:lnTo>
                <a:lnTo>
                  <a:pt x="2691877" y="1684859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184936" y="1918997"/>
            <a:ext cx="3886200" cy="2027555"/>
          </a:xfrm>
          <a:custGeom>
            <a:avLst/>
            <a:gdLst/>
            <a:ahLst/>
            <a:cxnLst/>
            <a:rect l="l" t="t" r="r" b="b"/>
            <a:pathLst>
              <a:path w="3886200" h="2027554">
                <a:moveTo>
                  <a:pt x="242855" y="2027222"/>
                </a:moveTo>
                <a:lnTo>
                  <a:pt x="576987" y="1499452"/>
                </a:lnTo>
                <a:lnTo>
                  <a:pt x="526125" y="1475926"/>
                </a:lnTo>
                <a:lnTo>
                  <a:pt x="477606" y="1451764"/>
                </a:lnTo>
                <a:lnTo>
                  <a:pt x="431432" y="1426998"/>
                </a:lnTo>
                <a:lnTo>
                  <a:pt x="387602" y="1401656"/>
                </a:lnTo>
                <a:lnTo>
                  <a:pt x="346117" y="1375769"/>
                </a:lnTo>
                <a:lnTo>
                  <a:pt x="306977" y="1349367"/>
                </a:lnTo>
                <a:lnTo>
                  <a:pt x="270182" y="1322479"/>
                </a:lnTo>
                <a:lnTo>
                  <a:pt x="235734" y="1295136"/>
                </a:lnTo>
                <a:lnTo>
                  <a:pt x="203632" y="1267368"/>
                </a:lnTo>
                <a:lnTo>
                  <a:pt x="173877" y="1239204"/>
                </a:lnTo>
                <a:lnTo>
                  <a:pt x="146469" y="1210675"/>
                </a:lnTo>
                <a:lnTo>
                  <a:pt x="121408" y="1181810"/>
                </a:lnTo>
                <a:lnTo>
                  <a:pt x="78331" y="1123194"/>
                </a:lnTo>
                <a:lnTo>
                  <a:pt x="44649" y="1063595"/>
                </a:lnTo>
                <a:lnTo>
                  <a:pt x="20364" y="1003252"/>
                </a:lnTo>
                <a:lnTo>
                  <a:pt x="5480" y="942406"/>
                </a:lnTo>
                <a:lnTo>
                  <a:pt x="0" y="881296"/>
                </a:lnTo>
                <a:lnTo>
                  <a:pt x="787" y="850717"/>
                </a:lnTo>
                <a:lnTo>
                  <a:pt x="9418" y="789661"/>
                </a:lnTo>
                <a:lnTo>
                  <a:pt x="27460" y="728939"/>
                </a:lnTo>
                <a:lnTo>
                  <a:pt x="54917" y="668792"/>
                </a:lnTo>
                <a:lnTo>
                  <a:pt x="91791" y="609460"/>
                </a:lnTo>
                <a:lnTo>
                  <a:pt x="138086" y="551182"/>
                </a:lnTo>
                <a:lnTo>
                  <a:pt x="164767" y="522513"/>
                </a:lnTo>
                <a:lnTo>
                  <a:pt x="193804" y="494197"/>
                </a:lnTo>
                <a:lnTo>
                  <a:pt x="225198" y="466264"/>
                </a:lnTo>
                <a:lnTo>
                  <a:pt x="258949" y="438745"/>
                </a:lnTo>
                <a:lnTo>
                  <a:pt x="295057" y="411669"/>
                </a:lnTo>
                <a:lnTo>
                  <a:pt x="333523" y="385066"/>
                </a:lnTo>
                <a:lnTo>
                  <a:pt x="374347" y="358967"/>
                </a:lnTo>
                <a:lnTo>
                  <a:pt x="417530" y="333400"/>
                </a:lnTo>
                <a:lnTo>
                  <a:pt x="463072" y="308396"/>
                </a:lnTo>
                <a:lnTo>
                  <a:pt x="510973" y="283986"/>
                </a:lnTo>
                <a:lnTo>
                  <a:pt x="561234" y="260198"/>
                </a:lnTo>
                <a:lnTo>
                  <a:pt x="601377" y="242399"/>
                </a:lnTo>
                <a:lnTo>
                  <a:pt x="642368" y="225229"/>
                </a:lnTo>
                <a:lnTo>
                  <a:pt x="684176" y="208689"/>
                </a:lnTo>
                <a:lnTo>
                  <a:pt x="726772" y="192779"/>
                </a:lnTo>
                <a:lnTo>
                  <a:pt x="770124" y="177500"/>
                </a:lnTo>
                <a:lnTo>
                  <a:pt x="814202" y="162850"/>
                </a:lnTo>
                <a:lnTo>
                  <a:pt x="858975" y="148830"/>
                </a:lnTo>
                <a:lnTo>
                  <a:pt x="904414" y="135441"/>
                </a:lnTo>
                <a:lnTo>
                  <a:pt x="950486" y="122682"/>
                </a:lnTo>
                <a:lnTo>
                  <a:pt x="997163" y="110554"/>
                </a:lnTo>
                <a:lnTo>
                  <a:pt x="1044412" y="99056"/>
                </a:lnTo>
                <a:lnTo>
                  <a:pt x="1092205" y="88188"/>
                </a:lnTo>
                <a:lnTo>
                  <a:pt x="1140509" y="77952"/>
                </a:lnTo>
                <a:lnTo>
                  <a:pt x="1189295" y="68346"/>
                </a:lnTo>
                <a:lnTo>
                  <a:pt x="1238532" y="59371"/>
                </a:lnTo>
                <a:lnTo>
                  <a:pt x="1288189" y="51026"/>
                </a:lnTo>
                <a:lnTo>
                  <a:pt x="1338237" y="43313"/>
                </a:lnTo>
                <a:lnTo>
                  <a:pt x="1388643" y="36231"/>
                </a:lnTo>
                <a:lnTo>
                  <a:pt x="1439379" y="29780"/>
                </a:lnTo>
                <a:lnTo>
                  <a:pt x="1490412" y="23960"/>
                </a:lnTo>
                <a:lnTo>
                  <a:pt x="1541714" y="18772"/>
                </a:lnTo>
                <a:lnTo>
                  <a:pt x="1593252" y="14214"/>
                </a:lnTo>
                <a:lnTo>
                  <a:pt x="1644998" y="10289"/>
                </a:lnTo>
                <a:lnTo>
                  <a:pt x="1696919" y="6995"/>
                </a:lnTo>
                <a:lnTo>
                  <a:pt x="1748986" y="4332"/>
                </a:lnTo>
                <a:lnTo>
                  <a:pt x="1801167" y="2301"/>
                </a:lnTo>
                <a:lnTo>
                  <a:pt x="1853434" y="902"/>
                </a:lnTo>
                <a:lnTo>
                  <a:pt x="1905754" y="135"/>
                </a:lnTo>
                <a:lnTo>
                  <a:pt x="1958097" y="0"/>
                </a:lnTo>
                <a:lnTo>
                  <a:pt x="2010433" y="496"/>
                </a:lnTo>
                <a:lnTo>
                  <a:pt x="2062731" y="1625"/>
                </a:lnTo>
                <a:lnTo>
                  <a:pt x="2114961" y="3386"/>
                </a:lnTo>
                <a:lnTo>
                  <a:pt x="2167092" y="5779"/>
                </a:lnTo>
                <a:lnTo>
                  <a:pt x="2219094" y="8805"/>
                </a:lnTo>
                <a:lnTo>
                  <a:pt x="2270936" y="12462"/>
                </a:lnTo>
                <a:lnTo>
                  <a:pt x="2322587" y="16753"/>
                </a:lnTo>
                <a:lnTo>
                  <a:pt x="2374017" y="21676"/>
                </a:lnTo>
                <a:lnTo>
                  <a:pt x="2425195" y="27231"/>
                </a:lnTo>
                <a:lnTo>
                  <a:pt x="2476092" y="33420"/>
                </a:lnTo>
                <a:lnTo>
                  <a:pt x="2526675" y="40241"/>
                </a:lnTo>
                <a:lnTo>
                  <a:pt x="2576915" y="47695"/>
                </a:lnTo>
                <a:lnTo>
                  <a:pt x="2626782" y="55782"/>
                </a:lnTo>
                <a:lnTo>
                  <a:pt x="2676244" y="64502"/>
                </a:lnTo>
                <a:lnTo>
                  <a:pt x="2725271" y="73855"/>
                </a:lnTo>
                <a:lnTo>
                  <a:pt x="2773833" y="83841"/>
                </a:lnTo>
                <a:lnTo>
                  <a:pt x="2821898" y="94461"/>
                </a:lnTo>
                <a:lnTo>
                  <a:pt x="2869437" y="105713"/>
                </a:lnTo>
                <a:lnTo>
                  <a:pt x="2916419" y="117600"/>
                </a:lnTo>
                <a:lnTo>
                  <a:pt x="2962813" y="130120"/>
                </a:lnTo>
                <a:lnTo>
                  <a:pt x="3008589" y="143273"/>
                </a:lnTo>
                <a:lnTo>
                  <a:pt x="3053717" y="157060"/>
                </a:lnTo>
                <a:lnTo>
                  <a:pt x="3098164" y="171481"/>
                </a:lnTo>
                <a:lnTo>
                  <a:pt x="3141902" y="186536"/>
                </a:lnTo>
                <a:lnTo>
                  <a:pt x="3184900" y="202224"/>
                </a:lnTo>
                <a:lnTo>
                  <a:pt x="3227127" y="218547"/>
                </a:lnTo>
                <a:lnTo>
                  <a:pt x="3268552" y="235503"/>
                </a:lnTo>
                <a:lnTo>
                  <a:pt x="3309145" y="253094"/>
                </a:lnTo>
                <a:lnTo>
                  <a:pt x="3360007" y="276620"/>
                </a:lnTo>
                <a:lnTo>
                  <a:pt x="3408526" y="300782"/>
                </a:lnTo>
                <a:lnTo>
                  <a:pt x="3454701" y="325548"/>
                </a:lnTo>
                <a:lnTo>
                  <a:pt x="3498531" y="350890"/>
                </a:lnTo>
                <a:lnTo>
                  <a:pt x="3540017" y="376777"/>
                </a:lnTo>
                <a:lnTo>
                  <a:pt x="3579157" y="403179"/>
                </a:lnTo>
                <a:lnTo>
                  <a:pt x="3615951" y="430066"/>
                </a:lnTo>
                <a:lnTo>
                  <a:pt x="3650400" y="457409"/>
                </a:lnTo>
                <a:lnTo>
                  <a:pt x="3682502" y="485177"/>
                </a:lnTo>
                <a:lnTo>
                  <a:pt x="3712257" y="513341"/>
                </a:lnTo>
                <a:lnTo>
                  <a:pt x="3739665" y="541870"/>
                </a:lnTo>
                <a:lnTo>
                  <a:pt x="3764726" y="570735"/>
                </a:lnTo>
                <a:lnTo>
                  <a:pt x="3807803" y="629351"/>
                </a:lnTo>
                <a:lnTo>
                  <a:pt x="3841485" y="688951"/>
                </a:lnTo>
                <a:lnTo>
                  <a:pt x="3865770" y="749293"/>
                </a:lnTo>
                <a:lnTo>
                  <a:pt x="3880654" y="810139"/>
                </a:lnTo>
                <a:lnTo>
                  <a:pt x="3886134" y="871249"/>
                </a:lnTo>
                <a:lnTo>
                  <a:pt x="3885347" y="901828"/>
                </a:lnTo>
                <a:lnTo>
                  <a:pt x="3876716" y="962885"/>
                </a:lnTo>
                <a:lnTo>
                  <a:pt x="3858673" y="1023606"/>
                </a:lnTo>
                <a:lnTo>
                  <a:pt x="3831216" y="1083753"/>
                </a:lnTo>
                <a:lnTo>
                  <a:pt x="3794342" y="1143086"/>
                </a:lnTo>
                <a:lnTo>
                  <a:pt x="3748046" y="1201365"/>
                </a:lnTo>
                <a:lnTo>
                  <a:pt x="3721365" y="1230034"/>
                </a:lnTo>
                <a:lnTo>
                  <a:pt x="3692328" y="1258350"/>
                </a:lnTo>
                <a:lnTo>
                  <a:pt x="3660934" y="1286283"/>
                </a:lnTo>
                <a:lnTo>
                  <a:pt x="3627182" y="1313802"/>
                </a:lnTo>
                <a:lnTo>
                  <a:pt x="3591074" y="1340878"/>
                </a:lnTo>
                <a:lnTo>
                  <a:pt x="3552607" y="1367482"/>
                </a:lnTo>
                <a:lnTo>
                  <a:pt x="3511783" y="1393582"/>
                </a:lnTo>
                <a:lnTo>
                  <a:pt x="3468599" y="1419149"/>
                </a:lnTo>
                <a:lnTo>
                  <a:pt x="3423057" y="1444153"/>
                </a:lnTo>
                <a:lnTo>
                  <a:pt x="3375156" y="1468564"/>
                </a:lnTo>
                <a:lnTo>
                  <a:pt x="3324895" y="1492352"/>
                </a:lnTo>
                <a:lnTo>
                  <a:pt x="3285584" y="1509786"/>
                </a:lnTo>
                <a:lnTo>
                  <a:pt x="3245375" y="1526640"/>
                </a:lnTo>
                <a:lnTo>
                  <a:pt x="3204297" y="1542912"/>
                </a:lnTo>
                <a:lnTo>
                  <a:pt x="3162381" y="1558598"/>
                </a:lnTo>
                <a:lnTo>
                  <a:pt x="3119657" y="1573696"/>
                </a:lnTo>
                <a:lnTo>
                  <a:pt x="3076154" y="1588204"/>
                </a:lnTo>
                <a:lnTo>
                  <a:pt x="3031903" y="1602118"/>
                </a:lnTo>
                <a:lnTo>
                  <a:pt x="2986933" y="1615435"/>
                </a:lnTo>
                <a:lnTo>
                  <a:pt x="2941276" y="1628154"/>
                </a:lnTo>
                <a:lnTo>
                  <a:pt x="2894960" y="1640272"/>
                </a:lnTo>
                <a:lnTo>
                  <a:pt x="2848017" y="1651785"/>
                </a:lnTo>
                <a:lnTo>
                  <a:pt x="2800475" y="1662691"/>
                </a:lnTo>
                <a:lnTo>
                  <a:pt x="2752366" y="1672987"/>
                </a:lnTo>
                <a:lnTo>
                  <a:pt x="2703718" y="1682671"/>
                </a:lnTo>
                <a:lnTo>
                  <a:pt x="2654563" y="1691739"/>
                </a:lnTo>
                <a:lnTo>
                  <a:pt x="2604931" y="1700190"/>
                </a:lnTo>
                <a:lnTo>
                  <a:pt x="2554850" y="1708020"/>
                </a:lnTo>
                <a:lnTo>
                  <a:pt x="2504352" y="1715227"/>
                </a:lnTo>
                <a:lnTo>
                  <a:pt x="2453466" y="1721807"/>
                </a:lnTo>
                <a:lnTo>
                  <a:pt x="2402223" y="1727759"/>
                </a:lnTo>
                <a:lnTo>
                  <a:pt x="2350653" y="1733079"/>
                </a:lnTo>
                <a:lnTo>
                  <a:pt x="2298785" y="1737766"/>
                </a:lnTo>
                <a:lnTo>
                  <a:pt x="2246650" y="1741815"/>
                </a:lnTo>
                <a:lnTo>
                  <a:pt x="2194278" y="1745224"/>
                </a:lnTo>
                <a:lnTo>
                  <a:pt x="2141698" y="1747992"/>
                </a:lnTo>
                <a:lnTo>
                  <a:pt x="2088941" y="1750114"/>
                </a:lnTo>
                <a:lnTo>
                  <a:pt x="2036038" y="1751588"/>
                </a:lnTo>
                <a:lnTo>
                  <a:pt x="1983017" y="1752412"/>
                </a:lnTo>
                <a:lnTo>
                  <a:pt x="1929909" y="1752583"/>
                </a:lnTo>
                <a:lnTo>
                  <a:pt x="1876745" y="1752097"/>
                </a:lnTo>
                <a:lnTo>
                  <a:pt x="1823553" y="1750953"/>
                </a:lnTo>
                <a:lnTo>
                  <a:pt x="1770365" y="1749148"/>
                </a:lnTo>
                <a:lnTo>
                  <a:pt x="1717210" y="1746679"/>
                </a:lnTo>
                <a:lnTo>
                  <a:pt x="1664119" y="1743543"/>
                </a:lnTo>
                <a:lnTo>
                  <a:pt x="1611121" y="1739737"/>
                </a:lnTo>
                <a:lnTo>
                  <a:pt x="1558246" y="1735259"/>
                </a:lnTo>
                <a:lnTo>
                  <a:pt x="1505525" y="1730106"/>
                </a:lnTo>
                <a:lnTo>
                  <a:pt x="1452988" y="1724275"/>
                </a:lnTo>
                <a:lnTo>
                  <a:pt x="1400664" y="1717764"/>
                </a:lnTo>
                <a:lnTo>
                  <a:pt x="1348584" y="1710570"/>
                </a:lnTo>
                <a:lnTo>
                  <a:pt x="1296777" y="1702690"/>
                </a:lnTo>
                <a:lnTo>
                  <a:pt x="1245275" y="1694122"/>
                </a:lnTo>
                <a:lnTo>
                  <a:pt x="1194106" y="1684862"/>
                </a:lnTo>
                <a:lnTo>
                  <a:pt x="242855" y="2027222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865299" y="2051050"/>
            <a:ext cx="2458720" cy="148336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 marR="5080" indent="-4445" algn="ctr">
              <a:lnSpc>
                <a:spcPct val="99500"/>
              </a:lnSpc>
              <a:spcBef>
                <a:spcPts val="115"/>
              </a:spcBef>
            </a:pPr>
            <a:r>
              <a:rPr sz="2400" spc="-5" dirty="0">
                <a:latin typeface="Times New Roman"/>
                <a:cs typeface="Times New Roman"/>
              </a:rPr>
              <a:t>Unkorrelierte  Unteranfrage: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meist  </a:t>
            </a:r>
            <a:r>
              <a:rPr sz="2400" spc="-15" dirty="0">
                <a:latin typeface="Times New Roman"/>
                <a:cs typeface="Times New Roman"/>
              </a:rPr>
              <a:t>effizienter, </a:t>
            </a:r>
            <a:r>
              <a:rPr sz="2400" spc="-5" dirty="0">
                <a:latin typeface="Times New Roman"/>
                <a:cs typeface="Times New Roman"/>
              </a:rPr>
              <a:t>wird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nur  </a:t>
            </a:r>
            <a:r>
              <a:rPr sz="2400" spc="-5" dirty="0">
                <a:latin typeface="Times New Roman"/>
                <a:cs typeface="Times New Roman"/>
              </a:rPr>
              <a:t>einmal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ausgewertet</a:t>
            </a:r>
            <a:endParaRPr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50900" y="806450"/>
            <a:ext cx="6553200" cy="540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68700" algn="l"/>
              </a:tabLst>
            </a:pPr>
            <a:r>
              <a:rPr spc="-5" dirty="0"/>
              <a:t>Der</a:t>
            </a:r>
            <a:r>
              <a:rPr spc="15" dirty="0"/>
              <a:t> </a:t>
            </a:r>
            <a:r>
              <a:rPr spc="-5" dirty="0" err="1"/>
              <a:t>Vergleich</a:t>
            </a:r>
            <a:r>
              <a:rPr lang="en-GB" spc="-5" dirty="0"/>
              <a:t> </a:t>
            </a:r>
            <a:r>
              <a:rPr dirty="0" err="1"/>
              <a:t>mit</a:t>
            </a:r>
            <a:r>
              <a:rPr spc="-95" dirty="0"/>
              <a:t> </a:t>
            </a:r>
            <a:r>
              <a:rPr dirty="0"/>
              <a:t>"all"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638012" y="1967419"/>
            <a:ext cx="7063105" cy="234423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endParaRPr sz="31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800" b="1" spc="-5" dirty="0">
                <a:latin typeface="Tahoma"/>
                <a:cs typeface="Tahoma"/>
              </a:rPr>
              <a:t>select</a:t>
            </a:r>
            <a:r>
              <a:rPr sz="2800" b="1" spc="-1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Name</a:t>
            </a:r>
            <a:endParaRPr sz="28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2800" b="1" spc="-5" dirty="0">
                <a:latin typeface="Tahoma"/>
                <a:cs typeface="Tahoma"/>
              </a:rPr>
              <a:t>from</a:t>
            </a:r>
            <a:r>
              <a:rPr sz="2800" b="1" spc="5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Studenten</a:t>
            </a:r>
            <a:endParaRPr sz="28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2800" b="1" spc="-5" dirty="0">
                <a:latin typeface="Tahoma"/>
                <a:cs typeface="Tahoma"/>
              </a:rPr>
              <a:t>where </a:t>
            </a:r>
            <a:r>
              <a:rPr sz="2800" dirty="0">
                <a:latin typeface="Tahoma"/>
                <a:cs typeface="Tahoma"/>
              </a:rPr>
              <a:t>Semester </a:t>
            </a:r>
            <a:r>
              <a:rPr sz="2800" spc="-5" dirty="0">
                <a:latin typeface="Tahoma"/>
                <a:cs typeface="Tahoma"/>
              </a:rPr>
              <a:t>&gt;= </a:t>
            </a:r>
            <a:r>
              <a:rPr sz="2800" b="1" dirty="0">
                <a:latin typeface="Tahoma"/>
                <a:cs typeface="Tahoma"/>
              </a:rPr>
              <a:t>all </a:t>
            </a:r>
            <a:r>
              <a:rPr sz="2800" dirty="0">
                <a:latin typeface="Tahoma"/>
                <a:cs typeface="Tahoma"/>
              </a:rPr>
              <a:t>( </a:t>
            </a:r>
            <a:r>
              <a:rPr sz="2800" b="1" spc="-5" dirty="0">
                <a:latin typeface="Tahoma"/>
                <a:cs typeface="Tahoma"/>
              </a:rPr>
              <a:t>select</a:t>
            </a:r>
            <a:r>
              <a:rPr sz="2800" b="1" spc="5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Semester</a:t>
            </a:r>
          </a:p>
          <a:p>
            <a:pPr marL="4225925">
              <a:lnSpc>
                <a:spcPct val="100000"/>
              </a:lnSpc>
              <a:spcBef>
                <a:spcPts val="340"/>
              </a:spcBef>
            </a:pPr>
            <a:r>
              <a:rPr sz="2800" b="1" spc="-5" dirty="0">
                <a:latin typeface="Tahoma"/>
                <a:cs typeface="Tahoma"/>
              </a:rPr>
              <a:t>from</a:t>
            </a:r>
            <a:r>
              <a:rPr sz="2800" b="1" spc="1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Studenten);</a:t>
            </a:r>
            <a:endParaRPr sz="2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231900" y="3748944"/>
            <a:ext cx="6809105" cy="3686906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355600"/>
            <a:r>
              <a:rPr sz="2400" b="1" spc="-5" dirty="0">
                <a:latin typeface="Tahoma"/>
                <a:cs typeface="Tahoma"/>
              </a:rPr>
              <a:t>select </a:t>
            </a:r>
            <a:r>
              <a:rPr sz="2400" spc="-5" dirty="0">
                <a:latin typeface="Tahoma"/>
                <a:cs typeface="Tahoma"/>
              </a:rPr>
              <a:t>gelesenVon, </a:t>
            </a:r>
            <a:r>
              <a:rPr sz="2400" b="1" spc="-5" dirty="0">
                <a:latin typeface="Tahoma"/>
                <a:cs typeface="Tahoma"/>
              </a:rPr>
              <a:t>sum</a:t>
            </a:r>
            <a:r>
              <a:rPr sz="2400" b="1" spc="9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(SWS)</a:t>
            </a:r>
            <a:endParaRPr sz="2400" dirty="0">
              <a:latin typeface="Tahoma"/>
              <a:cs typeface="Tahoma"/>
            </a:endParaRPr>
          </a:p>
          <a:p>
            <a:pPr marL="355600">
              <a:spcBef>
                <a:spcPts val="320"/>
              </a:spcBef>
            </a:pPr>
            <a:r>
              <a:rPr sz="2400" b="1" spc="-5" dirty="0">
                <a:latin typeface="Tahoma"/>
                <a:cs typeface="Tahoma"/>
              </a:rPr>
              <a:t>from</a:t>
            </a:r>
            <a:r>
              <a:rPr sz="2400" b="1" spc="4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Vorlesungen</a:t>
            </a:r>
            <a:endParaRPr sz="2400" dirty="0">
              <a:latin typeface="Tahoma"/>
              <a:cs typeface="Tahoma"/>
            </a:endParaRPr>
          </a:p>
          <a:p>
            <a:pPr marL="355600">
              <a:spcBef>
                <a:spcPts val="220"/>
              </a:spcBef>
            </a:pPr>
            <a:r>
              <a:rPr sz="2400" b="1" spc="-5" dirty="0">
                <a:latin typeface="Tahoma"/>
                <a:cs typeface="Tahoma"/>
              </a:rPr>
              <a:t>group by</a:t>
            </a:r>
            <a:r>
              <a:rPr sz="2400" b="1" spc="4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gelesenVon;</a:t>
            </a:r>
            <a:endParaRPr sz="24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050" dirty="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</a:pPr>
            <a:r>
              <a:rPr sz="2400" b="1" spc="-5" dirty="0">
                <a:latin typeface="Tahoma"/>
                <a:cs typeface="Tahoma"/>
              </a:rPr>
              <a:t>select </a:t>
            </a:r>
            <a:r>
              <a:rPr sz="2400" spc="-5" dirty="0">
                <a:latin typeface="Tahoma"/>
                <a:cs typeface="Tahoma"/>
              </a:rPr>
              <a:t>gelesenVon, Name, </a:t>
            </a:r>
            <a:r>
              <a:rPr sz="2400" b="1" spc="-5" dirty="0">
                <a:latin typeface="Tahoma"/>
                <a:cs typeface="Tahoma"/>
              </a:rPr>
              <a:t>sum</a:t>
            </a:r>
            <a:r>
              <a:rPr sz="2400" b="1" spc="9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(SWS)</a:t>
            </a:r>
            <a:endParaRPr sz="2400" dirty="0">
              <a:latin typeface="Tahoma"/>
              <a:cs typeface="Tahoma"/>
            </a:endParaRPr>
          </a:p>
          <a:p>
            <a:pPr marL="355600">
              <a:lnSpc>
                <a:spcPct val="100000"/>
              </a:lnSpc>
              <a:spcBef>
                <a:spcPts val="220"/>
              </a:spcBef>
            </a:pPr>
            <a:r>
              <a:rPr sz="2400" b="1" spc="-5" dirty="0">
                <a:latin typeface="Tahoma"/>
                <a:cs typeface="Tahoma"/>
              </a:rPr>
              <a:t>from </a:t>
            </a:r>
            <a:r>
              <a:rPr sz="2400" spc="-5" dirty="0">
                <a:latin typeface="Tahoma"/>
                <a:cs typeface="Tahoma"/>
              </a:rPr>
              <a:t>Vorlesungen,</a:t>
            </a:r>
            <a:r>
              <a:rPr sz="2400" spc="4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Professoren</a:t>
            </a:r>
          </a:p>
          <a:p>
            <a:pPr marL="355600">
              <a:lnSpc>
                <a:spcPct val="100000"/>
              </a:lnSpc>
              <a:spcBef>
                <a:spcPts val="320"/>
              </a:spcBef>
            </a:pPr>
            <a:r>
              <a:rPr sz="2400" b="1" spc="-5" dirty="0">
                <a:latin typeface="Tahoma"/>
                <a:cs typeface="Tahoma"/>
              </a:rPr>
              <a:t>where </a:t>
            </a:r>
            <a:r>
              <a:rPr sz="2400" spc="-5" dirty="0">
                <a:latin typeface="Tahoma"/>
                <a:cs typeface="Tahoma"/>
              </a:rPr>
              <a:t>gelesenVon = </a:t>
            </a:r>
            <a:r>
              <a:rPr sz="2400" dirty="0">
                <a:latin typeface="Tahoma"/>
                <a:cs typeface="Tahoma"/>
              </a:rPr>
              <a:t>PersNr </a:t>
            </a:r>
            <a:r>
              <a:rPr sz="2400" b="1" spc="-5" dirty="0">
                <a:latin typeface="Tahoma"/>
                <a:cs typeface="Tahoma"/>
              </a:rPr>
              <a:t>and </a:t>
            </a:r>
            <a:r>
              <a:rPr sz="2400" spc="-5" dirty="0">
                <a:latin typeface="Tahoma"/>
                <a:cs typeface="Tahoma"/>
              </a:rPr>
              <a:t>Rang =</a:t>
            </a:r>
            <a:r>
              <a:rPr sz="2400" spc="120" dirty="0">
                <a:latin typeface="Tahoma"/>
                <a:cs typeface="Tahoma"/>
              </a:rPr>
              <a:t> </a:t>
            </a:r>
            <a:r>
              <a:rPr lang="en-GB" sz="2400" spc="-10" dirty="0">
                <a:latin typeface="Tahoma"/>
                <a:cs typeface="Tahoma"/>
              </a:rPr>
              <a:t>'</a:t>
            </a:r>
            <a:r>
              <a:rPr sz="2400" spc="-10" dirty="0">
                <a:latin typeface="Tahoma"/>
                <a:cs typeface="Tahoma"/>
              </a:rPr>
              <a:t>C4</a:t>
            </a:r>
            <a:r>
              <a:rPr lang="en-GB" sz="2400" spc="-10" dirty="0">
                <a:latin typeface="Tahoma"/>
                <a:cs typeface="Tahoma"/>
              </a:rPr>
              <a:t>'</a:t>
            </a:r>
            <a:endParaRPr sz="2400" dirty="0">
              <a:latin typeface="Tahoma"/>
              <a:cs typeface="Tahoma"/>
            </a:endParaRPr>
          </a:p>
          <a:p>
            <a:pPr marL="355600">
              <a:lnSpc>
                <a:spcPct val="100000"/>
              </a:lnSpc>
              <a:spcBef>
                <a:spcPts val="320"/>
              </a:spcBef>
            </a:pPr>
            <a:r>
              <a:rPr sz="2400" b="1" spc="-5" dirty="0">
                <a:latin typeface="Tahoma"/>
                <a:cs typeface="Tahoma"/>
              </a:rPr>
              <a:t>group by </a:t>
            </a:r>
            <a:r>
              <a:rPr sz="2400" spc="-5" dirty="0">
                <a:latin typeface="Tahoma"/>
                <a:cs typeface="Tahoma"/>
              </a:rPr>
              <a:t>gelesenVon,</a:t>
            </a:r>
            <a:r>
              <a:rPr sz="2400" spc="5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Name</a:t>
            </a:r>
            <a:endParaRPr sz="2400" dirty="0">
              <a:latin typeface="Tahoma"/>
              <a:cs typeface="Tahoma"/>
            </a:endParaRPr>
          </a:p>
          <a:p>
            <a:pPr marL="398145" algn="ctr">
              <a:lnSpc>
                <a:spcPct val="100000"/>
              </a:lnSpc>
              <a:spcBef>
                <a:spcPts val="220"/>
              </a:spcBef>
            </a:pPr>
            <a:r>
              <a:rPr sz="2400" b="1" spc="-5" dirty="0">
                <a:latin typeface="Tahoma"/>
                <a:cs typeface="Tahoma"/>
              </a:rPr>
              <a:t>having avg </a:t>
            </a:r>
            <a:r>
              <a:rPr sz="2400" spc="-5" dirty="0">
                <a:latin typeface="Tahoma"/>
                <a:cs typeface="Tahoma"/>
              </a:rPr>
              <a:t>(SWS) &gt;=</a:t>
            </a:r>
            <a:r>
              <a:rPr sz="2400" spc="5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3;</a:t>
            </a:r>
            <a:endParaRPr sz="2400" dirty="0">
              <a:latin typeface="Tahoma"/>
              <a:cs typeface="Tahoma"/>
            </a:endParaRPr>
          </a:p>
        </p:txBody>
      </p:sp>
      <p:sp>
        <p:nvSpPr>
          <p:cNvPr id="5" name="object 4"/>
          <p:cNvSpPr txBox="1"/>
          <p:nvPr/>
        </p:nvSpPr>
        <p:spPr>
          <a:xfrm>
            <a:off x="1585595" y="2559050"/>
            <a:ext cx="6809105" cy="792525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R="3653154">
              <a:spcBef>
                <a:spcPts val="420"/>
              </a:spcBef>
            </a:pPr>
            <a:r>
              <a:rPr sz="2400" b="1" spc="-5" dirty="0">
                <a:latin typeface="Tahoma"/>
                <a:cs typeface="Tahoma"/>
              </a:rPr>
              <a:t>select avg</a:t>
            </a:r>
            <a:r>
              <a:rPr sz="2400" b="1" spc="1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(Semester)</a:t>
            </a:r>
            <a:r>
              <a:rPr lang="en-GB" sz="2400" dirty="0">
                <a:latin typeface="Tahoma"/>
                <a:cs typeface="Tahoma"/>
              </a:rPr>
              <a:t> </a:t>
            </a:r>
            <a:r>
              <a:rPr sz="2400" b="1" spc="-5" dirty="0">
                <a:latin typeface="Tahoma"/>
                <a:cs typeface="Tahoma"/>
              </a:rPr>
              <a:t>from</a:t>
            </a:r>
            <a:r>
              <a:rPr sz="2400" b="1" spc="4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Studenten</a:t>
            </a:r>
            <a:r>
              <a:rPr sz="2000" spc="-5" dirty="0">
                <a:latin typeface="Tahoma"/>
                <a:cs typeface="Tahoma"/>
              </a:rPr>
              <a:t>;</a:t>
            </a:r>
            <a:endParaRPr sz="2400" dirty="0">
              <a:latin typeface="Tahoma"/>
              <a:cs typeface="Tahom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145D98-7B1C-EC15-FB3D-CB08E260F10E}"/>
              </a:ext>
            </a:extLst>
          </p:cNvPr>
          <p:cNvSpPr txBox="1"/>
          <p:nvPr/>
        </p:nvSpPr>
        <p:spPr>
          <a:xfrm>
            <a:off x="1155700" y="1792585"/>
            <a:ext cx="9067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spc="-5" dirty="0" err="1">
                <a:latin typeface="Tahoma"/>
                <a:cs typeface="Tahoma"/>
              </a:rPr>
              <a:t>Aggregatfunktionen</a:t>
            </a:r>
            <a:r>
              <a:rPr lang="en-GB" sz="2400" spc="-5" dirty="0">
                <a:latin typeface="Tahoma"/>
                <a:cs typeface="Tahoma"/>
              </a:rPr>
              <a:t> </a:t>
            </a:r>
            <a:r>
              <a:rPr lang="en-GB" sz="2400" b="1" spc="-5" dirty="0" err="1">
                <a:latin typeface="Tahoma"/>
                <a:cs typeface="Tahoma"/>
              </a:rPr>
              <a:t>avg</a:t>
            </a:r>
            <a:r>
              <a:rPr lang="en-GB" sz="2400" b="1" spc="-5" dirty="0">
                <a:latin typeface="Tahoma"/>
                <a:cs typeface="Tahoma"/>
              </a:rPr>
              <a:t>, max, min, count,</a:t>
            </a:r>
            <a:r>
              <a:rPr lang="en-GB" sz="2400" b="1" spc="40" dirty="0">
                <a:latin typeface="Tahoma"/>
                <a:cs typeface="Tahoma"/>
              </a:rPr>
              <a:t> </a:t>
            </a:r>
            <a:r>
              <a:rPr lang="en-GB" sz="2400" b="1" spc="-5" dirty="0">
                <a:latin typeface="Tahoma"/>
                <a:cs typeface="Tahoma"/>
              </a:rPr>
              <a:t>sum</a:t>
            </a:r>
            <a:endParaRPr lang="en-US" sz="2400" dirty="0"/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8D69BF61-3FB9-3443-3278-391747148D9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50900" y="901304"/>
            <a:ext cx="6553200" cy="540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68700" algn="l"/>
              </a:tabLst>
            </a:pPr>
            <a:r>
              <a:rPr lang="en-GB" spc="-5" dirty="0" err="1"/>
              <a:t>Aggregatfunktion</a:t>
            </a:r>
            <a:r>
              <a:rPr lang="en-GB" spc="-5" dirty="0"/>
              <a:t> und </a:t>
            </a:r>
            <a:r>
              <a:rPr lang="en-GB" spc="-5" dirty="0" err="1"/>
              <a:t>Gruppierung</a:t>
            </a:r>
            <a:endParaRPr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25">
            <a:extLst>
              <a:ext uri="{FF2B5EF4-FFF2-40B4-BE49-F238E27FC236}">
                <a16:creationId xmlns:a16="http://schemas.microsoft.com/office/drawing/2014/main" id="{DF304EA3-86BC-07C6-977C-DF542AF949C6}"/>
              </a:ext>
            </a:extLst>
          </p:cNvPr>
          <p:cNvGraphicFramePr>
            <a:graphicFrameLocks noGrp="1"/>
          </p:cNvGraphicFramePr>
          <p:nvPr/>
        </p:nvGraphicFramePr>
        <p:xfrm>
          <a:off x="1163325" y="107317"/>
          <a:ext cx="9136375" cy="702373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26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3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476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624204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9593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1178559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480059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119379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682625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</a:tblGrid>
              <a:tr h="307340">
                <a:tc gridSpan="4">
                  <a:txBody>
                    <a:bodyPr/>
                    <a:lstStyle/>
                    <a:p>
                      <a:pPr marL="68897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600" b="1" spc="-5" dirty="0">
                          <a:latin typeface="Tahoma"/>
                          <a:cs typeface="Tahoma"/>
                        </a:rPr>
                        <a:t>Professoren</a:t>
                      </a:r>
                      <a:endParaRPr sz="1600" dirty="0">
                        <a:latin typeface="Tahoma"/>
                        <a:cs typeface="Tahoma"/>
                      </a:endParaRPr>
                    </a:p>
                  </a:txBody>
                  <a:tcPr marL="0" marR="0" marT="254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7">
                  <a:txBody>
                    <a:bodyPr/>
                    <a:lstStyle/>
                    <a:p>
                      <a:pPr marL="918844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b="1" spc="-5" dirty="0">
                          <a:latin typeface="Tahoma"/>
                          <a:cs typeface="Tahoma"/>
                        </a:rPr>
                        <a:t>Studenten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7">
                  <a:txBody>
                    <a:bodyPr/>
                    <a:lstStyle/>
                    <a:p>
                      <a:pPr marL="120078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600" b="1" dirty="0">
                          <a:latin typeface="Tahoma"/>
                          <a:cs typeface="Tahoma"/>
                        </a:rPr>
                        <a:t>Vorlesungen</a:t>
                      </a:r>
                      <a:endParaRPr sz="1600" dirty="0">
                        <a:latin typeface="Tahoma"/>
                        <a:cs typeface="Tahoma"/>
                      </a:endParaRPr>
                    </a:p>
                  </a:txBody>
                  <a:tcPr marL="0" marR="0" marT="254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 marL="508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b="1" dirty="0">
                          <a:latin typeface="Tahoma"/>
                          <a:cs typeface="Tahoma"/>
                        </a:rPr>
                        <a:t>P</a:t>
                      </a:r>
                      <a:r>
                        <a:rPr sz="1400" b="1" spc="-5" dirty="0">
                          <a:latin typeface="Tahoma"/>
                          <a:cs typeface="Tahoma"/>
                        </a:rPr>
                        <a:t>ersN</a:t>
                      </a:r>
                      <a:r>
                        <a:rPr sz="1400" b="1" dirty="0">
                          <a:latin typeface="Tahoma"/>
                          <a:cs typeface="Tahoma"/>
                        </a:rPr>
                        <a:t>r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20764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b="1" dirty="0">
                          <a:latin typeface="Tahoma"/>
                          <a:cs typeface="Tahoma"/>
                        </a:rPr>
                        <a:t>Name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b="1" spc="-5" dirty="0">
                          <a:latin typeface="Tahoma"/>
                          <a:cs typeface="Tahoma"/>
                        </a:rPr>
                        <a:t>Rang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1714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b="1" dirty="0">
                          <a:latin typeface="Tahoma"/>
                          <a:cs typeface="Tahoma"/>
                        </a:rPr>
                        <a:t>R</a:t>
                      </a:r>
                      <a:r>
                        <a:rPr sz="1400" b="1" spc="-5" dirty="0">
                          <a:latin typeface="Tahoma"/>
                          <a:cs typeface="Tahoma"/>
                        </a:rPr>
                        <a:t>aum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b="1" dirty="0">
                          <a:latin typeface="Tahoma"/>
                          <a:cs typeface="Tahoma"/>
                        </a:rPr>
                        <a:t>M</a:t>
                      </a:r>
                      <a:r>
                        <a:rPr sz="1400" b="1" spc="-5" dirty="0">
                          <a:latin typeface="Tahoma"/>
                          <a:cs typeface="Tahoma"/>
                        </a:rPr>
                        <a:t>atrN</a:t>
                      </a:r>
                      <a:r>
                        <a:rPr sz="1400" b="1" dirty="0">
                          <a:latin typeface="Tahoma"/>
                          <a:cs typeface="Tahoma"/>
                        </a:rPr>
                        <a:t>r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2702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b="1" dirty="0">
                          <a:latin typeface="Tahoma"/>
                          <a:cs typeface="Tahoma"/>
                        </a:rPr>
                        <a:t>Name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4635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b="1" spc="-5" dirty="0">
                          <a:latin typeface="Tahoma"/>
                          <a:cs typeface="Tahoma"/>
                        </a:rPr>
                        <a:t>Semester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17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rowSpan="2" gridSpan="2"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400" b="1" dirty="0">
                          <a:latin typeface="Tahoma"/>
                          <a:cs typeface="Tahoma"/>
                        </a:rPr>
                        <a:t>VorlNr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1114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17780"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400" b="1" spc="-5" dirty="0">
                          <a:latin typeface="Tahoma"/>
                          <a:cs typeface="Tahoma"/>
                        </a:rPr>
                        <a:t>Titel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111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400" b="1" spc="-5" dirty="0">
                          <a:latin typeface="Tahoma"/>
                          <a:cs typeface="Tahoma"/>
                        </a:rPr>
                        <a:t>SWS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111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marL="297180" indent="-292100">
                        <a:lnSpc>
                          <a:spcPts val="1500"/>
                        </a:lnSpc>
                        <a:spcBef>
                          <a:spcPts val="445"/>
                        </a:spcBef>
                      </a:pPr>
                      <a:r>
                        <a:rPr sz="1400" b="1" dirty="0">
                          <a:latin typeface="Tahoma"/>
                          <a:cs typeface="Tahoma"/>
                        </a:rPr>
                        <a:t>g</a:t>
                      </a:r>
                      <a:r>
                        <a:rPr sz="1400" b="1" spc="-5" dirty="0">
                          <a:latin typeface="Tahoma"/>
                          <a:cs typeface="Tahoma"/>
                        </a:rPr>
                        <a:t>elese</a:t>
                      </a:r>
                      <a:r>
                        <a:rPr sz="1400" b="1" dirty="0">
                          <a:latin typeface="Tahoma"/>
                          <a:cs typeface="Tahoma"/>
                        </a:rPr>
                        <a:t>nV  on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5651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4945">
                <a:tc rowSpan="2">
                  <a:txBody>
                    <a:bodyPr/>
                    <a:lstStyle/>
                    <a:p>
                      <a:pPr marL="113664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2125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3144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Sokrates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7462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C4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226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rowSpan="2" gridSpan="2">
                  <a:txBody>
                    <a:bodyPr/>
                    <a:lstStyle/>
                    <a:p>
                      <a:pPr marL="10541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24002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15430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spc="-10" dirty="0">
                          <a:latin typeface="Tahoma"/>
                          <a:cs typeface="Tahoma"/>
                        </a:rPr>
                        <a:t>Xenokrates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3"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18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1114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111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111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5651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26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76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rowSpan="2" gridSpan="2"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5001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421640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Grundzüge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marL="1651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4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marL="21526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2137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945">
                <a:tc rowSpan="2">
                  <a:txBody>
                    <a:bodyPr/>
                    <a:lstStyle/>
                    <a:p>
                      <a:pPr marL="113664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2126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21653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Russel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7462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C4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232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rowSpan="2" gridSpan="2">
                  <a:txBody>
                    <a:bodyPr/>
                    <a:lstStyle/>
                    <a:p>
                      <a:pPr marL="10541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25403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36512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Jonas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3"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12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826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76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rowSpan="2" gridSpan="2"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5041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18415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Ethik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marL="1651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4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marL="21526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2125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4945">
                <a:tc rowSpan="2">
                  <a:txBody>
                    <a:bodyPr/>
                    <a:lstStyle/>
                    <a:p>
                      <a:pPr marL="113664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2127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3746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spc="-10" dirty="0">
                          <a:latin typeface="Tahoma"/>
                          <a:cs typeface="Tahoma"/>
                        </a:rPr>
                        <a:t>Kopernikus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7462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C3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310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rowSpan="2" gridSpan="2">
                  <a:txBody>
                    <a:bodyPr/>
                    <a:lstStyle/>
                    <a:p>
                      <a:pPr marL="10541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26120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35242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Fichte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3"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10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826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76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rowSpan="2" gridSpan="2"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5043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16192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Erkenntnistheorie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marL="1651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3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marL="21526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2126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4945">
                <a:tc rowSpan="2">
                  <a:txBody>
                    <a:bodyPr/>
                    <a:lstStyle/>
                    <a:p>
                      <a:pPr marL="113664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2133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9494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spc="-10" dirty="0">
                          <a:latin typeface="Tahoma"/>
                          <a:cs typeface="Tahoma"/>
                        </a:rPr>
                        <a:t>Popper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7462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C3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7970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rowSpan="2" gridSpan="2">
                  <a:txBody>
                    <a:bodyPr/>
                    <a:lstStyle/>
                    <a:p>
                      <a:pPr marL="10541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26830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Aristoxenos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3"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8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8826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76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rowSpan="2" gridSpan="2"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5049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54038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Mäeutik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marL="1651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marL="21526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2125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4945">
                <a:tc rowSpan="2">
                  <a:txBody>
                    <a:bodyPr/>
                    <a:lstStyle/>
                    <a:p>
                      <a:pPr marL="113664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2134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3746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Augustinus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7462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C3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309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rowSpan="2" gridSpan="2">
                  <a:txBody>
                    <a:bodyPr/>
                    <a:lstStyle/>
                    <a:p>
                      <a:pPr marL="10541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27550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2730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Schopenhauer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3"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6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8826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76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rowSpan="2" gridSpan="2"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4052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1778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Logik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marL="1651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4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marL="21526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2125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4945">
                <a:tc rowSpan="2">
                  <a:txBody>
                    <a:bodyPr/>
                    <a:lstStyle/>
                    <a:p>
                      <a:pPr marL="113664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2136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26479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Curie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7462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C4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7970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36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rowSpan="2" gridSpan="2">
                  <a:txBody>
                    <a:bodyPr/>
                    <a:lstStyle/>
                    <a:p>
                      <a:pPr marL="10541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28106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30861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Carnap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3"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3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8826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76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rowSpan="2" gridSpan="2"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5052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2159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Wissenschaftstheorie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marL="1651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3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marL="21526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2126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94945">
                <a:tc rowSpan="2">
                  <a:txBody>
                    <a:bodyPr/>
                    <a:lstStyle/>
                    <a:p>
                      <a:pPr marL="113664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lang="en-GB" sz="1400" dirty="0">
                          <a:latin typeface="Tahoma"/>
                          <a:cs typeface="Tahoma"/>
                        </a:rPr>
                        <a:t>2137</a:t>
                      </a: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29083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lang="en-GB" sz="1400" spc="-10">
                          <a:latin typeface="Tahoma"/>
                          <a:cs typeface="Tahoma"/>
                        </a:rPr>
                        <a:t>Kant</a:t>
                      </a:r>
                      <a:endParaRPr lang="en-GB"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7462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lang="en-GB" sz="1400" spc="-5">
                          <a:latin typeface="Tahoma"/>
                          <a:cs typeface="Tahoma"/>
                        </a:rPr>
                        <a:t>C4</a:t>
                      </a:r>
                      <a:endParaRPr lang="en-GB"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7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rowSpan="2" gridSpan="2">
                  <a:txBody>
                    <a:bodyPr/>
                    <a:lstStyle/>
                    <a:p>
                      <a:pPr marL="10541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29120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Theophrastos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3"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9080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76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rowSpan="2" gridSpan="2"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5216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53403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Bioethik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marL="1651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marL="21526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2126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91770">
                <a:tc rowSpan="2"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GB"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10541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29555</a:t>
                      </a:r>
                    </a:p>
                  </a:txBody>
                  <a:tcPr marL="0" marR="0" marT="2159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18034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400" spc="-10" dirty="0">
                          <a:latin typeface="Tahoma"/>
                          <a:cs typeface="Tahoma"/>
                        </a:rPr>
                        <a:t>Feuerbach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15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3"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15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93980">
                <a:tc gridSpan="5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159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15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15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rowSpan="2" gridSpan="2"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5259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18542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Der Wiener</a:t>
                      </a:r>
                      <a:r>
                        <a:rPr sz="1400" spc="-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5" dirty="0">
                          <a:latin typeface="Tahoma"/>
                          <a:cs typeface="Tahoma"/>
                        </a:rPr>
                        <a:t>Kreis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marL="1651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marL="21526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2133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89230">
                <a:tc rowSpan="17" grid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rowSpan="17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17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17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17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17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4">
                  <a:txBody>
                    <a:bodyPr/>
                    <a:lstStyle/>
                    <a:p>
                      <a:pPr marL="1968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b="1" spc="-5" dirty="0">
                          <a:latin typeface="Tahoma"/>
                          <a:cs typeface="Tahoma"/>
                        </a:rPr>
                        <a:t>hören</a:t>
                      </a:r>
                      <a:endParaRPr sz="1600" dirty="0">
                        <a:latin typeface="Tahoma"/>
                        <a:cs typeface="Tahoma"/>
                      </a:endParaRPr>
                    </a:p>
                  </a:txBody>
                  <a:tcPr marL="0" marR="0" marT="3365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5"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 rowSpan="5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5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29539">
                <a:tc gridSpan="6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4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365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5022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Glaube und</a:t>
                      </a:r>
                      <a:r>
                        <a:rPr sz="1400" spc="-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5" dirty="0">
                          <a:latin typeface="Tahoma"/>
                          <a:cs typeface="Tahoma"/>
                        </a:rPr>
                        <a:t>Wissen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marL="1651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marL="21526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2134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53035">
                <a:tc gridSpan="6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b="1" spc="-5" dirty="0">
                          <a:latin typeface="Tahoma"/>
                          <a:cs typeface="Tahoma"/>
                        </a:rPr>
                        <a:t>MatrNr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217804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b="1" dirty="0">
                          <a:latin typeface="Tahoma"/>
                          <a:cs typeface="Tahoma"/>
                        </a:rPr>
                        <a:t>VorlNr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29539">
                <a:tc gridSpan="6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4630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320040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Die </a:t>
                      </a:r>
                      <a:r>
                        <a:rPr sz="1400" dirty="0">
                          <a:latin typeface="Tahoma"/>
                          <a:cs typeface="Tahoma"/>
                        </a:rPr>
                        <a:t>3</a:t>
                      </a:r>
                      <a:r>
                        <a:rPr sz="1400" spc="-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5" dirty="0">
                          <a:latin typeface="Tahoma"/>
                          <a:cs typeface="Tahoma"/>
                        </a:rPr>
                        <a:t>Kritiken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marL="1651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4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marL="21526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2137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53035">
                <a:tc gridSpan="6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224154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26120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311150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5001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30175">
                <a:tc gridSpan="6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3" gridSpan="10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3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3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3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3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3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3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3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3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283210">
                <a:tc gridSpan="6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24154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27550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11150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5001</a:t>
                      </a: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10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232410">
                <a:tc gridSpan="6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24154">
                        <a:lnSpc>
                          <a:spcPts val="151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27550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11150">
                        <a:lnSpc>
                          <a:spcPts val="151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4052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10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310515">
                <a:tc gridSpan="6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24154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28106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1115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5041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9">
                  <a:txBody>
                    <a:bodyPr/>
                    <a:lstStyle/>
                    <a:p>
                      <a:pPr marL="20955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600" b="1" dirty="0">
                          <a:latin typeface="Tahoma"/>
                          <a:cs typeface="Tahoma"/>
                        </a:rPr>
                        <a:t>Assistenten</a:t>
                      </a:r>
                      <a:endParaRPr sz="1600" dirty="0">
                        <a:latin typeface="Tahoma"/>
                        <a:cs typeface="Tahoma"/>
                      </a:endParaRPr>
                    </a:p>
                  </a:txBody>
                  <a:tcPr marL="0" marR="0" marT="254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283210">
                <a:tc gridSpan="6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24154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28106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5143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11150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5052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5143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3"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b="1" dirty="0">
                          <a:latin typeface="Tahoma"/>
                          <a:cs typeface="Tahoma"/>
                        </a:rPr>
                        <a:t>P</a:t>
                      </a:r>
                      <a:r>
                        <a:rPr sz="1400" b="1" spc="-5" dirty="0">
                          <a:latin typeface="Tahoma"/>
                          <a:cs typeface="Tahoma"/>
                        </a:rPr>
                        <a:t>ers</a:t>
                      </a:r>
                      <a:r>
                        <a:rPr sz="1400" b="1" dirty="0">
                          <a:latin typeface="Tahoma"/>
                          <a:cs typeface="Tahoma"/>
                        </a:rPr>
                        <a:t>l</a:t>
                      </a:r>
                      <a:r>
                        <a:rPr sz="1400" b="1" spc="-5" dirty="0">
                          <a:latin typeface="Tahoma"/>
                          <a:cs typeface="Tahoma"/>
                        </a:rPr>
                        <a:t>N</a:t>
                      </a:r>
                      <a:r>
                        <a:rPr sz="1400" b="1" dirty="0">
                          <a:latin typeface="Tahoma"/>
                          <a:cs typeface="Tahoma"/>
                        </a:rPr>
                        <a:t>r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0988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b="1" dirty="0">
                          <a:latin typeface="Tahoma"/>
                          <a:cs typeface="Tahoma"/>
                        </a:rPr>
                        <a:t>Name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40640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b="1" spc="-5" dirty="0">
                          <a:latin typeface="Tahoma"/>
                          <a:cs typeface="Tahoma"/>
                        </a:rPr>
                        <a:t>Fachgebiet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b="1" spc="-5" dirty="0">
                          <a:latin typeface="Tahoma"/>
                          <a:cs typeface="Tahoma"/>
                        </a:rPr>
                        <a:t>Boss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  <a:tr h="283210">
                <a:tc gridSpan="6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24154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28106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5143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11150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5216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5143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3">
                  <a:txBody>
                    <a:bodyPr/>
                    <a:lstStyle/>
                    <a:p>
                      <a:pPr marL="15875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3002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2575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Platon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476884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spc="-10" dirty="0">
                          <a:latin typeface="Tahoma"/>
                          <a:cs typeface="Tahoma"/>
                        </a:rPr>
                        <a:t>Ideenlehre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621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2125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8"/>
                  </a:ext>
                </a:extLst>
              </a:tr>
              <a:tr h="283210">
                <a:tc gridSpan="6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24154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28106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508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1115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5259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508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3">
                  <a:txBody>
                    <a:bodyPr/>
                    <a:lstStyle/>
                    <a:p>
                      <a:pPr marL="15875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3003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Aristoteles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51117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Syllogistik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621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2125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9"/>
                  </a:ext>
                </a:extLst>
              </a:tr>
              <a:tr h="283210">
                <a:tc gridSpan="6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24154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29120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508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1115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5001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508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3">
                  <a:txBody>
                    <a:bodyPr/>
                    <a:lstStyle/>
                    <a:p>
                      <a:pPr marL="15875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3004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Wittgenstein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35623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Sprachtheorie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621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2126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30"/>
                  </a:ext>
                </a:extLst>
              </a:tr>
              <a:tr h="283210">
                <a:tc gridSpan="6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24154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29120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508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1115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5041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508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3">
                  <a:txBody>
                    <a:bodyPr/>
                    <a:lstStyle/>
                    <a:p>
                      <a:pPr marL="15875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3005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3431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Rhetikus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Planetenbewegung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621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2127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31"/>
                  </a:ext>
                </a:extLst>
              </a:tr>
              <a:tr h="283210">
                <a:tc gridSpan="6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24154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29120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508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1115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5049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508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3">
                  <a:txBody>
                    <a:bodyPr/>
                    <a:lstStyle/>
                    <a:p>
                      <a:pPr marL="15875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3006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6987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Newton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13843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spc="-10" dirty="0">
                          <a:latin typeface="Tahoma"/>
                          <a:cs typeface="Tahoma"/>
                        </a:rPr>
                        <a:t>Keplersche</a:t>
                      </a:r>
                      <a:r>
                        <a:rPr sz="1400" spc="-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5" dirty="0">
                          <a:latin typeface="Tahoma"/>
                          <a:cs typeface="Tahoma"/>
                        </a:rPr>
                        <a:t>Gesetze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621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2127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32"/>
                  </a:ext>
                </a:extLst>
              </a:tr>
              <a:tr h="283210">
                <a:tc gridSpan="6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24154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29555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508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1115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5022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508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3">
                  <a:txBody>
                    <a:bodyPr/>
                    <a:lstStyle/>
                    <a:p>
                      <a:pPr marL="15875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3007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6670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Spinoza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30861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Gott und</a:t>
                      </a:r>
                      <a:r>
                        <a:rPr sz="1400" spc="-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400" dirty="0">
                          <a:latin typeface="Tahoma"/>
                          <a:cs typeface="Tahoma"/>
                        </a:rPr>
                        <a:t>Natur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621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2126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33"/>
                  </a:ext>
                </a:extLst>
              </a:tr>
              <a:tr h="295275">
                <a:tc gridSpan="6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24154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25403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508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1115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5022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508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10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34"/>
                  </a:ext>
                </a:extLst>
              </a:tr>
            </a:tbl>
          </a:graphicData>
        </a:graphic>
      </p:graphicFrame>
      <p:graphicFrame>
        <p:nvGraphicFramePr>
          <p:cNvPr id="11" name="object 26">
            <a:extLst>
              <a:ext uri="{FF2B5EF4-FFF2-40B4-BE49-F238E27FC236}">
                <a16:creationId xmlns:a16="http://schemas.microsoft.com/office/drawing/2014/main" id="{5140401F-46F9-2395-8E60-F89AF8980849}"/>
              </a:ext>
            </a:extLst>
          </p:cNvPr>
          <p:cNvGraphicFramePr>
            <a:graphicFrameLocks noGrp="1"/>
          </p:cNvGraphicFramePr>
          <p:nvPr/>
        </p:nvGraphicFramePr>
        <p:xfrm>
          <a:off x="1155697" y="5476241"/>
          <a:ext cx="2736214" cy="162305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692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1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5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515">
                <a:tc gridSpan="4"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600" b="1" spc="-5" dirty="0">
                          <a:latin typeface="Tahoma"/>
                          <a:cs typeface="Tahoma"/>
                        </a:rPr>
                        <a:t>prüfen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254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b="1" dirty="0">
                          <a:latin typeface="Tahoma"/>
                          <a:cs typeface="Tahoma"/>
                        </a:rPr>
                        <a:t>M</a:t>
                      </a:r>
                      <a:r>
                        <a:rPr sz="1400" b="1" spc="-5" dirty="0">
                          <a:latin typeface="Tahoma"/>
                          <a:cs typeface="Tahoma"/>
                        </a:rPr>
                        <a:t>atrN</a:t>
                      </a:r>
                      <a:r>
                        <a:rPr sz="1400" b="1" dirty="0">
                          <a:latin typeface="Tahoma"/>
                          <a:cs typeface="Tahoma"/>
                        </a:rPr>
                        <a:t>r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b="1" dirty="0">
                          <a:latin typeface="Tahoma"/>
                          <a:cs typeface="Tahoma"/>
                        </a:rPr>
                        <a:t>VorlNr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b="1" dirty="0">
                          <a:latin typeface="Tahoma"/>
                          <a:cs typeface="Tahoma"/>
                        </a:rPr>
                        <a:t>P</a:t>
                      </a:r>
                      <a:r>
                        <a:rPr sz="1400" b="1" spc="-5" dirty="0">
                          <a:latin typeface="Tahoma"/>
                          <a:cs typeface="Tahoma"/>
                        </a:rPr>
                        <a:t>ersN</a:t>
                      </a:r>
                      <a:r>
                        <a:rPr sz="1400" b="1" dirty="0">
                          <a:latin typeface="Tahoma"/>
                          <a:cs typeface="Tahoma"/>
                        </a:rPr>
                        <a:t>r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b="1" dirty="0">
                          <a:latin typeface="Tahoma"/>
                          <a:cs typeface="Tahoma"/>
                        </a:rPr>
                        <a:t>Note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9720"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28106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5001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2126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25403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5041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2125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955"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27550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4630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2137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</a:t>
                      </a: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2" name="object 16">
            <a:extLst>
              <a:ext uri="{FF2B5EF4-FFF2-40B4-BE49-F238E27FC236}">
                <a16:creationId xmlns:a16="http://schemas.microsoft.com/office/drawing/2014/main" id="{435D0FE9-E968-4754-11B0-646C516718CB}"/>
              </a:ext>
            </a:extLst>
          </p:cNvPr>
          <p:cNvGraphicFramePr>
            <a:graphicFrameLocks noGrp="1"/>
          </p:cNvGraphicFramePr>
          <p:nvPr/>
        </p:nvGraphicFramePr>
        <p:xfrm>
          <a:off x="1522409" y="2896554"/>
          <a:ext cx="2134235" cy="250348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242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99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1751">
                <a:tc gridSpan="2">
                  <a:txBody>
                    <a:bodyPr/>
                    <a:lstStyle/>
                    <a:p>
                      <a:pPr marL="40640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600" b="1" dirty="0">
                          <a:latin typeface="Tahoma"/>
                          <a:cs typeface="Tahoma"/>
                        </a:rPr>
                        <a:t>voraussetzen</a:t>
                      </a:r>
                      <a:endParaRPr sz="1600" dirty="0">
                        <a:latin typeface="Tahoma"/>
                        <a:cs typeface="Tahoma"/>
                      </a:endParaRPr>
                    </a:p>
                  </a:txBody>
                  <a:tcPr marL="0" marR="0" marT="254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5217"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b="1" dirty="0">
                          <a:latin typeface="Tahoma"/>
                          <a:cs typeface="Tahoma"/>
                        </a:rPr>
                        <a:t>Vorgänger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b="1" spc="-5" dirty="0">
                          <a:latin typeface="Tahoma"/>
                          <a:cs typeface="Tahoma"/>
                        </a:rPr>
                        <a:t>Nachfolger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5217"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5001</a:t>
                      </a: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5041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5217"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5001</a:t>
                      </a: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5043</a:t>
                      </a: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5217"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5001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5049</a:t>
                      </a: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5217"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5041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5216</a:t>
                      </a: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5217"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5043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5052</a:t>
                      </a: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5217"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5041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5052</a:t>
                      </a: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5217"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5052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5259</a:t>
                      </a: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17100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539240" y="1990725"/>
            <a:ext cx="8221980" cy="4016356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010"/>
              </a:spcBef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sz="2800" spc="-5" dirty="0">
                <a:latin typeface="Tahoma"/>
                <a:cs typeface="Tahoma"/>
              </a:rPr>
              <a:t>SQL erzeugt pro Gruppe ein</a:t>
            </a:r>
            <a:r>
              <a:rPr sz="2800" spc="2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Ergebnistupel</a:t>
            </a:r>
            <a:endParaRPr sz="2800" dirty="0">
              <a:latin typeface="Tahoma"/>
              <a:cs typeface="Tahoma"/>
            </a:endParaRPr>
          </a:p>
          <a:p>
            <a:pPr marL="469900" marR="5080" indent="-457200">
              <a:lnSpc>
                <a:spcPct val="110500"/>
              </a:lnSpc>
              <a:spcBef>
                <a:spcPts val="560"/>
              </a:spcBef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sz="2800" spc="-5" dirty="0" err="1">
                <a:latin typeface="Tahoma"/>
                <a:cs typeface="Tahoma"/>
              </a:rPr>
              <a:t>Deshalb</a:t>
            </a:r>
            <a:r>
              <a:rPr sz="2800" spc="-5" dirty="0">
                <a:latin typeface="Tahoma"/>
                <a:cs typeface="Tahoma"/>
              </a:rPr>
              <a:t> müssen alle in der </a:t>
            </a:r>
            <a:r>
              <a:rPr sz="2800" b="1" spc="-5" dirty="0">
                <a:latin typeface="Tahoma"/>
                <a:cs typeface="Tahoma"/>
              </a:rPr>
              <a:t>select</a:t>
            </a:r>
            <a:r>
              <a:rPr sz="2800" spc="-5" dirty="0">
                <a:latin typeface="Tahoma"/>
                <a:cs typeface="Tahoma"/>
              </a:rPr>
              <a:t>-Klausel  </a:t>
            </a:r>
            <a:r>
              <a:rPr sz="2800" dirty="0">
                <a:latin typeface="Tahoma"/>
                <a:cs typeface="Tahoma"/>
              </a:rPr>
              <a:t>aufgeführten Attribute - außer </a:t>
            </a:r>
            <a:r>
              <a:rPr sz="2800" spc="-5" dirty="0">
                <a:latin typeface="Tahoma"/>
                <a:cs typeface="Tahoma"/>
              </a:rPr>
              <a:t>den </a:t>
            </a:r>
            <a:r>
              <a:rPr sz="2800" dirty="0">
                <a:latin typeface="Tahoma"/>
                <a:cs typeface="Tahoma"/>
              </a:rPr>
              <a:t>aggregierten</a:t>
            </a:r>
            <a:r>
              <a:rPr sz="2800" spc="-7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–  </a:t>
            </a:r>
            <a:r>
              <a:rPr sz="2800" spc="-5" dirty="0">
                <a:latin typeface="Tahoma"/>
                <a:cs typeface="Tahoma"/>
              </a:rPr>
              <a:t>auch in </a:t>
            </a:r>
            <a:r>
              <a:rPr sz="2800" dirty="0">
                <a:latin typeface="Tahoma"/>
                <a:cs typeface="Tahoma"/>
              </a:rPr>
              <a:t>der </a:t>
            </a:r>
            <a:r>
              <a:rPr sz="2800" b="1" spc="-5" dirty="0">
                <a:latin typeface="Tahoma"/>
                <a:cs typeface="Tahoma"/>
              </a:rPr>
              <a:t>group by</a:t>
            </a:r>
            <a:r>
              <a:rPr sz="2800" spc="-5" dirty="0">
                <a:latin typeface="Tahoma"/>
                <a:cs typeface="Tahoma"/>
              </a:rPr>
              <a:t>-Klausel aufgeführt</a:t>
            </a:r>
            <a:r>
              <a:rPr sz="280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werden</a:t>
            </a:r>
            <a:endParaRPr sz="2800" dirty="0">
              <a:latin typeface="Tahoma"/>
              <a:cs typeface="Tahoma"/>
            </a:endParaRPr>
          </a:p>
          <a:p>
            <a:pPr marL="469900" marR="883285" indent="-457200">
              <a:lnSpc>
                <a:spcPct val="111000"/>
              </a:lnSpc>
              <a:spcBef>
                <a:spcPts val="640"/>
              </a:spcBef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sz="2800" dirty="0">
                <a:latin typeface="Tahoma"/>
                <a:cs typeface="Tahoma"/>
              </a:rPr>
              <a:t>Nur so </a:t>
            </a:r>
            <a:r>
              <a:rPr sz="2800" spc="-5" dirty="0">
                <a:latin typeface="Tahoma"/>
                <a:cs typeface="Tahoma"/>
              </a:rPr>
              <a:t>kann SQL sicherstellen, dass sich das  </a:t>
            </a:r>
            <a:r>
              <a:rPr sz="2800" dirty="0">
                <a:latin typeface="Tahoma"/>
                <a:cs typeface="Tahoma"/>
              </a:rPr>
              <a:t>Attribut </a:t>
            </a:r>
            <a:r>
              <a:rPr sz="2800" spc="-5" dirty="0">
                <a:latin typeface="Tahoma"/>
                <a:cs typeface="Tahoma"/>
              </a:rPr>
              <a:t>nicht innerhalb der </a:t>
            </a:r>
            <a:r>
              <a:rPr sz="2800" dirty="0">
                <a:latin typeface="Tahoma"/>
                <a:cs typeface="Tahoma"/>
              </a:rPr>
              <a:t>Gruppe</a:t>
            </a:r>
            <a:r>
              <a:rPr sz="2800" spc="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ändert</a:t>
            </a:r>
            <a:endParaRPr sz="2800" dirty="0">
              <a:latin typeface="Tahoma"/>
              <a:cs typeface="Tahoma"/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55032312-3D5B-AF72-E10D-254287F029BB}"/>
              </a:ext>
            </a:extLst>
          </p:cNvPr>
          <p:cNvSpPr txBox="1">
            <a:spLocks/>
          </p:cNvSpPr>
          <p:nvPr/>
        </p:nvSpPr>
        <p:spPr>
          <a:xfrm>
            <a:off x="850900" y="730250"/>
            <a:ext cx="6172200" cy="540000"/>
          </a:xfrm>
          <a:prstGeom prst="rect">
            <a:avLst/>
          </a:prstGeom>
          <a:solidFill>
            <a:schemeClr val="accent2"/>
          </a:solidFill>
        </p:spPr>
        <p:txBody>
          <a:bodyPr vert="horz" wrap="square" lIns="0" tIns="12700" rIns="0" bIns="0" rtlCol="0" anchor="ctr">
            <a:spAutoFit/>
          </a:bodyPr>
          <a:lstStyle>
            <a:lvl1pPr marL="78932" algn="l" defTabSz="801945" rtl="0" eaLnBrk="1" fontAlgn="ctr" latinLnBrk="0" hangingPunct="1">
              <a:lnSpc>
                <a:spcPct val="90000"/>
              </a:lnSpc>
              <a:spcBef>
                <a:spcPct val="0"/>
              </a:spcBef>
              <a:buNone/>
              <a:defRPr sz="2193" b="0" i="0" kern="1200" baseline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68700" algn="l"/>
              </a:tabLst>
            </a:pPr>
            <a:r>
              <a:rPr lang="en-GB" spc="-5" dirty="0" err="1"/>
              <a:t>Besonderheiten</a:t>
            </a:r>
            <a:r>
              <a:rPr lang="en-GB" spc="-5" dirty="0"/>
              <a:t> </a:t>
            </a:r>
            <a:r>
              <a:rPr lang="en-GB" spc="-5" dirty="0" err="1"/>
              <a:t>bei</a:t>
            </a:r>
            <a:r>
              <a:rPr lang="en-GB" spc="-5" dirty="0"/>
              <a:t> </a:t>
            </a:r>
            <a:r>
              <a:rPr lang="en-GB" spc="-5" dirty="0" err="1"/>
              <a:t>Aggregatoperationen</a:t>
            </a:r>
            <a:endParaRPr lang="en-GB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4812610"/>
              </p:ext>
            </p:extLst>
          </p:nvPr>
        </p:nvGraphicFramePr>
        <p:xfrm>
          <a:off x="698500" y="3449830"/>
          <a:ext cx="9070970" cy="28430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099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9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93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786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02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163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930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6740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19015">
                <a:tc gridSpan="8">
                  <a:txBody>
                    <a:bodyPr/>
                    <a:lstStyle/>
                    <a:p>
                      <a:pPr marL="293497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15" dirty="0">
                          <a:latin typeface="Tahoma"/>
                          <a:cs typeface="Tahoma"/>
                        </a:rPr>
                        <a:t>Vorlesung </a:t>
                      </a:r>
                      <a:r>
                        <a:rPr sz="2400" dirty="0">
                          <a:latin typeface="Tahoma"/>
                          <a:cs typeface="Tahoma"/>
                        </a:rPr>
                        <a:t>x</a:t>
                      </a:r>
                      <a:r>
                        <a:rPr sz="2400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400" spc="-5" dirty="0">
                          <a:latin typeface="Tahoma"/>
                          <a:cs typeface="Tahoma"/>
                        </a:rPr>
                        <a:t>Professoren</a:t>
                      </a:r>
                      <a:endParaRPr sz="2400" dirty="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7945">
                <a:tc>
                  <a:txBody>
                    <a:bodyPr/>
                    <a:lstStyle/>
                    <a:p>
                      <a:pPr marL="215265" marR="73025" indent="-100330">
                        <a:lnSpc>
                          <a:spcPts val="2500"/>
                        </a:lnSpc>
                        <a:spcBef>
                          <a:spcPts val="520"/>
                        </a:spcBef>
                      </a:pPr>
                      <a:r>
                        <a:rPr sz="2400" spc="-114" dirty="0">
                          <a:latin typeface="Tahoma"/>
                          <a:cs typeface="Tahoma"/>
                        </a:rPr>
                        <a:t>V</a:t>
                      </a:r>
                      <a:r>
                        <a:rPr sz="2400" dirty="0">
                          <a:latin typeface="Tahoma"/>
                          <a:cs typeface="Tahoma"/>
                        </a:rPr>
                        <a:t>orl  Nr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660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0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Titel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020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SWS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53720" marR="299085" indent="-309245">
                        <a:lnSpc>
                          <a:spcPts val="2500"/>
                        </a:lnSpc>
                        <a:spcBef>
                          <a:spcPts val="520"/>
                        </a:spcBef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g</a:t>
                      </a:r>
                      <a:r>
                        <a:rPr sz="2400" dirty="0">
                          <a:latin typeface="Tahoma"/>
                          <a:cs typeface="Tahoma"/>
                        </a:rPr>
                        <a:t>elesen  </a:t>
                      </a:r>
                      <a:r>
                        <a:rPr sz="2400" spc="-40" dirty="0">
                          <a:latin typeface="Tahoma"/>
                          <a:cs typeface="Tahoma"/>
                        </a:rPr>
                        <a:t>Von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660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209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15" dirty="0">
                          <a:latin typeface="Tahoma"/>
                          <a:cs typeface="Tahoma"/>
                        </a:rPr>
                        <a:t>PersNr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84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Name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10" dirty="0">
                          <a:latin typeface="Tahoma"/>
                          <a:cs typeface="Tahoma"/>
                        </a:rPr>
                        <a:t>Rang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209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10" dirty="0">
                          <a:latin typeface="Tahoma"/>
                          <a:cs typeface="Tahoma"/>
                        </a:rPr>
                        <a:t>Raum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015"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5001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11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Grundzüge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020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4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2137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84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2125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480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Sokrates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C4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209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226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015"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5041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Ethik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020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4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2125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84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2125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480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Sokrates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C4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209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226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9015"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10" dirty="0">
                          <a:latin typeface="Tahoma"/>
                          <a:cs typeface="Tahoma"/>
                        </a:rPr>
                        <a:t>...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0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10" dirty="0">
                          <a:latin typeface="Tahoma"/>
                          <a:cs typeface="Tahoma"/>
                        </a:rPr>
                        <a:t>...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020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10" dirty="0">
                          <a:latin typeface="Tahoma"/>
                          <a:cs typeface="Tahoma"/>
                        </a:rPr>
                        <a:t>...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0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10" dirty="0">
                          <a:latin typeface="Tahoma"/>
                          <a:cs typeface="Tahoma"/>
                        </a:rPr>
                        <a:t>...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209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10" dirty="0">
                          <a:latin typeface="Tahoma"/>
                          <a:cs typeface="Tahoma"/>
                        </a:rPr>
                        <a:t>...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480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10" dirty="0">
                          <a:latin typeface="Tahoma"/>
                          <a:cs typeface="Tahoma"/>
                        </a:rPr>
                        <a:t>...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940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10" dirty="0">
                          <a:latin typeface="Tahoma"/>
                          <a:cs typeface="Tahoma"/>
                        </a:rPr>
                        <a:t>...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10" dirty="0">
                          <a:latin typeface="Tahoma"/>
                          <a:cs typeface="Tahoma"/>
                        </a:rPr>
                        <a:t>...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9015"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4630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11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Die </a:t>
                      </a:r>
                      <a:r>
                        <a:rPr sz="2400" dirty="0">
                          <a:latin typeface="Tahoma"/>
                          <a:cs typeface="Tahoma"/>
                        </a:rPr>
                        <a:t>3</a:t>
                      </a:r>
                      <a:r>
                        <a:rPr sz="2400" spc="-4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400" spc="-10" dirty="0">
                          <a:latin typeface="Tahoma"/>
                          <a:cs typeface="Tahoma"/>
                        </a:rPr>
                        <a:t>Kritiken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020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4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2137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84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2137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480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15" dirty="0">
                          <a:latin typeface="Tahoma"/>
                          <a:cs typeface="Tahoma"/>
                        </a:rPr>
                        <a:t>Kant</a:t>
                      </a:r>
                      <a:endParaRPr sz="2400" dirty="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C4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209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7</a:t>
                      </a:r>
                    </a:p>
                  </a:txBody>
                  <a:tcPr marL="0" marR="0" marT="152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4220532" y="6511290"/>
            <a:ext cx="25228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Tahoma"/>
                <a:cs typeface="Tahoma"/>
              </a:rPr>
              <a:t>where</a:t>
            </a:r>
            <a:r>
              <a:rPr sz="2400" spc="-5" dirty="0">
                <a:latin typeface="Tahoma"/>
                <a:cs typeface="Tahoma"/>
              </a:rPr>
              <a:t>-Bedingung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925891" y="6554470"/>
            <a:ext cx="0" cy="248920"/>
          </a:xfrm>
          <a:custGeom>
            <a:avLst/>
            <a:gdLst/>
            <a:ahLst/>
            <a:cxnLst/>
            <a:rect l="l" t="t" r="r" b="b"/>
            <a:pathLst>
              <a:path h="266700">
                <a:moveTo>
                  <a:pt x="0" y="0"/>
                </a:moveTo>
                <a:lnTo>
                  <a:pt x="0" y="266699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900491" y="6554470"/>
            <a:ext cx="0" cy="248920"/>
          </a:xfrm>
          <a:custGeom>
            <a:avLst/>
            <a:gdLst/>
            <a:ahLst/>
            <a:cxnLst/>
            <a:rect l="l" t="t" r="r" b="b"/>
            <a:pathLst>
              <a:path h="266700">
                <a:moveTo>
                  <a:pt x="0" y="0"/>
                </a:moveTo>
                <a:lnTo>
                  <a:pt x="0" y="266699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856041" y="6744970"/>
            <a:ext cx="114300" cy="10668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0"/>
                </a:moveTo>
                <a:lnTo>
                  <a:pt x="0" y="0"/>
                </a:lnTo>
                <a:lnTo>
                  <a:pt x="57150" y="114300"/>
                </a:lnTo>
                <a:lnTo>
                  <a:pt x="1143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365500" y="1739069"/>
            <a:ext cx="5346700" cy="1615827"/>
          </a:xfrm>
          <a:prstGeom prst="rect">
            <a:avLst/>
          </a:prstGeom>
        </p:spPr>
        <p:txBody>
          <a:bodyPr>
            <a:spAutoFit/>
          </a:bodyPr>
          <a:lstStyle/>
          <a:p>
            <a:pPr marL="355600">
              <a:lnSpc>
                <a:spcPct val="100000"/>
              </a:lnSpc>
            </a:pPr>
            <a:r>
              <a:rPr lang="en-US" b="1" spc="-5" dirty="0">
                <a:latin typeface="Tahoma"/>
                <a:cs typeface="Tahoma"/>
              </a:rPr>
              <a:t>select </a:t>
            </a:r>
            <a:r>
              <a:rPr lang="en-US" spc="-5" dirty="0" err="1">
                <a:latin typeface="Tahoma"/>
                <a:cs typeface="Tahoma"/>
              </a:rPr>
              <a:t>gelesenVon</a:t>
            </a:r>
            <a:r>
              <a:rPr lang="en-US" spc="-5" dirty="0">
                <a:latin typeface="Tahoma"/>
                <a:cs typeface="Tahoma"/>
              </a:rPr>
              <a:t>, Name, </a:t>
            </a:r>
            <a:r>
              <a:rPr lang="en-US" b="1" spc="-5" dirty="0">
                <a:latin typeface="Tahoma"/>
                <a:cs typeface="Tahoma"/>
              </a:rPr>
              <a:t>sum</a:t>
            </a:r>
            <a:r>
              <a:rPr lang="en-US" b="1" spc="95" dirty="0">
                <a:latin typeface="Tahoma"/>
                <a:cs typeface="Tahoma"/>
              </a:rPr>
              <a:t> </a:t>
            </a:r>
            <a:r>
              <a:rPr lang="en-US" spc="-5" dirty="0">
                <a:latin typeface="Tahoma"/>
                <a:cs typeface="Tahoma"/>
              </a:rPr>
              <a:t>(SWS)</a:t>
            </a:r>
            <a:endParaRPr lang="en-US" dirty="0">
              <a:latin typeface="Tahoma"/>
              <a:cs typeface="Tahoma"/>
            </a:endParaRPr>
          </a:p>
          <a:p>
            <a:pPr marL="355600">
              <a:lnSpc>
                <a:spcPct val="100000"/>
              </a:lnSpc>
              <a:spcBef>
                <a:spcPts val="220"/>
              </a:spcBef>
            </a:pPr>
            <a:r>
              <a:rPr lang="en-US" b="1" spc="-5" dirty="0">
                <a:latin typeface="Tahoma"/>
                <a:cs typeface="Tahoma"/>
              </a:rPr>
              <a:t>from </a:t>
            </a:r>
            <a:r>
              <a:rPr lang="en-US" spc="-5" dirty="0" err="1">
                <a:latin typeface="Tahoma"/>
                <a:cs typeface="Tahoma"/>
              </a:rPr>
              <a:t>Vorlesungen</a:t>
            </a:r>
            <a:r>
              <a:rPr lang="en-US" spc="-5" dirty="0">
                <a:latin typeface="Tahoma"/>
                <a:cs typeface="Tahoma"/>
              </a:rPr>
              <a:t>,</a:t>
            </a:r>
            <a:r>
              <a:rPr lang="en-US" spc="45" dirty="0">
                <a:latin typeface="Tahoma"/>
                <a:cs typeface="Tahoma"/>
              </a:rPr>
              <a:t> </a:t>
            </a:r>
            <a:r>
              <a:rPr lang="en-US" dirty="0" err="1">
                <a:latin typeface="Tahoma"/>
                <a:cs typeface="Tahoma"/>
              </a:rPr>
              <a:t>Professoren</a:t>
            </a:r>
            <a:endParaRPr lang="en-US" dirty="0">
              <a:latin typeface="Tahoma"/>
              <a:cs typeface="Tahoma"/>
            </a:endParaRPr>
          </a:p>
          <a:p>
            <a:pPr marL="355600">
              <a:lnSpc>
                <a:spcPct val="100000"/>
              </a:lnSpc>
              <a:spcBef>
                <a:spcPts val="320"/>
              </a:spcBef>
            </a:pPr>
            <a:r>
              <a:rPr lang="en-US" b="1" spc="-5" dirty="0">
                <a:latin typeface="Tahoma"/>
                <a:cs typeface="Tahoma"/>
              </a:rPr>
              <a:t>where </a:t>
            </a:r>
            <a:r>
              <a:rPr lang="en-US" spc="-5" dirty="0" err="1">
                <a:latin typeface="Tahoma"/>
                <a:cs typeface="Tahoma"/>
              </a:rPr>
              <a:t>gelesenVon</a:t>
            </a:r>
            <a:r>
              <a:rPr lang="en-US" spc="-5" dirty="0">
                <a:latin typeface="Tahoma"/>
                <a:cs typeface="Tahoma"/>
              </a:rPr>
              <a:t> = </a:t>
            </a:r>
            <a:r>
              <a:rPr lang="en-US" dirty="0" err="1">
                <a:latin typeface="Tahoma"/>
                <a:cs typeface="Tahoma"/>
              </a:rPr>
              <a:t>PersNr</a:t>
            </a:r>
            <a:r>
              <a:rPr lang="en-US" dirty="0">
                <a:latin typeface="Tahoma"/>
                <a:cs typeface="Tahoma"/>
              </a:rPr>
              <a:t> </a:t>
            </a:r>
            <a:r>
              <a:rPr lang="en-US" b="1" spc="-5" dirty="0">
                <a:latin typeface="Tahoma"/>
                <a:cs typeface="Tahoma"/>
              </a:rPr>
              <a:t>and </a:t>
            </a:r>
            <a:r>
              <a:rPr lang="en-US" spc="-5" dirty="0">
                <a:latin typeface="Tahoma"/>
                <a:cs typeface="Tahoma"/>
              </a:rPr>
              <a:t>Rang =</a:t>
            </a:r>
            <a:r>
              <a:rPr lang="en-US" spc="120" dirty="0">
                <a:latin typeface="Tahoma"/>
                <a:cs typeface="Tahoma"/>
              </a:rPr>
              <a:t> </a:t>
            </a:r>
            <a:r>
              <a:rPr lang="en-US" spc="-10" dirty="0">
                <a:latin typeface="Tahoma"/>
                <a:cs typeface="Tahoma"/>
              </a:rPr>
              <a:t>´C4´</a:t>
            </a:r>
            <a:endParaRPr lang="en-US" dirty="0">
              <a:latin typeface="Tahoma"/>
              <a:cs typeface="Tahoma"/>
            </a:endParaRPr>
          </a:p>
          <a:p>
            <a:pPr marL="355600">
              <a:lnSpc>
                <a:spcPct val="100000"/>
              </a:lnSpc>
              <a:spcBef>
                <a:spcPts val="320"/>
              </a:spcBef>
            </a:pPr>
            <a:r>
              <a:rPr lang="en-US" b="1" spc="-5" dirty="0">
                <a:latin typeface="Tahoma"/>
                <a:cs typeface="Tahoma"/>
              </a:rPr>
              <a:t>group by </a:t>
            </a:r>
            <a:r>
              <a:rPr lang="en-US" spc="-5" dirty="0" err="1">
                <a:latin typeface="Tahoma"/>
                <a:cs typeface="Tahoma"/>
              </a:rPr>
              <a:t>gelesenVon</a:t>
            </a:r>
            <a:r>
              <a:rPr lang="en-US" spc="-5" dirty="0">
                <a:latin typeface="Tahoma"/>
                <a:cs typeface="Tahoma"/>
              </a:rPr>
              <a:t>,</a:t>
            </a:r>
            <a:r>
              <a:rPr lang="en-US" spc="50" dirty="0">
                <a:latin typeface="Tahoma"/>
                <a:cs typeface="Tahoma"/>
              </a:rPr>
              <a:t> </a:t>
            </a:r>
            <a:r>
              <a:rPr lang="en-US" spc="-5" dirty="0">
                <a:latin typeface="Tahoma"/>
                <a:cs typeface="Tahoma"/>
              </a:rPr>
              <a:t>Name</a:t>
            </a:r>
            <a:endParaRPr lang="en-US" dirty="0">
              <a:latin typeface="Tahoma"/>
              <a:cs typeface="Tahoma"/>
            </a:endParaRPr>
          </a:p>
          <a:p>
            <a:pPr marL="398145" algn="ctr">
              <a:lnSpc>
                <a:spcPct val="100000"/>
              </a:lnSpc>
              <a:spcBef>
                <a:spcPts val="220"/>
              </a:spcBef>
            </a:pPr>
            <a:r>
              <a:rPr lang="en-US" b="1" spc="-5" dirty="0">
                <a:latin typeface="Tahoma"/>
                <a:cs typeface="Tahoma"/>
              </a:rPr>
              <a:t>having </a:t>
            </a:r>
            <a:r>
              <a:rPr lang="en-US" b="1" spc="-5" dirty="0" err="1">
                <a:latin typeface="Tahoma"/>
                <a:cs typeface="Tahoma"/>
              </a:rPr>
              <a:t>avg</a:t>
            </a:r>
            <a:r>
              <a:rPr lang="en-US" b="1" spc="-5" dirty="0">
                <a:latin typeface="Tahoma"/>
                <a:cs typeface="Tahoma"/>
              </a:rPr>
              <a:t> </a:t>
            </a:r>
            <a:r>
              <a:rPr lang="en-US" spc="-5" dirty="0">
                <a:latin typeface="Tahoma"/>
                <a:cs typeface="Tahoma"/>
              </a:rPr>
              <a:t>(SWS) &gt;=</a:t>
            </a:r>
            <a:r>
              <a:rPr lang="en-US" spc="50" dirty="0">
                <a:latin typeface="Tahoma"/>
                <a:cs typeface="Tahoma"/>
              </a:rPr>
              <a:t> </a:t>
            </a:r>
            <a:r>
              <a:rPr lang="en-US" spc="-10" dirty="0">
                <a:latin typeface="Tahoma"/>
                <a:cs typeface="Tahoma"/>
              </a:rPr>
              <a:t>3;</a:t>
            </a:r>
            <a:endParaRPr lang="en-US" dirty="0">
              <a:latin typeface="Tahoma"/>
              <a:cs typeface="Tahoma"/>
            </a:endParaRPr>
          </a:p>
        </p:txBody>
      </p:sp>
      <p:pic>
        <p:nvPicPr>
          <p:cNvPr id="9" name="Recorded Sound" descr="Recorded Sound">
            <a:hlinkClick r:id="" action="ppaction://media"/>
            <a:extLst>
              <a:ext uri="{FF2B5EF4-FFF2-40B4-BE49-F238E27FC236}">
                <a16:creationId xmlns:a16="http://schemas.microsoft.com/office/drawing/2014/main" id="{74F90F0E-E2A6-7040-AE58-05FC97E818A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344988" y="3862896"/>
            <a:ext cx="812800" cy="812800"/>
          </a:xfrm>
          <a:prstGeom prst="rect">
            <a:avLst/>
          </a:prstGeom>
        </p:spPr>
      </p:pic>
      <p:sp>
        <p:nvSpPr>
          <p:cNvPr id="10" name="object 3">
            <a:extLst>
              <a:ext uri="{FF2B5EF4-FFF2-40B4-BE49-F238E27FC236}">
                <a16:creationId xmlns:a16="http://schemas.microsoft.com/office/drawing/2014/main" id="{9DAC97CE-610F-3E8C-1F22-B2DB4890EAD0}"/>
              </a:ext>
            </a:extLst>
          </p:cNvPr>
          <p:cNvSpPr txBox="1">
            <a:spLocks/>
          </p:cNvSpPr>
          <p:nvPr/>
        </p:nvSpPr>
        <p:spPr>
          <a:xfrm>
            <a:off x="1056846" y="723650"/>
            <a:ext cx="6172200" cy="540000"/>
          </a:xfrm>
          <a:prstGeom prst="rect">
            <a:avLst/>
          </a:prstGeom>
          <a:solidFill>
            <a:schemeClr val="accent2"/>
          </a:solidFill>
        </p:spPr>
        <p:txBody>
          <a:bodyPr vert="horz" wrap="square" lIns="0" tIns="12700" rIns="0" bIns="0" rtlCol="0" anchor="ctr">
            <a:spAutoFit/>
          </a:bodyPr>
          <a:lstStyle>
            <a:lvl1pPr marL="78932" algn="l" defTabSz="801945" rtl="0" eaLnBrk="1" fontAlgn="ctr" latinLnBrk="0" hangingPunct="1">
              <a:lnSpc>
                <a:spcPct val="90000"/>
              </a:lnSpc>
              <a:spcBef>
                <a:spcPct val="0"/>
              </a:spcBef>
              <a:buNone/>
              <a:defRPr sz="2193" b="0" i="0" kern="1200" baseline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68700" algn="l"/>
              </a:tabLst>
            </a:pPr>
            <a:r>
              <a:rPr lang="en-GB" spc="-5" dirty="0" err="1"/>
              <a:t>Ausführen</a:t>
            </a:r>
            <a:r>
              <a:rPr lang="en-GB" spc="-5" dirty="0"/>
              <a:t> </a:t>
            </a:r>
            <a:r>
              <a:rPr lang="en-GB" spc="-5" dirty="0" err="1"/>
              <a:t>einer</a:t>
            </a:r>
            <a:r>
              <a:rPr lang="en-GB" spc="-5" dirty="0"/>
              <a:t> </a:t>
            </a:r>
            <a:r>
              <a:rPr lang="en-GB" spc="-5" dirty="0" err="1"/>
              <a:t>Anfrage</a:t>
            </a:r>
            <a:r>
              <a:rPr lang="en-GB" spc="-5" dirty="0"/>
              <a:t> </a:t>
            </a:r>
            <a:r>
              <a:rPr lang="en-GB" spc="-5" dirty="0" err="1"/>
              <a:t>mit</a:t>
            </a:r>
            <a:r>
              <a:rPr lang="en-GB" spc="-5" dirty="0"/>
              <a:t> group by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9637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>
            <a:extLst>
              <a:ext uri="{FF2B5EF4-FFF2-40B4-BE49-F238E27FC236}">
                <a16:creationId xmlns:a16="http://schemas.microsoft.com/office/drawing/2014/main" id="{C4D1B017-AFB8-75F3-EC07-25FA758ADC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2121668"/>
              </p:ext>
            </p:extLst>
          </p:nvPr>
        </p:nvGraphicFramePr>
        <p:xfrm>
          <a:off x="698500" y="1401763"/>
          <a:ext cx="8915400" cy="44424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94690"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2200" spc="-20" dirty="0">
                          <a:latin typeface="Tahoma"/>
                          <a:cs typeface="Tahoma"/>
                        </a:rPr>
                        <a:t>VorlNr</a:t>
                      </a:r>
                      <a:endParaRPr sz="2200" dirty="0">
                        <a:latin typeface="Tahoma"/>
                        <a:cs typeface="Tahoma"/>
                      </a:endParaRPr>
                    </a:p>
                  </a:txBody>
                  <a:tcPr marL="0" marR="0" marT="1778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2200" dirty="0">
                          <a:latin typeface="Tahoma"/>
                          <a:cs typeface="Tahoma"/>
                        </a:rPr>
                        <a:t>Titel</a:t>
                      </a:r>
                    </a:p>
                  </a:txBody>
                  <a:tcPr marL="0" marR="0" marT="177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2200" spc="-5" dirty="0">
                          <a:latin typeface="Tahoma"/>
                          <a:cs typeface="Tahoma"/>
                        </a:rPr>
                        <a:t>SWS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177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96240" marR="156845" indent="-283210">
                        <a:lnSpc>
                          <a:spcPts val="2300"/>
                        </a:lnSpc>
                        <a:spcBef>
                          <a:spcPts val="500"/>
                        </a:spcBef>
                      </a:pPr>
                      <a:r>
                        <a:rPr sz="2200" spc="-5" dirty="0">
                          <a:latin typeface="Tahoma"/>
                          <a:cs typeface="Tahoma"/>
                        </a:rPr>
                        <a:t>g</a:t>
                      </a:r>
                      <a:r>
                        <a:rPr sz="2200" dirty="0">
                          <a:latin typeface="Tahoma"/>
                          <a:cs typeface="Tahoma"/>
                        </a:rPr>
                        <a:t>elesen  </a:t>
                      </a:r>
                      <a:r>
                        <a:rPr sz="2200" spc="-40" dirty="0">
                          <a:latin typeface="Tahoma"/>
                          <a:cs typeface="Tahoma"/>
                        </a:rPr>
                        <a:t>Von</a:t>
                      </a:r>
                      <a:endParaRPr sz="2200" dirty="0">
                        <a:latin typeface="Tahoma"/>
                        <a:cs typeface="Tahoma"/>
                      </a:endParaRPr>
                    </a:p>
                  </a:txBody>
                  <a:tcPr marL="0" marR="0" marT="635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2200" spc="-55" dirty="0">
                          <a:latin typeface="Tahoma"/>
                          <a:cs typeface="Tahoma"/>
                        </a:rPr>
                        <a:t>P</a:t>
                      </a:r>
                      <a:r>
                        <a:rPr sz="2200" dirty="0">
                          <a:latin typeface="Tahoma"/>
                          <a:cs typeface="Tahoma"/>
                        </a:rPr>
                        <a:t>e</a:t>
                      </a:r>
                      <a:r>
                        <a:rPr sz="2200" spc="-5" dirty="0">
                          <a:latin typeface="Tahoma"/>
                          <a:cs typeface="Tahoma"/>
                        </a:rPr>
                        <a:t>r</a:t>
                      </a:r>
                      <a:r>
                        <a:rPr sz="2200" dirty="0">
                          <a:latin typeface="Tahoma"/>
                          <a:cs typeface="Tahoma"/>
                        </a:rPr>
                        <a:t>s</a:t>
                      </a:r>
                      <a:r>
                        <a:rPr sz="2200" spc="-5" dirty="0">
                          <a:latin typeface="Tahoma"/>
                          <a:cs typeface="Tahoma"/>
                        </a:rPr>
                        <a:t>N</a:t>
                      </a:r>
                      <a:r>
                        <a:rPr sz="2200" dirty="0">
                          <a:latin typeface="Tahoma"/>
                          <a:cs typeface="Tahoma"/>
                        </a:rPr>
                        <a:t>r</a:t>
                      </a:r>
                    </a:p>
                  </a:txBody>
                  <a:tcPr marL="0" marR="0" marT="177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2200" spc="-5" dirty="0">
                          <a:latin typeface="Tahoma"/>
                          <a:cs typeface="Tahoma"/>
                        </a:rPr>
                        <a:t>Name</a:t>
                      </a:r>
                      <a:endParaRPr sz="2200" dirty="0">
                        <a:latin typeface="Tahoma"/>
                        <a:cs typeface="Tahoma"/>
                      </a:endParaRPr>
                    </a:p>
                  </a:txBody>
                  <a:tcPr marL="0" marR="0" marT="177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2200" spc="-10" dirty="0">
                          <a:latin typeface="Tahoma"/>
                          <a:cs typeface="Tahoma"/>
                        </a:rPr>
                        <a:t>Rang</a:t>
                      </a:r>
                      <a:endParaRPr sz="2200" dirty="0">
                        <a:latin typeface="Tahoma"/>
                        <a:cs typeface="Tahoma"/>
                      </a:endParaRPr>
                    </a:p>
                  </a:txBody>
                  <a:tcPr marL="0" marR="0" marT="177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2200" spc="-10" dirty="0">
                          <a:latin typeface="Tahoma"/>
                          <a:cs typeface="Tahoma"/>
                        </a:rPr>
                        <a:t>Raum</a:t>
                      </a:r>
                      <a:endParaRPr sz="2200" dirty="0">
                        <a:latin typeface="Tahoma"/>
                        <a:cs typeface="Tahoma"/>
                      </a:endParaRPr>
                    </a:p>
                  </a:txBody>
                  <a:tcPr marL="0" marR="0" marT="177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065"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2200" dirty="0">
                          <a:latin typeface="Tahoma"/>
                          <a:cs typeface="Tahoma"/>
                        </a:rPr>
                        <a:t>5001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1778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2200" spc="-5" dirty="0">
                          <a:latin typeface="Tahoma"/>
                          <a:cs typeface="Tahoma"/>
                        </a:rPr>
                        <a:t>Grundzüge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177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2200" dirty="0">
                          <a:latin typeface="Tahoma"/>
                          <a:cs typeface="Tahoma"/>
                        </a:rPr>
                        <a:t>4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177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2200" dirty="0">
                          <a:latin typeface="Tahoma"/>
                          <a:cs typeface="Tahoma"/>
                        </a:rPr>
                        <a:t>2137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177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2200" dirty="0">
                          <a:latin typeface="Tahoma"/>
                          <a:cs typeface="Tahoma"/>
                        </a:rPr>
                        <a:t>2137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177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2200" spc="-15" dirty="0">
                          <a:latin typeface="Tahoma"/>
                          <a:cs typeface="Tahoma"/>
                        </a:rPr>
                        <a:t>Kant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177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2200" spc="-5" dirty="0">
                          <a:latin typeface="Tahoma"/>
                          <a:cs typeface="Tahoma"/>
                        </a:rPr>
                        <a:t>C4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177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2200" dirty="0">
                          <a:latin typeface="Tahoma"/>
                          <a:cs typeface="Tahoma"/>
                        </a:rPr>
                        <a:t>7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177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065"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2200" dirty="0">
                          <a:latin typeface="Tahoma"/>
                          <a:cs typeface="Tahoma"/>
                        </a:rPr>
                        <a:t>5041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1778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2200" spc="-5" dirty="0">
                          <a:latin typeface="Tahoma"/>
                          <a:cs typeface="Tahoma"/>
                        </a:rPr>
                        <a:t>Ethik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177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2200" dirty="0">
                          <a:latin typeface="Tahoma"/>
                          <a:cs typeface="Tahoma"/>
                        </a:rPr>
                        <a:t>4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177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2200" dirty="0">
                          <a:latin typeface="Tahoma"/>
                          <a:cs typeface="Tahoma"/>
                        </a:rPr>
                        <a:t>2125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177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2200" dirty="0">
                          <a:latin typeface="Tahoma"/>
                          <a:cs typeface="Tahoma"/>
                        </a:rPr>
                        <a:t>2125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177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2200" spc="-5" dirty="0">
                          <a:latin typeface="Tahoma"/>
                          <a:cs typeface="Tahoma"/>
                        </a:rPr>
                        <a:t>Sokrates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177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2200" spc="-5" dirty="0">
                          <a:latin typeface="Tahoma"/>
                          <a:cs typeface="Tahoma"/>
                        </a:rPr>
                        <a:t>C4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177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2200" dirty="0">
                          <a:latin typeface="Tahoma"/>
                          <a:cs typeface="Tahoma"/>
                        </a:rPr>
                        <a:t>226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177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4690"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2200" dirty="0">
                          <a:latin typeface="Tahoma"/>
                          <a:cs typeface="Tahoma"/>
                        </a:rPr>
                        <a:t>5043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1778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0285" marR="39370" indent="-928369">
                        <a:lnSpc>
                          <a:spcPts val="2300"/>
                        </a:lnSpc>
                        <a:spcBef>
                          <a:spcPts val="500"/>
                        </a:spcBef>
                      </a:pPr>
                      <a:r>
                        <a:rPr sz="2200" spc="-5" dirty="0">
                          <a:latin typeface="Tahoma"/>
                          <a:cs typeface="Tahoma"/>
                        </a:rPr>
                        <a:t>E</a:t>
                      </a:r>
                      <a:r>
                        <a:rPr sz="2200" dirty="0">
                          <a:latin typeface="Tahoma"/>
                          <a:cs typeface="Tahoma"/>
                        </a:rPr>
                        <a:t>r</a:t>
                      </a:r>
                      <a:r>
                        <a:rPr sz="2200" spc="-20" dirty="0">
                          <a:latin typeface="Tahoma"/>
                          <a:cs typeface="Tahoma"/>
                        </a:rPr>
                        <a:t>k</a:t>
                      </a:r>
                      <a:r>
                        <a:rPr sz="2200" dirty="0">
                          <a:latin typeface="Tahoma"/>
                          <a:cs typeface="Tahoma"/>
                        </a:rPr>
                        <a:t>enntnistheori  e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635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2200" dirty="0">
                          <a:latin typeface="Tahoma"/>
                          <a:cs typeface="Tahoma"/>
                        </a:rPr>
                        <a:t>3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177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2200" dirty="0">
                          <a:latin typeface="Tahoma"/>
                          <a:cs typeface="Tahoma"/>
                        </a:rPr>
                        <a:t>2126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177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2200" dirty="0">
                          <a:latin typeface="Tahoma"/>
                          <a:cs typeface="Tahoma"/>
                        </a:rPr>
                        <a:t>2126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177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2200" spc="-5" dirty="0">
                          <a:latin typeface="Tahoma"/>
                          <a:cs typeface="Tahoma"/>
                        </a:rPr>
                        <a:t>Russel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177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2200" spc="-5" dirty="0">
                          <a:latin typeface="Tahoma"/>
                          <a:cs typeface="Tahoma"/>
                        </a:rPr>
                        <a:t>C4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177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2200" dirty="0">
                          <a:latin typeface="Tahoma"/>
                          <a:cs typeface="Tahoma"/>
                        </a:rPr>
                        <a:t>232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177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065"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2200" dirty="0">
                          <a:latin typeface="Tahoma"/>
                          <a:cs typeface="Tahoma"/>
                        </a:rPr>
                        <a:t>5049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1778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2200" spc="-5" dirty="0">
                          <a:latin typeface="Tahoma"/>
                          <a:cs typeface="Tahoma"/>
                        </a:rPr>
                        <a:t>Mäeutik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177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2200" dirty="0">
                          <a:latin typeface="Tahoma"/>
                          <a:cs typeface="Tahoma"/>
                        </a:rPr>
                        <a:t>2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177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2200" dirty="0">
                          <a:latin typeface="Tahoma"/>
                          <a:cs typeface="Tahoma"/>
                        </a:rPr>
                        <a:t>2125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177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2200" dirty="0">
                          <a:latin typeface="Tahoma"/>
                          <a:cs typeface="Tahoma"/>
                        </a:rPr>
                        <a:t>2125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177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2200" spc="-5" dirty="0">
                          <a:latin typeface="Tahoma"/>
                          <a:cs typeface="Tahoma"/>
                        </a:rPr>
                        <a:t>Sokrates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177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2200" spc="-5" dirty="0">
                          <a:latin typeface="Tahoma"/>
                          <a:cs typeface="Tahoma"/>
                        </a:rPr>
                        <a:t>C4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177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2200" dirty="0">
                          <a:latin typeface="Tahoma"/>
                          <a:cs typeface="Tahoma"/>
                        </a:rPr>
                        <a:t>226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177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065"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2200" dirty="0">
                          <a:latin typeface="Tahoma"/>
                          <a:cs typeface="Tahoma"/>
                        </a:rPr>
                        <a:t>4052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1778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2200" spc="-5" dirty="0">
                          <a:latin typeface="Tahoma"/>
                          <a:cs typeface="Tahoma"/>
                        </a:rPr>
                        <a:t>Logik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177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2200" dirty="0">
                          <a:latin typeface="Tahoma"/>
                          <a:cs typeface="Tahoma"/>
                        </a:rPr>
                        <a:t>4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177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2200" dirty="0">
                          <a:latin typeface="Tahoma"/>
                          <a:cs typeface="Tahoma"/>
                        </a:rPr>
                        <a:t>2125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177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2200" dirty="0">
                          <a:latin typeface="Tahoma"/>
                          <a:cs typeface="Tahoma"/>
                        </a:rPr>
                        <a:t>2125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177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2200" spc="-5" dirty="0">
                          <a:latin typeface="Tahoma"/>
                          <a:cs typeface="Tahoma"/>
                        </a:rPr>
                        <a:t>Sokrates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177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2200" spc="-5" dirty="0">
                          <a:latin typeface="Tahoma"/>
                          <a:cs typeface="Tahoma"/>
                        </a:rPr>
                        <a:t>C4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177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2200" dirty="0">
                          <a:latin typeface="Tahoma"/>
                          <a:cs typeface="Tahoma"/>
                        </a:rPr>
                        <a:t>226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177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94690"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2200" dirty="0">
                          <a:latin typeface="Tahoma"/>
                          <a:cs typeface="Tahoma"/>
                        </a:rPr>
                        <a:t>5052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1778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2169" indent="-832485">
                        <a:lnSpc>
                          <a:spcPts val="2300"/>
                        </a:lnSpc>
                        <a:spcBef>
                          <a:spcPts val="500"/>
                        </a:spcBef>
                      </a:pPr>
                      <a:r>
                        <a:rPr sz="2200" dirty="0">
                          <a:latin typeface="Tahoma"/>
                          <a:cs typeface="Tahoma"/>
                        </a:rPr>
                        <a:t>Wissenschaft</a:t>
                      </a:r>
                      <a:r>
                        <a:rPr sz="2200" spc="-5" dirty="0">
                          <a:latin typeface="Tahoma"/>
                          <a:cs typeface="Tahoma"/>
                        </a:rPr>
                        <a:t>s</a:t>
                      </a:r>
                      <a:r>
                        <a:rPr sz="2200" dirty="0">
                          <a:latin typeface="Tahoma"/>
                          <a:cs typeface="Tahoma"/>
                        </a:rPr>
                        <a:t>the  orie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635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2200" dirty="0">
                          <a:latin typeface="Tahoma"/>
                          <a:cs typeface="Tahoma"/>
                        </a:rPr>
                        <a:t>3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177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2200" dirty="0">
                          <a:latin typeface="Tahoma"/>
                          <a:cs typeface="Tahoma"/>
                        </a:rPr>
                        <a:t>2126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177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2200" dirty="0">
                          <a:latin typeface="Tahoma"/>
                          <a:cs typeface="Tahoma"/>
                        </a:rPr>
                        <a:t>2126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177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2200" spc="-5" dirty="0">
                          <a:latin typeface="Tahoma"/>
                          <a:cs typeface="Tahoma"/>
                        </a:rPr>
                        <a:t>Russel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177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2200" spc="-5" dirty="0">
                          <a:latin typeface="Tahoma"/>
                          <a:cs typeface="Tahoma"/>
                        </a:rPr>
                        <a:t>C4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177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2200" dirty="0">
                          <a:latin typeface="Tahoma"/>
                          <a:cs typeface="Tahoma"/>
                        </a:rPr>
                        <a:t>232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177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3065"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2200" dirty="0">
                          <a:latin typeface="Tahoma"/>
                          <a:cs typeface="Tahoma"/>
                        </a:rPr>
                        <a:t>5216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1778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2200" dirty="0">
                          <a:latin typeface="Tahoma"/>
                          <a:cs typeface="Tahoma"/>
                        </a:rPr>
                        <a:t>Bioethik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177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2200" dirty="0">
                          <a:latin typeface="Tahoma"/>
                          <a:cs typeface="Tahoma"/>
                        </a:rPr>
                        <a:t>2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177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2200" dirty="0">
                          <a:latin typeface="Tahoma"/>
                          <a:cs typeface="Tahoma"/>
                        </a:rPr>
                        <a:t>2126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177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2200" dirty="0">
                          <a:latin typeface="Tahoma"/>
                          <a:cs typeface="Tahoma"/>
                        </a:rPr>
                        <a:t>2126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177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2200" spc="-5" dirty="0">
                          <a:latin typeface="Tahoma"/>
                          <a:cs typeface="Tahoma"/>
                        </a:rPr>
                        <a:t>Russel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177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2200" spc="-5" dirty="0">
                          <a:latin typeface="Tahoma"/>
                          <a:cs typeface="Tahoma"/>
                        </a:rPr>
                        <a:t>C4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177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2200" dirty="0">
                          <a:latin typeface="Tahoma"/>
                          <a:cs typeface="Tahoma"/>
                        </a:rPr>
                        <a:t>232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177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3065"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2200" dirty="0">
                          <a:latin typeface="Tahoma"/>
                          <a:cs typeface="Tahoma"/>
                        </a:rPr>
                        <a:t>4630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1778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655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2200" spc="-5" dirty="0">
                          <a:latin typeface="Tahoma"/>
                          <a:cs typeface="Tahoma"/>
                        </a:rPr>
                        <a:t>Die </a:t>
                      </a:r>
                      <a:r>
                        <a:rPr sz="2200" dirty="0">
                          <a:latin typeface="Tahoma"/>
                          <a:cs typeface="Tahoma"/>
                        </a:rPr>
                        <a:t>3</a:t>
                      </a:r>
                      <a:r>
                        <a:rPr sz="2200" spc="-4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200" spc="-5" dirty="0">
                          <a:latin typeface="Tahoma"/>
                          <a:cs typeface="Tahoma"/>
                        </a:rPr>
                        <a:t>Kritiken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177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2200" dirty="0">
                          <a:latin typeface="Tahoma"/>
                          <a:cs typeface="Tahoma"/>
                        </a:rPr>
                        <a:t>4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177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2200" dirty="0">
                          <a:latin typeface="Tahoma"/>
                          <a:cs typeface="Tahoma"/>
                        </a:rPr>
                        <a:t>2137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177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2200" dirty="0">
                          <a:latin typeface="Tahoma"/>
                          <a:cs typeface="Tahoma"/>
                        </a:rPr>
                        <a:t>2137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177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2200" spc="-15" dirty="0">
                          <a:latin typeface="Tahoma"/>
                          <a:cs typeface="Tahoma"/>
                        </a:rPr>
                        <a:t>Kant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177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2200" spc="-5" dirty="0">
                          <a:latin typeface="Tahoma"/>
                          <a:cs typeface="Tahoma"/>
                        </a:rPr>
                        <a:t>C4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177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2200" dirty="0">
                          <a:latin typeface="Tahoma"/>
                          <a:cs typeface="Tahoma"/>
                        </a:rPr>
                        <a:t>7</a:t>
                      </a:r>
                    </a:p>
                  </a:txBody>
                  <a:tcPr marL="0" marR="0" marT="177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" name="object 3">
            <a:extLst>
              <a:ext uri="{FF2B5EF4-FFF2-40B4-BE49-F238E27FC236}">
                <a16:creationId xmlns:a16="http://schemas.microsoft.com/office/drawing/2014/main" id="{B41D0E8A-293B-F745-4546-4FE1DF7042F6}"/>
              </a:ext>
            </a:extLst>
          </p:cNvPr>
          <p:cNvSpPr txBox="1"/>
          <p:nvPr/>
        </p:nvSpPr>
        <p:spPr>
          <a:xfrm>
            <a:off x="4287975" y="6173470"/>
            <a:ext cx="16935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Gruppierung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AD929FDA-1C86-13DC-CFBC-5F8C377A64B4}"/>
              </a:ext>
            </a:extLst>
          </p:cNvPr>
          <p:cNvSpPr/>
          <p:nvPr/>
        </p:nvSpPr>
        <p:spPr>
          <a:xfrm>
            <a:off x="4078291" y="6216650"/>
            <a:ext cx="0" cy="342900"/>
          </a:xfrm>
          <a:custGeom>
            <a:avLst/>
            <a:gdLst/>
            <a:ahLst/>
            <a:cxnLst/>
            <a:rect l="l" t="t" r="r" b="b"/>
            <a:pathLst>
              <a:path h="342900">
                <a:moveTo>
                  <a:pt x="0" y="0"/>
                </a:moveTo>
                <a:lnTo>
                  <a:pt x="0" y="342899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DF61FCA3-C3A9-7063-84B1-35DABD635ABA}"/>
              </a:ext>
            </a:extLst>
          </p:cNvPr>
          <p:cNvSpPr/>
          <p:nvPr/>
        </p:nvSpPr>
        <p:spPr>
          <a:xfrm>
            <a:off x="4052891" y="6216650"/>
            <a:ext cx="0" cy="342900"/>
          </a:xfrm>
          <a:custGeom>
            <a:avLst/>
            <a:gdLst/>
            <a:ahLst/>
            <a:cxnLst/>
            <a:rect l="l" t="t" r="r" b="b"/>
            <a:pathLst>
              <a:path h="342900">
                <a:moveTo>
                  <a:pt x="0" y="0"/>
                </a:moveTo>
                <a:lnTo>
                  <a:pt x="0" y="342899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6">
            <a:extLst>
              <a:ext uri="{FF2B5EF4-FFF2-40B4-BE49-F238E27FC236}">
                <a16:creationId xmlns:a16="http://schemas.microsoft.com/office/drawing/2014/main" id="{026825B5-30AD-61AD-672B-E8419CE2E959}"/>
              </a:ext>
            </a:extLst>
          </p:cNvPr>
          <p:cNvSpPr/>
          <p:nvPr/>
        </p:nvSpPr>
        <p:spPr>
          <a:xfrm>
            <a:off x="4008441" y="648335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0"/>
                </a:moveTo>
                <a:lnTo>
                  <a:pt x="0" y="0"/>
                </a:lnTo>
                <a:lnTo>
                  <a:pt x="57150" y="114300"/>
                </a:lnTo>
                <a:lnTo>
                  <a:pt x="1143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652019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42959721-DD9E-24E7-AB33-24AC7B886DBA}"/>
              </a:ext>
            </a:extLst>
          </p:cNvPr>
          <p:cNvSpPr txBox="1"/>
          <p:nvPr/>
        </p:nvSpPr>
        <p:spPr>
          <a:xfrm>
            <a:off x="4439607" y="4536783"/>
            <a:ext cx="4107491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z="2400" spc="-5" dirty="0">
                <a:latin typeface="Tahoma"/>
                <a:cs typeface="Tahoma"/>
              </a:rPr>
              <a:t>Aggregation (</a:t>
            </a:r>
            <a:r>
              <a:rPr lang="en-GB" sz="2400" b="1" spc="-5" dirty="0">
                <a:latin typeface="Tahoma"/>
                <a:cs typeface="Tahoma"/>
              </a:rPr>
              <a:t>sum </a:t>
            </a:r>
            <a:r>
              <a:rPr lang="en-GB" sz="2400" spc="-5" dirty="0">
                <a:latin typeface="Tahoma"/>
                <a:cs typeface="Tahoma"/>
              </a:rPr>
              <a:t>und </a:t>
            </a:r>
            <a:r>
              <a:rPr lang="en-GB" sz="2400" b="1" spc="-5" dirty="0" err="1">
                <a:latin typeface="Tahoma"/>
                <a:cs typeface="Tahoma"/>
              </a:rPr>
              <a:t>avg</a:t>
            </a:r>
            <a:r>
              <a:rPr lang="en-GB" sz="2400" spc="-5" dirty="0">
                <a:latin typeface="Tahoma"/>
                <a:cs typeface="Tahoma"/>
              </a:rPr>
              <a:t>)</a:t>
            </a:r>
            <a:endParaRPr sz="2400" dirty="0">
              <a:latin typeface="Tahoma"/>
              <a:cs typeface="Tahoma"/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99F4F125-2F20-BF2D-3DBD-2E2F80BE1CDC}"/>
              </a:ext>
            </a:extLst>
          </p:cNvPr>
          <p:cNvSpPr/>
          <p:nvPr/>
        </p:nvSpPr>
        <p:spPr>
          <a:xfrm>
            <a:off x="4144966" y="4656163"/>
            <a:ext cx="0" cy="266700"/>
          </a:xfrm>
          <a:custGeom>
            <a:avLst/>
            <a:gdLst/>
            <a:ahLst/>
            <a:cxnLst/>
            <a:rect l="l" t="t" r="r" b="b"/>
            <a:pathLst>
              <a:path h="266700">
                <a:moveTo>
                  <a:pt x="0" y="0"/>
                </a:moveTo>
                <a:lnTo>
                  <a:pt x="0" y="266699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4">
            <a:extLst>
              <a:ext uri="{FF2B5EF4-FFF2-40B4-BE49-F238E27FC236}">
                <a16:creationId xmlns:a16="http://schemas.microsoft.com/office/drawing/2014/main" id="{CE88D831-DC82-B8A2-AB63-1CB47874F6C3}"/>
              </a:ext>
            </a:extLst>
          </p:cNvPr>
          <p:cNvSpPr/>
          <p:nvPr/>
        </p:nvSpPr>
        <p:spPr>
          <a:xfrm>
            <a:off x="4119566" y="4656163"/>
            <a:ext cx="0" cy="266700"/>
          </a:xfrm>
          <a:custGeom>
            <a:avLst/>
            <a:gdLst/>
            <a:ahLst/>
            <a:cxnLst/>
            <a:rect l="l" t="t" r="r" b="b"/>
            <a:pathLst>
              <a:path h="266700">
                <a:moveTo>
                  <a:pt x="0" y="0"/>
                </a:moveTo>
                <a:lnTo>
                  <a:pt x="0" y="266699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5">
            <a:extLst>
              <a:ext uri="{FF2B5EF4-FFF2-40B4-BE49-F238E27FC236}">
                <a16:creationId xmlns:a16="http://schemas.microsoft.com/office/drawing/2014/main" id="{93F9A960-4E20-27C9-FD9C-4D866856FD4D}"/>
              </a:ext>
            </a:extLst>
          </p:cNvPr>
          <p:cNvSpPr/>
          <p:nvPr/>
        </p:nvSpPr>
        <p:spPr>
          <a:xfrm>
            <a:off x="4075116" y="4846663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0"/>
                </a:moveTo>
                <a:lnTo>
                  <a:pt x="0" y="0"/>
                </a:lnTo>
                <a:lnTo>
                  <a:pt x="57150" y="114300"/>
                </a:lnTo>
                <a:lnTo>
                  <a:pt x="1143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1" name="object 6">
            <a:extLst>
              <a:ext uri="{FF2B5EF4-FFF2-40B4-BE49-F238E27FC236}">
                <a16:creationId xmlns:a16="http://schemas.microsoft.com/office/drawing/2014/main" id="{D38512F9-EFAA-296F-09F5-5AB03E45CB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3730231"/>
              </p:ext>
            </p:extLst>
          </p:nvPr>
        </p:nvGraphicFramePr>
        <p:xfrm>
          <a:off x="469900" y="1163865"/>
          <a:ext cx="8992234" cy="32842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035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50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53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397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604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5125">
                <a:tc>
                  <a:txBody>
                    <a:bodyPr/>
                    <a:lstStyle/>
                    <a:p>
                      <a:pPr marL="15240" algn="ctr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2000" spc="-95" dirty="0">
                          <a:latin typeface="Tahoma"/>
                          <a:cs typeface="Tahoma"/>
                        </a:rPr>
                        <a:t>V</a:t>
                      </a:r>
                      <a:r>
                        <a:rPr sz="2000" dirty="0">
                          <a:latin typeface="Tahoma"/>
                          <a:cs typeface="Tahoma"/>
                        </a:rPr>
                        <a:t>orlNr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4571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R="55244" algn="ctr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Titel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4571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47625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2000" spc="-5" dirty="0">
                          <a:latin typeface="Tahoma"/>
                          <a:cs typeface="Tahoma"/>
                        </a:rPr>
                        <a:t>SWS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4571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160020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2000" spc="-15" dirty="0">
                          <a:latin typeface="Tahoma"/>
                          <a:cs typeface="Tahoma"/>
                        </a:rPr>
                        <a:t>gelesenVon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4571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R="135890" algn="r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2000" spc="-50" dirty="0">
                          <a:latin typeface="Tahoma"/>
                          <a:cs typeface="Tahoma"/>
                        </a:rPr>
                        <a:t>P</a:t>
                      </a:r>
                      <a:r>
                        <a:rPr sz="2000" dirty="0">
                          <a:latin typeface="Tahoma"/>
                          <a:cs typeface="Tahoma"/>
                        </a:rPr>
                        <a:t>e</a:t>
                      </a:r>
                      <a:r>
                        <a:rPr sz="2000" spc="-5" dirty="0">
                          <a:latin typeface="Tahoma"/>
                          <a:cs typeface="Tahoma"/>
                        </a:rPr>
                        <a:t>r</a:t>
                      </a:r>
                      <a:r>
                        <a:rPr sz="2000" dirty="0">
                          <a:latin typeface="Tahoma"/>
                          <a:cs typeface="Tahoma"/>
                        </a:rPr>
                        <a:t>s</a:t>
                      </a:r>
                      <a:r>
                        <a:rPr sz="2000" spc="-5" dirty="0">
                          <a:latin typeface="Tahoma"/>
                          <a:cs typeface="Tahoma"/>
                        </a:rPr>
                        <a:t>N</a:t>
                      </a:r>
                      <a:r>
                        <a:rPr sz="2000" dirty="0">
                          <a:latin typeface="Tahoma"/>
                          <a:cs typeface="Tahoma"/>
                        </a:rPr>
                        <a:t>r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4571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R="174625" algn="ctr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2000" spc="-5" dirty="0">
                          <a:latin typeface="Tahoma"/>
                          <a:cs typeface="Tahoma"/>
                        </a:rPr>
                        <a:t>Name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4571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R="18415" algn="ctr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2000" spc="-10" dirty="0">
                          <a:latin typeface="Tahoma"/>
                          <a:cs typeface="Tahoma"/>
                        </a:rPr>
                        <a:t>Rang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4571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14604" algn="ctr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2000" spc="-10" dirty="0">
                          <a:latin typeface="Tahoma"/>
                          <a:cs typeface="Tahoma"/>
                        </a:rPr>
                        <a:t>Raum</a:t>
                      </a:r>
                      <a:endParaRPr sz="2000" dirty="0">
                        <a:latin typeface="Tahoma"/>
                        <a:cs typeface="Tahoma"/>
                      </a:endParaRPr>
                    </a:p>
                  </a:txBody>
                  <a:tcPr marL="0" marR="0" marT="4571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15240" algn="ctr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5041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4571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4610" algn="ctr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2000" spc="-5" dirty="0">
                          <a:latin typeface="Tahoma"/>
                          <a:cs typeface="Tahoma"/>
                        </a:rPr>
                        <a:t>Ethik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4571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73990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4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4571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411480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2125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4571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35255" algn="r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2125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4571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73990" algn="ctr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2000" spc="-5" dirty="0">
                          <a:latin typeface="Tahoma"/>
                          <a:cs typeface="Tahoma"/>
                        </a:rPr>
                        <a:t>Sokrates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4571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8415" algn="ctr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2000" spc="-5" dirty="0">
                          <a:latin typeface="Tahoma"/>
                          <a:cs typeface="Tahoma"/>
                        </a:rPr>
                        <a:t>C4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4571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4604" algn="ctr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226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4571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15240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5049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54610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000" spc="-5" dirty="0">
                          <a:latin typeface="Tahoma"/>
                          <a:cs typeface="Tahoma"/>
                        </a:rPr>
                        <a:t>Mäeutik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920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7399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2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920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41148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2125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920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135255" algn="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2125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920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173990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000" spc="-5" dirty="0">
                          <a:latin typeface="Tahoma"/>
                          <a:cs typeface="Tahoma"/>
                        </a:rPr>
                        <a:t>Sokrates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920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18415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000" spc="-5" dirty="0">
                          <a:latin typeface="Tahoma"/>
                          <a:cs typeface="Tahoma"/>
                        </a:rPr>
                        <a:t>C4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920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4604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226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920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8615">
                <a:tc>
                  <a:txBody>
                    <a:bodyPr/>
                    <a:lstStyle/>
                    <a:p>
                      <a:pPr marL="15240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4052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000" spc="-5" dirty="0">
                          <a:latin typeface="Tahoma"/>
                          <a:cs typeface="Tahoma"/>
                        </a:rPr>
                        <a:t>Logik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920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399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4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920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1148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2125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920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35255" algn="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2125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920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3990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000" spc="-5" dirty="0">
                          <a:latin typeface="Tahoma"/>
                          <a:cs typeface="Tahoma"/>
                        </a:rPr>
                        <a:t>Sokrates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920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8415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000" spc="-5" dirty="0">
                          <a:latin typeface="Tahoma"/>
                          <a:cs typeface="Tahoma"/>
                        </a:rPr>
                        <a:t>C4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920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04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226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920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15240"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5043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4610"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2000" spc="-5" dirty="0">
                          <a:latin typeface="Tahoma"/>
                          <a:cs typeface="Tahoma"/>
                        </a:rPr>
                        <a:t>Erkenntnistheorie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7399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3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41148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2126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35255" algn="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2126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73990"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2000" spc="-5" dirty="0">
                          <a:latin typeface="Tahoma"/>
                          <a:cs typeface="Tahoma"/>
                        </a:rPr>
                        <a:t>Russel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8415"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2000" spc="-5" dirty="0">
                          <a:latin typeface="Tahoma"/>
                          <a:cs typeface="Tahoma"/>
                        </a:rPr>
                        <a:t>C4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4604"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232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15240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5052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53340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000" spc="-5" dirty="0">
                          <a:latin typeface="Tahoma"/>
                          <a:cs typeface="Tahoma"/>
                        </a:rPr>
                        <a:t>Wissenschaftstheo.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920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7399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3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920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41148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2126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920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135255" algn="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2126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920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173990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000" spc="-5" dirty="0">
                          <a:latin typeface="Tahoma"/>
                          <a:cs typeface="Tahoma"/>
                        </a:rPr>
                        <a:t>Russel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920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18415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000" spc="-5" dirty="0">
                          <a:latin typeface="Tahoma"/>
                          <a:cs typeface="Tahoma"/>
                        </a:rPr>
                        <a:t>C4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920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4604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232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920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8615">
                <a:tc>
                  <a:txBody>
                    <a:bodyPr/>
                    <a:lstStyle/>
                    <a:p>
                      <a:pPr marL="15240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5216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4610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Bioethik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920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399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2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920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1148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2126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920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35255" algn="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2126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920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3990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000" spc="-5" dirty="0">
                          <a:latin typeface="Tahoma"/>
                          <a:cs typeface="Tahoma"/>
                        </a:rPr>
                        <a:t>Russel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920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8415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000" spc="-5" dirty="0">
                          <a:latin typeface="Tahoma"/>
                          <a:cs typeface="Tahoma"/>
                        </a:rPr>
                        <a:t>C4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920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04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232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920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15240" algn="ctr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5001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4571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5244" algn="ctr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2000" spc="-5" dirty="0">
                          <a:latin typeface="Tahoma"/>
                          <a:cs typeface="Tahoma"/>
                        </a:rPr>
                        <a:t>Grundzüge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4571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73990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4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4571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411480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2137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4571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35255" algn="r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2137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4571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73990" algn="ctr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2000" spc="-15" dirty="0">
                          <a:latin typeface="Tahoma"/>
                          <a:cs typeface="Tahoma"/>
                        </a:rPr>
                        <a:t>Kant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4571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8415" algn="ctr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2000" spc="-5" dirty="0">
                          <a:latin typeface="Tahoma"/>
                          <a:cs typeface="Tahoma"/>
                        </a:rPr>
                        <a:t>C4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4571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4604" algn="ctr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7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4571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8615">
                <a:tc>
                  <a:txBody>
                    <a:bodyPr/>
                    <a:lstStyle/>
                    <a:p>
                      <a:pPr marL="15240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4630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880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000" spc="-5" dirty="0">
                          <a:latin typeface="Tahoma"/>
                          <a:cs typeface="Tahoma"/>
                        </a:rPr>
                        <a:t>Die </a:t>
                      </a:r>
                      <a:r>
                        <a:rPr sz="2000" dirty="0">
                          <a:latin typeface="Tahoma"/>
                          <a:cs typeface="Tahoma"/>
                        </a:rPr>
                        <a:t>3</a:t>
                      </a:r>
                      <a:r>
                        <a:rPr sz="2000" spc="-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000" spc="-5" dirty="0">
                          <a:latin typeface="Tahoma"/>
                          <a:cs typeface="Tahoma"/>
                        </a:rPr>
                        <a:t>Kritiken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920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399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4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920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1148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2137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920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35255" algn="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2137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920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3990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000" spc="-15" dirty="0">
                          <a:latin typeface="Tahoma"/>
                          <a:cs typeface="Tahoma"/>
                        </a:rPr>
                        <a:t>Kant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920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8415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000" spc="-5" dirty="0">
                          <a:latin typeface="Tahoma"/>
                          <a:cs typeface="Tahoma"/>
                        </a:rPr>
                        <a:t>C4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920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04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7</a:t>
                      </a:r>
                    </a:p>
                  </a:txBody>
                  <a:tcPr marL="0" marR="0" marT="2920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12" name="object 7">
            <a:extLst>
              <a:ext uri="{FF2B5EF4-FFF2-40B4-BE49-F238E27FC236}">
                <a16:creationId xmlns:a16="http://schemas.microsoft.com/office/drawing/2014/main" id="{BA95057E-4ADC-E0A0-578E-5E9ED617A4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7710694"/>
              </p:ext>
            </p:extLst>
          </p:nvPr>
        </p:nvGraphicFramePr>
        <p:xfrm>
          <a:off x="1450689" y="5147538"/>
          <a:ext cx="6867807" cy="13646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338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53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360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5259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125">
                <a:tc>
                  <a:txBody>
                    <a:bodyPr/>
                    <a:lstStyle/>
                    <a:p>
                      <a:pPr marL="15875" algn="ctr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lang="en-GB" sz="2000" spc="-95" dirty="0" err="1">
                          <a:latin typeface="Tahoma"/>
                          <a:cs typeface="Tahoma"/>
                        </a:rPr>
                        <a:t>gelesenVon</a:t>
                      </a:r>
                      <a:endParaRPr sz="2000" dirty="0">
                        <a:latin typeface="Tahoma"/>
                        <a:cs typeface="Tahoma"/>
                      </a:endParaRPr>
                    </a:p>
                  </a:txBody>
                  <a:tcPr marL="0" marR="0" marT="4571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lang="en-GB" sz="2000" spc="-15" dirty="0">
                          <a:latin typeface="Tahoma"/>
                          <a:cs typeface="Tahoma"/>
                        </a:rPr>
                        <a:t>Name</a:t>
                      </a:r>
                      <a:endParaRPr sz="2000" dirty="0">
                        <a:latin typeface="Tahoma"/>
                        <a:cs typeface="Tahoma"/>
                      </a:endParaRPr>
                    </a:p>
                  </a:txBody>
                  <a:tcPr marL="0" marR="0" marT="45719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lang="en-GB" sz="2000" spc="-10" dirty="0">
                          <a:latin typeface="Tahoma"/>
                          <a:cs typeface="Tahoma"/>
                        </a:rPr>
                        <a:t>Sum(SWS)</a:t>
                      </a:r>
                      <a:endParaRPr sz="2000" dirty="0">
                        <a:latin typeface="Tahoma"/>
                        <a:cs typeface="Tahoma"/>
                      </a:endParaRPr>
                    </a:p>
                  </a:txBody>
                  <a:tcPr marL="0" marR="0" marT="4571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lang="en-GB" sz="2000" spc="-5" dirty="0" err="1">
                          <a:latin typeface="Tahoma"/>
                          <a:cs typeface="Tahoma"/>
                        </a:rPr>
                        <a:t>Avg</a:t>
                      </a:r>
                      <a:r>
                        <a:rPr lang="en-GB" sz="2000" spc="-5" dirty="0">
                          <a:latin typeface="Tahoma"/>
                          <a:cs typeface="Tahoma"/>
                        </a:rPr>
                        <a:t>(SWS)</a:t>
                      </a:r>
                      <a:endParaRPr sz="2000" dirty="0">
                        <a:latin typeface="Tahoma"/>
                        <a:cs typeface="Tahoma"/>
                      </a:endParaRPr>
                    </a:p>
                  </a:txBody>
                  <a:tcPr marL="0" marR="0" marT="4571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1155">
                <a:tc>
                  <a:txBody>
                    <a:bodyPr/>
                    <a:lstStyle/>
                    <a:p>
                      <a:pPr marL="34925" algn="ctr">
                        <a:lnSpc>
                          <a:spcPts val="2305"/>
                        </a:lnSpc>
                        <a:spcBef>
                          <a:spcPts val="359"/>
                        </a:spcBef>
                      </a:pPr>
                      <a:r>
                        <a:rPr lang="en-GB" sz="2000" dirty="0">
                          <a:latin typeface="Tahoma"/>
                          <a:cs typeface="Tahoma"/>
                        </a:rPr>
                        <a:t>2125</a:t>
                      </a:r>
                      <a:endParaRPr sz="2000" dirty="0">
                        <a:latin typeface="Tahoma"/>
                        <a:cs typeface="Tahoma"/>
                      </a:endParaRPr>
                    </a:p>
                  </a:txBody>
                  <a:tcPr marL="0" marR="0" marT="4571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ts val="2305"/>
                        </a:lnSpc>
                        <a:spcBef>
                          <a:spcPts val="359"/>
                        </a:spcBef>
                      </a:pPr>
                      <a:r>
                        <a:rPr lang="en-GB" sz="2000" dirty="0" err="1">
                          <a:latin typeface="Tahoma"/>
                          <a:cs typeface="Tahoma"/>
                        </a:rPr>
                        <a:t>Sokrates</a:t>
                      </a:r>
                      <a:endParaRPr sz="2000" dirty="0">
                        <a:latin typeface="Tahoma"/>
                        <a:cs typeface="Tahoma"/>
                      </a:endParaRPr>
                    </a:p>
                  </a:txBody>
                  <a:tcPr marL="0" marR="0" marT="45719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ts val="2305"/>
                        </a:lnSpc>
                        <a:spcBef>
                          <a:spcPts val="359"/>
                        </a:spcBef>
                      </a:pPr>
                      <a:r>
                        <a:rPr lang="en-GB" sz="2000" dirty="0">
                          <a:latin typeface="Tahoma"/>
                          <a:cs typeface="Tahoma"/>
                        </a:rPr>
                        <a:t>10</a:t>
                      </a:r>
                      <a:endParaRPr sz="2000" dirty="0">
                        <a:latin typeface="Tahoma"/>
                        <a:cs typeface="Tahoma"/>
                      </a:endParaRPr>
                    </a:p>
                  </a:txBody>
                  <a:tcPr marL="0" marR="0" marT="4571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ts val="2305"/>
                        </a:lnSpc>
                        <a:spcBef>
                          <a:spcPts val="359"/>
                        </a:spcBef>
                      </a:pPr>
                      <a:r>
                        <a:rPr lang="en-GB" sz="2000" spc="-5" dirty="0">
                          <a:latin typeface="Tahoma"/>
                          <a:cs typeface="Tahoma"/>
                        </a:rPr>
                        <a:t>3.3</a:t>
                      </a:r>
                      <a:endParaRPr sz="2000" dirty="0">
                        <a:latin typeface="Tahoma"/>
                        <a:cs typeface="Tahoma"/>
                      </a:endParaRPr>
                    </a:p>
                  </a:txBody>
                  <a:tcPr marL="0" marR="0" marT="4571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34925" algn="ctr">
                        <a:lnSpc>
                          <a:spcPts val="2300"/>
                        </a:lnSpc>
                      </a:pPr>
                      <a:r>
                        <a:rPr lang="en-GB" sz="2000" dirty="0">
                          <a:latin typeface="Tahoma"/>
                          <a:cs typeface="Tahoma"/>
                        </a:rPr>
                        <a:t>2126</a:t>
                      </a:r>
                      <a:endParaRPr sz="2000" dirty="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ts val="2300"/>
                        </a:lnSpc>
                      </a:pPr>
                      <a:r>
                        <a:rPr lang="en-GB" sz="2000" dirty="0">
                          <a:latin typeface="Tahoma"/>
                          <a:cs typeface="Tahoma"/>
                        </a:rPr>
                        <a:t>Russel</a:t>
                      </a:r>
                      <a:endParaRPr sz="2000" dirty="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ts val="2300"/>
                        </a:lnSpc>
                      </a:pPr>
                      <a:r>
                        <a:rPr lang="en-GB" sz="2000" dirty="0">
                          <a:latin typeface="Tahoma"/>
                          <a:cs typeface="Tahoma"/>
                        </a:rPr>
                        <a:t>8</a:t>
                      </a:r>
                      <a:endParaRPr sz="2000" dirty="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ts val="2300"/>
                        </a:lnSpc>
                      </a:pPr>
                      <a:r>
                        <a:rPr lang="en-GB" sz="2000" spc="-5" dirty="0">
                          <a:latin typeface="Tahoma"/>
                          <a:cs typeface="Tahoma"/>
                        </a:rPr>
                        <a:t>2.7</a:t>
                      </a:r>
                      <a:endParaRPr sz="2000" dirty="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34925" algn="ctr">
                        <a:lnSpc>
                          <a:spcPts val="2395"/>
                        </a:lnSpc>
                      </a:pPr>
                      <a:r>
                        <a:rPr lang="en-GB" sz="2000" dirty="0">
                          <a:latin typeface="Tahoma"/>
                          <a:cs typeface="Tahoma"/>
                        </a:rPr>
                        <a:t>2137</a:t>
                      </a:r>
                      <a:endParaRPr sz="2000" dirty="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ts val="2395"/>
                        </a:lnSpc>
                      </a:pPr>
                      <a:r>
                        <a:rPr lang="en-GB" sz="2000" dirty="0">
                          <a:latin typeface="Tahoma"/>
                          <a:cs typeface="Tahoma"/>
                        </a:rPr>
                        <a:t>Kant</a:t>
                      </a:r>
                      <a:endParaRPr sz="2000" dirty="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ts val="2395"/>
                        </a:lnSpc>
                      </a:pPr>
                      <a:r>
                        <a:rPr lang="en-GB" sz="2000" dirty="0">
                          <a:latin typeface="Tahoma"/>
                          <a:cs typeface="Tahoma"/>
                        </a:rPr>
                        <a:t>8</a:t>
                      </a:r>
                      <a:endParaRPr sz="2000" dirty="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ts val="2395"/>
                        </a:lnSpc>
                      </a:pPr>
                      <a:r>
                        <a:rPr lang="en-GB" sz="2000" spc="-15" dirty="0">
                          <a:latin typeface="Tahoma"/>
                          <a:cs typeface="Tahoma"/>
                        </a:rPr>
                        <a:t>4</a:t>
                      </a:r>
                      <a:endParaRPr sz="2000" dirty="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object 8">
            <a:extLst>
              <a:ext uri="{FF2B5EF4-FFF2-40B4-BE49-F238E27FC236}">
                <a16:creationId xmlns:a16="http://schemas.microsoft.com/office/drawing/2014/main" id="{24CEBA0E-CB22-CD32-E5B0-639C7261D974}"/>
              </a:ext>
            </a:extLst>
          </p:cNvPr>
          <p:cNvSpPr txBox="1"/>
          <p:nvPr/>
        </p:nvSpPr>
        <p:spPr>
          <a:xfrm>
            <a:off x="4491991" y="6671538"/>
            <a:ext cx="4667250" cy="7643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z="2400" b="1" spc="-5" dirty="0">
                <a:latin typeface="Tahoma"/>
                <a:cs typeface="Tahoma"/>
              </a:rPr>
              <a:t>Having</a:t>
            </a:r>
            <a:r>
              <a:rPr lang="en-GB" sz="2400" spc="-5" dirty="0">
                <a:latin typeface="Tahoma"/>
                <a:cs typeface="Tahoma"/>
              </a:rPr>
              <a:t>-clause </a:t>
            </a:r>
            <a:r>
              <a:rPr sz="2400" spc="-5" dirty="0">
                <a:latin typeface="Tahoma"/>
                <a:cs typeface="Tahoma"/>
              </a:rPr>
              <a:t>und</a:t>
            </a:r>
            <a:r>
              <a:rPr sz="2400" spc="-15" dirty="0">
                <a:latin typeface="Tahoma"/>
                <a:cs typeface="Tahoma"/>
              </a:rPr>
              <a:t> </a:t>
            </a:r>
            <a:endParaRPr lang="de-DE" sz="2400" spc="-15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 err="1">
                <a:latin typeface="Tahoma"/>
                <a:cs typeface="Tahoma"/>
              </a:rPr>
              <a:t>Projektion</a:t>
            </a:r>
            <a:endParaRPr sz="2400" dirty="0">
              <a:latin typeface="Tahoma"/>
              <a:cs typeface="Tahoma"/>
            </a:endParaRPr>
          </a:p>
        </p:txBody>
      </p:sp>
      <p:sp>
        <p:nvSpPr>
          <p:cNvPr id="14" name="object 9">
            <a:extLst>
              <a:ext uri="{FF2B5EF4-FFF2-40B4-BE49-F238E27FC236}">
                <a16:creationId xmlns:a16="http://schemas.microsoft.com/office/drawing/2014/main" id="{D7C6AF5D-BDCB-735F-67B3-ACF45FA85DBB}"/>
              </a:ext>
            </a:extLst>
          </p:cNvPr>
          <p:cNvSpPr/>
          <p:nvPr/>
        </p:nvSpPr>
        <p:spPr>
          <a:xfrm>
            <a:off x="4197350" y="6714718"/>
            <a:ext cx="0" cy="266700"/>
          </a:xfrm>
          <a:custGeom>
            <a:avLst/>
            <a:gdLst/>
            <a:ahLst/>
            <a:cxnLst/>
            <a:rect l="l" t="t" r="r" b="b"/>
            <a:pathLst>
              <a:path h="266700">
                <a:moveTo>
                  <a:pt x="0" y="0"/>
                </a:moveTo>
                <a:lnTo>
                  <a:pt x="0" y="266699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0">
            <a:extLst>
              <a:ext uri="{FF2B5EF4-FFF2-40B4-BE49-F238E27FC236}">
                <a16:creationId xmlns:a16="http://schemas.microsoft.com/office/drawing/2014/main" id="{70BF55EC-C358-3D14-6939-217139270253}"/>
              </a:ext>
            </a:extLst>
          </p:cNvPr>
          <p:cNvSpPr/>
          <p:nvPr/>
        </p:nvSpPr>
        <p:spPr>
          <a:xfrm>
            <a:off x="4171950" y="6714718"/>
            <a:ext cx="0" cy="266700"/>
          </a:xfrm>
          <a:custGeom>
            <a:avLst/>
            <a:gdLst/>
            <a:ahLst/>
            <a:cxnLst/>
            <a:rect l="l" t="t" r="r" b="b"/>
            <a:pathLst>
              <a:path h="266700">
                <a:moveTo>
                  <a:pt x="0" y="0"/>
                </a:moveTo>
                <a:lnTo>
                  <a:pt x="0" y="266699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1">
            <a:extLst>
              <a:ext uri="{FF2B5EF4-FFF2-40B4-BE49-F238E27FC236}">
                <a16:creationId xmlns:a16="http://schemas.microsoft.com/office/drawing/2014/main" id="{17989761-2FB4-C77B-BC33-062C010FD83C}"/>
              </a:ext>
            </a:extLst>
          </p:cNvPr>
          <p:cNvSpPr/>
          <p:nvPr/>
        </p:nvSpPr>
        <p:spPr>
          <a:xfrm>
            <a:off x="4127500" y="6905218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0"/>
                </a:moveTo>
                <a:lnTo>
                  <a:pt x="0" y="0"/>
                </a:lnTo>
                <a:lnTo>
                  <a:pt x="57150" y="114299"/>
                </a:lnTo>
                <a:lnTo>
                  <a:pt x="1143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5034508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>
            <a:extLst>
              <a:ext uri="{FF2B5EF4-FFF2-40B4-BE49-F238E27FC236}">
                <a16:creationId xmlns:a16="http://schemas.microsoft.com/office/drawing/2014/main" id="{EE5A6983-0251-B799-E290-B3FB3A8A71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1295285"/>
              </p:ext>
            </p:extLst>
          </p:nvPr>
        </p:nvGraphicFramePr>
        <p:xfrm>
          <a:off x="2130399" y="2165985"/>
          <a:ext cx="6781800" cy="19170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14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3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9445">
                <a:tc>
                  <a:txBody>
                    <a:bodyPr/>
                    <a:lstStyle/>
                    <a:p>
                      <a:pPr marL="33845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800" spc="-15" dirty="0">
                          <a:latin typeface="Tahoma"/>
                          <a:cs typeface="Tahoma"/>
                        </a:rPr>
                        <a:t>gelesenVon</a:t>
                      </a:r>
                      <a:endParaRPr sz="2800" dirty="0">
                        <a:latin typeface="Tahoma"/>
                        <a:cs typeface="Tahoma"/>
                      </a:endParaRPr>
                    </a:p>
                  </a:txBody>
                  <a:tcPr marL="0" marR="0" marT="1016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800" spc="-5" dirty="0">
                          <a:latin typeface="Tahoma"/>
                          <a:cs typeface="Tahoma"/>
                        </a:rPr>
                        <a:t>Name</a:t>
                      </a:r>
                      <a:endParaRPr sz="2800" dirty="0">
                        <a:latin typeface="Tahoma"/>
                        <a:cs typeface="Tahoma"/>
                      </a:endParaRPr>
                    </a:p>
                  </a:txBody>
                  <a:tcPr marL="0" marR="0" marT="101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800" b="1" spc="-5" dirty="0">
                          <a:latin typeface="Tahoma"/>
                          <a:cs typeface="Tahoma"/>
                        </a:rPr>
                        <a:t>sum</a:t>
                      </a:r>
                      <a:r>
                        <a:rPr sz="2800" b="1" spc="-5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800" dirty="0">
                          <a:latin typeface="Tahoma"/>
                          <a:cs typeface="Tahoma"/>
                        </a:rPr>
                        <a:t>(SWS)</a:t>
                      </a:r>
                    </a:p>
                  </a:txBody>
                  <a:tcPr marL="0" marR="0" marT="101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pPr marL="78613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800" dirty="0">
                          <a:latin typeface="Tahoma"/>
                          <a:cs typeface="Tahoma"/>
                        </a:rPr>
                        <a:t>2125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1016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800" spc="-5" dirty="0">
                          <a:latin typeface="Tahoma"/>
                          <a:cs typeface="Tahoma"/>
                        </a:rPr>
                        <a:t>Sokrates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101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800" dirty="0">
                          <a:latin typeface="Tahoma"/>
                          <a:cs typeface="Tahoma"/>
                        </a:rPr>
                        <a:t>10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101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9445">
                <a:tc>
                  <a:txBody>
                    <a:bodyPr/>
                    <a:lstStyle/>
                    <a:p>
                      <a:pPr marL="78613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800" dirty="0">
                          <a:latin typeface="Tahoma"/>
                          <a:cs typeface="Tahoma"/>
                        </a:rPr>
                        <a:t>2137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1016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800" spc="-20" dirty="0">
                          <a:latin typeface="Tahoma"/>
                          <a:cs typeface="Tahoma"/>
                        </a:rPr>
                        <a:t>Kant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101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800" dirty="0">
                          <a:latin typeface="Tahoma"/>
                          <a:cs typeface="Tahoma"/>
                        </a:rPr>
                        <a:t>8</a:t>
                      </a:r>
                    </a:p>
                  </a:txBody>
                  <a:tcPr marL="0" marR="0" marT="101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801137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50901" y="858369"/>
            <a:ext cx="6553199" cy="540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822065" algn="l"/>
                <a:tab pos="5930900" algn="l"/>
              </a:tabLst>
            </a:pPr>
            <a:r>
              <a:rPr spc="-5" dirty="0" err="1"/>
              <a:t>Geschachtelte</a:t>
            </a:r>
            <a:r>
              <a:rPr lang="de-DE" spc="-5" dirty="0"/>
              <a:t> </a:t>
            </a:r>
            <a:r>
              <a:rPr spc="-5" dirty="0" err="1"/>
              <a:t>Anfrage</a:t>
            </a:r>
            <a:r>
              <a:rPr lang="de-DE" spc="-5" dirty="0"/>
              <a:t> </a:t>
            </a:r>
            <a:r>
              <a:rPr spc="-5" dirty="0"/>
              <a:t>(Forts.</a:t>
            </a:r>
            <a:r>
              <a:rPr lang="en-GB" spc="-5" dirty="0"/>
              <a:t> - </a:t>
            </a:r>
            <a:r>
              <a:rPr lang="en-GB" spc="-5" dirty="0" err="1"/>
              <a:t>Nochmal</a:t>
            </a:r>
            <a:r>
              <a:rPr spc="-5" dirty="0"/>
              <a:t>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10640" y="2231899"/>
            <a:ext cx="8573135" cy="2851422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295"/>
              </a:spcBef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sz="2400" spc="-5" dirty="0" err="1">
                <a:latin typeface="Tahoma"/>
                <a:cs typeface="Tahoma"/>
              </a:rPr>
              <a:t>Unteranfrage</a:t>
            </a:r>
            <a:r>
              <a:rPr sz="2400" spc="-5" dirty="0">
                <a:latin typeface="Tahoma"/>
                <a:cs typeface="Tahoma"/>
              </a:rPr>
              <a:t> in </a:t>
            </a:r>
            <a:r>
              <a:rPr sz="2400" dirty="0">
                <a:latin typeface="Tahoma"/>
                <a:cs typeface="Tahoma"/>
              </a:rPr>
              <a:t>der</a:t>
            </a:r>
            <a:r>
              <a:rPr sz="2400" spc="-315" dirty="0">
                <a:latin typeface="Tahoma"/>
                <a:cs typeface="Tahoma"/>
              </a:rPr>
              <a:t> </a:t>
            </a:r>
            <a:r>
              <a:rPr sz="2400" b="1" spc="-5" dirty="0">
                <a:latin typeface="Tahoma"/>
                <a:cs typeface="Tahoma"/>
              </a:rPr>
              <a:t>where</a:t>
            </a:r>
            <a:r>
              <a:rPr sz="2400" spc="-5" dirty="0">
                <a:latin typeface="Tahoma"/>
                <a:cs typeface="Tahoma"/>
              </a:rPr>
              <a:t>-Klausel</a:t>
            </a:r>
            <a:endParaRPr sz="2400" dirty="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195"/>
              </a:spcBef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sz="2400" spc="-5" dirty="0" err="1">
                <a:latin typeface="Tahoma"/>
                <a:cs typeface="Tahoma"/>
              </a:rPr>
              <a:t>Welche</a:t>
            </a:r>
            <a:r>
              <a:rPr sz="2400" spc="-5" dirty="0">
                <a:latin typeface="Tahoma"/>
                <a:cs typeface="Tahoma"/>
              </a:rPr>
              <a:t> Prüfungen sind </a:t>
            </a:r>
            <a:r>
              <a:rPr sz="2400" dirty="0">
                <a:latin typeface="Tahoma"/>
                <a:cs typeface="Tahoma"/>
              </a:rPr>
              <a:t>besser als </a:t>
            </a:r>
            <a:r>
              <a:rPr sz="2400" spc="-5" dirty="0">
                <a:latin typeface="Tahoma"/>
                <a:cs typeface="Tahoma"/>
              </a:rPr>
              <a:t>durchschnittlich</a:t>
            </a:r>
            <a:r>
              <a:rPr sz="2400" spc="-204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verlaufen?</a:t>
            </a:r>
            <a:endParaRPr sz="24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050" dirty="0">
              <a:latin typeface="Times New Roman"/>
              <a:cs typeface="Times New Roman"/>
            </a:endParaRPr>
          </a:p>
          <a:p>
            <a:pPr marL="298450">
              <a:lnSpc>
                <a:spcPct val="100000"/>
              </a:lnSpc>
              <a:spcBef>
                <a:spcPts val="5"/>
              </a:spcBef>
            </a:pPr>
            <a:r>
              <a:rPr sz="2400" b="1" spc="-5" dirty="0">
                <a:latin typeface="Tahoma"/>
                <a:cs typeface="Tahoma"/>
              </a:rPr>
              <a:t>select</a:t>
            </a:r>
            <a:r>
              <a:rPr sz="2400" b="1" spc="-1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*</a:t>
            </a:r>
          </a:p>
          <a:p>
            <a:pPr marL="355600">
              <a:lnSpc>
                <a:spcPct val="100000"/>
              </a:lnSpc>
              <a:spcBef>
                <a:spcPts val="219"/>
              </a:spcBef>
            </a:pPr>
            <a:r>
              <a:rPr sz="2400" b="1" spc="-5" dirty="0">
                <a:latin typeface="Tahoma"/>
                <a:cs typeface="Tahoma"/>
              </a:rPr>
              <a:t>from </a:t>
            </a:r>
            <a:r>
              <a:rPr sz="2400" spc="-5" dirty="0">
                <a:latin typeface="Tahoma"/>
                <a:cs typeface="Tahoma"/>
              </a:rPr>
              <a:t>pr</a:t>
            </a:r>
            <a:r>
              <a:rPr lang="de-DE" sz="2400" spc="-5" dirty="0" err="1">
                <a:latin typeface="Tahoma"/>
                <a:cs typeface="Tahoma"/>
              </a:rPr>
              <a:t>ue</a:t>
            </a:r>
            <a:r>
              <a:rPr sz="2400" spc="-5" dirty="0">
                <a:latin typeface="Tahoma"/>
                <a:cs typeface="Tahoma"/>
              </a:rPr>
              <a:t>fen</a:t>
            </a:r>
            <a:endParaRPr sz="2400" dirty="0">
              <a:latin typeface="Tahoma"/>
              <a:cs typeface="Tahoma"/>
            </a:endParaRPr>
          </a:p>
          <a:p>
            <a:pPr marL="355600">
              <a:lnSpc>
                <a:spcPct val="100000"/>
              </a:lnSpc>
              <a:spcBef>
                <a:spcPts val="320"/>
              </a:spcBef>
            </a:pPr>
            <a:r>
              <a:rPr sz="2400" b="1" spc="-5" dirty="0">
                <a:latin typeface="Tahoma"/>
                <a:cs typeface="Tahoma"/>
              </a:rPr>
              <a:t>where </a:t>
            </a:r>
            <a:r>
              <a:rPr sz="2400" dirty="0">
                <a:latin typeface="Tahoma"/>
                <a:cs typeface="Tahoma"/>
              </a:rPr>
              <a:t>Note </a:t>
            </a:r>
            <a:r>
              <a:rPr sz="2400" spc="-5" dirty="0">
                <a:latin typeface="Tahoma"/>
                <a:cs typeface="Tahoma"/>
              </a:rPr>
              <a:t>&lt; </a:t>
            </a:r>
            <a:r>
              <a:rPr sz="2400" dirty="0">
                <a:latin typeface="Tahoma"/>
                <a:cs typeface="Tahoma"/>
              </a:rPr>
              <a:t>( </a:t>
            </a:r>
            <a:r>
              <a:rPr sz="2400" b="1" spc="-5" dirty="0">
                <a:latin typeface="Tahoma"/>
                <a:cs typeface="Tahoma"/>
              </a:rPr>
              <a:t>select avg</a:t>
            </a:r>
            <a:r>
              <a:rPr sz="2400" b="1" spc="4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(Note)</a:t>
            </a:r>
          </a:p>
          <a:p>
            <a:pPr marL="2698750">
              <a:lnSpc>
                <a:spcPct val="100000"/>
              </a:lnSpc>
              <a:spcBef>
                <a:spcPts val="320"/>
              </a:spcBef>
            </a:pPr>
            <a:r>
              <a:rPr sz="2400" b="1" spc="-5" dirty="0">
                <a:latin typeface="Tahoma"/>
                <a:cs typeface="Tahoma"/>
              </a:rPr>
              <a:t>from </a:t>
            </a:r>
            <a:r>
              <a:rPr sz="2400" spc="-5" dirty="0">
                <a:latin typeface="Tahoma"/>
                <a:cs typeface="Tahoma"/>
              </a:rPr>
              <a:t>pr</a:t>
            </a:r>
            <a:r>
              <a:rPr lang="de-DE" sz="2400" spc="-5" dirty="0" err="1">
                <a:latin typeface="Tahoma"/>
                <a:cs typeface="Tahoma"/>
              </a:rPr>
              <a:t>ue</a:t>
            </a:r>
            <a:r>
              <a:rPr sz="2400" spc="-5" dirty="0">
                <a:latin typeface="Tahoma"/>
                <a:cs typeface="Tahoma"/>
              </a:rPr>
              <a:t>fen</a:t>
            </a:r>
            <a:r>
              <a:rPr sz="2400" spc="4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);</a:t>
            </a:r>
            <a:endParaRPr sz="24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31900" y="1187450"/>
            <a:ext cx="9144000" cy="54102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0" y="0"/>
                </a:moveTo>
                <a:lnTo>
                  <a:pt x="9144003" y="0"/>
                </a:lnTo>
                <a:lnTo>
                  <a:pt x="9144003" y="6857998"/>
                </a:lnTo>
                <a:lnTo>
                  <a:pt x="0" y="685799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10640" y="2155699"/>
            <a:ext cx="8605520" cy="3525324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295"/>
              </a:spcBef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sz="2400" spc="-5" dirty="0" err="1">
                <a:latin typeface="Tahoma"/>
                <a:cs typeface="Tahoma"/>
              </a:rPr>
              <a:t>Unteranfrage</a:t>
            </a:r>
            <a:r>
              <a:rPr sz="2400" spc="-5" dirty="0">
                <a:latin typeface="Tahoma"/>
                <a:cs typeface="Tahoma"/>
              </a:rPr>
              <a:t> in </a:t>
            </a:r>
            <a:r>
              <a:rPr sz="2400" dirty="0">
                <a:latin typeface="Tahoma"/>
                <a:cs typeface="Tahoma"/>
              </a:rPr>
              <a:t>der</a:t>
            </a:r>
            <a:r>
              <a:rPr sz="2400" spc="-315" dirty="0">
                <a:latin typeface="Tahoma"/>
                <a:cs typeface="Tahoma"/>
              </a:rPr>
              <a:t> </a:t>
            </a:r>
            <a:r>
              <a:rPr sz="2400" b="1" spc="-5" dirty="0">
                <a:latin typeface="Tahoma"/>
                <a:cs typeface="Tahoma"/>
              </a:rPr>
              <a:t>select</a:t>
            </a:r>
            <a:r>
              <a:rPr sz="2400" spc="-5" dirty="0">
                <a:latin typeface="Tahoma"/>
                <a:cs typeface="Tahoma"/>
              </a:rPr>
              <a:t>-Klausel</a:t>
            </a:r>
            <a:endParaRPr sz="2400" dirty="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195"/>
              </a:spcBef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sz="2400" dirty="0">
                <a:latin typeface="Tahoma"/>
                <a:cs typeface="Tahoma"/>
              </a:rPr>
              <a:t>Für </a:t>
            </a:r>
            <a:r>
              <a:rPr sz="2400" spc="-5" dirty="0">
                <a:solidFill>
                  <a:srgbClr val="FF0000"/>
                </a:solidFill>
                <a:latin typeface="Tahoma"/>
                <a:cs typeface="Tahoma"/>
              </a:rPr>
              <a:t>jedes Ergebnistupel wird die Unteranfrage</a:t>
            </a:r>
            <a:r>
              <a:rPr sz="2400" spc="-23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ahoma"/>
                <a:cs typeface="Tahoma"/>
              </a:rPr>
              <a:t>ausgeführt</a:t>
            </a:r>
            <a:endParaRPr sz="2400" dirty="0">
              <a:solidFill>
                <a:srgbClr val="FF0000"/>
              </a:solidFill>
              <a:latin typeface="Tahoma"/>
              <a:cs typeface="Tahoma"/>
            </a:endParaRPr>
          </a:p>
          <a:p>
            <a:pPr marL="355600" marR="226060" indent="-342900">
              <a:lnSpc>
                <a:spcPts val="2620"/>
              </a:lnSpc>
              <a:spcBef>
                <a:spcPts val="625"/>
              </a:spcBef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sz="2400" spc="-5" dirty="0">
                <a:latin typeface="Tahoma"/>
                <a:cs typeface="Tahoma"/>
              </a:rPr>
              <a:t>Man beachte, dass die Unteranfrage korreliert </a:t>
            </a:r>
            <a:r>
              <a:rPr sz="2400" dirty="0">
                <a:latin typeface="Tahoma"/>
                <a:cs typeface="Tahoma"/>
              </a:rPr>
              <a:t>ist </a:t>
            </a:r>
            <a:r>
              <a:rPr sz="2400" spc="-5" dirty="0">
                <a:latin typeface="Tahoma"/>
                <a:cs typeface="Tahoma"/>
              </a:rPr>
              <a:t>(greift</a:t>
            </a:r>
            <a:r>
              <a:rPr sz="2400" spc="-17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auf  Attribute </a:t>
            </a:r>
            <a:r>
              <a:rPr sz="2400" spc="-5" dirty="0">
                <a:latin typeface="Tahoma"/>
                <a:cs typeface="Tahoma"/>
              </a:rPr>
              <a:t>der umschließenden Anfrage</a:t>
            </a:r>
            <a:r>
              <a:rPr sz="2400" spc="1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zu)</a:t>
            </a:r>
          </a:p>
          <a:p>
            <a:pPr marL="457200" indent="-457200">
              <a:lnSpc>
                <a:spcPct val="100000"/>
              </a:lnSpc>
              <a:spcBef>
                <a:spcPts val="20"/>
              </a:spcBef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endParaRPr sz="2900" dirty="0">
              <a:latin typeface="Times New Roman"/>
              <a:cs typeface="Times New Roman"/>
            </a:endParaRPr>
          </a:p>
          <a:p>
            <a:pPr marL="355600">
              <a:lnSpc>
                <a:spcPts val="2750"/>
              </a:lnSpc>
            </a:pPr>
            <a:r>
              <a:rPr sz="2400" b="1" spc="-5" dirty="0">
                <a:latin typeface="Tahoma"/>
                <a:cs typeface="Tahoma"/>
              </a:rPr>
              <a:t>select </a:t>
            </a:r>
            <a:r>
              <a:rPr sz="2400" dirty="0">
                <a:latin typeface="Tahoma"/>
                <a:cs typeface="Tahoma"/>
              </a:rPr>
              <a:t>PersNr, </a:t>
            </a:r>
            <a:r>
              <a:rPr sz="2400" spc="-5" dirty="0">
                <a:latin typeface="Tahoma"/>
                <a:cs typeface="Tahoma"/>
              </a:rPr>
              <a:t>Name, </a:t>
            </a:r>
            <a:r>
              <a:rPr sz="2400" dirty="0">
                <a:latin typeface="Tahoma"/>
                <a:cs typeface="Tahoma"/>
              </a:rPr>
              <a:t>( </a:t>
            </a:r>
            <a:r>
              <a:rPr sz="2400" b="1" spc="-5" dirty="0">
                <a:latin typeface="Tahoma"/>
                <a:cs typeface="Tahoma"/>
              </a:rPr>
              <a:t>select sum </a:t>
            </a:r>
            <a:r>
              <a:rPr sz="2400" dirty="0">
                <a:latin typeface="Tahoma"/>
                <a:cs typeface="Tahoma"/>
              </a:rPr>
              <a:t>(SWS) </a:t>
            </a:r>
            <a:r>
              <a:rPr sz="2400" b="1" spc="-5" dirty="0">
                <a:latin typeface="Tahoma"/>
                <a:cs typeface="Tahoma"/>
              </a:rPr>
              <a:t>as</a:t>
            </a:r>
            <a:r>
              <a:rPr sz="2400" b="1" spc="3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Lehrbelastung</a:t>
            </a:r>
            <a:endParaRPr sz="2400" dirty="0">
              <a:latin typeface="Tahoma"/>
              <a:cs typeface="Tahoma"/>
            </a:endParaRPr>
          </a:p>
          <a:p>
            <a:pPr marL="3632200">
              <a:lnSpc>
                <a:spcPts val="2750"/>
              </a:lnSpc>
            </a:pPr>
            <a:r>
              <a:rPr sz="2400" b="1" spc="-5" dirty="0">
                <a:latin typeface="Tahoma"/>
                <a:cs typeface="Tahoma"/>
              </a:rPr>
              <a:t>from</a:t>
            </a:r>
            <a:r>
              <a:rPr sz="2400" b="1" spc="4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Vorlesungen</a:t>
            </a:r>
            <a:endParaRPr sz="2400" dirty="0">
              <a:latin typeface="Tahoma"/>
              <a:cs typeface="Tahoma"/>
            </a:endParaRPr>
          </a:p>
          <a:p>
            <a:pPr marL="3632200">
              <a:lnSpc>
                <a:spcPct val="100000"/>
              </a:lnSpc>
              <a:spcBef>
                <a:spcPts val="295"/>
              </a:spcBef>
            </a:pPr>
            <a:r>
              <a:rPr sz="2400" b="1" spc="-5" dirty="0">
                <a:latin typeface="Tahoma"/>
                <a:cs typeface="Tahoma"/>
              </a:rPr>
              <a:t>where </a:t>
            </a:r>
            <a:r>
              <a:rPr sz="2400" spc="-5" dirty="0">
                <a:latin typeface="Tahoma"/>
                <a:cs typeface="Tahoma"/>
              </a:rPr>
              <a:t>gelesenVon=PersNr</a:t>
            </a:r>
            <a:r>
              <a:rPr sz="2400" spc="4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)</a:t>
            </a:r>
          </a:p>
          <a:p>
            <a:pPr marL="355600">
              <a:lnSpc>
                <a:spcPct val="100000"/>
              </a:lnSpc>
              <a:spcBef>
                <a:spcPts val="320"/>
              </a:spcBef>
            </a:pPr>
            <a:r>
              <a:rPr sz="2400" b="1" spc="-5" dirty="0">
                <a:latin typeface="Tahoma"/>
                <a:cs typeface="Tahoma"/>
              </a:rPr>
              <a:t>from</a:t>
            </a:r>
            <a:r>
              <a:rPr sz="2400" b="1" spc="4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Professoren;</a:t>
            </a:r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DDEC1089-165E-394B-99D8-8821561B0C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50901" y="858369"/>
            <a:ext cx="6553199" cy="540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822065" algn="l"/>
                <a:tab pos="5930900" algn="l"/>
              </a:tabLst>
            </a:pPr>
            <a:r>
              <a:rPr spc="-5" dirty="0" err="1"/>
              <a:t>Geschachtelte</a:t>
            </a:r>
            <a:r>
              <a:rPr lang="de-DE" spc="-5" dirty="0"/>
              <a:t> </a:t>
            </a:r>
            <a:r>
              <a:rPr spc="-5" dirty="0" err="1"/>
              <a:t>Anfrage</a:t>
            </a:r>
            <a:r>
              <a:rPr lang="de-DE" spc="-5" dirty="0"/>
              <a:t> </a:t>
            </a:r>
            <a:r>
              <a:rPr spc="-5" dirty="0"/>
              <a:t>(Forts.</a:t>
            </a:r>
            <a:r>
              <a:rPr lang="en-GB" spc="-5" dirty="0"/>
              <a:t> - </a:t>
            </a:r>
            <a:r>
              <a:rPr lang="en-GB" spc="-5" dirty="0" err="1"/>
              <a:t>Nochmal</a:t>
            </a:r>
            <a:r>
              <a:rPr spc="-5" dirty="0"/>
              <a:t>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25">
            <a:extLst>
              <a:ext uri="{FF2B5EF4-FFF2-40B4-BE49-F238E27FC236}">
                <a16:creationId xmlns:a16="http://schemas.microsoft.com/office/drawing/2014/main" id="{DF304EA3-86BC-07C6-977C-DF542AF949C6}"/>
              </a:ext>
            </a:extLst>
          </p:cNvPr>
          <p:cNvGraphicFramePr>
            <a:graphicFrameLocks noGrp="1"/>
          </p:cNvGraphicFramePr>
          <p:nvPr/>
        </p:nvGraphicFramePr>
        <p:xfrm>
          <a:off x="1163325" y="107317"/>
          <a:ext cx="9136375" cy="702373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26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3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476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624204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9593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1178559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480059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119379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682625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</a:tblGrid>
              <a:tr h="307340">
                <a:tc gridSpan="4">
                  <a:txBody>
                    <a:bodyPr/>
                    <a:lstStyle/>
                    <a:p>
                      <a:pPr marL="68897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600" b="1" spc="-5" dirty="0">
                          <a:latin typeface="Tahoma"/>
                          <a:cs typeface="Tahoma"/>
                        </a:rPr>
                        <a:t>Professoren</a:t>
                      </a:r>
                      <a:endParaRPr sz="1600" dirty="0">
                        <a:latin typeface="Tahoma"/>
                        <a:cs typeface="Tahoma"/>
                      </a:endParaRPr>
                    </a:p>
                  </a:txBody>
                  <a:tcPr marL="0" marR="0" marT="254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7">
                  <a:txBody>
                    <a:bodyPr/>
                    <a:lstStyle/>
                    <a:p>
                      <a:pPr marL="918844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b="1" spc="-5" dirty="0">
                          <a:latin typeface="Tahoma"/>
                          <a:cs typeface="Tahoma"/>
                        </a:rPr>
                        <a:t>Studenten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7">
                  <a:txBody>
                    <a:bodyPr/>
                    <a:lstStyle/>
                    <a:p>
                      <a:pPr marL="120078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600" b="1" dirty="0">
                          <a:latin typeface="Tahoma"/>
                          <a:cs typeface="Tahoma"/>
                        </a:rPr>
                        <a:t>Vorlesungen</a:t>
                      </a:r>
                      <a:endParaRPr sz="1600" dirty="0">
                        <a:latin typeface="Tahoma"/>
                        <a:cs typeface="Tahoma"/>
                      </a:endParaRPr>
                    </a:p>
                  </a:txBody>
                  <a:tcPr marL="0" marR="0" marT="254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 marL="508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b="1" dirty="0">
                          <a:latin typeface="Tahoma"/>
                          <a:cs typeface="Tahoma"/>
                        </a:rPr>
                        <a:t>P</a:t>
                      </a:r>
                      <a:r>
                        <a:rPr sz="1400" b="1" spc="-5" dirty="0">
                          <a:latin typeface="Tahoma"/>
                          <a:cs typeface="Tahoma"/>
                        </a:rPr>
                        <a:t>ersN</a:t>
                      </a:r>
                      <a:r>
                        <a:rPr sz="1400" b="1" dirty="0">
                          <a:latin typeface="Tahoma"/>
                          <a:cs typeface="Tahoma"/>
                        </a:rPr>
                        <a:t>r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20764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b="1" dirty="0">
                          <a:latin typeface="Tahoma"/>
                          <a:cs typeface="Tahoma"/>
                        </a:rPr>
                        <a:t>Name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b="1" spc="-5" dirty="0">
                          <a:latin typeface="Tahoma"/>
                          <a:cs typeface="Tahoma"/>
                        </a:rPr>
                        <a:t>Rang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1714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b="1" dirty="0">
                          <a:latin typeface="Tahoma"/>
                          <a:cs typeface="Tahoma"/>
                        </a:rPr>
                        <a:t>R</a:t>
                      </a:r>
                      <a:r>
                        <a:rPr sz="1400" b="1" spc="-5" dirty="0">
                          <a:latin typeface="Tahoma"/>
                          <a:cs typeface="Tahoma"/>
                        </a:rPr>
                        <a:t>aum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b="1" dirty="0">
                          <a:latin typeface="Tahoma"/>
                          <a:cs typeface="Tahoma"/>
                        </a:rPr>
                        <a:t>M</a:t>
                      </a:r>
                      <a:r>
                        <a:rPr sz="1400" b="1" spc="-5" dirty="0">
                          <a:latin typeface="Tahoma"/>
                          <a:cs typeface="Tahoma"/>
                        </a:rPr>
                        <a:t>atrN</a:t>
                      </a:r>
                      <a:r>
                        <a:rPr sz="1400" b="1" dirty="0">
                          <a:latin typeface="Tahoma"/>
                          <a:cs typeface="Tahoma"/>
                        </a:rPr>
                        <a:t>r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2702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b="1" dirty="0">
                          <a:latin typeface="Tahoma"/>
                          <a:cs typeface="Tahoma"/>
                        </a:rPr>
                        <a:t>Name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4635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b="1" spc="-5" dirty="0">
                          <a:latin typeface="Tahoma"/>
                          <a:cs typeface="Tahoma"/>
                        </a:rPr>
                        <a:t>Semester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17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rowSpan="2" gridSpan="2"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400" b="1" dirty="0">
                          <a:latin typeface="Tahoma"/>
                          <a:cs typeface="Tahoma"/>
                        </a:rPr>
                        <a:t>VorlNr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1114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17780"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400" b="1" spc="-5" dirty="0">
                          <a:latin typeface="Tahoma"/>
                          <a:cs typeface="Tahoma"/>
                        </a:rPr>
                        <a:t>Titel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111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400" b="1" spc="-5" dirty="0">
                          <a:latin typeface="Tahoma"/>
                          <a:cs typeface="Tahoma"/>
                        </a:rPr>
                        <a:t>SWS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111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marL="297180" indent="-292100">
                        <a:lnSpc>
                          <a:spcPts val="1500"/>
                        </a:lnSpc>
                        <a:spcBef>
                          <a:spcPts val="445"/>
                        </a:spcBef>
                      </a:pPr>
                      <a:r>
                        <a:rPr sz="1400" b="1" dirty="0">
                          <a:latin typeface="Tahoma"/>
                          <a:cs typeface="Tahoma"/>
                        </a:rPr>
                        <a:t>g</a:t>
                      </a:r>
                      <a:r>
                        <a:rPr sz="1400" b="1" spc="-5" dirty="0">
                          <a:latin typeface="Tahoma"/>
                          <a:cs typeface="Tahoma"/>
                        </a:rPr>
                        <a:t>elese</a:t>
                      </a:r>
                      <a:r>
                        <a:rPr sz="1400" b="1" dirty="0">
                          <a:latin typeface="Tahoma"/>
                          <a:cs typeface="Tahoma"/>
                        </a:rPr>
                        <a:t>nV  on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5651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4945">
                <a:tc rowSpan="2">
                  <a:txBody>
                    <a:bodyPr/>
                    <a:lstStyle/>
                    <a:p>
                      <a:pPr marL="113664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2125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3144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Sokrates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7462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C4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226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rowSpan="2" gridSpan="2">
                  <a:txBody>
                    <a:bodyPr/>
                    <a:lstStyle/>
                    <a:p>
                      <a:pPr marL="10541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24002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15430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spc="-10" dirty="0">
                          <a:latin typeface="Tahoma"/>
                          <a:cs typeface="Tahoma"/>
                        </a:rPr>
                        <a:t>Xenokrates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3"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18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1114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111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111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5651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26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76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rowSpan="2" gridSpan="2"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5001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421640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Grundzüge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marL="1651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4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marL="21526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2137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945">
                <a:tc rowSpan="2">
                  <a:txBody>
                    <a:bodyPr/>
                    <a:lstStyle/>
                    <a:p>
                      <a:pPr marL="113664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2126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21653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Russel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7462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C4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232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rowSpan="2" gridSpan="2">
                  <a:txBody>
                    <a:bodyPr/>
                    <a:lstStyle/>
                    <a:p>
                      <a:pPr marL="10541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25403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36512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Jonas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3"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12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826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76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rowSpan="2" gridSpan="2"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5041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18415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Ethik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marL="1651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4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marL="21526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2125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4945">
                <a:tc rowSpan="2">
                  <a:txBody>
                    <a:bodyPr/>
                    <a:lstStyle/>
                    <a:p>
                      <a:pPr marL="113664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2127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3746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spc="-10" dirty="0">
                          <a:latin typeface="Tahoma"/>
                          <a:cs typeface="Tahoma"/>
                        </a:rPr>
                        <a:t>Kopernikus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7462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C3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310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rowSpan="2" gridSpan="2">
                  <a:txBody>
                    <a:bodyPr/>
                    <a:lstStyle/>
                    <a:p>
                      <a:pPr marL="10541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26120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35242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Fichte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3"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10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826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76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rowSpan="2" gridSpan="2"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5043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16192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Erkenntnistheorie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marL="1651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3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marL="21526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2126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4945">
                <a:tc rowSpan="2">
                  <a:txBody>
                    <a:bodyPr/>
                    <a:lstStyle/>
                    <a:p>
                      <a:pPr marL="113664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2133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9494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spc="-10" dirty="0">
                          <a:latin typeface="Tahoma"/>
                          <a:cs typeface="Tahoma"/>
                        </a:rPr>
                        <a:t>Popper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7462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C3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7970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rowSpan="2" gridSpan="2">
                  <a:txBody>
                    <a:bodyPr/>
                    <a:lstStyle/>
                    <a:p>
                      <a:pPr marL="10541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26830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Aristoxenos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3"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8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8826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76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rowSpan="2" gridSpan="2"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5049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54038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Mäeutik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marL="1651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marL="21526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2125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4945">
                <a:tc rowSpan="2">
                  <a:txBody>
                    <a:bodyPr/>
                    <a:lstStyle/>
                    <a:p>
                      <a:pPr marL="113664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2134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3746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Augustinus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7462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C3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309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rowSpan="2" gridSpan="2">
                  <a:txBody>
                    <a:bodyPr/>
                    <a:lstStyle/>
                    <a:p>
                      <a:pPr marL="10541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27550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2730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Schopenhauer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3"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6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8826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76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rowSpan="2" gridSpan="2"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4052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1778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Logik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marL="1651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4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marL="21526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2125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4945">
                <a:tc rowSpan="2">
                  <a:txBody>
                    <a:bodyPr/>
                    <a:lstStyle/>
                    <a:p>
                      <a:pPr marL="113664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2136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26479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Curie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7462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C4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7970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36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rowSpan="2" gridSpan="2">
                  <a:txBody>
                    <a:bodyPr/>
                    <a:lstStyle/>
                    <a:p>
                      <a:pPr marL="10541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28106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30861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Carnap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3"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3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8826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76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rowSpan="2" gridSpan="2"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5052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2159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Wissenschaftstheorie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marL="1651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3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marL="21526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2126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94945">
                <a:tc rowSpan="2">
                  <a:txBody>
                    <a:bodyPr/>
                    <a:lstStyle/>
                    <a:p>
                      <a:pPr marL="113664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lang="en-GB" sz="1400" dirty="0">
                          <a:latin typeface="Tahoma"/>
                          <a:cs typeface="Tahoma"/>
                        </a:rPr>
                        <a:t>2137</a:t>
                      </a: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29083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lang="en-GB" sz="1400" spc="-10">
                          <a:latin typeface="Tahoma"/>
                          <a:cs typeface="Tahoma"/>
                        </a:rPr>
                        <a:t>Kant</a:t>
                      </a:r>
                      <a:endParaRPr lang="en-GB"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7462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lang="en-GB" sz="1400" spc="-5">
                          <a:latin typeface="Tahoma"/>
                          <a:cs typeface="Tahoma"/>
                        </a:rPr>
                        <a:t>C4</a:t>
                      </a:r>
                      <a:endParaRPr lang="en-GB"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7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rowSpan="2" gridSpan="2">
                  <a:txBody>
                    <a:bodyPr/>
                    <a:lstStyle/>
                    <a:p>
                      <a:pPr marL="10541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29120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Theophrastos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3"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9080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76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rowSpan="2" gridSpan="2"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5216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53403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Bioethik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marL="1651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marL="21526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2126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91770">
                <a:tc rowSpan="2"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GB"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10541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29555</a:t>
                      </a:r>
                    </a:p>
                  </a:txBody>
                  <a:tcPr marL="0" marR="0" marT="2159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18034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400" spc="-10" dirty="0">
                          <a:latin typeface="Tahoma"/>
                          <a:cs typeface="Tahoma"/>
                        </a:rPr>
                        <a:t>Feuerbach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15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3"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15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93980">
                <a:tc gridSpan="5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159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15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15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rowSpan="2" gridSpan="2"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5259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18542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Der Wiener</a:t>
                      </a:r>
                      <a:r>
                        <a:rPr sz="1400" spc="-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5" dirty="0">
                          <a:latin typeface="Tahoma"/>
                          <a:cs typeface="Tahoma"/>
                        </a:rPr>
                        <a:t>Kreis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marL="1651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marL="21526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2133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89230">
                <a:tc rowSpan="17" grid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rowSpan="17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17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17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17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17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4">
                  <a:txBody>
                    <a:bodyPr/>
                    <a:lstStyle/>
                    <a:p>
                      <a:pPr marL="1968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b="1" spc="-5" dirty="0">
                          <a:latin typeface="Tahoma"/>
                          <a:cs typeface="Tahoma"/>
                        </a:rPr>
                        <a:t>hören</a:t>
                      </a:r>
                      <a:endParaRPr sz="1600" dirty="0">
                        <a:latin typeface="Tahoma"/>
                        <a:cs typeface="Tahoma"/>
                      </a:endParaRPr>
                    </a:p>
                  </a:txBody>
                  <a:tcPr marL="0" marR="0" marT="3365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5"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 rowSpan="5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5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29539">
                <a:tc gridSpan="6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4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365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5022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Glaube und</a:t>
                      </a:r>
                      <a:r>
                        <a:rPr sz="1400" spc="-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5" dirty="0">
                          <a:latin typeface="Tahoma"/>
                          <a:cs typeface="Tahoma"/>
                        </a:rPr>
                        <a:t>Wissen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marL="1651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marL="21526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2134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53035">
                <a:tc gridSpan="6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b="1" spc="-5" dirty="0">
                          <a:latin typeface="Tahoma"/>
                          <a:cs typeface="Tahoma"/>
                        </a:rPr>
                        <a:t>MatrNr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217804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b="1" dirty="0">
                          <a:latin typeface="Tahoma"/>
                          <a:cs typeface="Tahoma"/>
                        </a:rPr>
                        <a:t>VorlNr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29539">
                <a:tc gridSpan="6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4630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320040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Die </a:t>
                      </a:r>
                      <a:r>
                        <a:rPr sz="1400" dirty="0">
                          <a:latin typeface="Tahoma"/>
                          <a:cs typeface="Tahoma"/>
                        </a:rPr>
                        <a:t>3</a:t>
                      </a:r>
                      <a:r>
                        <a:rPr sz="1400" spc="-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5" dirty="0">
                          <a:latin typeface="Tahoma"/>
                          <a:cs typeface="Tahoma"/>
                        </a:rPr>
                        <a:t>Kritiken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marL="1651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4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marL="21526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2137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53035">
                <a:tc gridSpan="6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224154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26120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 marL="311150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5001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30175">
                <a:tc gridSpan="6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3" gridSpan="10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3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3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3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3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3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3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3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3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283210">
                <a:tc gridSpan="6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24154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27550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11150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5001</a:t>
                      </a: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10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232410">
                <a:tc gridSpan="6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24154">
                        <a:lnSpc>
                          <a:spcPts val="151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27550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11150">
                        <a:lnSpc>
                          <a:spcPts val="151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4052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10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310515">
                <a:tc gridSpan="6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24154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28106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1115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5041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9">
                  <a:txBody>
                    <a:bodyPr/>
                    <a:lstStyle/>
                    <a:p>
                      <a:pPr marL="20955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600" b="1" dirty="0">
                          <a:latin typeface="Tahoma"/>
                          <a:cs typeface="Tahoma"/>
                        </a:rPr>
                        <a:t>Assistenten</a:t>
                      </a:r>
                      <a:endParaRPr sz="1600" dirty="0">
                        <a:latin typeface="Tahoma"/>
                        <a:cs typeface="Tahoma"/>
                      </a:endParaRPr>
                    </a:p>
                  </a:txBody>
                  <a:tcPr marL="0" marR="0" marT="254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283210">
                <a:tc gridSpan="6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24154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28106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5143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11150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5052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5143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3"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b="1" dirty="0">
                          <a:latin typeface="Tahoma"/>
                          <a:cs typeface="Tahoma"/>
                        </a:rPr>
                        <a:t>P</a:t>
                      </a:r>
                      <a:r>
                        <a:rPr sz="1400" b="1" spc="-5" dirty="0">
                          <a:latin typeface="Tahoma"/>
                          <a:cs typeface="Tahoma"/>
                        </a:rPr>
                        <a:t>ers</a:t>
                      </a:r>
                      <a:r>
                        <a:rPr sz="1400" b="1" dirty="0">
                          <a:latin typeface="Tahoma"/>
                          <a:cs typeface="Tahoma"/>
                        </a:rPr>
                        <a:t>l</a:t>
                      </a:r>
                      <a:r>
                        <a:rPr sz="1400" b="1" spc="-5" dirty="0">
                          <a:latin typeface="Tahoma"/>
                          <a:cs typeface="Tahoma"/>
                        </a:rPr>
                        <a:t>N</a:t>
                      </a:r>
                      <a:r>
                        <a:rPr sz="1400" b="1" dirty="0">
                          <a:latin typeface="Tahoma"/>
                          <a:cs typeface="Tahoma"/>
                        </a:rPr>
                        <a:t>r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0988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b="1" dirty="0">
                          <a:latin typeface="Tahoma"/>
                          <a:cs typeface="Tahoma"/>
                        </a:rPr>
                        <a:t>Name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40640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b="1" spc="-5" dirty="0">
                          <a:latin typeface="Tahoma"/>
                          <a:cs typeface="Tahoma"/>
                        </a:rPr>
                        <a:t>Fachgebiet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b="1" spc="-5" dirty="0">
                          <a:latin typeface="Tahoma"/>
                          <a:cs typeface="Tahoma"/>
                        </a:rPr>
                        <a:t>Boss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  <a:tr h="283210">
                <a:tc gridSpan="6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24154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28106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5143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11150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5216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5143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3">
                  <a:txBody>
                    <a:bodyPr/>
                    <a:lstStyle/>
                    <a:p>
                      <a:pPr marL="15875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3002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2575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Platon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476884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spc="-10" dirty="0">
                          <a:latin typeface="Tahoma"/>
                          <a:cs typeface="Tahoma"/>
                        </a:rPr>
                        <a:t>Ideenlehre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621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2125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8"/>
                  </a:ext>
                </a:extLst>
              </a:tr>
              <a:tr h="283210">
                <a:tc gridSpan="6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24154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28106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508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1115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5259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508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3">
                  <a:txBody>
                    <a:bodyPr/>
                    <a:lstStyle/>
                    <a:p>
                      <a:pPr marL="15875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3003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Aristoteles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51117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Syllogistik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621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2125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9"/>
                  </a:ext>
                </a:extLst>
              </a:tr>
              <a:tr h="283210">
                <a:tc gridSpan="6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24154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29120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508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1115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5001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508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3">
                  <a:txBody>
                    <a:bodyPr/>
                    <a:lstStyle/>
                    <a:p>
                      <a:pPr marL="15875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3004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Wittgenstein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35623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Sprachtheorie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621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2126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30"/>
                  </a:ext>
                </a:extLst>
              </a:tr>
              <a:tr h="283210">
                <a:tc gridSpan="6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24154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29120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508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1115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5041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508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3">
                  <a:txBody>
                    <a:bodyPr/>
                    <a:lstStyle/>
                    <a:p>
                      <a:pPr marL="15875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3005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3431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Rhetikus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Planetenbewegung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621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2127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31"/>
                  </a:ext>
                </a:extLst>
              </a:tr>
              <a:tr h="283210">
                <a:tc gridSpan="6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24154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29120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508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1115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5049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508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3">
                  <a:txBody>
                    <a:bodyPr/>
                    <a:lstStyle/>
                    <a:p>
                      <a:pPr marL="15875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3006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6987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Newton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13843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spc="-10" dirty="0">
                          <a:latin typeface="Tahoma"/>
                          <a:cs typeface="Tahoma"/>
                        </a:rPr>
                        <a:t>Keplersche</a:t>
                      </a:r>
                      <a:r>
                        <a:rPr sz="1400" spc="-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5" dirty="0">
                          <a:latin typeface="Tahoma"/>
                          <a:cs typeface="Tahoma"/>
                        </a:rPr>
                        <a:t>Gesetze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621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2127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32"/>
                  </a:ext>
                </a:extLst>
              </a:tr>
              <a:tr h="283210">
                <a:tc gridSpan="6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24154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29555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508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1115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5022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508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3">
                  <a:txBody>
                    <a:bodyPr/>
                    <a:lstStyle/>
                    <a:p>
                      <a:pPr marL="15875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3007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6670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Spinoza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30861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Gott und</a:t>
                      </a:r>
                      <a:r>
                        <a:rPr sz="1400" spc="-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400" dirty="0">
                          <a:latin typeface="Tahoma"/>
                          <a:cs typeface="Tahoma"/>
                        </a:rPr>
                        <a:t>Natur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621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2126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33"/>
                  </a:ext>
                </a:extLst>
              </a:tr>
              <a:tr h="295275">
                <a:tc gridSpan="6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24154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25403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508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1115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5022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508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10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34"/>
                  </a:ext>
                </a:extLst>
              </a:tr>
            </a:tbl>
          </a:graphicData>
        </a:graphic>
      </p:graphicFrame>
      <p:graphicFrame>
        <p:nvGraphicFramePr>
          <p:cNvPr id="11" name="object 26">
            <a:extLst>
              <a:ext uri="{FF2B5EF4-FFF2-40B4-BE49-F238E27FC236}">
                <a16:creationId xmlns:a16="http://schemas.microsoft.com/office/drawing/2014/main" id="{5140401F-46F9-2395-8E60-F89AF8980849}"/>
              </a:ext>
            </a:extLst>
          </p:cNvPr>
          <p:cNvGraphicFramePr>
            <a:graphicFrameLocks noGrp="1"/>
          </p:cNvGraphicFramePr>
          <p:nvPr/>
        </p:nvGraphicFramePr>
        <p:xfrm>
          <a:off x="1155697" y="5476241"/>
          <a:ext cx="2736214" cy="162305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692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1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5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515">
                <a:tc gridSpan="4"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600" b="1" spc="-5" dirty="0">
                          <a:latin typeface="Tahoma"/>
                          <a:cs typeface="Tahoma"/>
                        </a:rPr>
                        <a:t>prüfen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254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b="1" dirty="0">
                          <a:latin typeface="Tahoma"/>
                          <a:cs typeface="Tahoma"/>
                        </a:rPr>
                        <a:t>M</a:t>
                      </a:r>
                      <a:r>
                        <a:rPr sz="1400" b="1" spc="-5" dirty="0">
                          <a:latin typeface="Tahoma"/>
                          <a:cs typeface="Tahoma"/>
                        </a:rPr>
                        <a:t>atrN</a:t>
                      </a:r>
                      <a:r>
                        <a:rPr sz="1400" b="1" dirty="0">
                          <a:latin typeface="Tahoma"/>
                          <a:cs typeface="Tahoma"/>
                        </a:rPr>
                        <a:t>r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b="1" dirty="0">
                          <a:latin typeface="Tahoma"/>
                          <a:cs typeface="Tahoma"/>
                        </a:rPr>
                        <a:t>VorlNr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b="1" dirty="0">
                          <a:latin typeface="Tahoma"/>
                          <a:cs typeface="Tahoma"/>
                        </a:rPr>
                        <a:t>P</a:t>
                      </a:r>
                      <a:r>
                        <a:rPr sz="1400" b="1" spc="-5" dirty="0">
                          <a:latin typeface="Tahoma"/>
                          <a:cs typeface="Tahoma"/>
                        </a:rPr>
                        <a:t>ersN</a:t>
                      </a:r>
                      <a:r>
                        <a:rPr sz="1400" b="1" dirty="0">
                          <a:latin typeface="Tahoma"/>
                          <a:cs typeface="Tahoma"/>
                        </a:rPr>
                        <a:t>r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b="1" dirty="0">
                          <a:latin typeface="Tahoma"/>
                          <a:cs typeface="Tahoma"/>
                        </a:rPr>
                        <a:t>Note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9720"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28106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5001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2126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25403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5041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2125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955"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27550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4630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2137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</a:t>
                      </a: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2" name="object 16">
            <a:extLst>
              <a:ext uri="{FF2B5EF4-FFF2-40B4-BE49-F238E27FC236}">
                <a16:creationId xmlns:a16="http://schemas.microsoft.com/office/drawing/2014/main" id="{435D0FE9-E968-4754-11B0-646C516718CB}"/>
              </a:ext>
            </a:extLst>
          </p:cNvPr>
          <p:cNvGraphicFramePr>
            <a:graphicFrameLocks noGrp="1"/>
          </p:cNvGraphicFramePr>
          <p:nvPr/>
        </p:nvGraphicFramePr>
        <p:xfrm>
          <a:off x="1522409" y="2896554"/>
          <a:ext cx="2134235" cy="250348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242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99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1751">
                <a:tc gridSpan="2">
                  <a:txBody>
                    <a:bodyPr/>
                    <a:lstStyle/>
                    <a:p>
                      <a:pPr marL="40640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600" b="1" dirty="0">
                          <a:latin typeface="Tahoma"/>
                          <a:cs typeface="Tahoma"/>
                        </a:rPr>
                        <a:t>voraussetzen</a:t>
                      </a:r>
                      <a:endParaRPr sz="1600" dirty="0">
                        <a:latin typeface="Tahoma"/>
                        <a:cs typeface="Tahoma"/>
                      </a:endParaRPr>
                    </a:p>
                  </a:txBody>
                  <a:tcPr marL="0" marR="0" marT="254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5217"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b="1" dirty="0">
                          <a:latin typeface="Tahoma"/>
                          <a:cs typeface="Tahoma"/>
                        </a:rPr>
                        <a:t>Vorgänger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b="1" spc="-5" dirty="0">
                          <a:latin typeface="Tahoma"/>
                          <a:cs typeface="Tahoma"/>
                        </a:rPr>
                        <a:t>Nachfolger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5217"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5001</a:t>
                      </a: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5041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5217"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5001</a:t>
                      </a: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5043</a:t>
                      </a: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5217"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5001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5049</a:t>
                      </a: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5217"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5041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5216</a:t>
                      </a: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5217"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5043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5052</a:t>
                      </a: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5217"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5041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5052</a:t>
                      </a: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5217"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5052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5259</a:t>
                      </a: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250699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615440" y="2016316"/>
            <a:ext cx="6888480" cy="3080385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95"/>
              </a:spcBef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sz="2400" spc="-5" dirty="0" err="1">
                <a:solidFill>
                  <a:srgbClr val="CC0099"/>
                </a:solidFill>
                <a:latin typeface="Tahoma"/>
                <a:cs typeface="Tahoma"/>
              </a:rPr>
              <a:t>korrelierte</a:t>
            </a:r>
            <a:r>
              <a:rPr sz="2400" spc="-5" dirty="0">
                <a:solidFill>
                  <a:srgbClr val="CC0099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CC0099"/>
                </a:solidFill>
                <a:latin typeface="Tahoma"/>
                <a:cs typeface="Tahoma"/>
              </a:rPr>
              <a:t>Formulierung</a:t>
            </a:r>
            <a:endParaRPr sz="2400" dirty="0">
              <a:latin typeface="Tahoma"/>
              <a:cs typeface="Tahoma"/>
            </a:endParaRPr>
          </a:p>
          <a:p>
            <a:pPr marL="927100">
              <a:lnSpc>
                <a:spcPct val="100000"/>
              </a:lnSpc>
              <a:spcBef>
                <a:spcPts val="495"/>
              </a:spcBef>
            </a:pPr>
            <a:r>
              <a:rPr sz="2400" b="1" spc="-5" dirty="0">
                <a:latin typeface="Tahoma"/>
                <a:cs typeface="Tahoma"/>
              </a:rPr>
              <a:t>select</a:t>
            </a:r>
            <a:r>
              <a:rPr sz="2400" b="1" spc="4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s.*</a:t>
            </a:r>
          </a:p>
          <a:p>
            <a:pPr marL="927100">
              <a:lnSpc>
                <a:spcPct val="100000"/>
              </a:lnSpc>
              <a:spcBef>
                <a:spcPts val="620"/>
              </a:spcBef>
            </a:pPr>
            <a:r>
              <a:rPr sz="2400" b="1" spc="-5" dirty="0">
                <a:latin typeface="Tahoma"/>
                <a:cs typeface="Tahoma"/>
              </a:rPr>
              <a:t>from </a:t>
            </a:r>
            <a:r>
              <a:rPr sz="2400" spc="-5" dirty="0">
                <a:latin typeface="Tahoma"/>
                <a:cs typeface="Tahoma"/>
              </a:rPr>
              <a:t>Studenten</a:t>
            </a:r>
            <a:r>
              <a:rPr sz="2400" spc="4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s</a:t>
            </a:r>
          </a:p>
          <a:p>
            <a:pPr marL="927100">
              <a:lnSpc>
                <a:spcPct val="100000"/>
              </a:lnSpc>
              <a:spcBef>
                <a:spcPts val="520"/>
              </a:spcBef>
            </a:pPr>
            <a:r>
              <a:rPr sz="2400" b="1" spc="-5" dirty="0">
                <a:latin typeface="Tahoma"/>
                <a:cs typeface="Tahoma"/>
              </a:rPr>
              <a:t>where</a:t>
            </a:r>
            <a:r>
              <a:rPr sz="2400" b="1" spc="40" dirty="0">
                <a:latin typeface="Tahoma"/>
                <a:cs typeface="Tahoma"/>
              </a:rPr>
              <a:t> </a:t>
            </a:r>
            <a:r>
              <a:rPr sz="2400" b="1" spc="-5" dirty="0">
                <a:latin typeface="Tahoma"/>
                <a:cs typeface="Tahoma"/>
              </a:rPr>
              <a:t>exists</a:t>
            </a:r>
            <a:endParaRPr sz="2400" dirty="0">
              <a:latin typeface="Tahoma"/>
              <a:cs typeface="Tahoma"/>
            </a:endParaRPr>
          </a:p>
          <a:p>
            <a:pPr marL="1841500">
              <a:lnSpc>
                <a:spcPct val="100000"/>
              </a:lnSpc>
              <a:spcBef>
                <a:spcPts val="620"/>
              </a:spcBef>
            </a:pPr>
            <a:r>
              <a:rPr sz="2400" spc="-5" dirty="0">
                <a:latin typeface="Tahoma"/>
                <a:cs typeface="Tahoma"/>
              </a:rPr>
              <a:t>(</a:t>
            </a:r>
            <a:r>
              <a:rPr sz="2400" b="1" spc="-5" dirty="0">
                <a:latin typeface="Tahoma"/>
                <a:cs typeface="Tahoma"/>
              </a:rPr>
              <a:t>select</a:t>
            </a:r>
            <a:r>
              <a:rPr sz="2400" b="1" spc="4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p.*</a:t>
            </a:r>
            <a:endParaRPr sz="2400" dirty="0">
              <a:latin typeface="Tahoma"/>
              <a:cs typeface="Tahoma"/>
            </a:endParaRPr>
          </a:p>
          <a:p>
            <a:pPr marL="1841500">
              <a:lnSpc>
                <a:spcPct val="100000"/>
              </a:lnSpc>
              <a:spcBef>
                <a:spcPts val="620"/>
              </a:spcBef>
            </a:pPr>
            <a:r>
              <a:rPr sz="2400" b="1" spc="-5" dirty="0">
                <a:latin typeface="Tahoma"/>
                <a:cs typeface="Tahoma"/>
              </a:rPr>
              <a:t>from</a:t>
            </a:r>
            <a:r>
              <a:rPr sz="2400" b="1" spc="4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Professoren</a:t>
            </a:r>
            <a:r>
              <a:rPr lang="en-GB" sz="2400" spc="-5" dirty="0">
                <a:latin typeface="Tahoma"/>
                <a:cs typeface="Tahoma"/>
              </a:rPr>
              <a:t> p</a:t>
            </a:r>
            <a:endParaRPr sz="2400" dirty="0">
              <a:latin typeface="Tahoma"/>
              <a:cs typeface="Tahoma"/>
            </a:endParaRPr>
          </a:p>
          <a:p>
            <a:pPr marL="1841500">
              <a:lnSpc>
                <a:spcPct val="100000"/>
              </a:lnSpc>
              <a:spcBef>
                <a:spcPts val="520"/>
              </a:spcBef>
            </a:pPr>
            <a:r>
              <a:rPr sz="2400" b="1" spc="-5" dirty="0">
                <a:latin typeface="Tahoma"/>
                <a:cs typeface="Tahoma"/>
              </a:rPr>
              <a:t>where </a:t>
            </a:r>
            <a:r>
              <a:rPr sz="2400" spc="-5" dirty="0">
                <a:latin typeface="Tahoma"/>
                <a:cs typeface="Tahoma"/>
              </a:rPr>
              <a:t>p.GebDatum &gt;</a:t>
            </a:r>
            <a:r>
              <a:rPr sz="2400" spc="2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s.GebDatum);</a:t>
            </a:r>
            <a:endParaRPr sz="2400" dirty="0">
              <a:latin typeface="Tahoma"/>
              <a:cs typeface="Tahoma"/>
            </a:endParaRP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02A1873E-EF35-5B73-08F3-A6140F801712}"/>
              </a:ext>
            </a:extLst>
          </p:cNvPr>
          <p:cNvSpPr txBox="1">
            <a:spLocks/>
          </p:cNvSpPr>
          <p:nvPr/>
        </p:nvSpPr>
        <p:spPr>
          <a:xfrm>
            <a:off x="850901" y="882649"/>
            <a:ext cx="6324599" cy="540000"/>
          </a:xfrm>
          <a:prstGeom prst="rect">
            <a:avLst/>
          </a:prstGeom>
          <a:solidFill>
            <a:schemeClr val="accent2"/>
          </a:solidFill>
        </p:spPr>
        <p:txBody>
          <a:bodyPr vert="horz" wrap="square" lIns="0" tIns="12700" rIns="0" bIns="0" rtlCol="0" anchor="ctr">
            <a:spAutoFit/>
          </a:bodyPr>
          <a:lstStyle>
            <a:lvl1pPr marL="78932" algn="l" defTabSz="801945" rtl="0" eaLnBrk="1" fontAlgn="ctr" latinLnBrk="0" hangingPunct="1">
              <a:lnSpc>
                <a:spcPct val="90000"/>
              </a:lnSpc>
              <a:spcBef>
                <a:spcPct val="0"/>
              </a:spcBef>
              <a:buNone/>
              <a:defRPr sz="2193" b="0" i="0" kern="1200" baseline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822065" algn="l"/>
                <a:tab pos="5930900" algn="l"/>
              </a:tabLst>
            </a:pPr>
            <a:r>
              <a:rPr lang="en-GB" spc="-5" dirty="0" err="1"/>
              <a:t>Unkorrelierte</a:t>
            </a:r>
            <a:r>
              <a:rPr lang="en-GB" spc="-5" dirty="0"/>
              <a:t> versus</a:t>
            </a:r>
            <a:r>
              <a:rPr lang="en-GB" spc="-55" dirty="0"/>
              <a:t> </a:t>
            </a:r>
            <a:r>
              <a:rPr lang="en-GB" spc="-5" dirty="0" err="1"/>
              <a:t>korrelierte</a:t>
            </a:r>
            <a:r>
              <a:rPr lang="en-GB" spc="-5" dirty="0"/>
              <a:t> </a:t>
            </a:r>
            <a:r>
              <a:rPr lang="en-GB" spc="-5" dirty="0" err="1"/>
              <a:t>Unteranfragen</a:t>
            </a:r>
            <a:endParaRPr lang="en-GB" spc="-5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3">
            <a:extLst>
              <a:ext uri="{FF2B5EF4-FFF2-40B4-BE49-F238E27FC236}">
                <a16:creationId xmlns:a16="http://schemas.microsoft.com/office/drawing/2014/main" id="{02A1873E-EF35-5B73-08F3-A6140F801712}"/>
              </a:ext>
            </a:extLst>
          </p:cNvPr>
          <p:cNvSpPr txBox="1">
            <a:spLocks/>
          </p:cNvSpPr>
          <p:nvPr/>
        </p:nvSpPr>
        <p:spPr>
          <a:xfrm>
            <a:off x="850901" y="882649"/>
            <a:ext cx="6324599" cy="540000"/>
          </a:xfrm>
          <a:prstGeom prst="rect">
            <a:avLst/>
          </a:prstGeom>
          <a:solidFill>
            <a:schemeClr val="accent2"/>
          </a:solidFill>
        </p:spPr>
        <p:txBody>
          <a:bodyPr vert="horz" wrap="square" lIns="0" tIns="12700" rIns="0" bIns="0" rtlCol="0" anchor="ctr">
            <a:spAutoFit/>
          </a:bodyPr>
          <a:lstStyle>
            <a:lvl1pPr marL="78932" algn="l" defTabSz="801945" rtl="0" eaLnBrk="1" fontAlgn="ctr" latinLnBrk="0" hangingPunct="1">
              <a:lnSpc>
                <a:spcPct val="90000"/>
              </a:lnSpc>
              <a:spcBef>
                <a:spcPct val="0"/>
              </a:spcBef>
              <a:buNone/>
              <a:defRPr sz="2193" b="0" i="0" kern="1200" baseline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822065" algn="l"/>
                <a:tab pos="5930900" algn="l"/>
              </a:tabLst>
            </a:pPr>
            <a:r>
              <a:rPr lang="en-GB" spc="-5" dirty="0" err="1"/>
              <a:t>Unkorrelierte</a:t>
            </a:r>
            <a:r>
              <a:rPr lang="en-GB" spc="-5" dirty="0"/>
              <a:t> versus</a:t>
            </a:r>
            <a:r>
              <a:rPr lang="en-GB" spc="-55" dirty="0"/>
              <a:t> </a:t>
            </a:r>
            <a:r>
              <a:rPr lang="en-GB" spc="-5" dirty="0" err="1"/>
              <a:t>korrelierte</a:t>
            </a:r>
            <a:r>
              <a:rPr lang="en-GB" spc="-5" dirty="0"/>
              <a:t> </a:t>
            </a:r>
            <a:r>
              <a:rPr lang="en-GB" spc="-5" dirty="0" err="1"/>
              <a:t>Unteranfragen</a:t>
            </a:r>
            <a:endParaRPr lang="en-GB" spc="-5" dirty="0"/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BB7EA074-A0CB-2D8B-8100-C79C82B2D825}"/>
              </a:ext>
            </a:extLst>
          </p:cNvPr>
          <p:cNvSpPr txBox="1"/>
          <p:nvPr/>
        </p:nvSpPr>
        <p:spPr>
          <a:xfrm>
            <a:off x="1232823" y="1659890"/>
            <a:ext cx="7969250" cy="4424288"/>
          </a:xfrm>
          <a:prstGeom prst="rect">
            <a:avLst/>
          </a:prstGeom>
        </p:spPr>
        <p:txBody>
          <a:bodyPr vert="horz" wrap="square" lIns="0" tIns="18542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460"/>
              </a:spcBef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sz="2400" spc="-5" dirty="0" err="1">
                <a:solidFill>
                  <a:srgbClr val="CC0099"/>
                </a:solidFill>
                <a:latin typeface="Tahoma"/>
                <a:cs typeface="Tahoma"/>
              </a:rPr>
              <a:t>Äquivalente</a:t>
            </a:r>
            <a:r>
              <a:rPr sz="2400" spc="-5" dirty="0">
                <a:solidFill>
                  <a:srgbClr val="CC0099"/>
                </a:solidFill>
                <a:latin typeface="Tahoma"/>
                <a:cs typeface="Tahoma"/>
              </a:rPr>
              <a:t> unkorrelierte</a:t>
            </a:r>
            <a:r>
              <a:rPr sz="2400" dirty="0">
                <a:solidFill>
                  <a:srgbClr val="CC0099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CC0099"/>
                </a:solidFill>
                <a:latin typeface="Tahoma"/>
                <a:cs typeface="Tahoma"/>
              </a:rPr>
              <a:t>Formulierung</a:t>
            </a:r>
            <a:endParaRPr sz="2400" dirty="0">
              <a:latin typeface="Tahoma"/>
              <a:cs typeface="Tahoma"/>
            </a:endParaRPr>
          </a:p>
          <a:p>
            <a:pPr marL="927100">
              <a:lnSpc>
                <a:spcPct val="100000"/>
              </a:lnSpc>
              <a:spcBef>
                <a:spcPts val="1360"/>
              </a:spcBef>
            </a:pPr>
            <a:r>
              <a:rPr sz="2400" b="1" spc="-5" dirty="0">
                <a:latin typeface="Tahoma"/>
                <a:cs typeface="Tahoma"/>
              </a:rPr>
              <a:t>select</a:t>
            </a:r>
            <a:r>
              <a:rPr sz="2400" b="1" spc="4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s.*</a:t>
            </a:r>
          </a:p>
          <a:p>
            <a:pPr marL="927100">
              <a:lnSpc>
                <a:spcPct val="100000"/>
              </a:lnSpc>
              <a:spcBef>
                <a:spcPts val="1520"/>
              </a:spcBef>
            </a:pPr>
            <a:r>
              <a:rPr sz="2400" b="1" spc="-5" dirty="0">
                <a:latin typeface="Tahoma"/>
                <a:cs typeface="Tahoma"/>
              </a:rPr>
              <a:t>from </a:t>
            </a:r>
            <a:r>
              <a:rPr sz="2400" spc="-5" dirty="0">
                <a:latin typeface="Tahoma"/>
                <a:cs typeface="Tahoma"/>
              </a:rPr>
              <a:t>Studenten</a:t>
            </a:r>
            <a:r>
              <a:rPr sz="2400" spc="4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s</a:t>
            </a:r>
          </a:p>
          <a:p>
            <a:pPr marL="927100">
              <a:lnSpc>
                <a:spcPct val="100000"/>
              </a:lnSpc>
              <a:spcBef>
                <a:spcPts val="1420"/>
              </a:spcBef>
            </a:pPr>
            <a:r>
              <a:rPr sz="2400" b="1" spc="-5" dirty="0">
                <a:latin typeface="Tahoma"/>
                <a:cs typeface="Tahoma"/>
              </a:rPr>
              <a:t>where </a:t>
            </a:r>
            <a:r>
              <a:rPr sz="2400" spc="-5" dirty="0">
                <a:latin typeface="Tahoma"/>
                <a:cs typeface="Tahoma"/>
              </a:rPr>
              <a:t>s.GebDatum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&lt;</a:t>
            </a:r>
            <a:endParaRPr sz="2400" dirty="0">
              <a:latin typeface="Tahoma"/>
              <a:cs typeface="Tahoma"/>
            </a:endParaRPr>
          </a:p>
          <a:p>
            <a:pPr marL="1841500">
              <a:lnSpc>
                <a:spcPct val="100000"/>
              </a:lnSpc>
              <a:spcBef>
                <a:spcPts val="1420"/>
              </a:spcBef>
            </a:pPr>
            <a:r>
              <a:rPr sz="2400" spc="-5" dirty="0">
                <a:latin typeface="Tahoma"/>
                <a:cs typeface="Tahoma"/>
              </a:rPr>
              <a:t>(</a:t>
            </a:r>
            <a:r>
              <a:rPr sz="2400" b="1" spc="-5" dirty="0">
                <a:latin typeface="Tahoma"/>
                <a:cs typeface="Tahoma"/>
              </a:rPr>
              <a:t>select max</a:t>
            </a:r>
            <a:r>
              <a:rPr sz="2400" b="1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(p.GebDatum)</a:t>
            </a:r>
            <a:endParaRPr sz="2400" dirty="0">
              <a:latin typeface="Tahoma"/>
              <a:cs typeface="Tahoma"/>
            </a:endParaRPr>
          </a:p>
          <a:p>
            <a:pPr marL="1936750">
              <a:lnSpc>
                <a:spcPct val="100000"/>
              </a:lnSpc>
              <a:spcBef>
                <a:spcPts val="1420"/>
              </a:spcBef>
            </a:pPr>
            <a:r>
              <a:rPr sz="2400" b="1" spc="-5" dirty="0">
                <a:latin typeface="Tahoma"/>
                <a:cs typeface="Tahoma"/>
              </a:rPr>
              <a:t>from </a:t>
            </a:r>
            <a:r>
              <a:rPr sz="2400" spc="-5" dirty="0">
                <a:latin typeface="Tahoma"/>
                <a:cs typeface="Tahoma"/>
              </a:rPr>
              <a:t>Professoren</a:t>
            </a:r>
            <a:r>
              <a:rPr sz="2400" spc="4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p);</a:t>
            </a:r>
            <a:endParaRPr sz="2400" dirty="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1420"/>
              </a:spcBef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sz="2400" spc="-15" dirty="0" err="1">
                <a:latin typeface="Tahoma"/>
                <a:cs typeface="Tahoma"/>
              </a:rPr>
              <a:t>Vorteil</a:t>
            </a:r>
            <a:r>
              <a:rPr sz="2400" spc="-15" dirty="0">
                <a:latin typeface="Tahoma"/>
                <a:cs typeface="Tahoma"/>
              </a:rPr>
              <a:t>: </a:t>
            </a:r>
            <a:r>
              <a:rPr sz="2400" spc="-10" dirty="0">
                <a:latin typeface="Tahoma"/>
                <a:cs typeface="Tahoma"/>
              </a:rPr>
              <a:t>Unteranfrageergebnis </a:t>
            </a:r>
            <a:r>
              <a:rPr sz="2400" spc="-5" dirty="0">
                <a:latin typeface="Tahoma"/>
                <a:cs typeface="Tahoma"/>
              </a:rPr>
              <a:t>kann materialisiert</a:t>
            </a:r>
            <a:r>
              <a:rPr sz="2400" spc="10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werden</a:t>
            </a:r>
            <a:endParaRPr sz="2400" dirty="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1520"/>
              </a:spcBef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sz="2400" spc="-10" dirty="0" err="1">
                <a:latin typeface="Tahoma"/>
                <a:cs typeface="Tahoma"/>
              </a:rPr>
              <a:t>Unteranfrage</a:t>
            </a:r>
            <a:r>
              <a:rPr sz="2400" spc="-10" dirty="0">
                <a:latin typeface="Tahoma"/>
                <a:cs typeface="Tahoma"/>
              </a:rPr>
              <a:t> braucht </a:t>
            </a:r>
            <a:r>
              <a:rPr sz="2400" spc="-5" dirty="0">
                <a:latin typeface="Tahoma"/>
                <a:cs typeface="Tahoma"/>
              </a:rPr>
              <a:t>nur einmal ausgewertet </a:t>
            </a:r>
            <a:r>
              <a:rPr sz="2400" dirty="0">
                <a:latin typeface="Tahoma"/>
                <a:cs typeface="Tahoma"/>
              </a:rPr>
              <a:t>zu</a:t>
            </a:r>
            <a:r>
              <a:rPr sz="2400" spc="6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werden</a:t>
            </a:r>
            <a:endParaRPr sz="2400" dirty="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92796607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272540" y="1720850"/>
            <a:ext cx="9027160" cy="46043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7500">
              <a:lnSpc>
                <a:spcPts val="2840"/>
              </a:lnSpc>
              <a:spcBef>
                <a:spcPts val="100"/>
              </a:spcBef>
            </a:pPr>
            <a:r>
              <a:rPr sz="2400" b="1" spc="-5" dirty="0">
                <a:latin typeface="Tahoma"/>
                <a:cs typeface="Tahoma"/>
              </a:rPr>
              <a:t>select</a:t>
            </a:r>
            <a:r>
              <a:rPr sz="2400" b="1" spc="4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a.*</a:t>
            </a:r>
            <a:endParaRPr sz="2400" dirty="0">
              <a:latin typeface="Tahoma"/>
              <a:cs typeface="Tahoma"/>
            </a:endParaRPr>
          </a:p>
          <a:p>
            <a:pPr marL="317500">
              <a:lnSpc>
                <a:spcPts val="2840"/>
              </a:lnSpc>
            </a:pPr>
            <a:r>
              <a:rPr sz="2400" b="1" spc="-5" dirty="0">
                <a:latin typeface="Tahoma"/>
                <a:cs typeface="Tahoma"/>
              </a:rPr>
              <a:t>from </a:t>
            </a:r>
            <a:r>
              <a:rPr sz="2400" spc="-5" dirty="0">
                <a:latin typeface="Tahoma"/>
                <a:cs typeface="Tahoma"/>
              </a:rPr>
              <a:t>Assistenten</a:t>
            </a:r>
            <a:r>
              <a:rPr sz="2400" spc="4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</a:t>
            </a:r>
          </a:p>
          <a:p>
            <a:pPr marL="317500">
              <a:lnSpc>
                <a:spcPct val="100000"/>
              </a:lnSpc>
              <a:spcBef>
                <a:spcPts val="20"/>
              </a:spcBef>
            </a:pPr>
            <a:r>
              <a:rPr sz="2400" b="1" spc="-5" dirty="0">
                <a:latin typeface="Tahoma"/>
                <a:cs typeface="Tahoma"/>
              </a:rPr>
              <a:t>where exists</a:t>
            </a:r>
            <a:endParaRPr sz="2400" dirty="0">
              <a:latin typeface="Tahoma"/>
              <a:cs typeface="Tahoma"/>
            </a:endParaRPr>
          </a:p>
          <a:p>
            <a:pPr marR="5839460" algn="ctr">
              <a:lnSpc>
                <a:spcPct val="100000"/>
              </a:lnSpc>
              <a:spcBef>
                <a:spcPts val="20"/>
              </a:spcBef>
            </a:pPr>
            <a:r>
              <a:rPr sz="2400" dirty="0">
                <a:latin typeface="Tahoma"/>
                <a:cs typeface="Tahoma"/>
              </a:rPr>
              <a:t>( </a:t>
            </a:r>
            <a:r>
              <a:rPr sz="2400" b="1" spc="-5" dirty="0">
                <a:latin typeface="Tahoma"/>
                <a:cs typeface="Tahoma"/>
              </a:rPr>
              <a:t>select</a:t>
            </a:r>
            <a:r>
              <a:rPr sz="2400" b="1" spc="2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p.*</a:t>
            </a:r>
            <a:endParaRPr sz="2400" dirty="0">
              <a:latin typeface="Tahoma"/>
              <a:cs typeface="Tahoma"/>
            </a:endParaRPr>
          </a:p>
          <a:p>
            <a:pPr marL="965200">
              <a:lnSpc>
                <a:spcPct val="100000"/>
              </a:lnSpc>
              <a:spcBef>
                <a:spcPts val="20"/>
              </a:spcBef>
            </a:pPr>
            <a:r>
              <a:rPr sz="2400" b="1" spc="-5" dirty="0">
                <a:latin typeface="Tahoma"/>
                <a:cs typeface="Tahoma"/>
              </a:rPr>
              <a:t>from </a:t>
            </a:r>
            <a:r>
              <a:rPr sz="2400" spc="-5" dirty="0">
                <a:latin typeface="Tahoma"/>
                <a:cs typeface="Tahoma"/>
              </a:rPr>
              <a:t>Professoren</a:t>
            </a:r>
            <a:r>
              <a:rPr sz="2400" spc="4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p</a:t>
            </a:r>
            <a:endParaRPr sz="2400" dirty="0">
              <a:latin typeface="Tahoma"/>
              <a:cs typeface="Tahoma"/>
            </a:endParaRPr>
          </a:p>
          <a:p>
            <a:pPr marL="965200">
              <a:lnSpc>
                <a:spcPct val="100000"/>
              </a:lnSpc>
              <a:spcBef>
                <a:spcPts val="20"/>
              </a:spcBef>
            </a:pPr>
            <a:r>
              <a:rPr sz="2400" b="1" spc="-5" dirty="0">
                <a:latin typeface="Tahoma"/>
                <a:cs typeface="Tahoma"/>
              </a:rPr>
              <a:t>where </a:t>
            </a:r>
            <a:r>
              <a:rPr sz="2400" dirty="0">
                <a:latin typeface="Tahoma"/>
                <a:cs typeface="Tahoma"/>
              </a:rPr>
              <a:t>a.Boss </a:t>
            </a:r>
            <a:r>
              <a:rPr sz="2400" spc="-5" dirty="0">
                <a:latin typeface="Tahoma"/>
                <a:cs typeface="Tahoma"/>
              </a:rPr>
              <a:t>= </a:t>
            </a:r>
            <a:r>
              <a:rPr sz="2400" spc="-15" dirty="0">
                <a:latin typeface="Tahoma"/>
                <a:cs typeface="Tahoma"/>
              </a:rPr>
              <a:t>p.PersNr </a:t>
            </a:r>
            <a:r>
              <a:rPr sz="2400" b="1" spc="-5" dirty="0">
                <a:latin typeface="Tahoma"/>
                <a:cs typeface="Tahoma"/>
              </a:rPr>
              <a:t>and</a:t>
            </a:r>
            <a:r>
              <a:rPr sz="2400" b="1" spc="11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p.GebDatum&gt;a.GebDatum);</a:t>
            </a:r>
            <a:endParaRPr sz="24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38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sz="2400" spc="-5" dirty="0" err="1">
                <a:latin typeface="Tahoma"/>
                <a:cs typeface="Tahoma"/>
              </a:rPr>
              <a:t>Entschachtelung</a:t>
            </a:r>
            <a:r>
              <a:rPr sz="2400" spc="-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durch</a:t>
            </a:r>
            <a:r>
              <a:rPr sz="240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Join</a:t>
            </a:r>
            <a:endParaRPr sz="24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2450" dirty="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</a:pPr>
            <a:r>
              <a:rPr sz="2400" b="1" spc="-5" dirty="0">
                <a:latin typeface="Tahoma"/>
                <a:cs typeface="Tahoma"/>
              </a:rPr>
              <a:t>select</a:t>
            </a:r>
            <a:r>
              <a:rPr sz="2400" b="1" spc="4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a.*</a:t>
            </a:r>
            <a:endParaRPr sz="2400" dirty="0">
              <a:latin typeface="Tahoma"/>
              <a:cs typeface="Tahoma"/>
            </a:endParaRPr>
          </a:p>
          <a:p>
            <a:pPr marL="469900">
              <a:lnSpc>
                <a:spcPct val="100000"/>
              </a:lnSpc>
              <a:spcBef>
                <a:spcPts val="20"/>
              </a:spcBef>
            </a:pPr>
            <a:r>
              <a:rPr sz="2400" b="1" spc="-5" dirty="0">
                <a:latin typeface="Tahoma"/>
                <a:cs typeface="Tahoma"/>
              </a:rPr>
              <a:t>from </a:t>
            </a:r>
            <a:r>
              <a:rPr sz="2400" dirty="0">
                <a:latin typeface="Tahoma"/>
                <a:cs typeface="Tahoma"/>
              </a:rPr>
              <a:t>Assistenten </a:t>
            </a:r>
            <a:r>
              <a:rPr sz="2400" spc="-5" dirty="0">
                <a:latin typeface="Tahoma"/>
                <a:cs typeface="Tahoma"/>
              </a:rPr>
              <a:t>a, Professoren</a:t>
            </a:r>
            <a:r>
              <a:rPr sz="2400" spc="4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p</a:t>
            </a:r>
            <a:endParaRPr sz="2400" dirty="0">
              <a:latin typeface="Tahoma"/>
              <a:cs typeface="Tahoma"/>
            </a:endParaRPr>
          </a:p>
          <a:p>
            <a:pPr marL="469900">
              <a:lnSpc>
                <a:spcPct val="100000"/>
              </a:lnSpc>
              <a:spcBef>
                <a:spcPts val="20"/>
              </a:spcBef>
            </a:pPr>
            <a:r>
              <a:rPr sz="2400" b="1" spc="-5" dirty="0">
                <a:latin typeface="Tahoma"/>
                <a:cs typeface="Tahoma"/>
              </a:rPr>
              <a:t>where </a:t>
            </a:r>
            <a:r>
              <a:rPr sz="2400" spc="-10" dirty="0">
                <a:latin typeface="Tahoma"/>
                <a:cs typeface="Tahoma"/>
              </a:rPr>
              <a:t>a.Boss=p.PersNr </a:t>
            </a:r>
            <a:r>
              <a:rPr sz="2400" spc="-5" dirty="0">
                <a:latin typeface="Tahoma"/>
                <a:cs typeface="Tahoma"/>
              </a:rPr>
              <a:t>and p.GebDatum &gt;</a:t>
            </a:r>
            <a:r>
              <a:rPr sz="2400" spc="3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a.GebDatum;</a:t>
            </a:r>
            <a:endParaRPr sz="2400" dirty="0">
              <a:latin typeface="Tahoma"/>
              <a:cs typeface="Tahoma"/>
            </a:endParaRP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8E0B2F46-C4FF-3DC3-A978-968C02094239}"/>
              </a:ext>
            </a:extLst>
          </p:cNvPr>
          <p:cNvSpPr txBox="1">
            <a:spLocks/>
          </p:cNvSpPr>
          <p:nvPr/>
        </p:nvSpPr>
        <p:spPr>
          <a:xfrm>
            <a:off x="1306864" y="723650"/>
            <a:ext cx="6324599" cy="540000"/>
          </a:xfrm>
          <a:prstGeom prst="rect">
            <a:avLst/>
          </a:prstGeom>
          <a:solidFill>
            <a:schemeClr val="accent2"/>
          </a:solidFill>
        </p:spPr>
        <p:txBody>
          <a:bodyPr vert="horz" wrap="square" lIns="0" tIns="12700" rIns="0" bIns="0" rtlCol="0" anchor="ctr">
            <a:spAutoFit/>
          </a:bodyPr>
          <a:lstStyle>
            <a:lvl1pPr marL="78932" algn="l" defTabSz="801945" rtl="0" eaLnBrk="1" fontAlgn="ctr" latinLnBrk="0" hangingPunct="1">
              <a:lnSpc>
                <a:spcPct val="90000"/>
              </a:lnSpc>
              <a:spcBef>
                <a:spcPct val="0"/>
              </a:spcBef>
              <a:buNone/>
              <a:defRPr sz="2193" b="0" i="0" kern="1200" baseline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822065" algn="l"/>
                <a:tab pos="5930900" algn="l"/>
              </a:tabLst>
            </a:pPr>
            <a:r>
              <a:rPr lang="en-GB" spc="-5" dirty="0" err="1"/>
              <a:t>Entschachtelung</a:t>
            </a:r>
            <a:r>
              <a:rPr lang="en-GB" spc="-55" dirty="0"/>
              <a:t> </a:t>
            </a:r>
            <a:r>
              <a:rPr lang="en-GB" spc="-5" dirty="0" err="1"/>
              <a:t>korrelierte</a:t>
            </a:r>
            <a:r>
              <a:rPr lang="en-GB" spc="-5" dirty="0"/>
              <a:t> </a:t>
            </a:r>
            <a:r>
              <a:rPr lang="en-GB" spc="-5" dirty="0" err="1"/>
              <a:t>Unteranfragen</a:t>
            </a:r>
            <a:r>
              <a:rPr lang="en-GB" spc="-5" dirty="0"/>
              <a:t> (Forts.)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386840" y="1785938"/>
            <a:ext cx="7644765" cy="3299460"/>
          </a:xfrm>
          <a:prstGeom prst="rect">
            <a:avLst/>
          </a:prstGeom>
        </p:spPr>
        <p:txBody>
          <a:bodyPr vert="horz" wrap="square" lIns="0" tIns="1854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60"/>
              </a:spcBef>
            </a:pPr>
            <a:r>
              <a:rPr sz="2400" b="1" spc="-5" dirty="0">
                <a:latin typeface="Tahoma"/>
                <a:cs typeface="Tahoma"/>
              </a:rPr>
              <a:t>select </a:t>
            </a:r>
            <a:r>
              <a:rPr sz="2400" spc="-35" dirty="0">
                <a:latin typeface="Tahoma"/>
                <a:cs typeface="Tahoma"/>
              </a:rPr>
              <a:t>tmp.MatrNr, </a:t>
            </a:r>
            <a:r>
              <a:rPr sz="2400" spc="-5" dirty="0">
                <a:latin typeface="Tahoma"/>
                <a:cs typeface="Tahoma"/>
              </a:rPr>
              <a:t>tmp.Name,</a:t>
            </a:r>
            <a:r>
              <a:rPr sz="2400" spc="80" dirty="0">
                <a:latin typeface="Tahoma"/>
                <a:cs typeface="Tahoma"/>
              </a:rPr>
              <a:t> </a:t>
            </a:r>
            <a:r>
              <a:rPr sz="2400" spc="-15" dirty="0">
                <a:latin typeface="Tahoma"/>
                <a:cs typeface="Tahoma"/>
              </a:rPr>
              <a:t>tmp.VorlAnzahl</a:t>
            </a:r>
            <a:endParaRPr sz="24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360"/>
              </a:spcBef>
            </a:pPr>
            <a:r>
              <a:rPr sz="2400" b="1" spc="-5" dirty="0">
                <a:latin typeface="Tahoma"/>
                <a:cs typeface="Tahoma"/>
              </a:rPr>
              <a:t>from </a:t>
            </a:r>
            <a:r>
              <a:rPr sz="2400" spc="-5" dirty="0">
                <a:latin typeface="Tahoma"/>
                <a:cs typeface="Tahoma"/>
              </a:rPr>
              <a:t>(</a:t>
            </a:r>
            <a:r>
              <a:rPr sz="2400" b="1" spc="-5" dirty="0">
                <a:latin typeface="Tahoma"/>
                <a:cs typeface="Tahoma"/>
              </a:rPr>
              <a:t>select </a:t>
            </a:r>
            <a:r>
              <a:rPr sz="2400" spc="-40" dirty="0">
                <a:latin typeface="Tahoma"/>
                <a:cs typeface="Tahoma"/>
              </a:rPr>
              <a:t>s.MatrNr, </a:t>
            </a:r>
            <a:r>
              <a:rPr sz="2400" spc="-5" dirty="0">
                <a:latin typeface="Tahoma"/>
                <a:cs typeface="Tahoma"/>
              </a:rPr>
              <a:t>s.Name, </a:t>
            </a:r>
            <a:r>
              <a:rPr sz="2400" b="1" spc="-5" dirty="0">
                <a:latin typeface="Tahoma"/>
                <a:cs typeface="Tahoma"/>
              </a:rPr>
              <a:t>count</a:t>
            </a:r>
            <a:r>
              <a:rPr sz="2400" spc="-5" dirty="0">
                <a:latin typeface="Tahoma"/>
                <a:cs typeface="Tahoma"/>
              </a:rPr>
              <a:t>(*) </a:t>
            </a:r>
            <a:r>
              <a:rPr sz="2400" b="1" spc="-5" dirty="0">
                <a:latin typeface="Tahoma"/>
                <a:cs typeface="Tahoma"/>
              </a:rPr>
              <a:t>as</a:t>
            </a:r>
            <a:r>
              <a:rPr sz="2400" b="1" spc="204" dirty="0">
                <a:latin typeface="Tahoma"/>
                <a:cs typeface="Tahoma"/>
              </a:rPr>
              <a:t> </a:t>
            </a:r>
            <a:r>
              <a:rPr sz="2400" spc="-15" dirty="0">
                <a:latin typeface="Tahoma"/>
                <a:cs typeface="Tahoma"/>
              </a:rPr>
              <a:t>VorlAnzahl</a:t>
            </a:r>
            <a:endParaRPr sz="2400" dirty="0">
              <a:latin typeface="Tahoma"/>
              <a:cs typeface="Tahoma"/>
            </a:endParaRPr>
          </a:p>
          <a:p>
            <a:pPr marL="941705">
              <a:lnSpc>
                <a:spcPct val="100000"/>
              </a:lnSpc>
              <a:spcBef>
                <a:spcPts val="1520"/>
              </a:spcBef>
            </a:pPr>
            <a:r>
              <a:rPr sz="2400" b="1" spc="-5" dirty="0">
                <a:latin typeface="Tahoma"/>
                <a:cs typeface="Tahoma"/>
              </a:rPr>
              <a:t>from </a:t>
            </a:r>
            <a:r>
              <a:rPr sz="2400" spc="-5" dirty="0">
                <a:latin typeface="Tahoma"/>
                <a:cs typeface="Tahoma"/>
              </a:rPr>
              <a:t>Studenten </a:t>
            </a:r>
            <a:r>
              <a:rPr sz="2400" dirty="0">
                <a:latin typeface="Tahoma"/>
                <a:cs typeface="Tahoma"/>
              </a:rPr>
              <a:t>s, </a:t>
            </a:r>
            <a:r>
              <a:rPr sz="2400" spc="-5" dirty="0">
                <a:latin typeface="Tahoma"/>
                <a:cs typeface="Tahoma"/>
              </a:rPr>
              <a:t>h</a:t>
            </a:r>
            <a:r>
              <a:rPr lang="en-GB" sz="2400" spc="-5" dirty="0" err="1">
                <a:latin typeface="Tahoma"/>
                <a:cs typeface="Tahoma"/>
              </a:rPr>
              <a:t>oe</a:t>
            </a:r>
            <a:r>
              <a:rPr sz="2400" spc="-5" dirty="0">
                <a:latin typeface="Tahoma"/>
                <a:cs typeface="Tahoma"/>
              </a:rPr>
              <a:t>ren</a:t>
            </a:r>
            <a:r>
              <a:rPr sz="2400" spc="1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h</a:t>
            </a:r>
            <a:endParaRPr sz="2400" dirty="0">
              <a:latin typeface="Tahoma"/>
              <a:cs typeface="Tahoma"/>
            </a:endParaRPr>
          </a:p>
          <a:p>
            <a:pPr marL="971550">
              <a:lnSpc>
                <a:spcPct val="100000"/>
              </a:lnSpc>
              <a:spcBef>
                <a:spcPts val="1420"/>
              </a:spcBef>
            </a:pPr>
            <a:r>
              <a:rPr sz="2400" b="1" spc="-5" dirty="0">
                <a:latin typeface="Tahoma"/>
                <a:cs typeface="Tahoma"/>
              </a:rPr>
              <a:t>where</a:t>
            </a:r>
            <a:r>
              <a:rPr sz="2400" b="1" spc="-3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s.MatrNr=h.MatrNr</a:t>
            </a:r>
            <a:endParaRPr sz="2400" dirty="0">
              <a:latin typeface="Tahoma"/>
              <a:cs typeface="Tahoma"/>
            </a:endParaRPr>
          </a:p>
          <a:p>
            <a:pPr marL="1030605">
              <a:lnSpc>
                <a:spcPct val="100000"/>
              </a:lnSpc>
              <a:spcBef>
                <a:spcPts val="1420"/>
              </a:spcBef>
              <a:tabLst>
                <a:tab pos="5085080" algn="l"/>
              </a:tabLst>
            </a:pPr>
            <a:r>
              <a:rPr sz="2400" b="1" spc="-5" dirty="0">
                <a:latin typeface="Tahoma"/>
                <a:cs typeface="Tahoma"/>
              </a:rPr>
              <a:t>group by</a:t>
            </a:r>
            <a:r>
              <a:rPr sz="2400" b="1" spc="25" dirty="0">
                <a:latin typeface="Tahoma"/>
                <a:cs typeface="Tahoma"/>
              </a:rPr>
              <a:t> </a:t>
            </a:r>
            <a:r>
              <a:rPr sz="2400" spc="-40" dirty="0">
                <a:latin typeface="Tahoma"/>
                <a:cs typeface="Tahoma"/>
              </a:rPr>
              <a:t>s.MatrNr,</a:t>
            </a:r>
            <a:r>
              <a:rPr sz="2400" spc="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s.Name)	tmp</a:t>
            </a:r>
            <a:endParaRPr sz="24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2400" b="1" spc="-5" dirty="0">
                <a:latin typeface="Tahoma"/>
                <a:cs typeface="Tahoma"/>
              </a:rPr>
              <a:t>where </a:t>
            </a:r>
            <a:r>
              <a:rPr sz="2400" spc="-15" dirty="0">
                <a:latin typeface="Tahoma"/>
                <a:cs typeface="Tahoma"/>
              </a:rPr>
              <a:t>tmp.VorlAnzahl </a:t>
            </a:r>
            <a:r>
              <a:rPr sz="2400" spc="-5" dirty="0">
                <a:latin typeface="Tahoma"/>
                <a:cs typeface="Tahoma"/>
              </a:rPr>
              <a:t>&gt;</a:t>
            </a:r>
            <a:r>
              <a:rPr sz="2400" spc="1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2;</a:t>
            </a:r>
            <a:endParaRPr sz="2400" dirty="0">
              <a:latin typeface="Tahoma"/>
              <a:cs typeface="Tahoma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4474420"/>
              </p:ext>
            </p:extLst>
          </p:nvPr>
        </p:nvGraphicFramePr>
        <p:xfrm>
          <a:off x="3732216" y="5488940"/>
          <a:ext cx="4419600" cy="11849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4970"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MatrNr</a:t>
                      </a:r>
                    </a:p>
                  </a:txBody>
                  <a:tcPr marL="0" marR="0" marT="2032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spc="-5" dirty="0">
                          <a:latin typeface="Tahoma"/>
                          <a:cs typeface="Tahoma"/>
                        </a:rPr>
                        <a:t>Name</a:t>
                      </a:r>
                      <a:endParaRPr sz="2000" dirty="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spc="-15" dirty="0">
                          <a:latin typeface="Tahoma"/>
                          <a:cs typeface="Tahoma"/>
                        </a:rPr>
                        <a:t>VorlAnzahl</a:t>
                      </a:r>
                      <a:endParaRPr sz="2000" dirty="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4970"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28106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spc="-5" dirty="0">
                          <a:latin typeface="Tahoma"/>
                          <a:cs typeface="Tahoma"/>
                        </a:rPr>
                        <a:t>Carnap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4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4970"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29120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spc="-5" dirty="0">
                          <a:latin typeface="Tahoma"/>
                          <a:cs typeface="Tahoma"/>
                        </a:rPr>
                        <a:t>Theophrastos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3</a:t>
                      </a: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object 3">
            <a:extLst>
              <a:ext uri="{FF2B5EF4-FFF2-40B4-BE49-F238E27FC236}">
                <a16:creationId xmlns:a16="http://schemas.microsoft.com/office/drawing/2014/main" id="{7F2987FA-FD1D-D471-7B86-044B4F7C2650}"/>
              </a:ext>
            </a:extLst>
          </p:cNvPr>
          <p:cNvSpPr txBox="1">
            <a:spLocks/>
          </p:cNvSpPr>
          <p:nvPr/>
        </p:nvSpPr>
        <p:spPr>
          <a:xfrm>
            <a:off x="1306864" y="730250"/>
            <a:ext cx="6324599" cy="540000"/>
          </a:xfrm>
          <a:prstGeom prst="rect">
            <a:avLst/>
          </a:prstGeom>
          <a:solidFill>
            <a:schemeClr val="accent2"/>
          </a:solidFill>
        </p:spPr>
        <p:txBody>
          <a:bodyPr vert="horz" wrap="square" lIns="0" tIns="12700" rIns="0" bIns="0" rtlCol="0" anchor="ctr">
            <a:spAutoFit/>
          </a:bodyPr>
          <a:lstStyle>
            <a:lvl1pPr marL="78932" algn="l" defTabSz="801945" rtl="0" eaLnBrk="1" fontAlgn="ctr" latinLnBrk="0" hangingPunct="1">
              <a:lnSpc>
                <a:spcPct val="90000"/>
              </a:lnSpc>
              <a:spcBef>
                <a:spcPct val="0"/>
              </a:spcBef>
              <a:buNone/>
              <a:defRPr sz="2193" b="0" i="0" kern="1200" baseline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822065" algn="l"/>
                <a:tab pos="5930900" algn="l"/>
              </a:tabLst>
            </a:pPr>
            <a:r>
              <a:rPr lang="en-GB" spc="-5" dirty="0" err="1"/>
              <a:t>Verwertung</a:t>
            </a:r>
            <a:r>
              <a:rPr lang="en-GB" spc="-5" dirty="0"/>
              <a:t> der </a:t>
            </a:r>
            <a:r>
              <a:rPr lang="en-GB" spc="-5" dirty="0" err="1"/>
              <a:t>Ergebnismenge</a:t>
            </a:r>
            <a:r>
              <a:rPr lang="en-GB" spc="-5" dirty="0"/>
              <a:t> </a:t>
            </a:r>
            <a:r>
              <a:rPr lang="en-GB" spc="-5" dirty="0" err="1"/>
              <a:t>einer</a:t>
            </a:r>
            <a:r>
              <a:rPr lang="en-GB" spc="-5" dirty="0"/>
              <a:t> </a:t>
            </a:r>
            <a:r>
              <a:rPr lang="en-GB" spc="-5" dirty="0" err="1"/>
              <a:t>Unteranfrage</a:t>
            </a:r>
            <a:endParaRPr lang="en-GB" spc="-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nutzerdefiniertes Design">
  <a:themeElements>
    <a:clrScheme name="AI - HS-Fulda">
      <a:dk1>
        <a:srgbClr val="000000"/>
      </a:dk1>
      <a:lt1>
        <a:sysClr val="window" lastClr="FFFFFF"/>
      </a:lt1>
      <a:dk2>
        <a:srgbClr val="889194"/>
      </a:dk2>
      <a:lt2>
        <a:srgbClr val="EDEFEF"/>
      </a:lt2>
      <a:accent1>
        <a:srgbClr val="66CC33"/>
      </a:accent1>
      <a:accent2>
        <a:srgbClr val="004C87"/>
      </a:accent2>
      <a:accent3>
        <a:srgbClr val="A5A5A5"/>
      </a:accent3>
      <a:accent4>
        <a:srgbClr val="94DB70"/>
      </a:accent4>
      <a:accent5>
        <a:srgbClr val="C2EBAD"/>
      </a:accent5>
      <a:accent6>
        <a:srgbClr val="E0F5D6"/>
      </a:accent6>
      <a:hlink>
        <a:srgbClr val="000000"/>
      </a:hlink>
      <a:folHlink>
        <a:srgbClr val="A0A7A9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FB_Ai_Blanko</Template>
  <TotalTime>2074</TotalTime>
  <Words>3011</Words>
  <Application>Microsoft Macintosh PowerPoint</Application>
  <PresentationFormat>Custom</PresentationFormat>
  <Paragraphs>1883</Paragraphs>
  <Slides>42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51" baseType="lpstr">
      <vt:lpstr>Arial</vt:lpstr>
      <vt:lpstr>Calibri</vt:lpstr>
      <vt:lpstr>Calibri Light</vt:lpstr>
      <vt:lpstr>Symbol</vt:lpstr>
      <vt:lpstr>Tahoma</vt:lpstr>
      <vt:lpstr>TheSansOffice</vt:lpstr>
      <vt:lpstr>Times New Roman</vt:lpstr>
      <vt:lpstr>Wingdings</vt:lpstr>
      <vt:lpstr>Benutzerdefiniertes Design</vt:lpstr>
      <vt:lpstr>Datenbanksysteme</vt:lpstr>
      <vt:lpstr>SQL – Structured Query Language, Teil 1</vt:lpstr>
      <vt:lpstr>SQL</vt:lpstr>
      <vt:lpstr>SQL Übungen</vt:lpstr>
      <vt:lpstr>Uni-Schema</vt:lpstr>
      <vt:lpstr>PowerPoint Presentation</vt:lpstr>
      <vt:lpstr>PowerPoint Presentation</vt:lpstr>
      <vt:lpstr>(Einfache) Datendefinitionen in SQL</vt:lpstr>
      <vt:lpstr>Veränderung am Datenbestand</vt:lpstr>
      <vt:lpstr>PowerPoint Presentation</vt:lpstr>
      <vt:lpstr>Veränderungen am Datenbestand</vt:lpstr>
      <vt:lpstr>Einfache SQL-Anfrage</vt:lpstr>
      <vt:lpstr>Einfache SQL-Anfragen</vt:lpstr>
      <vt:lpstr>Duplikateliminierung</vt:lpstr>
      <vt:lpstr>PowerPoint Presentation</vt:lpstr>
      <vt:lpstr>Anfragen über mehrere Relationen</vt:lpstr>
      <vt:lpstr>Anfragen über mehrere Relationen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Existenzquantor exists</vt:lpstr>
      <vt:lpstr>Existenzquantor exists</vt:lpstr>
      <vt:lpstr>Mengenvergleich</vt:lpstr>
      <vt:lpstr>Der Vergleich mit "all"</vt:lpstr>
      <vt:lpstr>Aggregatfunktion und Gruppierung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Geschachtelte Anfrage (Forts. - Nochmal)</vt:lpstr>
      <vt:lpstr>Geschachtelte Anfrage (Forts. - Nochmal)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</dc:title>
  <cp:lastModifiedBy>Christoph Scheich</cp:lastModifiedBy>
  <cp:revision>157</cp:revision>
  <dcterms:created xsi:type="dcterms:W3CDTF">2018-10-08T08:24:36Z</dcterms:created>
  <dcterms:modified xsi:type="dcterms:W3CDTF">2023-04-16T09:24:12Z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stSaved">
    <vt:filetime>2018-10-08T00:00:00Z</vt:filetime>
  </property>
</Properties>
</file>