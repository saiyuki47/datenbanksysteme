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8" r:id="rId1"/>
    <p:sldMasterId id="2147483848" r:id="rId2"/>
  </p:sldMasterIdLst>
  <p:notesMasterIdLst>
    <p:notesMasterId r:id="rId91"/>
  </p:notesMasterIdLst>
  <p:sldIdLst>
    <p:sldId id="256" r:id="rId3"/>
    <p:sldId id="287" r:id="rId4"/>
    <p:sldId id="447" r:id="rId5"/>
    <p:sldId id="439" r:id="rId6"/>
    <p:sldId id="431" r:id="rId7"/>
    <p:sldId id="433" r:id="rId8"/>
    <p:sldId id="434" r:id="rId9"/>
    <p:sldId id="435" r:id="rId10"/>
    <p:sldId id="436" r:id="rId11"/>
    <p:sldId id="274" r:id="rId12"/>
    <p:sldId id="437" r:id="rId13"/>
    <p:sldId id="438" r:id="rId14"/>
    <p:sldId id="432" r:id="rId15"/>
    <p:sldId id="261" r:id="rId16"/>
    <p:sldId id="263" r:id="rId17"/>
    <p:sldId id="264" r:id="rId18"/>
    <p:sldId id="441" r:id="rId19"/>
    <p:sldId id="267" r:id="rId20"/>
    <p:sldId id="268" r:id="rId21"/>
    <p:sldId id="442" r:id="rId22"/>
    <p:sldId id="443" r:id="rId23"/>
    <p:sldId id="270" r:id="rId24"/>
    <p:sldId id="271" r:id="rId25"/>
    <p:sldId id="444" r:id="rId26"/>
    <p:sldId id="445" r:id="rId27"/>
    <p:sldId id="289" r:id="rId28"/>
    <p:sldId id="446" r:id="rId29"/>
    <p:sldId id="440" r:id="rId30"/>
    <p:sldId id="290" r:id="rId31"/>
    <p:sldId id="448" r:id="rId32"/>
    <p:sldId id="449" r:id="rId33"/>
    <p:sldId id="450" r:id="rId34"/>
    <p:sldId id="451" r:id="rId35"/>
    <p:sldId id="452" r:id="rId36"/>
    <p:sldId id="453" r:id="rId37"/>
    <p:sldId id="454" r:id="rId38"/>
    <p:sldId id="455" r:id="rId39"/>
    <p:sldId id="285" r:id="rId40"/>
    <p:sldId id="456" r:id="rId41"/>
    <p:sldId id="297" r:id="rId42"/>
    <p:sldId id="457" r:id="rId43"/>
    <p:sldId id="300" r:id="rId44"/>
    <p:sldId id="301" r:id="rId45"/>
    <p:sldId id="302" r:id="rId46"/>
    <p:sldId id="458" r:id="rId47"/>
    <p:sldId id="306" r:id="rId48"/>
    <p:sldId id="459" r:id="rId49"/>
    <p:sldId id="460" r:id="rId50"/>
    <p:sldId id="461" r:id="rId51"/>
    <p:sldId id="462" r:id="rId52"/>
    <p:sldId id="463" r:id="rId53"/>
    <p:sldId id="464" r:id="rId54"/>
    <p:sldId id="465" r:id="rId55"/>
    <p:sldId id="314" r:id="rId56"/>
    <p:sldId id="315" r:id="rId57"/>
    <p:sldId id="316" r:id="rId58"/>
    <p:sldId id="466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467" r:id="rId69"/>
    <p:sldId id="330" r:id="rId70"/>
    <p:sldId id="331" r:id="rId71"/>
    <p:sldId id="332" r:id="rId72"/>
    <p:sldId id="333" r:id="rId73"/>
    <p:sldId id="379" r:id="rId74"/>
    <p:sldId id="380" r:id="rId75"/>
    <p:sldId id="403" r:id="rId76"/>
    <p:sldId id="381" r:id="rId77"/>
    <p:sldId id="382" r:id="rId78"/>
    <p:sldId id="383" r:id="rId79"/>
    <p:sldId id="384" r:id="rId80"/>
    <p:sldId id="385" r:id="rId81"/>
    <p:sldId id="386" r:id="rId82"/>
    <p:sldId id="387" r:id="rId83"/>
    <p:sldId id="468" r:id="rId84"/>
    <p:sldId id="405" r:id="rId85"/>
    <p:sldId id="406" r:id="rId86"/>
    <p:sldId id="407" r:id="rId87"/>
    <p:sldId id="408" r:id="rId88"/>
    <p:sldId id="388" r:id="rId89"/>
    <p:sldId id="389" r:id="rId90"/>
  </p:sldIdLst>
  <p:sldSz cx="10693400" cy="7556500"/>
  <p:notesSz cx="10693400" cy="7556500"/>
  <p:defaultTextStyle>
    <a:defPPr>
      <a:defRPr lang="de-DE"/>
    </a:defPPr>
    <a:lvl1pPr marL="0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9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46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62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78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93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07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23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11"/>
    <p:restoredTop sz="94694"/>
  </p:normalViewPr>
  <p:slideViewPr>
    <p:cSldViewPr>
      <p:cViewPr varScale="1">
        <p:scale>
          <a:sx n="110" d="100"/>
          <a:sy n="110" d="100"/>
        </p:scale>
        <p:origin x="336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tableStyles" Target="tableStyle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E40A0F-EBA0-4E4D-BF96-83480127D1A5}" type="datetimeFigureOut">
              <a:rPr lang="en-US" smtClean="0"/>
              <a:t>1/28/25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0EA9F-8FFF-2944-8753-31C282DAE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54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3ECA8-1B46-904B-A848-63608875D10E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018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/>
        </p:nvSpPr>
        <p:spPr>
          <a:xfrm>
            <a:off x="7683509" y="3"/>
            <a:ext cx="2842066" cy="14773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10" y="900050"/>
            <a:ext cx="6118333" cy="647200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l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36675" y="3968914"/>
            <a:ext cx="8020050" cy="1824406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73" indent="0" algn="ctr">
              <a:buNone/>
              <a:defRPr sz="1754"/>
            </a:lvl2pPr>
            <a:lvl3pPr marL="801945" indent="0" algn="ctr">
              <a:buNone/>
              <a:defRPr sz="1579"/>
            </a:lvl3pPr>
            <a:lvl4pPr marL="1202916" indent="0" algn="ctr">
              <a:buNone/>
              <a:defRPr sz="1403"/>
            </a:lvl4pPr>
            <a:lvl5pPr marL="1603890" indent="0" algn="ctr">
              <a:buNone/>
              <a:defRPr sz="1403"/>
            </a:lvl5pPr>
            <a:lvl6pPr marL="2004861" indent="0" algn="ctr">
              <a:buNone/>
              <a:defRPr sz="1403"/>
            </a:lvl6pPr>
            <a:lvl7pPr marL="2405833" indent="0" algn="ctr">
              <a:buNone/>
              <a:defRPr sz="1403"/>
            </a:lvl7pPr>
            <a:lvl8pPr marL="2806804" indent="0" algn="ctr">
              <a:buNone/>
              <a:defRPr sz="1403"/>
            </a:lvl8pPr>
            <a:lvl9pPr marL="3207777" indent="0" algn="ctr">
              <a:buNone/>
              <a:defRPr sz="1403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988585" y="1471734"/>
            <a:ext cx="3674028" cy="402313"/>
          </a:xfrm>
          <a:solidFill>
            <a:schemeClr val="accent1"/>
          </a:solidFill>
        </p:spPr>
        <p:txBody>
          <a:bodyPr/>
          <a:lstStyle/>
          <a:p>
            <a:fld id="{1D8BD707-D9CF-40AE-B4C6-C98DA3205C09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8" name="Rechteck 7"/>
          <p:cNvSpPr/>
          <p:nvPr/>
        </p:nvSpPr>
        <p:spPr>
          <a:xfrm>
            <a:off x="0" y="2826149"/>
            <a:ext cx="10693400" cy="47250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pic>
        <p:nvPicPr>
          <p:cNvPr id="7" name="Bild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9010" y="900039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0678" y="6555227"/>
            <a:ext cx="2052404" cy="58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804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960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8125609" y="607669"/>
            <a:ext cx="2399967" cy="814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9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25714" y="1561496"/>
            <a:ext cx="9276185" cy="5215887"/>
          </a:xfrm>
        </p:spPr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489412" y="289523"/>
            <a:ext cx="6057271" cy="634667"/>
          </a:xfrm>
          <a:noFill/>
        </p:spPr>
        <p:txBody>
          <a:bodyPr/>
          <a:lstStyle>
            <a:lvl1pPr>
              <a:defRPr sz="2807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999378" y="7660642"/>
            <a:ext cx="3674028" cy="40231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1/28/25</a:t>
            </a:fld>
            <a:endParaRPr lang="en-US"/>
          </a:p>
        </p:txBody>
      </p:sp>
      <p:pic>
        <p:nvPicPr>
          <p:cNvPr id="8" name="Bild 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27926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23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19880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78270" y="4651023"/>
            <a:ext cx="4226089" cy="647200"/>
          </a:xfrm>
        </p:spPr>
        <p:txBody>
          <a:bodyPr anchor="ctr">
            <a:noAutofit/>
          </a:bodyPr>
          <a:lstStyle>
            <a:lvl1pPr algn="r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5662485" y="7745366"/>
            <a:ext cx="2216544" cy="40231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7296" y="7745366"/>
            <a:ext cx="4673619" cy="40231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-234670" y="7745366"/>
            <a:ext cx="475442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23824" y="7946516"/>
            <a:ext cx="2486464" cy="728813"/>
          </a:xfrm>
          <a:prstGeom prst="rect">
            <a:avLst/>
          </a:prstGeom>
        </p:spPr>
      </p:pic>
      <p:sp>
        <p:nvSpPr>
          <p:cNvPr id="13" name="Rechteck 12"/>
          <p:cNvSpPr/>
          <p:nvPr/>
        </p:nvSpPr>
        <p:spPr>
          <a:xfrm>
            <a:off x="7620352" y="128513"/>
            <a:ext cx="2842066" cy="1564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14" name="Rechteck 13"/>
          <p:cNvSpPr/>
          <p:nvPr/>
        </p:nvSpPr>
        <p:spPr>
          <a:xfrm>
            <a:off x="-4707" y="6441507"/>
            <a:ext cx="10701158" cy="1114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</p:spTree>
    <p:extLst>
      <p:ext uri="{BB962C8B-B14F-4D97-AF65-F5344CB8AC3E}">
        <p14:creationId xmlns:p14="http://schemas.microsoft.com/office/powerpoint/2010/main" val="556794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35171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413534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4202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747359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GB"/>
              <a:t>Click to edit Master text styles</a:t>
            </a:r>
          </a:p>
          <a:p>
            <a:pPr lvl="1" eaLnBrk="1" latinLnBrk="0" hangingPunct="1"/>
            <a:r>
              <a:rPr lang="en-GB"/>
              <a:t>Second level</a:t>
            </a:r>
          </a:p>
          <a:p>
            <a:pPr lvl="2" eaLnBrk="1" latinLnBrk="0" hangingPunct="1"/>
            <a:r>
              <a:rPr lang="en-GB"/>
              <a:t>Third level</a:t>
            </a:r>
          </a:p>
          <a:p>
            <a:pPr lvl="3" eaLnBrk="1" latinLnBrk="0" hangingPunct="1"/>
            <a:r>
              <a:rPr lang="en-GB"/>
              <a:t>Fourth level</a:t>
            </a:r>
          </a:p>
          <a:p>
            <a:pPr lvl="4" eaLnBrk="1" latinLnBrk="0" hangingPunct="1"/>
            <a:r>
              <a:rPr lang="en-GB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46789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/>
        </p:nvSpPr>
        <p:spPr>
          <a:xfrm>
            <a:off x="7683509" y="3"/>
            <a:ext cx="2842066" cy="14773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10" y="900050"/>
            <a:ext cx="6118333" cy="647200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l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36675" y="3968914"/>
            <a:ext cx="8020050" cy="1824406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73" indent="0" algn="ctr">
              <a:buNone/>
              <a:defRPr sz="1754"/>
            </a:lvl2pPr>
            <a:lvl3pPr marL="801945" indent="0" algn="ctr">
              <a:buNone/>
              <a:defRPr sz="1579"/>
            </a:lvl3pPr>
            <a:lvl4pPr marL="1202916" indent="0" algn="ctr">
              <a:buNone/>
              <a:defRPr sz="1403"/>
            </a:lvl4pPr>
            <a:lvl5pPr marL="1603890" indent="0" algn="ctr">
              <a:buNone/>
              <a:defRPr sz="1403"/>
            </a:lvl5pPr>
            <a:lvl6pPr marL="2004861" indent="0" algn="ctr">
              <a:buNone/>
              <a:defRPr sz="1403"/>
            </a:lvl6pPr>
            <a:lvl7pPr marL="2405833" indent="0" algn="ctr">
              <a:buNone/>
              <a:defRPr sz="1403"/>
            </a:lvl7pPr>
            <a:lvl8pPr marL="2806804" indent="0" algn="ctr">
              <a:buNone/>
              <a:defRPr sz="1403"/>
            </a:lvl8pPr>
            <a:lvl9pPr marL="3207777" indent="0" algn="ctr">
              <a:buNone/>
              <a:defRPr sz="1403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988585" y="1471734"/>
            <a:ext cx="3674028" cy="402313"/>
          </a:xfrm>
          <a:solidFill>
            <a:schemeClr val="accent1"/>
          </a:solidFill>
        </p:spPr>
        <p:txBody>
          <a:bodyPr/>
          <a:lstStyle/>
          <a:p>
            <a:fld id="{1D8BD707-D9CF-40AE-B4C6-C98DA3205C09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8" name="Rechteck 7"/>
          <p:cNvSpPr/>
          <p:nvPr/>
        </p:nvSpPr>
        <p:spPr>
          <a:xfrm>
            <a:off x="0" y="2826149"/>
            <a:ext cx="10693400" cy="47250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pic>
        <p:nvPicPr>
          <p:cNvPr id="7" name="Bild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9010" y="900039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0678" y="6555227"/>
            <a:ext cx="2052404" cy="58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580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21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8125609" y="607669"/>
            <a:ext cx="2399967" cy="814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9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25714" y="1561496"/>
            <a:ext cx="9276185" cy="5215887"/>
          </a:xfrm>
        </p:spPr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489412" y="289523"/>
            <a:ext cx="6057271" cy="634667"/>
          </a:xfrm>
          <a:noFill/>
        </p:spPr>
        <p:txBody>
          <a:bodyPr/>
          <a:lstStyle>
            <a:lvl1pPr>
              <a:defRPr sz="2807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999378" y="7660642"/>
            <a:ext cx="3674028" cy="40231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1/28/25</a:t>
            </a:fld>
            <a:endParaRPr lang="en-US"/>
          </a:p>
        </p:txBody>
      </p:sp>
      <p:pic>
        <p:nvPicPr>
          <p:cNvPr id="8" name="Bild 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27926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456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502233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78270" y="4651023"/>
            <a:ext cx="4226089" cy="647200"/>
          </a:xfrm>
        </p:spPr>
        <p:txBody>
          <a:bodyPr anchor="ctr">
            <a:noAutofit/>
          </a:bodyPr>
          <a:lstStyle>
            <a:lvl1pPr algn="r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5662485" y="7745366"/>
            <a:ext cx="2216544" cy="40231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7296" y="7745366"/>
            <a:ext cx="4673619" cy="40231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-234670" y="7745366"/>
            <a:ext cx="475442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23824" y="7946516"/>
            <a:ext cx="2486464" cy="728813"/>
          </a:xfrm>
          <a:prstGeom prst="rect">
            <a:avLst/>
          </a:prstGeom>
        </p:spPr>
      </p:pic>
      <p:sp>
        <p:nvSpPr>
          <p:cNvPr id="13" name="Rechteck 12"/>
          <p:cNvSpPr/>
          <p:nvPr/>
        </p:nvSpPr>
        <p:spPr>
          <a:xfrm>
            <a:off x="7620352" y="128513"/>
            <a:ext cx="2842066" cy="1564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14" name="Rechteck 13"/>
          <p:cNvSpPr/>
          <p:nvPr/>
        </p:nvSpPr>
        <p:spPr>
          <a:xfrm>
            <a:off x="-4707" y="6441507"/>
            <a:ext cx="10701158" cy="1114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</p:spTree>
    <p:extLst>
      <p:ext uri="{BB962C8B-B14F-4D97-AF65-F5344CB8AC3E}">
        <p14:creationId xmlns:p14="http://schemas.microsoft.com/office/powerpoint/2010/main" val="9910908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35171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413534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49490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750785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GB"/>
              <a:t>Click to edit Master text styles</a:t>
            </a:r>
          </a:p>
          <a:p>
            <a:pPr lvl="1" eaLnBrk="1" latinLnBrk="0" hangingPunct="1"/>
            <a:r>
              <a:rPr lang="en-GB"/>
              <a:t>Second level</a:t>
            </a:r>
          </a:p>
          <a:p>
            <a:pPr lvl="2" eaLnBrk="1" latinLnBrk="0" hangingPunct="1"/>
            <a:r>
              <a:rPr lang="en-GB"/>
              <a:t>Third level</a:t>
            </a:r>
          </a:p>
          <a:p>
            <a:pPr lvl="3" eaLnBrk="1" latinLnBrk="0" hangingPunct="1"/>
            <a:r>
              <a:rPr lang="en-GB"/>
              <a:t>Fourth level</a:t>
            </a:r>
          </a:p>
          <a:p>
            <a:pPr lvl="4" eaLnBrk="1" latinLnBrk="0" hangingPunct="1"/>
            <a:r>
              <a:rPr lang="en-GB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59438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74" b="1" i="0">
                <a:solidFill>
                  <a:srgbClr val="66666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8547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6770812"/>
            <a:ext cx="10693400" cy="7804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634667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162000" rIns="91440" bIns="90000" rtlCol="0" anchor="ctr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25714" y="2264355"/>
            <a:ext cx="9276185" cy="4369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988585" y="1176914"/>
            <a:ext cx="3674028" cy="40231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lvl1pPr algn="l">
              <a:defRPr sz="1491" baseline="0">
                <a:solidFill>
                  <a:schemeClr val="bg1"/>
                </a:solidFill>
                <a:latin typeface="TheSansOffice" charset="0"/>
                <a:ea typeface="TheSansOffice" charset="0"/>
                <a:cs typeface="TheSansOffice" charset="0"/>
              </a:defRPr>
            </a:lvl1pPr>
          </a:lstStyle>
          <a:p>
            <a:fld id="{1D8BD707-D9CF-40AE-B4C6-C98DA3205C09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14792" y="6946334"/>
            <a:ext cx="4900009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87110" y="6946334"/>
            <a:ext cx="475442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pic>
        <p:nvPicPr>
          <p:cNvPr id="8" name="Bild 7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3730" y="6832026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60457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1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7" r:id="rId8"/>
  </p:sldLayoutIdLst>
  <p:txStyles>
    <p:titleStyle>
      <a:lvl1pPr marL="78932" algn="l" defTabSz="801945" rtl="0" eaLnBrk="1" fontAlgn="ctr" latinLnBrk="0" hangingPunct="1">
        <a:lnSpc>
          <a:spcPct val="90000"/>
        </a:lnSpc>
        <a:spcBef>
          <a:spcPct val="0"/>
        </a:spcBef>
        <a:buNone/>
        <a:defRPr sz="2193" b="0" i="0" kern="1200" baseline="0">
          <a:solidFill>
            <a:schemeClr val="bg1"/>
          </a:solidFill>
          <a:latin typeface="TheSansOffice" panose="020B0503040302060204" pitchFamily="34" charset="0"/>
          <a:ea typeface="+mj-ea"/>
          <a:cs typeface="+mj-cs"/>
        </a:defRPr>
      </a:lvl1pPr>
    </p:titleStyle>
    <p:bodyStyle>
      <a:lvl1pPr marL="251999" indent="-251999" algn="l" defTabSz="252581" rtl="0" eaLnBrk="1" latinLnBrk="0" hangingPunct="1">
        <a:lnSpc>
          <a:spcPct val="100000"/>
        </a:lnSpc>
        <a:spcBef>
          <a:spcPts val="877"/>
        </a:spcBef>
        <a:buClr>
          <a:srgbClr val="66CC33"/>
        </a:buClr>
        <a:buSzPct val="130000"/>
        <a:buFontTx/>
        <a:buBlip>
          <a:blip r:embed="rId12"/>
        </a:buBlip>
        <a:defRPr sz="1754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1pPr>
      <a:lvl2pPr marL="505162" indent="-252581" algn="l" defTabSz="252581" rtl="0" eaLnBrk="1" latinLnBrk="0" hangingPunct="1">
        <a:lnSpc>
          <a:spcPct val="90000"/>
        </a:lnSpc>
        <a:spcBef>
          <a:spcPts val="439"/>
        </a:spcBef>
        <a:buClr>
          <a:srgbClr val="66CC33"/>
        </a:buClr>
        <a:buSzPct val="130000"/>
        <a:buFontTx/>
        <a:buBlip>
          <a:blip r:embed="rId12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2pPr>
      <a:lvl3pPr marL="757742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2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3pPr>
      <a:lvl4pPr marL="101032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2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4pPr>
      <a:lvl5pPr marL="126290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2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5pPr>
      <a:lvl6pPr marL="2205347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318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91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264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7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45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916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9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61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83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804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77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0">
          <p15:clr>
            <a:srgbClr val="F26B43"/>
          </p15:clr>
        </p15:guide>
        <p15:guide id="2" pos="657">
          <p15:clr>
            <a:srgbClr val="F26B43"/>
          </p15:clr>
        </p15:guide>
        <p15:guide id="3" pos="7420">
          <p15:clr>
            <a:srgbClr val="F26B43"/>
          </p15:clr>
        </p15:guide>
        <p15:guide id="4" pos="7327">
          <p15:clr>
            <a:srgbClr val="F26B43"/>
          </p15:clr>
        </p15:guide>
        <p15:guide id="5" pos="5940">
          <p15:clr>
            <a:srgbClr val="F26B43"/>
          </p15:clr>
        </p15:guide>
        <p15:guide id="6" pos="6017">
          <p15:clr>
            <a:srgbClr val="F26B43"/>
          </p15:clr>
        </p15:guide>
        <p15:guide id="7" orient="horz" pos="386">
          <p15:clr>
            <a:srgbClr val="F26B43"/>
          </p15:clr>
        </p15:guide>
        <p15:guide id="8" orient="horz" pos="796">
          <p15:clr>
            <a:srgbClr val="F26B43"/>
          </p15:clr>
        </p15:guide>
        <p15:guide id="9" pos="353">
          <p15:clr>
            <a:srgbClr val="F26B43"/>
          </p15:clr>
        </p15:guide>
        <p15:guide id="10" pos="459">
          <p15:clr>
            <a:srgbClr val="F26B43"/>
          </p15:clr>
        </p15:guide>
        <p15:guide id="11" pos="711">
          <p15:clr>
            <a:srgbClr val="F26B43"/>
          </p15:clr>
        </p15:guide>
        <p15:guide id="12" orient="horz" pos="74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6770812"/>
            <a:ext cx="10693400" cy="7804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634667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162000" rIns="91440" bIns="90000" rtlCol="0" anchor="ctr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25714" y="2264355"/>
            <a:ext cx="9276185" cy="4369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988585" y="1176914"/>
            <a:ext cx="3674028" cy="40231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lvl1pPr algn="l">
              <a:defRPr sz="1491" baseline="0">
                <a:solidFill>
                  <a:schemeClr val="bg1"/>
                </a:solidFill>
                <a:latin typeface="TheSansOffice" charset="0"/>
                <a:ea typeface="TheSansOffice" charset="0"/>
                <a:cs typeface="TheSansOffice" charset="0"/>
              </a:defRPr>
            </a:lvl1pPr>
          </a:lstStyle>
          <a:p>
            <a:fld id="{1D8BD707-D9CF-40AE-B4C6-C98DA3205C09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14792" y="6946334"/>
            <a:ext cx="4900009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87110" y="6946334"/>
            <a:ext cx="475442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pic>
        <p:nvPicPr>
          <p:cNvPr id="8" name="Bild 7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3730" y="6832026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60457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47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8" r:id="rId9"/>
  </p:sldLayoutIdLst>
  <p:txStyles>
    <p:titleStyle>
      <a:lvl1pPr marL="78932" algn="l" defTabSz="801945" rtl="0" eaLnBrk="1" fontAlgn="ctr" latinLnBrk="0" hangingPunct="1">
        <a:lnSpc>
          <a:spcPct val="90000"/>
        </a:lnSpc>
        <a:spcBef>
          <a:spcPct val="0"/>
        </a:spcBef>
        <a:buNone/>
        <a:defRPr sz="2193" b="0" i="0" kern="1200" baseline="0">
          <a:solidFill>
            <a:schemeClr val="bg1"/>
          </a:solidFill>
          <a:latin typeface="TheSansOffice" panose="020B0503040302060204" pitchFamily="34" charset="0"/>
          <a:ea typeface="+mj-ea"/>
          <a:cs typeface="+mj-cs"/>
        </a:defRPr>
      </a:lvl1pPr>
    </p:titleStyle>
    <p:bodyStyle>
      <a:lvl1pPr marL="251999" indent="-251999" algn="l" defTabSz="252581" rtl="0" eaLnBrk="1" latinLnBrk="0" hangingPunct="1">
        <a:lnSpc>
          <a:spcPct val="100000"/>
        </a:lnSpc>
        <a:spcBef>
          <a:spcPts val="877"/>
        </a:spcBef>
        <a:buClr>
          <a:srgbClr val="66CC33"/>
        </a:buClr>
        <a:buSzPct val="130000"/>
        <a:buFontTx/>
        <a:buBlip>
          <a:blip r:embed="rId13"/>
        </a:buBlip>
        <a:defRPr sz="1754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1pPr>
      <a:lvl2pPr marL="505162" indent="-252581" algn="l" defTabSz="252581" rtl="0" eaLnBrk="1" latinLnBrk="0" hangingPunct="1">
        <a:lnSpc>
          <a:spcPct val="9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2pPr>
      <a:lvl3pPr marL="757742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3pPr>
      <a:lvl4pPr marL="101032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4pPr>
      <a:lvl5pPr marL="126290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5pPr>
      <a:lvl6pPr marL="2205347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318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91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264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7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45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916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9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61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83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804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77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0">
          <p15:clr>
            <a:srgbClr val="F26B43"/>
          </p15:clr>
        </p15:guide>
        <p15:guide id="2" pos="657">
          <p15:clr>
            <a:srgbClr val="F26B43"/>
          </p15:clr>
        </p15:guide>
        <p15:guide id="3" pos="7420">
          <p15:clr>
            <a:srgbClr val="F26B43"/>
          </p15:clr>
        </p15:guide>
        <p15:guide id="4" pos="7327">
          <p15:clr>
            <a:srgbClr val="F26B43"/>
          </p15:clr>
        </p15:guide>
        <p15:guide id="5" pos="5940">
          <p15:clr>
            <a:srgbClr val="F26B43"/>
          </p15:clr>
        </p15:guide>
        <p15:guide id="6" pos="6017">
          <p15:clr>
            <a:srgbClr val="F26B43"/>
          </p15:clr>
        </p15:guide>
        <p15:guide id="7" orient="horz" pos="386">
          <p15:clr>
            <a:srgbClr val="F26B43"/>
          </p15:clr>
        </p15:guide>
        <p15:guide id="8" orient="horz" pos="796">
          <p15:clr>
            <a:srgbClr val="F26B43"/>
          </p15:clr>
        </p15:guide>
        <p15:guide id="9" pos="353">
          <p15:clr>
            <a:srgbClr val="F26B43"/>
          </p15:clr>
        </p15:guide>
        <p15:guide id="10" pos="459">
          <p15:clr>
            <a:srgbClr val="F26B43"/>
          </p15:clr>
        </p15:guide>
        <p15:guide id="11" pos="711">
          <p15:clr>
            <a:srgbClr val="F26B43"/>
          </p15:clr>
        </p15:guide>
        <p15:guide id="12" orient="horz" pos="74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5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0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56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016034" y="2016033"/>
            <a:ext cx="7576133" cy="354406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28514" y="3385323"/>
            <a:ext cx="4799219" cy="354219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806415" y="2207420"/>
            <a:ext cx="7556028" cy="3141187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95870" y="1783170"/>
            <a:ext cx="5298036" cy="3586101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8910" y="3048940"/>
            <a:ext cx="2526727" cy="3384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>
              <a:tabLst>
                <a:tab pos="2699385" algn="l"/>
                <a:tab pos="5770880" algn="l"/>
              </a:tabLst>
            </a:pPr>
            <a:r>
              <a:rPr lang="en-US" sz="2400" b="1">
                <a:solidFill>
                  <a:srgbClr val="FFFFFF"/>
                </a:solidFill>
                <a:latin typeface="+mj-lt"/>
              </a:rPr>
              <a:t>Datenbanksysteme</a:t>
            </a:r>
            <a:endParaRPr lang="en-US" sz="24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8911" y="889000"/>
            <a:ext cx="2560854" cy="16462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Christoph M.A. Scheich  </a:t>
            </a:r>
          </a:p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Angewandte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Informatik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Hochschule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Fulda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Christoph.scheich@informatik.hs-fulda.de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56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016034" y="2016033"/>
            <a:ext cx="7576133" cy="354406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28514" y="3385323"/>
            <a:ext cx="4799219" cy="354219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806415" y="2207420"/>
            <a:ext cx="7556028" cy="3141187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95870" y="1783170"/>
            <a:ext cx="5298036" cy="3586101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8910" y="3048940"/>
            <a:ext cx="2526727" cy="3384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>
              <a:tabLst>
                <a:tab pos="2699385" algn="l"/>
                <a:tab pos="5770880" algn="l"/>
              </a:tabLst>
            </a:pPr>
            <a:r>
              <a:rPr lang="en-US" sz="2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Datenbanksysteme</a:t>
            </a:r>
            <a:r>
              <a:rPr lang="en-US" sz="2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</a:t>
            </a:r>
            <a:r>
              <a:rPr lang="en-US" sz="2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Relationale</a:t>
            </a:r>
            <a:r>
              <a:rPr lang="en-US" sz="2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Entwurfstheorie</a:t>
            </a:r>
            <a:r>
              <a:rPr lang="en-US" sz="2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</a:t>
            </a:r>
            <a:r>
              <a:rPr lang="en-US" sz="2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insb</a:t>
            </a:r>
            <a:r>
              <a:rPr lang="en-US" sz="2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 </a:t>
            </a:r>
            <a:r>
              <a:rPr lang="en-US" sz="2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Normalisierung</a:t>
            </a:r>
            <a:r>
              <a:rPr lang="en-US" sz="2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8911" y="889000"/>
            <a:ext cx="2560854" cy="16462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Christoph M.A. Scheich  </a:t>
            </a:r>
          </a:p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Angewandte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Informatik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Hochschule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Fulda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Christoph.scheich@informatik.hs-fulda.de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17791E-00C4-1F5E-BF0A-5A76128321B9}"/>
              </a:ext>
            </a:extLst>
          </p:cNvPr>
          <p:cNvSpPr txBox="1"/>
          <p:nvPr/>
        </p:nvSpPr>
        <p:spPr>
          <a:xfrm>
            <a:off x="4051300" y="1492250"/>
            <a:ext cx="624109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 err="1"/>
              <a:t>Wiederholung</a:t>
            </a:r>
            <a:r>
              <a:rPr lang="en-US" sz="3600" dirty="0"/>
              <a:t> und </a:t>
            </a:r>
            <a:r>
              <a:rPr lang="en-US" sz="3600" dirty="0" err="1"/>
              <a:t>Zusammenfassung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 err="1"/>
              <a:t>Normalformen</a:t>
            </a:r>
            <a:r>
              <a:rPr lang="en-US" sz="3600" dirty="0"/>
              <a:t> &amp; </a:t>
            </a:r>
            <a:r>
              <a:rPr lang="en-US" sz="3600" dirty="0" err="1"/>
              <a:t>funktionale</a:t>
            </a:r>
            <a:r>
              <a:rPr lang="en-US" sz="3600" dirty="0"/>
              <a:t> </a:t>
            </a:r>
            <a:r>
              <a:rPr lang="en-US" sz="3600" dirty="0" err="1"/>
              <a:t>Abhängigkeiten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 err="1"/>
              <a:t>Bestimmung</a:t>
            </a:r>
            <a:r>
              <a:rPr lang="en-US" sz="3600" dirty="0"/>
              <a:t> </a:t>
            </a:r>
            <a:r>
              <a:rPr lang="en-US" sz="3600" dirty="0" err="1"/>
              <a:t>funktionaler</a:t>
            </a:r>
            <a:r>
              <a:rPr lang="en-US" sz="3600" dirty="0"/>
              <a:t> </a:t>
            </a:r>
            <a:r>
              <a:rPr lang="en-US" sz="3600" dirty="0" err="1"/>
              <a:t>Abhängigkeiten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/>
              <a:t>Transitive </a:t>
            </a:r>
            <a:r>
              <a:rPr lang="en-US" sz="3600" dirty="0" err="1"/>
              <a:t>Hüllen</a:t>
            </a:r>
            <a:r>
              <a:rPr lang="en-US" sz="3600" dirty="0"/>
              <a:t>, </a:t>
            </a:r>
            <a:r>
              <a:rPr lang="en-US" sz="3600" dirty="0" err="1"/>
              <a:t>Superkeys</a:t>
            </a:r>
            <a:r>
              <a:rPr lang="en-US" sz="3600" dirty="0"/>
              <a:t> &amp; Keys</a:t>
            </a:r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97239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BEDD5-203B-A421-DF6D-34B92C38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2" y="614833"/>
            <a:ext cx="7067088" cy="634667"/>
          </a:xfrm>
        </p:spPr>
        <p:txBody>
          <a:bodyPr/>
          <a:lstStyle/>
          <a:p>
            <a:r>
              <a:rPr lang="en-US" sz="3200" dirty="0" err="1"/>
              <a:t>Wiederholung</a:t>
            </a:r>
            <a:r>
              <a:rPr lang="en-US" sz="3200" dirty="0"/>
              <a:t> und </a:t>
            </a:r>
            <a:r>
              <a:rPr lang="en-US" sz="3200" dirty="0" err="1"/>
              <a:t>Zusammenfassung</a:t>
            </a:r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7025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E980-5828-8161-C807-4D6BC51B2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Entwurfstheorie</a:t>
            </a:r>
            <a:r>
              <a:rPr lang="en-US" dirty="0"/>
              <a:t> </a:t>
            </a:r>
            <a:r>
              <a:rPr lang="en-US" dirty="0" err="1"/>
              <a:t>soweit</a:t>
            </a:r>
            <a:endParaRPr lang="en-US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759DDF65-D768-4380-7DAD-DD887383713D}"/>
              </a:ext>
            </a:extLst>
          </p:cNvPr>
          <p:cNvSpPr txBox="1"/>
          <p:nvPr/>
        </p:nvSpPr>
        <p:spPr>
          <a:xfrm>
            <a:off x="698500" y="2254250"/>
            <a:ext cx="8508365" cy="3296608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Entitäten werden basierend auf Verständnis des Ablaufes / Businessprozess </a:t>
            </a:r>
            <a:r>
              <a:rPr lang="de-DE" sz="2400" spc="-5" dirty="0" err="1">
                <a:latin typeface="Tahoma"/>
                <a:cs typeface="Tahoma"/>
              </a:rPr>
              <a:t>identifziert</a:t>
            </a:r>
            <a:endParaRPr sz="2400" dirty="0">
              <a:latin typeface="Tahoma"/>
              <a:cs typeface="Tahoma"/>
            </a:endParaRPr>
          </a:p>
          <a:p>
            <a:pPr marL="12700" marR="175895">
              <a:lnSpc>
                <a:spcPct val="102800"/>
              </a:lnSpc>
              <a:spcBef>
                <a:spcPts val="128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Dabei werden Anomalien vermieden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Es sollen aber auch Nullwerte vermieden werden</a:t>
            </a:r>
          </a:p>
          <a:p>
            <a:pPr marL="12700">
              <a:lnSpc>
                <a:spcPct val="100000"/>
              </a:lnSpc>
              <a:spcBef>
                <a:spcPts val="88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endParaRPr lang="de-DE" sz="2400" spc="-5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spc="-5" dirty="0">
                <a:latin typeface="Tahoma"/>
                <a:cs typeface="Tahoma"/>
              </a:rPr>
              <a:t> Das Arbeiten mit den Daten wird dann mittels relationaler Algebra (SQL als technischer Implementation) durchgeführt</a:t>
            </a:r>
            <a:endParaRPr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546113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2083D-B80A-B075-DB58-12597B0B1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3" y="425450"/>
            <a:ext cx="4247688" cy="540000"/>
          </a:xfrm>
        </p:spPr>
        <p:txBody>
          <a:bodyPr/>
          <a:lstStyle/>
          <a:p>
            <a:r>
              <a:rPr lang="en-US" dirty="0" err="1"/>
              <a:t>Widerholung</a:t>
            </a:r>
            <a:r>
              <a:rPr lang="en-US" dirty="0"/>
              <a:t> - ER </a:t>
            </a:r>
            <a:r>
              <a:rPr lang="en-US" dirty="0" err="1"/>
              <a:t>Diagramme</a:t>
            </a:r>
            <a:endParaRPr lang="en-US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9AF1418-EBC3-8275-82F9-64FDB0C4587A}"/>
              </a:ext>
            </a:extLst>
          </p:cNvPr>
          <p:cNvSpPr txBox="1"/>
          <p:nvPr/>
        </p:nvSpPr>
        <p:spPr>
          <a:xfrm>
            <a:off x="2178053" y="2105026"/>
            <a:ext cx="1631950" cy="4559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205740">
              <a:lnSpc>
                <a:spcPct val="100000"/>
              </a:lnSpc>
              <a:spcBef>
                <a:spcPts val="350"/>
              </a:spcBef>
            </a:pPr>
            <a:r>
              <a:rPr sz="2400" spc="-5" dirty="0">
                <a:latin typeface="Times New Roman"/>
                <a:cs typeface="Times New Roman"/>
              </a:rPr>
              <a:t>Studenten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3F901DA-E2B8-D43F-99F8-2124E978ABE8}"/>
              </a:ext>
            </a:extLst>
          </p:cNvPr>
          <p:cNvSpPr txBox="1"/>
          <p:nvPr/>
        </p:nvSpPr>
        <p:spPr>
          <a:xfrm>
            <a:off x="1993904" y="5911851"/>
            <a:ext cx="1631950" cy="4559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350"/>
              </a:spcBef>
            </a:pPr>
            <a:r>
              <a:rPr sz="2400" spc="-5" dirty="0">
                <a:latin typeface="Times New Roman"/>
                <a:cs typeface="Times New Roman"/>
              </a:rPr>
              <a:t>Assistenten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3AFE7CE7-9EAC-3F57-C7F8-FCE0C8ED697C}"/>
              </a:ext>
            </a:extLst>
          </p:cNvPr>
          <p:cNvSpPr/>
          <p:nvPr/>
        </p:nvSpPr>
        <p:spPr>
          <a:xfrm>
            <a:off x="317500" y="12636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704053" y="0"/>
                </a:moveTo>
                <a:lnTo>
                  <a:pt x="636248" y="1249"/>
                </a:lnTo>
                <a:lnTo>
                  <a:pt x="570267" y="4923"/>
                </a:lnTo>
                <a:lnTo>
                  <a:pt x="506404" y="10906"/>
                </a:lnTo>
                <a:lnTo>
                  <a:pt x="444955" y="19083"/>
                </a:lnTo>
                <a:lnTo>
                  <a:pt x="386215" y="29341"/>
                </a:lnTo>
                <a:lnTo>
                  <a:pt x="330478" y="41565"/>
                </a:lnTo>
                <a:lnTo>
                  <a:pt x="278040" y="55640"/>
                </a:lnTo>
                <a:lnTo>
                  <a:pt x="229195" y="71453"/>
                </a:lnTo>
                <a:lnTo>
                  <a:pt x="184240" y="88888"/>
                </a:lnTo>
                <a:lnTo>
                  <a:pt x="143468" y="107831"/>
                </a:lnTo>
                <a:lnTo>
                  <a:pt x="107175" y="128168"/>
                </a:lnTo>
                <a:lnTo>
                  <a:pt x="75656" y="149784"/>
                </a:lnTo>
                <a:lnTo>
                  <a:pt x="28121" y="196397"/>
                </a:lnTo>
                <a:lnTo>
                  <a:pt x="3222" y="246753"/>
                </a:lnTo>
                <a:lnTo>
                  <a:pt x="0" y="273050"/>
                </a:lnTo>
                <a:lnTo>
                  <a:pt x="3222" y="299346"/>
                </a:lnTo>
                <a:lnTo>
                  <a:pt x="28121" y="349702"/>
                </a:lnTo>
                <a:lnTo>
                  <a:pt x="75656" y="396315"/>
                </a:lnTo>
                <a:lnTo>
                  <a:pt x="107175" y="417931"/>
                </a:lnTo>
                <a:lnTo>
                  <a:pt x="143468" y="438268"/>
                </a:lnTo>
                <a:lnTo>
                  <a:pt x="184240" y="457211"/>
                </a:lnTo>
                <a:lnTo>
                  <a:pt x="229195" y="474646"/>
                </a:lnTo>
                <a:lnTo>
                  <a:pt x="278040" y="490459"/>
                </a:lnTo>
                <a:lnTo>
                  <a:pt x="330478" y="504534"/>
                </a:lnTo>
                <a:lnTo>
                  <a:pt x="386215" y="516758"/>
                </a:lnTo>
                <a:lnTo>
                  <a:pt x="444955" y="527016"/>
                </a:lnTo>
                <a:lnTo>
                  <a:pt x="506404" y="535193"/>
                </a:lnTo>
                <a:lnTo>
                  <a:pt x="570267" y="541176"/>
                </a:lnTo>
                <a:lnTo>
                  <a:pt x="636248" y="544850"/>
                </a:lnTo>
                <a:lnTo>
                  <a:pt x="704053" y="546100"/>
                </a:lnTo>
                <a:lnTo>
                  <a:pt x="771860" y="544850"/>
                </a:lnTo>
                <a:lnTo>
                  <a:pt x="837843" y="541176"/>
                </a:lnTo>
                <a:lnTo>
                  <a:pt x="901707" y="535193"/>
                </a:lnTo>
                <a:lnTo>
                  <a:pt x="963158" y="527016"/>
                </a:lnTo>
                <a:lnTo>
                  <a:pt x="1021899" y="516758"/>
                </a:lnTo>
                <a:lnTo>
                  <a:pt x="1077637" y="504534"/>
                </a:lnTo>
                <a:lnTo>
                  <a:pt x="1130076" y="490459"/>
                </a:lnTo>
                <a:lnTo>
                  <a:pt x="1178920" y="474646"/>
                </a:lnTo>
                <a:lnTo>
                  <a:pt x="1223876" y="457211"/>
                </a:lnTo>
                <a:lnTo>
                  <a:pt x="1264648" y="438268"/>
                </a:lnTo>
                <a:lnTo>
                  <a:pt x="1300941" y="417931"/>
                </a:lnTo>
                <a:lnTo>
                  <a:pt x="1332459" y="396315"/>
                </a:lnTo>
                <a:lnTo>
                  <a:pt x="1379994" y="349702"/>
                </a:lnTo>
                <a:lnTo>
                  <a:pt x="1404893" y="299346"/>
                </a:lnTo>
                <a:lnTo>
                  <a:pt x="1408116" y="273050"/>
                </a:lnTo>
                <a:lnTo>
                  <a:pt x="1404893" y="246753"/>
                </a:lnTo>
                <a:lnTo>
                  <a:pt x="1379994" y="196397"/>
                </a:lnTo>
                <a:lnTo>
                  <a:pt x="1332459" y="149784"/>
                </a:lnTo>
                <a:lnTo>
                  <a:pt x="1300941" y="128168"/>
                </a:lnTo>
                <a:lnTo>
                  <a:pt x="1264648" y="107831"/>
                </a:lnTo>
                <a:lnTo>
                  <a:pt x="1223876" y="88888"/>
                </a:lnTo>
                <a:lnTo>
                  <a:pt x="1178920" y="71453"/>
                </a:lnTo>
                <a:lnTo>
                  <a:pt x="1130076" y="55640"/>
                </a:lnTo>
                <a:lnTo>
                  <a:pt x="1077637" y="41565"/>
                </a:lnTo>
                <a:lnTo>
                  <a:pt x="1021899" y="29341"/>
                </a:lnTo>
                <a:lnTo>
                  <a:pt x="963158" y="19083"/>
                </a:lnTo>
                <a:lnTo>
                  <a:pt x="901707" y="10906"/>
                </a:lnTo>
                <a:lnTo>
                  <a:pt x="837843" y="4923"/>
                </a:lnTo>
                <a:lnTo>
                  <a:pt x="771860" y="1249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13500EB6-1F4E-B847-F69C-147F175C1E03}"/>
              </a:ext>
            </a:extLst>
          </p:cNvPr>
          <p:cNvSpPr/>
          <p:nvPr/>
        </p:nvSpPr>
        <p:spPr>
          <a:xfrm>
            <a:off x="317500" y="12636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0" y="273049"/>
                </a:moveTo>
                <a:lnTo>
                  <a:pt x="12695" y="221163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7" y="196396"/>
                </a:lnTo>
                <a:lnTo>
                  <a:pt x="1404886" y="246753"/>
                </a:lnTo>
                <a:lnTo>
                  <a:pt x="1408108" y="273049"/>
                </a:lnTo>
                <a:lnTo>
                  <a:pt x="1404886" y="299346"/>
                </a:lnTo>
                <a:lnTo>
                  <a:pt x="1379987" y="349703"/>
                </a:lnTo>
                <a:lnTo>
                  <a:pt x="1332453" y="396315"/>
                </a:lnTo>
                <a:lnTo>
                  <a:pt x="1300935" y="417932"/>
                </a:lnTo>
                <a:lnTo>
                  <a:pt x="1264643" y="438268"/>
                </a:lnTo>
                <a:lnTo>
                  <a:pt x="1223871" y="457212"/>
                </a:lnTo>
                <a:lnTo>
                  <a:pt x="1178916" y="474646"/>
                </a:lnTo>
                <a:lnTo>
                  <a:pt x="1130072" y="490459"/>
                </a:lnTo>
                <a:lnTo>
                  <a:pt x="1077634" y="504534"/>
                </a:lnTo>
                <a:lnTo>
                  <a:pt x="1021897" y="516757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5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5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7"/>
                </a:lnTo>
                <a:lnTo>
                  <a:pt x="330478" y="504534"/>
                </a:lnTo>
                <a:lnTo>
                  <a:pt x="278040" y="490459"/>
                </a:lnTo>
                <a:lnTo>
                  <a:pt x="229195" y="474646"/>
                </a:lnTo>
                <a:lnTo>
                  <a:pt x="184240" y="457212"/>
                </a:lnTo>
                <a:lnTo>
                  <a:pt x="143468" y="438268"/>
                </a:lnTo>
                <a:lnTo>
                  <a:pt x="107175" y="417932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4EE67741-893B-0AEC-CAEE-6782A63527B5}"/>
              </a:ext>
            </a:extLst>
          </p:cNvPr>
          <p:cNvSpPr txBox="1"/>
          <p:nvPr/>
        </p:nvSpPr>
        <p:spPr>
          <a:xfrm>
            <a:off x="551653" y="1341121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at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rNr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F883A73B-316A-5192-5DA6-ECC350B8238B}"/>
              </a:ext>
            </a:extLst>
          </p:cNvPr>
          <p:cNvSpPr/>
          <p:nvPr/>
        </p:nvSpPr>
        <p:spPr>
          <a:xfrm>
            <a:off x="317500" y="5149851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4">
                <a:moveTo>
                  <a:pt x="704053" y="0"/>
                </a:moveTo>
                <a:lnTo>
                  <a:pt x="636248" y="1253"/>
                </a:lnTo>
                <a:lnTo>
                  <a:pt x="570267" y="4937"/>
                </a:lnTo>
                <a:lnTo>
                  <a:pt x="506404" y="10938"/>
                </a:lnTo>
                <a:lnTo>
                  <a:pt x="444955" y="19139"/>
                </a:lnTo>
                <a:lnTo>
                  <a:pt x="386215" y="29427"/>
                </a:lnTo>
                <a:lnTo>
                  <a:pt x="330478" y="41686"/>
                </a:lnTo>
                <a:lnTo>
                  <a:pt x="278040" y="55803"/>
                </a:lnTo>
                <a:lnTo>
                  <a:pt x="229195" y="71661"/>
                </a:lnTo>
                <a:lnTo>
                  <a:pt x="184240" y="89147"/>
                </a:lnTo>
                <a:lnTo>
                  <a:pt x="143468" y="108146"/>
                </a:lnTo>
                <a:lnTo>
                  <a:pt x="107175" y="128542"/>
                </a:lnTo>
                <a:lnTo>
                  <a:pt x="75656" y="150222"/>
                </a:lnTo>
                <a:lnTo>
                  <a:pt x="28121" y="196971"/>
                </a:lnTo>
                <a:lnTo>
                  <a:pt x="3222" y="247476"/>
                </a:lnTo>
                <a:lnTo>
                  <a:pt x="0" y="273850"/>
                </a:lnTo>
                <a:lnTo>
                  <a:pt x="3222" y="300221"/>
                </a:lnTo>
                <a:lnTo>
                  <a:pt x="28121" y="350723"/>
                </a:lnTo>
                <a:lnTo>
                  <a:pt x="75656" y="397469"/>
                </a:lnTo>
                <a:lnTo>
                  <a:pt x="107175" y="419148"/>
                </a:lnTo>
                <a:lnTo>
                  <a:pt x="143468" y="439543"/>
                </a:lnTo>
                <a:lnTo>
                  <a:pt x="184240" y="458541"/>
                </a:lnTo>
                <a:lnTo>
                  <a:pt x="229195" y="476027"/>
                </a:lnTo>
                <a:lnTo>
                  <a:pt x="278040" y="491885"/>
                </a:lnTo>
                <a:lnTo>
                  <a:pt x="330478" y="506001"/>
                </a:lnTo>
                <a:lnTo>
                  <a:pt x="386215" y="518260"/>
                </a:lnTo>
                <a:lnTo>
                  <a:pt x="444955" y="528548"/>
                </a:lnTo>
                <a:lnTo>
                  <a:pt x="506404" y="536749"/>
                </a:lnTo>
                <a:lnTo>
                  <a:pt x="570267" y="542749"/>
                </a:lnTo>
                <a:lnTo>
                  <a:pt x="636248" y="546433"/>
                </a:lnTo>
                <a:lnTo>
                  <a:pt x="704053" y="547687"/>
                </a:lnTo>
                <a:lnTo>
                  <a:pt x="771860" y="546433"/>
                </a:lnTo>
                <a:lnTo>
                  <a:pt x="837843" y="542749"/>
                </a:lnTo>
                <a:lnTo>
                  <a:pt x="901707" y="536749"/>
                </a:lnTo>
                <a:lnTo>
                  <a:pt x="963158" y="528548"/>
                </a:lnTo>
                <a:lnTo>
                  <a:pt x="1021899" y="518260"/>
                </a:lnTo>
                <a:lnTo>
                  <a:pt x="1077637" y="506001"/>
                </a:lnTo>
                <a:lnTo>
                  <a:pt x="1130076" y="491885"/>
                </a:lnTo>
                <a:lnTo>
                  <a:pt x="1178920" y="476027"/>
                </a:lnTo>
                <a:lnTo>
                  <a:pt x="1223876" y="458541"/>
                </a:lnTo>
                <a:lnTo>
                  <a:pt x="1264648" y="439543"/>
                </a:lnTo>
                <a:lnTo>
                  <a:pt x="1300941" y="419148"/>
                </a:lnTo>
                <a:lnTo>
                  <a:pt x="1332459" y="397469"/>
                </a:lnTo>
                <a:lnTo>
                  <a:pt x="1379994" y="350723"/>
                </a:lnTo>
                <a:lnTo>
                  <a:pt x="1404893" y="300221"/>
                </a:lnTo>
                <a:lnTo>
                  <a:pt x="1408116" y="273850"/>
                </a:lnTo>
                <a:lnTo>
                  <a:pt x="1404893" y="247476"/>
                </a:lnTo>
                <a:lnTo>
                  <a:pt x="1379994" y="196971"/>
                </a:lnTo>
                <a:lnTo>
                  <a:pt x="1332459" y="150222"/>
                </a:lnTo>
                <a:lnTo>
                  <a:pt x="1300941" y="128542"/>
                </a:lnTo>
                <a:lnTo>
                  <a:pt x="1264648" y="108146"/>
                </a:lnTo>
                <a:lnTo>
                  <a:pt x="1223876" y="89147"/>
                </a:lnTo>
                <a:lnTo>
                  <a:pt x="1178920" y="71661"/>
                </a:lnTo>
                <a:lnTo>
                  <a:pt x="1130076" y="55803"/>
                </a:lnTo>
                <a:lnTo>
                  <a:pt x="1077637" y="41686"/>
                </a:lnTo>
                <a:lnTo>
                  <a:pt x="1021899" y="29427"/>
                </a:lnTo>
                <a:lnTo>
                  <a:pt x="963158" y="19139"/>
                </a:lnTo>
                <a:lnTo>
                  <a:pt x="901707" y="10938"/>
                </a:lnTo>
                <a:lnTo>
                  <a:pt x="837843" y="4937"/>
                </a:lnTo>
                <a:lnTo>
                  <a:pt x="771860" y="1253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9C3A86B0-560B-7D88-1BC5-0A8F00380127}"/>
              </a:ext>
            </a:extLst>
          </p:cNvPr>
          <p:cNvSpPr/>
          <p:nvPr/>
        </p:nvSpPr>
        <p:spPr>
          <a:xfrm>
            <a:off x="317500" y="5149851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4">
                <a:moveTo>
                  <a:pt x="0" y="273843"/>
                </a:moveTo>
                <a:lnTo>
                  <a:pt x="12695" y="221807"/>
                </a:lnTo>
                <a:lnTo>
                  <a:pt x="49207" y="173066"/>
                </a:lnTo>
                <a:lnTo>
                  <a:pt x="107175" y="128540"/>
                </a:lnTo>
                <a:lnTo>
                  <a:pt x="143468" y="108144"/>
                </a:lnTo>
                <a:lnTo>
                  <a:pt x="184240" y="89145"/>
                </a:lnTo>
                <a:lnTo>
                  <a:pt x="229195" y="71660"/>
                </a:lnTo>
                <a:lnTo>
                  <a:pt x="278040" y="55802"/>
                </a:lnTo>
                <a:lnTo>
                  <a:pt x="330478" y="41686"/>
                </a:lnTo>
                <a:lnTo>
                  <a:pt x="386215" y="29426"/>
                </a:lnTo>
                <a:lnTo>
                  <a:pt x="444956" y="19139"/>
                </a:lnTo>
                <a:lnTo>
                  <a:pt x="506406" y="10937"/>
                </a:lnTo>
                <a:lnTo>
                  <a:pt x="570269" y="4937"/>
                </a:lnTo>
                <a:lnTo>
                  <a:pt x="636251" y="1253"/>
                </a:lnTo>
                <a:lnTo>
                  <a:pt x="704056" y="0"/>
                </a:lnTo>
                <a:lnTo>
                  <a:pt x="771862" y="1253"/>
                </a:lnTo>
                <a:lnTo>
                  <a:pt x="837844" y="4937"/>
                </a:lnTo>
                <a:lnTo>
                  <a:pt x="901707" y="10937"/>
                </a:lnTo>
                <a:lnTo>
                  <a:pt x="963157" y="19139"/>
                </a:lnTo>
                <a:lnTo>
                  <a:pt x="1021897" y="29426"/>
                </a:lnTo>
                <a:lnTo>
                  <a:pt x="1077634" y="41686"/>
                </a:lnTo>
                <a:lnTo>
                  <a:pt x="1130072" y="55802"/>
                </a:lnTo>
                <a:lnTo>
                  <a:pt x="1178916" y="71660"/>
                </a:lnTo>
                <a:lnTo>
                  <a:pt x="1223871" y="89145"/>
                </a:lnTo>
                <a:lnTo>
                  <a:pt x="1264643" y="108144"/>
                </a:lnTo>
                <a:lnTo>
                  <a:pt x="1300935" y="128540"/>
                </a:lnTo>
                <a:lnTo>
                  <a:pt x="1332453" y="150219"/>
                </a:lnTo>
                <a:lnTo>
                  <a:pt x="1379987" y="196967"/>
                </a:lnTo>
                <a:lnTo>
                  <a:pt x="1404886" y="247470"/>
                </a:lnTo>
                <a:lnTo>
                  <a:pt x="1408108" y="273843"/>
                </a:lnTo>
                <a:lnTo>
                  <a:pt x="1404886" y="300216"/>
                </a:lnTo>
                <a:lnTo>
                  <a:pt x="1379987" y="350720"/>
                </a:lnTo>
                <a:lnTo>
                  <a:pt x="1332453" y="397468"/>
                </a:lnTo>
                <a:lnTo>
                  <a:pt x="1300935" y="419147"/>
                </a:lnTo>
                <a:lnTo>
                  <a:pt x="1264643" y="439543"/>
                </a:lnTo>
                <a:lnTo>
                  <a:pt x="1223871" y="458541"/>
                </a:lnTo>
                <a:lnTo>
                  <a:pt x="1178916" y="476027"/>
                </a:lnTo>
                <a:lnTo>
                  <a:pt x="1130072" y="491885"/>
                </a:lnTo>
                <a:lnTo>
                  <a:pt x="1077634" y="506001"/>
                </a:lnTo>
                <a:lnTo>
                  <a:pt x="1021897" y="518260"/>
                </a:lnTo>
                <a:lnTo>
                  <a:pt x="963157" y="528548"/>
                </a:lnTo>
                <a:lnTo>
                  <a:pt x="901707" y="536749"/>
                </a:lnTo>
                <a:lnTo>
                  <a:pt x="837844" y="542749"/>
                </a:lnTo>
                <a:lnTo>
                  <a:pt x="771862" y="546434"/>
                </a:lnTo>
                <a:lnTo>
                  <a:pt x="704056" y="547687"/>
                </a:lnTo>
                <a:lnTo>
                  <a:pt x="636251" y="546434"/>
                </a:lnTo>
                <a:lnTo>
                  <a:pt x="570269" y="542749"/>
                </a:lnTo>
                <a:lnTo>
                  <a:pt x="506406" y="536749"/>
                </a:lnTo>
                <a:lnTo>
                  <a:pt x="444956" y="528548"/>
                </a:lnTo>
                <a:lnTo>
                  <a:pt x="386215" y="518260"/>
                </a:lnTo>
                <a:lnTo>
                  <a:pt x="330478" y="506001"/>
                </a:lnTo>
                <a:lnTo>
                  <a:pt x="278040" y="491885"/>
                </a:lnTo>
                <a:lnTo>
                  <a:pt x="229195" y="476027"/>
                </a:lnTo>
                <a:lnTo>
                  <a:pt x="184240" y="458541"/>
                </a:lnTo>
                <a:lnTo>
                  <a:pt x="143468" y="439543"/>
                </a:lnTo>
                <a:lnTo>
                  <a:pt x="107175" y="419147"/>
                </a:lnTo>
                <a:lnTo>
                  <a:pt x="75656" y="397468"/>
                </a:lnTo>
                <a:lnTo>
                  <a:pt x="28121" y="350720"/>
                </a:lnTo>
                <a:lnTo>
                  <a:pt x="3222" y="300216"/>
                </a:lnTo>
                <a:lnTo>
                  <a:pt x="0" y="27384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717BEBF5-23E5-6905-6D85-EB9676BBA35A}"/>
              </a:ext>
            </a:extLst>
          </p:cNvPr>
          <p:cNvSpPr txBox="1"/>
          <p:nvPr/>
        </p:nvSpPr>
        <p:spPr>
          <a:xfrm>
            <a:off x="577053" y="5228109"/>
            <a:ext cx="872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rsNr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AA9C60F1-FFFA-665C-1DC6-27EBECE73FDA}"/>
              </a:ext>
            </a:extLst>
          </p:cNvPr>
          <p:cNvSpPr/>
          <p:nvPr/>
        </p:nvSpPr>
        <p:spPr>
          <a:xfrm>
            <a:off x="317500" y="2787651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5">
                <a:moveTo>
                  <a:pt x="704053" y="0"/>
                </a:moveTo>
                <a:lnTo>
                  <a:pt x="636248" y="1253"/>
                </a:lnTo>
                <a:lnTo>
                  <a:pt x="570267" y="4937"/>
                </a:lnTo>
                <a:lnTo>
                  <a:pt x="506404" y="10938"/>
                </a:lnTo>
                <a:lnTo>
                  <a:pt x="444955" y="19139"/>
                </a:lnTo>
                <a:lnTo>
                  <a:pt x="386215" y="29427"/>
                </a:lnTo>
                <a:lnTo>
                  <a:pt x="330478" y="41686"/>
                </a:lnTo>
                <a:lnTo>
                  <a:pt x="278040" y="55803"/>
                </a:lnTo>
                <a:lnTo>
                  <a:pt x="229195" y="71661"/>
                </a:lnTo>
                <a:lnTo>
                  <a:pt x="184240" y="89147"/>
                </a:lnTo>
                <a:lnTo>
                  <a:pt x="143468" y="108146"/>
                </a:lnTo>
                <a:lnTo>
                  <a:pt x="107175" y="128542"/>
                </a:lnTo>
                <a:lnTo>
                  <a:pt x="75656" y="150222"/>
                </a:lnTo>
                <a:lnTo>
                  <a:pt x="28121" y="196971"/>
                </a:lnTo>
                <a:lnTo>
                  <a:pt x="3222" y="247476"/>
                </a:lnTo>
                <a:lnTo>
                  <a:pt x="0" y="273850"/>
                </a:lnTo>
                <a:lnTo>
                  <a:pt x="3222" y="300221"/>
                </a:lnTo>
                <a:lnTo>
                  <a:pt x="28121" y="350723"/>
                </a:lnTo>
                <a:lnTo>
                  <a:pt x="75656" y="397469"/>
                </a:lnTo>
                <a:lnTo>
                  <a:pt x="107175" y="419148"/>
                </a:lnTo>
                <a:lnTo>
                  <a:pt x="143468" y="439543"/>
                </a:lnTo>
                <a:lnTo>
                  <a:pt x="184240" y="458541"/>
                </a:lnTo>
                <a:lnTo>
                  <a:pt x="229195" y="476027"/>
                </a:lnTo>
                <a:lnTo>
                  <a:pt x="278040" y="491885"/>
                </a:lnTo>
                <a:lnTo>
                  <a:pt x="330478" y="506001"/>
                </a:lnTo>
                <a:lnTo>
                  <a:pt x="386215" y="518260"/>
                </a:lnTo>
                <a:lnTo>
                  <a:pt x="444955" y="528548"/>
                </a:lnTo>
                <a:lnTo>
                  <a:pt x="506404" y="536749"/>
                </a:lnTo>
                <a:lnTo>
                  <a:pt x="570267" y="542749"/>
                </a:lnTo>
                <a:lnTo>
                  <a:pt x="636248" y="546433"/>
                </a:lnTo>
                <a:lnTo>
                  <a:pt x="704053" y="547687"/>
                </a:lnTo>
                <a:lnTo>
                  <a:pt x="771860" y="546433"/>
                </a:lnTo>
                <a:lnTo>
                  <a:pt x="837843" y="542749"/>
                </a:lnTo>
                <a:lnTo>
                  <a:pt x="901707" y="536749"/>
                </a:lnTo>
                <a:lnTo>
                  <a:pt x="963158" y="528548"/>
                </a:lnTo>
                <a:lnTo>
                  <a:pt x="1021899" y="518260"/>
                </a:lnTo>
                <a:lnTo>
                  <a:pt x="1077637" y="506001"/>
                </a:lnTo>
                <a:lnTo>
                  <a:pt x="1130076" y="491885"/>
                </a:lnTo>
                <a:lnTo>
                  <a:pt x="1178920" y="476027"/>
                </a:lnTo>
                <a:lnTo>
                  <a:pt x="1223876" y="458541"/>
                </a:lnTo>
                <a:lnTo>
                  <a:pt x="1264648" y="439543"/>
                </a:lnTo>
                <a:lnTo>
                  <a:pt x="1300941" y="419148"/>
                </a:lnTo>
                <a:lnTo>
                  <a:pt x="1332459" y="397469"/>
                </a:lnTo>
                <a:lnTo>
                  <a:pt x="1379994" y="350723"/>
                </a:lnTo>
                <a:lnTo>
                  <a:pt x="1404893" y="300221"/>
                </a:lnTo>
                <a:lnTo>
                  <a:pt x="1408116" y="273850"/>
                </a:lnTo>
                <a:lnTo>
                  <a:pt x="1404893" y="247476"/>
                </a:lnTo>
                <a:lnTo>
                  <a:pt x="1379994" y="196971"/>
                </a:lnTo>
                <a:lnTo>
                  <a:pt x="1332459" y="150222"/>
                </a:lnTo>
                <a:lnTo>
                  <a:pt x="1300941" y="128542"/>
                </a:lnTo>
                <a:lnTo>
                  <a:pt x="1264648" y="108146"/>
                </a:lnTo>
                <a:lnTo>
                  <a:pt x="1223876" y="89147"/>
                </a:lnTo>
                <a:lnTo>
                  <a:pt x="1178920" y="71661"/>
                </a:lnTo>
                <a:lnTo>
                  <a:pt x="1130076" y="55803"/>
                </a:lnTo>
                <a:lnTo>
                  <a:pt x="1077637" y="41686"/>
                </a:lnTo>
                <a:lnTo>
                  <a:pt x="1021899" y="29427"/>
                </a:lnTo>
                <a:lnTo>
                  <a:pt x="963158" y="19139"/>
                </a:lnTo>
                <a:lnTo>
                  <a:pt x="901707" y="10938"/>
                </a:lnTo>
                <a:lnTo>
                  <a:pt x="837843" y="4937"/>
                </a:lnTo>
                <a:lnTo>
                  <a:pt x="771860" y="1253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720DE45-AD7C-7F41-10CF-1A08E6EE0DD5}"/>
              </a:ext>
            </a:extLst>
          </p:cNvPr>
          <p:cNvSpPr/>
          <p:nvPr/>
        </p:nvSpPr>
        <p:spPr>
          <a:xfrm>
            <a:off x="317500" y="2787651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5">
                <a:moveTo>
                  <a:pt x="0" y="273843"/>
                </a:moveTo>
                <a:lnTo>
                  <a:pt x="12695" y="221806"/>
                </a:lnTo>
                <a:lnTo>
                  <a:pt x="49207" y="173066"/>
                </a:lnTo>
                <a:lnTo>
                  <a:pt x="107175" y="128539"/>
                </a:lnTo>
                <a:lnTo>
                  <a:pt x="143468" y="108144"/>
                </a:lnTo>
                <a:lnTo>
                  <a:pt x="184240" y="89145"/>
                </a:lnTo>
                <a:lnTo>
                  <a:pt x="229195" y="71660"/>
                </a:lnTo>
                <a:lnTo>
                  <a:pt x="278040" y="55802"/>
                </a:lnTo>
                <a:lnTo>
                  <a:pt x="330478" y="41686"/>
                </a:lnTo>
                <a:lnTo>
                  <a:pt x="386215" y="29426"/>
                </a:lnTo>
                <a:lnTo>
                  <a:pt x="444956" y="19139"/>
                </a:lnTo>
                <a:lnTo>
                  <a:pt x="506406" y="10937"/>
                </a:lnTo>
                <a:lnTo>
                  <a:pt x="570269" y="4937"/>
                </a:lnTo>
                <a:lnTo>
                  <a:pt x="636251" y="1253"/>
                </a:lnTo>
                <a:lnTo>
                  <a:pt x="704056" y="0"/>
                </a:lnTo>
                <a:lnTo>
                  <a:pt x="771862" y="1253"/>
                </a:lnTo>
                <a:lnTo>
                  <a:pt x="837844" y="4937"/>
                </a:lnTo>
                <a:lnTo>
                  <a:pt x="901707" y="10937"/>
                </a:lnTo>
                <a:lnTo>
                  <a:pt x="963157" y="19139"/>
                </a:lnTo>
                <a:lnTo>
                  <a:pt x="1021897" y="29426"/>
                </a:lnTo>
                <a:lnTo>
                  <a:pt x="1077634" y="41686"/>
                </a:lnTo>
                <a:lnTo>
                  <a:pt x="1130072" y="55802"/>
                </a:lnTo>
                <a:lnTo>
                  <a:pt x="1178916" y="71660"/>
                </a:lnTo>
                <a:lnTo>
                  <a:pt x="1223871" y="89145"/>
                </a:lnTo>
                <a:lnTo>
                  <a:pt x="1264643" y="108144"/>
                </a:lnTo>
                <a:lnTo>
                  <a:pt x="1300935" y="128539"/>
                </a:lnTo>
                <a:lnTo>
                  <a:pt x="1332453" y="150219"/>
                </a:lnTo>
                <a:lnTo>
                  <a:pt x="1379987" y="196967"/>
                </a:lnTo>
                <a:lnTo>
                  <a:pt x="1404886" y="247470"/>
                </a:lnTo>
                <a:lnTo>
                  <a:pt x="1408108" y="273843"/>
                </a:lnTo>
                <a:lnTo>
                  <a:pt x="1404886" y="300216"/>
                </a:lnTo>
                <a:lnTo>
                  <a:pt x="1379987" y="350720"/>
                </a:lnTo>
                <a:lnTo>
                  <a:pt x="1332453" y="397468"/>
                </a:lnTo>
                <a:lnTo>
                  <a:pt x="1300935" y="419147"/>
                </a:lnTo>
                <a:lnTo>
                  <a:pt x="1264643" y="439543"/>
                </a:lnTo>
                <a:lnTo>
                  <a:pt x="1223871" y="458541"/>
                </a:lnTo>
                <a:lnTo>
                  <a:pt x="1178916" y="476027"/>
                </a:lnTo>
                <a:lnTo>
                  <a:pt x="1130072" y="491885"/>
                </a:lnTo>
                <a:lnTo>
                  <a:pt x="1077634" y="506001"/>
                </a:lnTo>
                <a:lnTo>
                  <a:pt x="1021897" y="518260"/>
                </a:lnTo>
                <a:lnTo>
                  <a:pt x="963157" y="528548"/>
                </a:lnTo>
                <a:lnTo>
                  <a:pt x="901707" y="536749"/>
                </a:lnTo>
                <a:lnTo>
                  <a:pt x="837844" y="542749"/>
                </a:lnTo>
                <a:lnTo>
                  <a:pt x="771862" y="546433"/>
                </a:lnTo>
                <a:lnTo>
                  <a:pt x="704056" y="547687"/>
                </a:lnTo>
                <a:lnTo>
                  <a:pt x="636251" y="546433"/>
                </a:lnTo>
                <a:lnTo>
                  <a:pt x="570269" y="542749"/>
                </a:lnTo>
                <a:lnTo>
                  <a:pt x="506406" y="536749"/>
                </a:lnTo>
                <a:lnTo>
                  <a:pt x="444956" y="528548"/>
                </a:lnTo>
                <a:lnTo>
                  <a:pt x="386215" y="518260"/>
                </a:lnTo>
                <a:lnTo>
                  <a:pt x="330478" y="506001"/>
                </a:lnTo>
                <a:lnTo>
                  <a:pt x="278040" y="491885"/>
                </a:lnTo>
                <a:lnTo>
                  <a:pt x="229195" y="476027"/>
                </a:lnTo>
                <a:lnTo>
                  <a:pt x="184240" y="458541"/>
                </a:lnTo>
                <a:lnTo>
                  <a:pt x="143468" y="439543"/>
                </a:lnTo>
                <a:lnTo>
                  <a:pt x="107175" y="419147"/>
                </a:lnTo>
                <a:lnTo>
                  <a:pt x="75656" y="397468"/>
                </a:lnTo>
                <a:lnTo>
                  <a:pt x="28121" y="350720"/>
                </a:lnTo>
                <a:lnTo>
                  <a:pt x="3222" y="300216"/>
                </a:lnTo>
                <a:lnTo>
                  <a:pt x="0" y="27384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B6DEE26D-ECA6-E7DF-E20E-2A417A946009}"/>
              </a:ext>
            </a:extLst>
          </p:cNvPr>
          <p:cNvSpPr txBox="1"/>
          <p:nvPr/>
        </p:nvSpPr>
        <p:spPr>
          <a:xfrm>
            <a:off x="450053" y="2865909"/>
            <a:ext cx="1143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Semester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A18E4149-B8E0-54EF-D51C-2388F0900702}"/>
              </a:ext>
            </a:extLst>
          </p:cNvPr>
          <p:cNvSpPr/>
          <p:nvPr/>
        </p:nvSpPr>
        <p:spPr>
          <a:xfrm>
            <a:off x="317500" y="2025651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5">
                <a:moveTo>
                  <a:pt x="704053" y="0"/>
                </a:moveTo>
                <a:lnTo>
                  <a:pt x="636248" y="1253"/>
                </a:lnTo>
                <a:lnTo>
                  <a:pt x="570267" y="4937"/>
                </a:lnTo>
                <a:lnTo>
                  <a:pt x="506404" y="10938"/>
                </a:lnTo>
                <a:lnTo>
                  <a:pt x="444955" y="19139"/>
                </a:lnTo>
                <a:lnTo>
                  <a:pt x="386215" y="29427"/>
                </a:lnTo>
                <a:lnTo>
                  <a:pt x="330478" y="41686"/>
                </a:lnTo>
                <a:lnTo>
                  <a:pt x="278040" y="55803"/>
                </a:lnTo>
                <a:lnTo>
                  <a:pt x="229195" y="71661"/>
                </a:lnTo>
                <a:lnTo>
                  <a:pt x="184240" y="89147"/>
                </a:lnTo>
                <a:lnTo>
                  <a:pt x="143468" y="108146"/>
                </a:lnTo>
                <a:lnTo>
                  <a:pt x="107175" y="128542"/>
                </a:lnTo>
                <a:lnTo>
                  <a:pt x="75656" y="150222"/>
                </a:lnTo>
                <a:lnTo>
                  <a:pt x="28121" y="196971"/>
                </a:lnTo>
                <a:lnTo>
                  <a:pt x="3222" y="247476"/>
                </a:lnTo>
                <a:lnTo>
                  <a:pt x="0" y="273850"/>
                </a:lnTo>
                <a:lnTo>
                  <a:pt x="3222" y="300221"/>
                </a:lnTo>
                <a:lnTo>
                  <a:pt x="28121" y="350723"/>
                </a:lnTo>
                <a:lnTo>
                  <a:pt x="75656" y="397469"/>
                </a:lnTo>
                <a:lnTo>
                  <a:pt x="107175" y="419148"/>
                </a:lnTo>
                <a:lnTo>
                  <a:pt x="143468" y="439543"/>
                </a:lnTo>
                <a:lnTo>
                  <a:pt x="184240" y="458541"/>
                </a:lnTo>
                <a:lnTo>
                  <a:pt x="229195" y="476027"/>
                </a:lnTo>
                <a:lnTo>
                  <a:pt x="278040" y="491885"/>
                </a:lnTo>
                <a:lnTo>
                  <a:pt x="330478" y="506001"/>
                </a:lnTo>
                <a:lnTo>
                  <a:pt x="386215" y="518260"/>
                </a:lnTo>
                <a:lnTo>
                  <a:pt x="444955" y="528548"/>
                </a:lnTo>
                <a:lnTo>
                  <a:pt x="506404" y="536749"/>
                </a:lnTo>
                <a:lnTo>
                  <a:pt x="570267" y="542749"/>
                </a:lnTo>
                <a:lnTo>
                  <a:pt x="636248" y="546433"/>
                </a:lnTo>
                <a:lnTo>
                  <a:pt x="704053" y="547687"/>
                </a:lnTo>
                <a:lnTo>
                  <a:pt x="771860" y="546433"/>
                </a:lnTo>
                <a:lnTo>
                  <a:pt x="837843" y="542749"/>
                </a:lnTo>
                <a:lnTo>
                  <a:pt x="901707" y="536749"/>
                </a:lnTo>
                <a:lnTo>
                  <a:pt x="963158" y="528548"/>
                </a:lnTo>
                <a:lnTo>
                  <a:pt x="1021899" y="518260"/>
                </a:lnTo>
                <a:lnTo>
                  <a:pt x="1077637" y="506001"/>
                </a:lnTo>
                <a:lnTo>
                  <a:pt x="1130076" y="491885"/>
                </a:lnTo>
                <a:lnTo>
                  <a:pt x="1178920" y="476027"/>
                </a:lnTo>
                <a:lnTo>
                  <a:pt x="1223876" y="458541"/>
                </a:lnTo>
                <a:lnTo>
                  <a:pt x="1264648" y="439543"/>
                </a:lnTo>
                <a:lnTo>
                  <a:pt x="1300941" y="419148"/>
                </a:lnTo>
                <a:lnTo>
                  <a:pt x="1332459" y="397469"/>
                </a:lnTo>
                <a:lnTo>
                  <a:pt x="1379994" y="350723"/>
                </a:lnTo>
                <a:lnTo>
                  <a:pt x="1404893" y="300221"/>
                </a:lnTo>
                <a:lnTo>
                  <a:pt x="1408116" y="273850"/>
                </a:lnTo>
                <a:lnTo>
                  <a:pt x="1404893" y="247476"/>
                </a:lnTo>
                <a:lnTo>
                  <a:pt x="1379994" y="196971"/>
                </a:lnTo>
                <a:lnTo>
                  <a:pt x="1332459" y="150222"/>
                </a:lnTo>
                <a:lnTo>
                  <a:pt x="1300941" y="128542"/>
                </a:lnTo>
                <a:lnTo>
                  <a:pt x="1264648" y="108146"/>
                </a:lnTo>
                <a:lnTo>
                  <a:pt x="1223876" y="89147"/>
                </a:lnTo>
                <a:lnTo>
                  <a:pt x="1178920" y="71661"/>
                </a:lnTo>
                <a:lnTo>
                  <a:pt x="1130076" y="55803"/>
                </a:lnTo>
                <a:lnTo>
                  <a:pt x="1077637" y="41686"/>
                </a:lnTo>
                <a:lnTo>
                  <a:pt x="1021899" y="29427"/>
                </a:lnTo>
                <a:lnTo>
                  <a:pt x="963158" y="19139"/>
                </a:lnTo>
                <a:lnTo>
                  <a:pt x="901707" y="10938"/>
                </a:lnTo>
                <a:lnTo>
                  <a:pt x="837843" y="4937"/>
                </a:lnTo>
                <a:lnTo>
                  <a:pt x="771860" y="1253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DC77BB9D-B492-1C62-46E9-F00910FEBDC1}"/>
              </a:ext>
            </a:extLst>
          </p:cNvPr>
          <p:cNvSpPr/>
          <p:nvPr/>
        </p:nvSpPr>
        <p:spPr>
          <a:xfrm>
            <a:off x="317500" y="2025651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5">
                <a:moveTo>
                  <a:pt x="0" y="273843"/>
                </a:moveTo>
                <a:lnTo>
                  <a:pt x="12695" y="221807"/>
                </a:lnTo>
                <a:lnTo>
                  <a:pt x="49207" y="173066"/>
                </a:lnTo>
                <a:lnTo>
                  <a:pt x="107175" y="128540"/>
                </a:lnTo>
                <a:lnTo>
                  <a:pt x="143468" y="108144"/>
                </a:lnTo>
                <a:lnTo>
                  <a:pt x="184240" y="89145"/>
                </a:lnTo>
                <a:lnTo>
                  <a:pt x="229195" y="71660"/>
                </a:lnTo>
                <a:lnTo>
                  <a:pt x="278040" y="55802"/>
                </a:lnTo>
                <a:lnTo>
                  <a:pt x="330478" y="41686"/>
                </a:lnTo>
                <a:lnTo>
                  <a:pt x="386215" y="29426"/>
                </a:lnTo>
                <a:lnTo>
                  <a:pt x="444956" y="19139"/>
                </a:lnTo>
                <a:lnTo>
                  <a:pt x="506406" y="10937"/>
                </a:lnTo>
                <a:lnTo>
                  <a:pt x="570269" y="4937"/>
                </a:lnTo>
                <a:lnTo>
                  <a:pt x="636251" y="1253"/>
                </a:lnTo>
                <a:lnTo>
                  <a:pt x="704056" y="0"/>
                </a:lnTo>
                <a:lnTo>
                  <a:pt x="771862" y="1253"/>
                </a:lnTo>
                <a:lnTo>
                  <a:pt x="837844" y="4937"/>
                </a:lnTo>
                <a:lnTo>
                  <a:pt x="901707" y="10937"/>
                </a:lnTo>
                <a:lnTo>
                  <a:pt x="963157" y="19139"/>
                </a:lnTo>
                <a:lnTo>
                  <a:pt x="1021897" y="29426"/>
                </a:lnTo>
                <a:lnTo>
                  <a:pt x="1077634" y="41686"/>
                </a:lnTo>
                <a:lnTo>
                  <a:pt x="1130072" y="55802"/>
                </a:lnTo>
                <a:lnTo>
                  <a:pt x="1178916" y="71660"/>
                </a:lnTo>
                <a:lnTo>
                  <a:pt x="1223871" y="89145"/>
                </a:lnTo>
                <a:lnTo>
                  <a:pt x="1264643" y="108144"/>
                </a:lnTo>
                <a:lnTo>
                  <a:pt x="1300935" y="128540"/>
                </a:lnTo>
                <a:lnTo>
                  <a:pt x="1332453" y="150219"/>
                </a:lnTo>
                <a:lnTo>
                  <a:pt x="1379987" y="196967"/>
                </a:lnTo>
                <a:lnTo>
                  <a:pt x="1404886" y="247470"/>
                </a:lnTo>
                <a:lnTo>
                  <a:pt x="1408108" y="273843"/>
                </a:lnTo>
                <a:lnTo>
                  <a:pt x="1404886" y="300216"/>
                </a:lnTo>
                <a:lnTo>
                  <a:pt x="1379987" y="350720"/>
                </a:lnTo>
                <a:lnTo>
                  <a:pt x="1332453" y="397468"/>
                </a:lnTo>
                <a:lnTo>
                  <a:pt x="1300935" y="419147"/>
                </a:lnTo>
                <a:lnTo>
                  <a:pt x="1264643" y="439543"/>
                </a:lnTo>
                <a:lnTo>
                  <a:pt x="1223871" y="458541"/>
                </a:lnTo>
                <a:lnTo>
                  <a:pt x="1178916" y="476027"/>
                </a:lnTo>
                <a:lnTo>
                  <a:pt x="1130072" y="491885"/>
                </a:lnTo>
                <a:lnTo>
                  <a:pt x="1077634" y="506001"/>
                </a:lnTo>
                <a:lnTo>
                  <a:pt x="1021897" y="518260"/>
                </a:lnTo>
                <a:lnTo>
                  <a:pt x="963157" y="528548"/>
                </a:lnTo>
                <a:lnTo>
                  <a:pt x="901707" y="536749"/>
                </a:lnTo>
                <a:lnTo>
                  <a:pt x="837844" y="542749"/>
                </a:lnTo>
                <a:lnTo>
                  <a:pt x="771862" y="546434"/>
                </a:lnTo>
                <a:lnTo>
                  <a:pt x="704056" y="547687"/>
                </a:lnTo>
                <a:lnTo>
                  <a:pt x="636251" y="546434"/>
                </a:lnTo>
                <a:lnTo>
                  <a:pt x="570269" y="542749"/>
                </a:lnTo>
                <a:lnTo>
                  <a:pt x="506406" y="536749"/>
                </a:lnTo>
                <a:lnTo>
                  <a:pt x="444956" y="528548"/>
                </a:lnTo>
                <a:lnTo>
                  <a:pt x="386215" y="518260"/>
                </a:lnTo>
                <a:lnTo>
                  <a:pt x="330478" y="506001"/>
                </a:lnTo>
                <a:lnTo>
                  <a:pt x="278040" y="491885"/>
                </a:lnTo>
                <a:lnTo>
                  <a:pt x="229195" y="476027"/>
                </a:lnTo>
                <a:lnTo>
                  <a:pt x="184240" y="458541"/>
                </a:lnTo>
                <a:lnTo>
                  <a:pt x="143468" y="439543"/>
                </a:lnTo>
                <a:lnTo>
                  <a:pt x="107175" y="419147"/>
                </a:lnTo>
                <a:lnTo>
                  <a:pt x="75656" y="397468"/>
                </a:lnTo>
                <a:lnTo>
                  <a:pt x="28121" y="350720"/>
                </a:lnTo>
                <a:lnTo>
                  <a:pt x="3222" y="300216"/>
                </a:lnTo>
                <a:lnTo>
                  <a:pt x="0" y="27384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FD81EA0C-665C-A4A2-ACE6-3FA203F5E1B6}"/>
              </a:ext>
            </a:extLst>
          </p:cNvPr>
          <p:cNvSpPr txBox="1"/>
          <p:nvPr/>
        </p:nvSpPr>
        <p:spPr>
          <a:xfrm>
            <a:off x="653253" y="2103909"/>
            <a:ext cx="75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87E51E6E-21D4-CEA5-9E9B-494034BAFA63}"/>
              </a:ext>
            </a:extLst>
          </p:cNvPr>
          <p:cNvSpPr/>
          <p:nvPr/>
        </p:nvSpPr>
        <p:spPr>
          <a:xfrm>
            <a:off x="317500" y="58356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704053" y="0"/>
                </a:moveTo>
                <a:lnTo>
                  <a:pt x="636248" y="1249"/>
                </a:lnTo>
                <a:lnTo>
                  <a:pt x="570267" y="4923"/>
                </a:lnTo>
                <a:lnTo>
                  <a:pt x="506404" y="10906"/>
                </a:lnTo>
                <a:lnTo>
                  <a:pt x="444955" y="19083"/>
                </a:lnTo>
                <a:lnTo>
                  <a:pt x="386215" y="29341"/>
                </a:lnTo>
                <a:lnTo>
                  <a:pt x="330478" y="41565"/>
                </a:lnTo>
                <a:lnTo>
                  <a:pt x="278040" y="55640"/>
                </a:lnTo>
                <a:lnTo>
                  <a:pt x="229195" y="71453"/>
                </a:lnTo>
                <a:lnTo>
                  <a:pt x="184240" y="88888"/>
                </a:lnTo>
                <a:lnTo>
                  <a:pt x="143468" y="107831"/>
                </a:lnTo>
                <a:lnTo>
                  <a:pt x="107175" y="128168"/>
                </a:lnTo>
                <a:lnTo>
                  <a:pt x="75656" y="149784"/>
                </a:lnTo>
                <a:lnTo>
                  <a:pt x="28121" y="196397"/>
                </a:lnTo>
                <a:lnTo>
                  <a:pt x="3222" y="246753"/>
                </a:lnTo>
                <a:lnTo>
                  <a:pt x="0" y="273050"/>
                </a:lnTo>
                <a:lnTo>
                  <a:pt x="3222" y="299346"/>
                </a:lnTo>
                <a:lnTo>
                  <a:pt x="28121" y="349702"/>
                </a:lnTo>
                <a:lnTo>
                  <a:pt x="75656" y="396315"/>
                </a:lnTo>
                <a:lnTo>
                  <a:pt x="107175" y="417931"/>
                </a:lnTo>
                <a:lnTo>
                  <a:pt x="143468" y="438268"/>
                </a:lnTo>
                <a:lnTo>
                  <a:pt x="184240" y="457211"/>
                </a:lnTo>
                <a:lnTo>
                  <a:pt x="229195" y="474646"/>
                </a:lnTo>
                <a:lnTo>
                  <a:pt x="278040" y="490459"/>
                </a:lnTo>
                <a:lnTo>
                  <a:pt x="330478" y="504534"/>
                </a:lnTo>
                <a:lnTo>
                  <a:pt x="386215" y="516758"/>
                </a:lnTo>
                <a:lnTo>
                  <a:pt x="444955" y="527016"/>
                </a:lnTo>
                <a:lnTo>
                  <a:pt x="506404" y="535193"/>
                </a:lnTo>
                <a:lnTo>
                  <a:pt x="570267" y="541176"/>
                </a:lnTo>
                <a:lnTo>
                  <a:pt x="636248" y="544850"/>
                </a:lnTo>
                <a:lnTo>
                  <a:pt x="704053" y="546100"/>
                </a:lnTo>
                <a:lnTo>
                  <a:pt x="771860" y="544850"/>
                </a:lnTo>
                <a:lnTo>
                  <a:pt x="837843" y="541176"/>
                </a:lnTo>
                <a:lnTo>
                  <a:pt x="901707" y="535193"/>
                </a:lnTo>
                <a:lnTo>
                  <a:pt x="963158" y="527016"/>
                </a:lnTo>
                <a:lnTo>
                  <a:pt x="1021899" y="516758"/>
                </a:lnTo>
                <a:lnTo>
                  <a:pt x="1077637" y="504534"/>
                </a:lnTo>
                <a:lnTo>
                  <a:pt x="1130076" y="490459"/>
                </a:lnTo>
                <a:lnTo>
                  <a:pt x="1178920" y="474646"/>
                </a:lnTo>
                <a:lnTo>
                  <a:pt x="1223876" y="457211"/>
                </a:lnTo>
                <a:lnTo>
                  <a:pt x="1264648" y="438268"/>
                </a:lnTo>
                <a:lnTo>
                  <a:pt x="1300941" y="417931"/>
                </a:lnTo>
                <a:lnTo>
                  <a:pt x="1332459" y="396315"/>
                </a:lnTo>
                <a:lnTo>
                  <a:pt x="1379994" y="349702"/>
                </a:lnTo>
                <a:lnTo>
                  <a:pt x="1404893" y="299346"/>
                </a:lnTo>
                <a:lnTo>
                  <a:pt x="1408116" y="273050"/>
                </a:lnTo>
                <a:lnTo>
                  <a:pt x="1404893" y="246753"/>
                </a:lnTo>
                <a:lnTo>
                  <a:pt x="1379994" y="196397"/>
                </a:lnTo>
                <a:lnTo>
                  <a:pt x="1332459" y="149784"/>
                </a:lnTo>
                <a:lnTo>
                  <a:pt x="1300941" y="128168"/>
                </a:lnTo>
                <a:lnTo>
                  <a:pt x="1264648" y="107831"/>
                </a:lnTo>
                <a:lnTo>
                  <a:pt x="1223876" y="88888"/>
                </a:lnTo>
                <a:lnTo>
                  <a:pt x="1178920" y="71453"/>
                </a:lnTo>
                <a:lnTo>
                  <a:pt x="1130076" y="55640"/>
                </a:lnTo>
                <a:lnTo>
                  <a:pt x="1077637" y="41565"/>
                </a:lnTo>
                <a:lnTo>
                  <a:pt x="1021899" y="29341"/>
                </a:lnTo>
                <a:lnTo>
                  <a:pt x="963158" y="19083"/>
                </a:lnTo>
                <a:lnTo>
                  <a:pt x="901707" y="10906"/>
                </a:lnTo>
                <a:lnTo>
                  <a:pt x="837843" y="4923"/>
                </a:lnTo>
                <a:lnTo>
                  <a:pt x="771860" y="1249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5ADD6075-A376-B55C-62BC-D4C94B2BD3A4}"/>
              </a:ext>
            </a:extLst>
          </p:cNvPr>
          <p:cNvSpPr/>
          <p:nvPr/>
        </p:nvSpPr>
        <p:spPr>
          <a:xfrm>
            <a:off x="317500" y="58356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0" y="273049"/>
                </a:moveTo>
                <a:lnTo>
                  <a:pt x="12695" y="221164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7" y="196396"/>
                </a:lnTo>
                <a:lnTo>
                  <a:pt x="1404886" y="246753"/>
                </a:lnTo>
                <a:lnTo>
                  <a:pt x="1408108" y="273049"/>
                </a:lnTo>
                <a:lnTo>
                  <a:pt x="1404886" y="299346"/>
                </a:lnTo>
                <a:lnTo>
                  <a:pt x="1379987" y="349703"/>
                </a:lnTo>
                <a:lnTo>
                  <a:pt x="1332453" y="396315"/>
                </a:lnTo>
                <a:lnTo>
                  <a:pt x="1300935" y="417931"/>
                </a:lnTo>
                <a:lnTo>
                  <a:pt x="1264643" y="438268"/>
                </a:lnTo>
                <a:lnTo>
                  <a:pt x="1223871" y="457211"/>
                </a:lnTo>
                <a:lnTo>
                  <a:pt x="1178916" y="474646"/>
                </a:lnTo>
                <a:lnTo>
                  <a:pt x="1130072" y="490459"/>
                </a:lnTo>
                <a:lnTo>
                  <a:pt x="1077634" y="504534"/>
                </a:lnTo>
                <a:lnTo>
                  <a:pt x="1021897" y="516757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6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6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7"/>
                </a:lnTo>
                <a:lnTo>
                  <a:pt x="330478" y="504534"/>
                </a:lnTo>
                <a:lnTo>
                  <a:pt x="278040" y="490459"/>
                </a:lnTo>
                <a:lnTo>
                  <a:pt x="229195" y="474646"/>
                </a:lnTo>
                <a:lnTo>
                  <a:pt x="184240" y="457211"/>
                </a:lnTo>
                <a:lnTo>
                  <a:pt x="143468" y="438268"/>
                </a:lnTo>
                <a:lnTo>
                  <a:pt x="107175" y="417931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DB875369-5FC9-0C47-C0A0-7635B7D2D389}"/>
              </a:ext>
            </a:extLst>
          </p:cNvPr>
          <p:cNvSpPr txBox="1"/>
          <p:nvPr/>
        </p:nvSpPr>
        <p:spPr>
          <a:xfrm>
            <a:off x="653253" y="5913121"/>
            <a:ext cx="75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C4AAB72F-23C4-2A4A-8A88-4E35B55EDF08}"/>
              </a:ext>
            </a:extLst>
          </p:cNvPr>
          <p:cNvSpPr/>
          <p:nvPr/>
        </p:nvSpPr>
        <p:spPr>
          <a:xfrm>
            <a:off x="317500" y="6597650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704053" y="0"/>
                </a:moveTo>
                <a:lnTo>
                  <a:pt x="636248" y="1249"/>
                </a:lnTo>
                <a:lnTo>
                  <a:pt x="570267" y="4923"/>
                </a:lnTo>
                <a:lnTo>
                  <a:pt x="506404" y="10906"/>
                </a:lnTo>
                <a:lnTo>
                  <a:pt x="444955" y="19083"/>
                </a:lnTo>
                <a:lnTo>
                  <a:pt x="386215" y="29341"/>
                </a:lnTo>
                <a:lnTo>
                  <a:pt x="330478" y="41565"/>
                </a:lnTo>
                <a:lnTo>
                  <a:pt x="278040" y="55640"/>
                </a:lnTo>
                <a:lnTo>
                  <a:pt x="229195" y="71452"/>
                </a:lnTo>
                <a:lnTo>
                  <a:pt x="184240" y="88887"/>
                </a:lnTo>
                <a:lnTo>
                  <a:pt x="143468" y="107830"/>
                </a:lnTo>
                <a:lnTo>
                  <a:pt x="107175" y="128167"/>
                </a:lnTo>
                <a:lnTo>
                  <a:pt x="75656" y="149783"/>
                </a:lnTo>
                <a:lnTo>
                  <a:pt x="28121" y="196396"/>
                </a:lnTo>
                <a:lnTo>
                  <a:pt x="3222" y="246753"/>
                </a:lnTo>
                <a:lnTo>
                  <a:pt x="0" y="273049"/>
                </a:lnTo>
                <a:lnTo>
                  <a:pt x="3222" y="299346"/>
                </a:lnTo>
                <a:lnTo>
                  <a:pt x="28121" y="349703"/>
                </a:lnTo>
                <a:lnTo>
                  <a:pt x="75656" y="396316"/>
                </a:lnTo>
                <a:lnTo>
                  <a:pt x="107175" y="417932"/>
                </a:lnTo>
                <a:lnTo>
                  <a:pt x="143468" y="438269"/>
                </a:lnTo>
                <a:lnTo>
                  <a:pt x="184240" y="457212"/>
                </a:lnTo>
                <a:lnTo>
                  <a:pt x="229195" y="474647"/>
                </a:lnTo>
                <a:lnTo>
                  <a:pt x="278040" y="490459"/>
                </a:lnTo>
                <a:lnTo>
                  <a:pt x="330478" y="504534"/>
                </a:lnTo>
                <a:lnTo>
                  <a:pt x="386215" y="516758"/>
                </a:lnTo>
                <a:lnTo>
                  <a:pt x="444955" y="527016"/>
                </a:lnTo>
                <a:lnTo>
                  <a:pt x="506404" y="535193"/>
                </a:lnTo>
                <a:lnTo>
                  <a:pt x="570267" y="541176"/>
                </a:lnTo>
                <a:lnTo>
                  <a:pt x="636248" y="544850"/>
                </a:lnTo>
                <a:lnTo>
                  <a:pt x="704053" y="546099"/>
                </a:lnTo>
                <a:lnTo>
                  <a:pt x="771860" y="544850"/>
                </a:lnTo>
                <a:lnTo>
                  <a:pt x="837843" y="541176"/>
                </a:lnTo>
                <a:lnTo>
                  <a:pt x="901707" y="535193"/>
                </a:lnTo>
                <a:lnTo>
                  <a:pt x="963158" y="527016"/>
                </a:lnTo>
                <a:lnTo>
                  <a:pt x="1021899" y="516758"/>
                </a:lnTo>
                <a:lnTo>
                  <a:pt x="1077637" y="504534"/>
                </a:lnTo>
                <a:lnTo>
                  <a:pt x="1130076" y="490459"/>
                </a:lnTo>
                <a:lnTo>
                  <a:pt x="1178920" y="474647"/>
                </a:lnTo>
                <a:lnTo>
                  <a:pt x="1223876" y="457212"/>
                </a:lnTo>
                <a:lnTo>
                  <a:pt x="1264648" y="438269"/>
                </a:lnTo>
                <a:lnTo>
                  <a:pt x="1300941" y="417932"/>
                </a:lnTo>
                <a:lnTo>
                  <a:pt x="1332459" y="396316"/>
                </a:lnTo>
                <a:lnTo>
                  <a:pt x="1379994" y="349703"/>
                </a:lnTo>
                <a:lnTo>
                  <a:pt x="1404893" y="299346"/>
                </a:lnTo>
                <a:lnTo>
                  <a:pt x="1408116" y="273049"/>
                </a:lnTo>
                <a:lnTo>
                  <a:pt x="1404893" y="246753"/>
                </a:lnTo>
                <a:lnTo>
                  <a:pt x="1379994" y="196396"/>
                </a:lnTo>
                <a:lnTo>
                  <a:pt x="1332459" y="149783"/>
                </a:lnTo>
                <a:lnTo>
                  <a:pt x="1300941" y="128167"/>
                </a:lnTo>
                <a:lnTo>
                  <a:pt x="1264648" y="107830"/>
                </a:lnTo>
                <a:lnTo>
                  <a:pt x="1223876" y="88887"/>
                </a:lnTo>
                <a:lnTo>
                  <a:pt x="1178920" y="71452"/>
                </a:lnTo>
                <a:lnTo>
                  <a:pt x="1130076" y="55640"/>
                </a:lnTo>
                <a:lnTo>
                  <a:pt x="1077637" y="41565"/>
                </a:lnTo>
                <a:lnTo>
                  <a:pt x="1021899" y="29341"/>
                </a:lnTo>
                <a:lnTo>
                  <a:pt x="963158" y="19083"/>
                </a:lnTo>
                <a:lnTo>
                  <a:pt x="901707" y="10906"/>
                </a:lnTo>
                <a:lnTo>
                  <a:pt x="837843" y="4923"/>
                </a:lnTo>
                <a:lnTo>
                  <a:pt x="771860" y="1249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BFAA9EF1-F052-0D27-3FBE-41706F482264}"/>
              </a:ext>
            </a:extLst>
          </p:cNvPr>
          <p:cNvSpPr/>
          <p:nvPr/>
        </p:nvSpPr>
        <p:spPr>
          <a:xfrm>
            <a:off x="317500" y="6597650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0" y="273049"/>
                </a:moveTo>
                <a:lnTo>
                  <a:pt x="12695" y="221164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7" y="196396"/>
                </a:lnTo>
                <a:lnTo>
                  <a:pt x="1404886" y="246753"/>
                </a:lnTo>
                <a:lnTo>
                  <a:pt x="1408108" y="273049"/>
                </a:lnTo>
                <a:lnTo>
                  <a:pt x="1404886" y="299346"/>
                </a:lnTo>
                <a:lnTo>
                  <a:pt x="1379987" y="349703"/>
                </a:lnTo>
                <a:lnTo>
                  <a:pt x="1332453" y="396315"/>
                </a:lnTo>
                <a:lnTo>
                  <a:pt x="1300935" y="417931"/>
                </a:lnTo>
                <a:lnTo>
                  <a:pt x="1264643" y="438268"/>
                </a:lnTo>
                <a:lnTo>
                  <a:pt x="1223871" y="457211"/>
                </a:lnTo>
                <a:lnTo>
                  <a:pt x="1178916" y="474646"/>
                </a:lnTo>
                <a:lnTo>
                  <a:pt x="1130072" y="490459"/>
                </a:lnTo>
                <a:lnTo>
                  <a:pt x="1077634" y="504534"/>
                </a:lnTo>
                <a:lnTo>
                  <a:pt x="1021897" y="516757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6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6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7"/>
                </a:lnTo>
                <a:lnTo>
                  <a:pt x="330478" y="504534"/>
                </a:lnTo>
                <a:lnTo>
                  <a:pt x="278040" y="490459"/>
                </a:lnTo>
                <a:lnTo>
                  <a:pt x="229195" y="474646"/>
                </a:lnTo>
                <a:lnTo>
                  <a:pt x="184240" y="457211"/>
                </a:lnTo>
                <a:lnTo>
                  <a:pt x="143468" y="438268"/>
                </a:lnTo>
                <a:lnTo>
                  <a:pt x="107175" y="417931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2F524DFD-1F4F-EE02-A0B0-E920959855C5}"/>
              </a:ext>
            </a:extLst>
          </p:cNvPr>
          <p:cNvSpPr txBox="1"/>
          <p:nvPr/>
        </p:nvSpPr>
        <p:spPr>
          <a:xfrm>
            <a:off x="335754" y="6675120"/>
            <a:ext cx="1362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Fachgebiet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ACE3C620-5870-9E1C-8B26-C1C0C6D0099B}"/>
              </a:ext>
            </a:extLst>
          </p:cNvPr>
          <p:cNvSpPr/>
          <p:nvPr/>
        </p:nvSpPr>
        <p:spPr>
          <a:xfrm>
            <a:off x="2374904" y="40068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704049" y="0"/>
                </a:moveTo>
                <a:lnTo>
                  <a:pt x="636245" y="1249"/>
                </a:lnTo>
                <a:lnTo>
                  <a:pt x="570264" y="4923"/>
                </a:lnTo>
                <a:lnTo>
                  <a:pt x="506401" y="10906"/>
                </a:lnTo>
                <a:lnTo>
                  <a:pt x="444952" y="19083"/>
                </a:lnTo>
                <a:lnTo>
                  <a:pt x="386212" y="29341"/>
                </a:lnTo>
                <a:lnTo>
                  <a:pt x="330475" y="41565"/>
                </a:lnTo>
                <a:lnTo>
                  <a:pt x="278037" y="55640"/>
                </a:lnTo>
                <a:lnTo>
                  <a:pt x="229193" y="71453"/>
                </a:lnTo>
                <a:lnTo>
                  <a:pt x="184238" y="88888"/>
                </a:lnTo>
                <a:lnTo>
                  <a:pt x="143467" y="107831"/>
                </a:lnTo>
                <a:lnTo>
                  <a:pt x="107174" y="128168"/>
                </a:lnTo>
                <a:lnTo>
                  <a:pt x="75656" y="149784"/>
                </a:lnTo>
                <a:lnTo>
                  <a:pt x="28121" y="196397"/>
                </a:lnTo>
                <a:lnTo>
                  <a:pt x="3222" y="246753"/>
                </a:lnTo>
                <a:lnTo>
                  <a:pt x="0" y="273050"/>
                </a:lnTo>
                <a:lnTo>
                  <a:pt x="3222" y="299346"/>
                </a:lnTo>
                <a:lnTo>
                  <a:pt x="28121" y="349702"/>
                </a:lnTo>
                <a:lnTo>
                  <a:pt x="75656" y="396315"/>
                </a:lnTo>
                <a:lnTo>
                  <a:pt x="107174" y="417931"/>
                </a:lnTo>
                <a:lnTo>
                  <a:pt x="143467" y="438268"/>
                </a:lnTo>
                <a:lnTo>
                  <a:pt x="184238" y="457211"/>
                </a:lnTo>
                <a:lnTo>
                  <a:pt x="229193" y="474646"/>
                </a:lnTo>
                <a:lnTo>
                  <a:pt x="278037" y="490459"/>
                </a:lnTo>
                <a:lnTo>
                  <a:pt x="330475" y="504534"/>
                </a:lnTo>
                <a:lnTo>
                  <a:pt x="386212" y="516758"/>
                </a:lnTo>
                <a:lnTo>
                  <a:pt x="444952" y="527016"/>
                </a:lnTo>
                <a:lnTo>
                  <a:pt x="506401" y="535193"/>
                </a:lnTo>
                <a:lnTo>
                  <a:pt x="570264" y="541176"/>
                </a:lnTo>
                <a:lnTo>
                  <a:pt x="636245" y="544850"/>
                </a:lnTo>
                <a:lnTo>
                  <a:pt x="704049" y="546100"/>
                </a:lnTo>
                <a:lnTo>
                  <a:pt x="771856" y="544850"/>
                </a:lnTo>
                <a:lnTo>
                  <a:pt x="837839" y="541176"/>
                </a:lnTo>
                <a:lnTo>
                  <a:pt x="901703" y="535193"/>
                </a:lnTo>
                <a:lnTo>
                  <a:pt x="963154" y="527016"/>
                </a:lnTo>
                <a:lnTo>
                  <a:pt x="1021895" y="516758"/>
                </a:lnTo>
                <a:lnTo>
                  <a:pt x="1077633" y="504534"/>
                </a:lnTo>
                <a:lnTo>
                  <a:pt x="1130072" y="490459"/>
                </a:lnTo>
                <a:lnTo>
                  <a:pt x="1178916" y="474646"/>
                </a:lnTo>
                <a:lnTo>
                  <a:pt x="1223872" y="457211"/>
                </a:lnTo>
                <a:lnTo>
                  <a:pt x="1264644" y="438268"/>
                </a:lnTo>
                <a:lnTo>
                  <a:pt x="1300937" y="417931"/>
                </a:lnTo>
                <a:lnTo>
                  <a:pt x="1332455" y="396315"/>
                </a:lnTo>
                <a:lnTo>
                  <a:pt x="1379991" y="349702"/>
                </a:lnTo>
                <a:lnTo>
                  <a:pt x="1404889" y="299346"/>
                </a:lnTo>
                <a:lnTo>
                  <a:pt x="1408112" y="273050"/>
                </a:lnTo>
                <a:lnTo>
                  <a:pt x="1404889" y="246753"/>
                </a:lnTo>
                <a:lnTo>
                  <a:pt x="1379991" y="196397"/>
                </a:lnTo>
                <a:lnTo>
                  <a:pt x="1332455" y="149784"/>
                </a:lnTo>
                <a:lnTo>
                  <a:pt x="1300937" y="128168"/>
                </a:lnTo>
                <a:lnTo>
                  <a:pt x="1264644" y="107831"/>
                </a:lnTo>
                <a:lnTo>
                  <a:pt x="1223872" y="88888"/>
                </a:lnTo>
                <a:lnTo>
                  <a:pt x="1178916" y="71453"/>
                </a:lnTo>
                <a:lnTo>
                  <a:pt x="1130072" y="55640"/>
                </a:lnTo>
                <a:lnTo>
                  <a:pt x="1077633" y="41565"/>
                </a:lnTo>
                <a:lnTo>
                  <a:pt x="1021895" y="29341"/>
                </a:lnTo>
                <a:lnTo>
                  <a:pt x="963154" y="19083"/>
                </a:lnTo>
                <a:lnTo>
                  <a:pt x="901703" y="10906"/>
                </a:lnTo>
                <a:lnTo>
                  <a:pt x="837839" y="4923"/>
                </a:lnTo>
                <a:lnTo>
                  <a:pt x="771856" y="1249"/>
                </a:lnTo>
                <a:lnTo>
                  <a:pt x="70404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4">
            <a:extLst>
              <a:ext uri="{FF2B5EF4-FFF2-40B4-BE49-F238E27FC236}">
                <a16:creationId xmlns:a16="http://schemas.microsoft.com/office/drawing/2014/main" id="{8A2B07B8-D6FA-8304-7E68-1B9E5D3F6AC2}"/>
              </a:ext>
            </a:extLst>
          </p:cNvPr>
          <p:cNvSpPr/>
          <p:nvPr/>
        </p:nvSpPr>
        <p:spPr>
          <a:xfrm>
            <a:off x="2374903" y="40068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0" y="273049"/>
                </a:moveTo>
                <a:lnTo>
                  <a:pt x="12695" y="221164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8" y="196396"/>
                </a:lnTo>
                <a:lnTo>
                  <a:pt x="1404886" y="246753"/>
                </a:lnTo>
                <a:lnTo>
                  <a:pt x="1408109" y="273049"/>
                </a:lnTo>
                <a:lnTo>
                  <a:pt x="1404886" y="299346"/>
                </a:lnTo>
                <a:lnTo>
                  <a:pt x="1379988" y="349703"/>
                </a:lnTo>
                <a:lnTo>
                  <a:pt x="1332453" y="396315"/>
                </a:lnTo>
                <a:lnTo>
                  <a:pt x="1300935" y="417931"/>
                </a:lnTo>
                <a:lnTo>
                  <a:pt x="1264643" y="438268"/>
                </a:lnTo>
                <a:lnTo>
                  <a:pt x="1223871" y="457211"/>
                </a:lnTo>
                <a:lnTo>
                  <a:pt x="1178916" y="474646"/>
                </a:lnTo>
                <a:lnTo>
                  <a:pt x="1130072" y="490458"/>
                </a:lnTo>
                <a:lnTo>
                  <a:pt x="1077634" y="504534"/>
                </a:lnTo>
                <a:lnTo>
                  <a:pt x="1021897" y="516757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6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6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7"/>
                </a:lnTo>
                <a:lnTo>
                  <a:pt x="330478" y="504534"/>
                </a:lnTo>
                <a:lnTo>
                  <a:pt x="278040" y="490458"/>
                </a:lnTo>
                <a:lnTo>
                  <a:pt x="229195" y="474646"/>
                </a:lnTo>
                <a:lnTo>
                  <a:pt x="184240" y="457211"/>
                </a:lnTo>
                <a:lnTo>
                  <a:pt x="143468" y="438268"/>
                </a:lnTo>
                <a:lnTo>
                  <a:pt x="107175" y="417931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0B097DCA-83C7-C27E-5A37-E1749C4BFFD5}"/>
              </a:ext>
            </a:extLst>
          </p:cNvPr>
          <p:cNvSpPr txBox="1"/>
          <p:nvPr/>
        </p:nvSpPr>
        <p:spPr>
          <a:xfrm>
            <a:off x="2774153" y="4084321"/>
            <a:ext cx="617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E49A0CB6-59DF-9AD0-4315-4B4C60068F64}"/>
              </a:ext>
            </a:extLst>
          </p:cNvPr>
          <p:cNvSpPr/>
          <p:nvPr/>
        </p:nvSpPr>
        <p:spPr>
          <a:xfrm>
            <a:off x="4279903" y="1873251"/>
            <a:ext cx="1187450" cy="728980"/>
          </a:xfrm>
          <a:custGeom>
            <a:avLst/>
            <a:gdLst/>
            <a:ahLst/>
            <a:cxnLst/>
            <a:rect l="l" t="t" r="r" b="b"/>
            <a:pathLst>
              <a:path w="1187450" h="728980">
                <a:moveTo>
                  <a:pt x="593725" y="0"/>
                </a:moveTo>
                <a:lnTo>
                  <a:pt x="0" y="364324"/>
                </a:lnTo>
                <a:lnTo>
                  <a:pt x="593725" y="728662"/>
                </a:lnTo>
                <a:lnTo>
                  <a:pt x="1187450" y="364324"/>
                </a:lnTo>
                <a:lnTo>
                  <a:pt x="593725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A7330595-3AF7-B58E-F1E4-233D0B001530}"/>
              </a:ext>
            </a:extLst>
          </p:cNvPr>
          <p:cNvSpPr/>
          <p:nvPr/>
        </p:nvSpPr>
        <p:spPr>
          <a:xfrm>
            <a:off x="4279903" y="1873251"/>
            <a:ext cx="1187450" cy="728980"/>
          </a:xfrm>
          <a:custGeom>
            <a:avLst/>
            <a:gdLst/>
            <a:ahLst/>
            <a:cxnLst/>
            <a:rect l="l" t="t" r="r" b="b"/>
            <a:pathLst>
              <a:path w="1187450" h="728980">
                <a:moveTo>
                  <a:pt x="0" y="364330"/>
                </a:moveTo>
                <a:lnTo>
                  <a:pt x="593724" y="0"/>
                </a:lnTo>
                <a:lnTo>
                  <a:pt x="1187449" y="364330"/>
                </a:lnTo>
                <a:lnTo>
                  <a:pt x="593724" y="728661"/>
                </a:lnTo>
                <a:lnTo>
                  <a:pt x="0" y="36433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8">
            <a:extLst>
              <a:ext uri="{FF2B5EF4-FFF2-40B4-BE49-F238E27FC236}">
                <a16:creationId xmlns:a16="http://schemas.microsoft.com/office/drawing/2014/main" id="{E4C404D1-27CB-1B0B-CBE2-C1E8524AFDEB}"/>
              </a:ext>
            </a:extLst>
          </p:cNvPr>
          <p:cNvSpPr txBox="1"/>
          <p:nvPr/>
        </p:nvSpPr>
        <p:spPr>
          <a:xfrm>
            <a:off x="4515806" y="2042009"/>
            <a:ext cx="719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hör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29">
            <a:extLst>
              <a:ext uri="{FF2B5EF4-FFF2-40B4-BE49-F238E27FC236}">
                <a16:creationId xmlns:a16="http://schemas.microsoft.com/office/drawing/2014/main" id="{981E235C-C3B7-C09E-C829-561A90E5C7C9}"/>
              </a:ext>
            </a:extLst>
          </p:cNvPr>
          <p:cNvSpPr/>
          <p:nvPr/>
        </p:nvSpPr>
        <p:spPr>
          <a:xfrm>
            <a:off x="4254503" y="3929064"/>
            <a:ext cx="1187450" cy="727075"/>
          </a:xfrm>
          <a:custGeom>
            <a:avLst/>
            <a:gdLst/>
            <a:ahLst/>
            <a:cxnLst/>
            <a:rect l="l" t="t" r="r" b="b"/>
            <a:pathLst>
              <a:path w="1187450" h="727075">
                <a:moveTo>
                  <a:pt x="593725" y="0"/>
                </a:moveTo>
                <a:lnTo>
                  <a:pt x="0" y="363537"/>
                </a:lnTo>
                <a:lnTo>
                  <a:pt x="593725" y="727075"/>
                </a:lnTo>
                <a:lnTo>
                  <a:pt x="1187450" y="363537"/>
                </a:lnTo>
                <a:lnTo>
                  <a:pt x="593725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0">
            <a:extLst>
              <a:ext uri="{FF2B5EF4-FFF2-40B4-BE49-F238E27FC236}">
                <a16:creationId xmlns:a16="http://schemas.microsoft.com/office/drawing/2014/main" id="{7170A12F-21AE-BF5B-1D00-E12120CB602B}"/>
              </a:ext>
            </a:extLst>
          </p:cNvPr>
          <p:cNvSpPr/>
          <p:nvPr/>
        </p:nvSpPr>
        <p:spPr>
          <a:xfrm>
            <a:off x="4254503" y="3929064"/>
            <a:ext cx="1187450" cy="727075"/>
          </a:xfrm>
          <a:custGeom>
            <a:avLst/>
            <a:gdLst/>
            <a:ahLst/>
            <a:cxnLst/>
            <a:rect l="l" t="t" r="r" b="b"/>
            <a:pathLst>
              <a:path w="1187450" h="727075">
                <a:moveTo>
                  <a:pt x="0" y="363537"/>
                </a:moveTo>
                <a:lnTo>
                  <a:pt x="593724" y="0"/>
                </a:lnTo>
                <a:lnTo>
                  <a:pt x="1187449" y="363537"/>
                </a:lnTo>
                <a:lnTo>
                  <a:pt x="593724" y="727074"/>
                </a:lnTo>
                <a:lnTo>
                  <a:pt x="0" y="36353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1">
            <a:extLst>
              <a:ext uri="{FF2B5EF4-FFF2-40B4-BE49-F238E27FC236}">
                <a16:creationId xmlns:a16="http://schemas.microsoft.com/office/drawing/2014/main" id="{D3CD9D08-E2E2-E70B-3400-0EDBC8AFA9B8}"/>
              </a:ext>
            </a:extLst>
          </p:cNvPr>
          <p:cNvSpPr txBox="1"/>
          <p:nvPr/>
        </p:nvSpPr>
        <p:spPr>
          <a:xfrm>
            <a:off x="4439606" y="4097021"/>
            <a:ext cx="821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prüf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2">
            <a:extLst>
              <a:ext uri="{FF2B5EF4-FFF2-40B4-BE49-F238E27FC236}">
                <a16:creationId xmlns:a16="http://schemas.microsoft.com/office/drawing/2014/main" id="{4E790371-BC6D-93EB-B142-73805520EB68}"/>
              </a:ext>
            </a:extLst>
          </p:cNvPr>
          <p:cNvSpPr/>
          <p:nvPr/>
        </p:nvSpPr>
        <p:spPr>
          <a:xfrm>
            <a:off x="3898903" y="5683251"/>
            <a:ext cx="1752600" cy="974725"/>
          </a:xfrm>
          <a:custGeom>
            <a:avLst/>
            <a:gdLst/>
            <a:ahLst/>
            <a:cxnLst/>
            <a:rect l="l" t="t" r="r" b="b"/>
            <a:pathLst>
              <a:path w="1752600" h="974725">
                <a:moveTo>
                  <a:pt x="876300" y="0"/>
                </a:moveTo>
                <a:lnTo>
                  <a:pt x="0" y="487362"/>
                </a:lnTo>
                <a:lnTo>
                  <a:pt x="876300" y="974723"/>
                </a:lnTo>
                <a:lnTo>
                  <a:pt x="1752600" y="487362"/>
                </a:lnTo>
                <a:lnTo>
                  <a:pt x="8763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3">
            <a:extLst>
              <a:ext uri="{FF2B5EF4-FFF2-40B4-BE49-F238E27FC236}">
                <a16:creationId xmlns:a16="http://schemas.microsoft.com/office/drawing/2014/main" id="{EE47BACC-776F-7952-BFE3-2EF3957C2C0C}"/>
              </a:ext>
            </a:extLst>
          </p:cNvPr>
          <p:cNvSpPr/>
          <p:nvPr/>
        </p:nvSpPr>
        <p:spPr>
          <a:xfrm>
            <a:off x="3898903" y="5683251"/>
            <a:ext cx="1752600" cy="974725"/>
          </a:xfrm>
          <a:custGeom>
            <a:avLst/>
            <a:gdLst/>
            <a:ahLst/>
            <a:cxnLst/>
            <a:rect l="l" t="t" r="r" b="b"/>
            <a:pathLst>
              <a:path w="1752600" h="974725">
                <a:moveTo>
                  <a:pt x="0" y="487362"/>
                </a:moveTo>
                <a:lnTo>
                  <a:pt x="876299" y="0"/>
                </a:lnTo>
                <a:lnTo>
                  <a:pt x="1752599" y="487362"/>
                </a:lnTo>
                <a:lnTo>
                  <a:pt x="876299" y="974724"/>
                </a:lnTo>
                <a:lnTo>
                  <a:pt x="0" y="48736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4">
            <a:extLst>
              <a:ext uri="{FF2B5EF4-FFF2-40B4-BE49-F238E27FC236}">
                <a16:creationId xmlns:a16="http://schemas.microsoft.com/office/drawing/2014/main" id="{D7036E99-A668-83D3-B252-0A793391AB6A}"/>
              </a:ext>
            </a:extLst>
          </p:cNvPr>
          <p:cNvSpPr txBox="1"/>
          <p:nvPr/>
        </p:nvSpPr>
        <p:spPr>
          <a:xfrm>
            <a:off x="5888041" y="5932489"/>
            <a:ext cx="1631950" cy="4559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50"/>
              </a:spcBef>
            </a:pPr>
            <a:r>
              <a:rPr sz="2400" spc="-5" dirty="0">
                <a:latin typeface="Times New Roman"/>
                <a:cs typeface="Times New Roman"/>
              </a:rPr>
              <a:t>Professoren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5">
            <a:extLst>
              <a:ext uri="{FF2B5EF4-FFF2-40B4-BE49-F238E27FC236}">
                <a16:creationId xmlns:a16="http://schemas.microsoft.com/office/drawing/2014/main" id="{04BF9155-41B5-717F-A713-0FB3D2203128}"/>
              </a:ext>
            </a:extLst>
          </p:cNvPr>
          <p:cNvSpPr txBox="1"/>
          <p:nvPr/>
        </p:nvSpPr>
        <p:spPr>
          <a:xfrm>
            <a:off x="5813429" y="2012951"/>
            <a:ext cx="1631950" cy="4559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350"/>
              </a:spcBef>
            </a:pPr>
            <a:r>
              <a:rPr sz="2400" spc="-30" dirty="0">
                <a:latin typeface="Times New Roman"/>
                <a:cs typeface="Times New Roman"/>
              </a:rPr>
              <a:t>Vorlesungen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6">
            <a:extLst>
              <a:ext uri="{FF2B5EF4-FFF2-40B4-BE49-F238E27FC236}">
                <a16:creationId xmlns:a16="http://schemas.microsoft.com/office/drawing/2014/main" id="{62621819-A59E-010D-12D7-AD1AE2B12B89}"/>
              </a:ext>
            </a:extLst>
          </p:cNvPr>
          <p:cNvSpPr/>
          <p:nvPr/>
        </p:nvSpPr>
        <p:spPr>
          <a:xfrm>
            <a:off x="6718303" y="3854451"/>
            <a:ext cx="1186180" cy="727075"/>
          </a:xfrm>
          <a:custGeom>
            <a:avLst/>
            <a:gdLst/>
            <a:ahLst/>
            <a:cxnLst/>
            <a:rect l="l" t="t" r="r" b="b"/>
            <a:pathLst>
              <a:path w="1186179" h="727075">
                <a:moveTo>
                  <a:pt x="592924" y="0"/>
                </a:moveTo>
                <a:lnTo>
                  <a:pt x="0" y="363537"/>
                </a:lnTo>
                <a:lnTo>
                  <a:pt x="592924" y="727075"/>
                </a:lnTo>
                <a:lnTo>
                  <a:pt x="1185862" y="363537"/>
                </a:lnTo>
                <a:lnTo>
                  <a:pt x="592924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7">
            <a:extLst>
              <a:ext uri="{FF2B5EF4-FFF2-40B4-BE49-F238E27FC236}">
                <a16:creationId xmlns:a16="http://schemas.microsoft.com/office/drawing/2014/main" id="{01F8C4F9-5B33-39FA-CEBC-C58AF50A3462}"/>
              </a:ext>
            </a:extLst>
          </p:cNvPr>
          <p:cNvSpPr/>
          <p:nvPr/>
        </p:nvSpPr>
        <p:spPr>
          <a:xfrm>
            <a:off x="6718303" y="3854451"/>
            <a:ext cx="1186180" cy="727075"/>
          </a:xfrm>
          <a:custGeom>
            <a:avLst/>
            <a:gdLst/>
            <a:ahLst/>
            <a:cxnLst/>
            <a:rect l="l" t="t" r="r" b="b"/>
            <a:pathLst>
              <a:path w="1186179" h="727075">
                <a:moveTo>
                  <a:pt x="0" y="363537"/>
                </a:moveTo>
                <a:lnTo>
                  <a:pt x="592931" y="0"/>
                </a:lnTo>
                <a:lnTo>
                  <a:pt x="1185859" y="363537"/>
                </a:lnTo>
                <a:lnTo>
                  <a:pt x="592931" y="727074"/>
                </a:lnTo>
                <a:lnTo>
                  <a:pt x="0" y="36353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8">
            <a:extLst>
              <a:ext uri="{FF2B5EF4-FFF2-40B4-BE49-F238E27FC236}">
                <a16:creationId xmlns:a16="http://schemas.microsoft.com/office/drawing/2014/main" id="{15DB645A-559C-BE83-CA31-F4ACE8BE43D0}"/>
              </a:ext>
            </a:extLst>
          </p:cNvPr>
          <p:cNvSpPr txBox="1"/>
          <p:nvPr/>
        </p:nvSpPr>
        <p:spPr>
          <a:xfrm>
            <a:off x="6979200" y="4022409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le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39">
            <a:extLst>
              <a:ext uri="{FF2B5EF4-FFF2-40B4-BE49-F238E27FC236}">
                <a16:creationId xmlns:a16="http://schemas.microsoft.com/office/drawing/2014/main" id="{4B82869A-1183-DC68-758D-9B09F2E10BBB}"/>
              </a:ext>
            </a:extLst>
          </p:cNvPr>
          <p:cNvSpPr/>
          <p:nvPr/>
        </p:nvSpPr>
        <p:spPr>
          <a:xfrm>
            <a:off x="5534028" y="554039"/>
            <a:ext cx="2098675" cy="633730"/>
          </a:xfrm>
          <a:custGeom>
            <a:avLst/>
            <a:gdLst/>
            <a:ahLst/>
            <a:cxnLst/>
            <a:rect l="l" t="t" r="r" b="b"/>
            <a:pathLst>
              <a:path w="2098675" h="633730">
                <a:moveTo>
                  <a:pt x="1049337" y="0"/>
                </a:moveTo>
                <a:lnTo>
                  <a:pt x="0" y="316712"/>
                </a:lnTo>
                <a:lnTo>
                  <a:pt x="1049337" y="633412"/>
                </a:lnTo>
                <a:lnTo>
                  <a:pt x="2098675" y="316712"/>
                </a:lnTo>
                <a:lnTo>
                  <a:pt x="1049337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0">
            <a:extLst>
              <a:ext uri="{FF2B5EF4-FFF2-40B4-BE49-F238E27FC236}">
                <a16:creationId xmlns:a16="http://schemas.microsoft.com/office/drawing/2014/main" id="{78B8E7AC-DF82-20E5-1C0D-F49824B34DC0}"/>
              </a:ext>
            </a:extLst>
          </p:cNvPr>
          <p:cNvSpPr/>
          <p:nvPr/>
        </p:nvSpPr>
        <p:spPr>
          <a:xfrm>
            <a:off x="5534028" y="554039"/>
            <a:ext cx="2098675" cy="633730"/>
          </a:xfrm>
          <a:custGeom>
            <a:avLst/>
            <a:gdLst/>
            <a:ahLst/>
            <a:cxnLst/>
            <a:rect l="l" t="t" r="r" b="b"/>
            <a:pathLst>
              <a:path w="2098675" h="633730">
                <a:moveTo>
                  <a:pt x="0" y="316705"/>
                </a:moveTo>
                <a:lnTo>
                  <a:pt x="1049339" y="0"/>
                </a:lnTo>
                <a:lnTo>
                  <a:pt x="2098668" y="316705"/>
                </a:lnTo>
                <a:lnTo>
                  <a:pt x="1049339" y="633411"/>
                </a:lnTo>
                <a:lnTo>
                  <a:pt x="0" y="316705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1">
            <a:extLst>
              <a:ext uri="{FF2B5EF4-FFF2-40B4-BE49-F238E27FC236}">
                <a16:creationId xmlns:a16="http://schemas.microsoft.com/office/drawing/2014/main" id="{4BAB76B4-6041-EE3D-CD08-B9012CFACA29}"/>
              </a:ext>
            </a:extLst>
          </p:cNvPr>
          <p:cNvSpPr txBox="1"/>
          <p:nvPr/>
        </p:nvSpPr>
        <p:spPr>
          <a:xfrm>
            <a:off x="5781831" y="675171"/>
            <a:ext cx="1599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voraussetzen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2">
            <a:extLst>
              <a:ext uri="{FF2B5EF4-FFF2-40B4-BE49-F238E27FC236}">
                <a16:creationId xmlns:a16="http://schemas.microsoft.com/office/drawing/2014/main" id="{FD3E68F8-D06C-5AC6-92D9-A47770947C27}"/>
              </a:ext>
            </a:extLst>
          </p:cNvPr>
          <p:cNvSpPr/>
          <p:nvPr/>
        </p:nvSpPr>
        <p:spPr>
          <a:xfrm>
            <a:off x="8051803" y="1873251"/>
            <a:ext cx="1409700" cy="546100"/>
          </a:xfrm>
          <a:custGeom>
            <a:avLst/>
            <a:gdLst/>
            <a:ahLst/>
            <a:cxnLst/>
            <a:rect l="l" t="t" r="r" b="b"/>
            <a:pathLst>
              <a:path w="1409700" h="546100">
                <a:moveTo>
                  <a:pt x="704850" y="0"/>
                </a:moveTo>
                <a:lnTo>
                  <a:pt x="636967" y="1249"/>
                </a:lnTo>
                <a:lnTo>
                  <a:pt x="570911" y="4923"/>
                </a:lnTo>
                <a:lnTo>
                  <a:pt x="506976" y="10906"/>
                </a:lnTo>
                <a:lnTo>
                  <a:pt x="445457" y="19083"/>
                </a:lnTo>
                <a:lnTo>
                  <a:pt x="386649" y="29341"/>
                </a:lnTo>
                <a:lnTo>
                  <a:pt x="330849" y="41565"/>
                </a:lnTo>
                <a:lnTo>
                  <a:pt x="278352" y="55640"/>
                </a:lnTo>
                <a:lnTo>
                  <a:pt x="229453" y="71453"/>
                </a:lnTo>
                <a:lnTo>
                  <a:pt x="184446" y="88888"/>
                </a:lnTo>
                <a:lnTo>
                  <a:pt x="143629" y="107831"/>
                </a:lnTo>
                <a:lnTo>
                  <a:pt x="107295" y="128168"/>
                </a:lnTo>
                <a:lnTo>
                  <a:pt x="75741" y="149784"/>
                </a:lnTo>
                <a:lnTo>
                  <a:pt x="28153" y="196397"/>
                </a:lnTo>
                <a:lnTo>
                  <a:pt x="3226" y="246753"/>
                </a:lnTo>
                <a:lnTo>
                  <a:pt x="0" y="273050"/>
                </a:lnTo>
                <a:lnTo>
                  <a:pt x="3226" y="299346"/>
                </a:lnTo>
                <a:lnTo>
                  <a:pt x="28153" y="349702"/>
                </a:lnTo>
                <a:lnTo>
                  <a:pt x="75741" y="396315"/>
                </a:lnTo>
                <a:lnTo>
                  <a:pt x="107295" y="417931"/>
                </a:lnTo>
                <a:lnTo>
                  <a:pt x="143629" y="438268"/>
                </a:lnTo>
                <a:lnTo>
                  <a:pt x="184446" y="457211"/>
                </a:lnTo>
                <a:lnTo>
                  <a:pt x="229453" y="474646"/>
                </a:lnTo>
                <a:lnTo>
                  <a:pt x="278352" y="490459"/>
                </a:lnTo>
                <a:lnTo>
                  <a:pt x="330849" y="504534"/>
                </a:lnTo>
                <a:lnTo>
                  <a:pt x="386649" y="516758"/>
                </a:lnTo>
                <a:lnTo>
                  <a:pt x="445457" y="527016"/>
                </a:lnTo>
                <a:lnTo>
                  <a:pt x="506976" y="535193"/>
                </a:lnTo>
                <a:lnTo>
                  <a:pt x="570911" y="541176"/>
                </a:lnTo>
                <a:lnTo>
                  <a:pt x="636967" y="544850"/>
                </a:lnTo>
                <a:lnTo>
                  <a:pt x="704850" y="546100"/>
                </a:lnTo>
                <a:lnTo>
                  <a:pt x="772730" y="544850"/>
                </a:lnTo>
                <a:lnTo>
                  <a:pt x="838785" y="541176"/>
                </a:lnTo>
                <a:lnTo>
                  <a:pt x="902719" y="535193"/>
                </a:lnTo>
                <a:lnTo>
                  <a:pt x="964237" y="527016"/>
                </a:lnTo>
                <a:lnTo>
                  <a:pt x="1023044" y="516758"/>
                </a:lnTo>
                <a:lnTo>
                  <a:pt x="1078844" y="504534"/>
                </a:lnTo>
                <a:lnTo>
                  <a:pt x="1131342" y="490459"/>
                </a:lnTo>
                <a:lnTo>
                  <a:pt x="1180241" y="474646"/>
                </a:lnTo>
                <a:lnTo>
                  <a:pt x="1225248" y="457211"/>
                </a:lnTo>
                <a:lnTo>
                  <a:pt x="1266066" y="438268"/>
                </a:lnTo>
                <a:lnTo>
                  <a:pt x="1302401" y="417931"/>
                </a:lnTo>
                <a:lnTo>
                  <a:pt x="1333955" y="396315"/>
                </a:lnTo>
                <a:lnTo>
                  <a:pt x="1381545" y="349702"/>
                </a:lnTo>
                <a:lnTo>
                  <a:pt x="1406473" y="299346"/>
                </a:lnTo>
                <a:lnTo>
                  <a:pt x="1409700" y="273050"/>
                </a:lnTo>
                <a:lnTo>
                  <a:pt x="1406473" y="246753"/>
                </a:lnTo>
                <a:lnTo>
                  <a:pt x="1381545" y="196397"/>
                </a:lnTo>
                <a:lnTo>
                  <a:pt x="1333955" y="149784"/>
                </a:lnTo>
                <a:lnTo>
                  <a:pt x="1302401" y="128168"/>
                </a:lnTo>
                <a:lnTo>
                  <a:pt x="1266066" y="107831"/>
                </a:lnTo>
                <a:lnTo>
                  <a:pt x="1225248" y="88888"/>
                </a:lnTo>
                <a:lnTo>
                  <a:pt x="1180241" y="71453"/>
                </a:lnTo>
                <a:lnTo>
                  <a:pt x="1131342" y="55640"/>
                </a:lnTo>
                <a:lnTo>
                  <a:pt x="1078844" y="41565"/>
                </a:lnTo>
                <a:lnTo>
                  <a:pt x="1023044" y="29341"/>
                </a:lnTo>
                <a:lnTo>
                  <a:pt x="964237" y="19083"/>
                </a:lnTo>
                <a:lnTo>
                  <a:pt x="902719" y="10906"/>
                </a:lnTo>
                <a:lnTo>
                  <a:pt x="838785" y="4923"/>
                </a:lnTo>
                <a:lnTo>
                  <a:pt x="772730" y="1249"/>
                </a:lnTo>
                <a:lnTo>
                  <a:pt x="70485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3">
            <a:extLst>
              <a:ext uri="{FF2B5EF4-FFF2-40B4-BE49-F238E27FC236}">
                <a16:creationId xmlns:a16="http://schemas.microsoft.com/office/drawing/2014/main" id="{B1137EF6-028D-6DD2-5809-BD5CC836E22C}"/>
              </a:ext>
            </a:extLst>
          </p:cNvPr>
          <p:cNvSpPr/>
          <p:nvPr/>
        </p:nvSpPr>
        <p:spPr>
          <a:xfrm>
            <a:off x="8051804" y="1873251"/>
            <a:ext cx="1409700" cy="546100"/>
          </a:xfrm>
          <a:custGeom>
            <a:avLst/>
            <a:gdLst/>
            <a:ahLst/>
            <a:cxnLst/>
            <a:rect l="l" t="t" r="r" b="b"/>
            <a:pathLst>
              <a:path w="1409700" h="546100">
                <a:moveTo>
                  <a:pt x="0" y="273049"/>
                </a:moveTo>
                <a:lnTo>
                  <a:pt x="12709" y="221164"/>
                </a:lnTo>
                <a:lnTo>
                  <a:pt x="49262" y="172564"/>
                </a:lnTo>
                <a:lnTo>
                  <a:pt x="107296" y="128167"/>
                </a:lnTo>
                <a:lnTo>
                  <a:pt x="143630" y="107830"/>
                </a:lnTo>
                <a:lnTo>
                  <a:pt x="184447" y="88887"/>
                </a:lnTo>
                <a:lnTo>
                  <a:pt x="229454" y="71452"/>
                </a:lnTo>
                <a:lnTo>
                  <a:pt x="278353" y="55640"/>
                </a:lnTo>
                <a:lnTo>
                  <a:pt x="330850" y="41565"/>
                </a:lnTo>
                <a:lnTo>
                  <a:pt x="386650" y="29341"/>
                </a:lnTo>
                <a:lnTo>
                  <a:pt x="445457" y="19083"/>
                </a:lnTo>
                <a:lnTo>
                  <a:pt x="506976" y="10906"/>
                </a:lnTo>
                <a:lnTo>
                  <a:pt x="570911" y="4923"/>
                </a:lnTo>
                <a:lnTo>
                  <a:pt x="636967" y="1249"/>
                </a:lnTo>
                <a:lnTo>
                  <a:pt x="704849" y="0"/>
                </a:lnTo>
                <a:lnTo>
                  <a:pt x="772731" y="1249"/>
                </a:lnTo>
                <a:lnTo>
                  <a:pt x="838787" y="4923"/>
                </a:lnTo>
                <a:lnTo>
                  <a:pt x="902722" y="10906"/>
                </a:lnTo>
                <a:lnTo>
                  <a:pt x="964241" y="19083"/>
                </a:lnTo>
                <a:lnTo>
                  <a:pt x="1023048" y="29341"/>
                </a:lnTo>
                <a:lnTo>
                  <a:pt x="1078848" y="41565"/>
                </a:lnTo>
                <a:lnTo>
                  <a:pt x="1131346" y="55640"/>
                </a:lnTo>
                <a:lnTo>
                  <a:pt x="1180245" y="71452"/>
                </a:lnTo>
                <a:lnTo>
                  <a:pt x="1225251" y="88887"/>
                </a:lnTo>
                <a:lnTo>
                  <a:pt x="1266069" y="107830"/>
                </a:lnTo>
                <a:lnTo>
                  <a:pt x="1302402" y="128167"/>
                </a:lnTo>
                <a:lnTo>
                  <a:pt x="1333956" y="149783"/>
                </a:lnTo>
                <a:lnTo>
                  <a:pt x="1381545" y="196396"/>
                </a:lnTo>
                <a:lnTo>
                  <a:pt x="1406472" y="246753"/>
                </a:lnTo>
                <a:lnTo>
                  <a:pt x="1409698" y="273049"/>
                </a:lnTo>
                <a:lnTo>
                  <a:pt x="1406472" y="299346"/>
                </a:lnTo>
                <a:lnTo>
                  <a:pt x="1381545" y="349703"/>
                </a:lnTo>
                <a:lnTo>
                  <a:pt x="1333956" y="396315"/>
                </a:lnTo>
                <a:lnTo>
                  <a:pt x="1302402" y="417932"/>
                </a:lnTo>
                <a:lnTo>
                  <a:pt x="1266069" y="438268"/>
                </a:lnTo>
                <a:lnTo>
                  <a:pt x="1225251" y="457212"/>
                </a:lnTo>
                <a:lnTo>
                  <a:pt x="1180245" y="474646"/>
                </a:lnTo>
                <a:lnTo>
                  <a:pt x="1131346" y="490459"/>
                </a:lnTo>
                <a:lnTo>
                  <a:pt x="1078848" y="504534"/>
                </a:lnTo>
                <a:lnTo>
                  <a:pt x="1023048" y="516758"/>
                </a:lnTo>
                <a:lnTo>
                  <a:pt x="964241" y="527015"/>
                </a:lnTo>
                <a:lnTo>
                  <a:pt x="902722" y="535193"/>
                </a:lnTo>
                <a:lnTo>
                  <a:pt x="838787" y="541176"/>
                </a:lnTo>
                <a:lnTo>
                  <a:pt x="772731" y="544849"/>
                </a:lnTo>
                <a:lnTo>
                  <a:pt x="704849" y="546099"/>
                </a:lnTo>
                <a:lnTo>
                  <a:pt x="636967" y="544849"/>
                </a:lnTo>
                <a:lnTo>
                  <a:pt x="570911" y="541176"/>
                </a:lnTo>
                <a:lnTo>
                  <a:pt x="506976" y="535193"/>
                </a:lnTo>
                <a:lnTo>
                  <a:pt x="445457" y="527015"/>
                </a:lnTo>
                <a:lnTo>
                  <a:pt x="386650" y="516758"/>
                </a:lnTo>
                <a:lnTo>
                  <a:pt x="330850" y="504534"/>
                </a:lnTo>
                <a:lnTo>
                  <a:pt x="278353" y="490459"/>
                </a:lnTo>
                <a:lnTo>
                  <a:pt x="229454" y="474646"/>
                </a:lnTo>
                <a:lnTo>
                  <a:pt x="184447" y="457212"/>
                </a:lnTo>
                <a:lnTo>
                  <a:pt x="143630" y="438268"/>
                </a:lnTo>
                <a:lnTo>
                  <a:pt x="107296" y="417932"/>
                </a:lnTo>
                <a:lnTo>
                  <a:pt x="75742" y="396315"/>
                </a:lnTo>
                <a:lnTo>
                  <a:pt x="28153" y="349703"/>
                </a:lnTo>
                <a:lnTo>
                  <a:pt x="3226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4">
            <a:extLst>
              <a:ext uri="{FF2B5EF4-FFF2-40B4-BE49-F238E27FC236}">
                <a16:creationId xmlns:a16="http://schemas.microsoft.com/office/drawing/2014/main" id="{3830DDDA-2911-FD5D-2CD4-0B0BF0B44C4F}"/>
              </a:ext>
            </a:extLst>
          </p:cNvPr>
          <p:cNvSpPr txBox="1"/>
          <p:nvPr/>
        </p:nvSpPr>
        <p:spPr>
          <a:xfrm>
            <a:off x="8425882" y="1950721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SWS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5">
            <a:extLst>
              <a:ext uri="{FF2B5EF4-FFF2-40B4-BE49-F238E27FC236}">
                <a16:creationId xmlns:a16="http://schemas.microsoft.com/office/drawing/2014/main" id="{E7209AB7-0F14-C51E-9200-26D4D487BD53}"/>
              </a:ext>
            </a:extLst>
          </p:cNvPr>
          <p:cNvSpPr/>
          <p:nvPr/>
        </p:nvSpPr>
        <p:spPr>
          <a:xfrm>
            <a:off x="8051803" y="1187451"/>
            <a:ext cx="1409700" cy="548005"/>
          </a:xfrm>
          <a:custGeom>
            <a:avLst/>
            <a:gdLst/>
            <a:ahLst/>
            <a:cxnLst/>
            <a:rect l="l" t="t" r="r" b="b"/>
            <a:pathLst>
              <a:path w="1409700" h="548005">
                <a:moveTo>
                  <a:pt x="704850" y="0"/>
                </a:moveTo>
                <a:lnTo>
                  <a:pt x="636967" y="1253"/>
                </a:lnTo>
                <a:lnTo>
                  <a:pt x="570911" y="4937"/>
                </a:lnTo>
                <a:lnTo>
                  <a:pt x="506976" y="10938"/>
                </a:lnTo>
                <a:lnTo>
                  <a:pt x="445457" y="19139"/>
                </a:lnTo>
                <a:lnTo>
                  <a:pt x="386649" y="29427"/>
                </a:lnTo>
                <a:lnTo>
                  <a:pt x="330849" y="41686"/>
                </a:lnTo>
                <a:lnTo>
                  <a:pt x="278352" y="55803"/>
                </a:lnTo>
                <a:lnTo>
                  <a:pt x="229453" y="71661"/>
                </a:lnTo>
                <a:lnTo>
                  <a:pt x="184446" y="89147"/>
                </a:lnTo>
                <a:lnTo>
                  <a:pt x="143629" y="108146"/>
                </a:lnTo>
                <a:lnTo>
                  <a:pt x="107295" y="128542"/>
                </a:lnTo>
                <a:lnTo>
                  <a:pt x="75741" y="150222"/>
                </a:lnTo>
                <a:lnTo>
                  <a:pt x="28153" y="196971"/>
                </a:lnTo>
                <a:lnTo>
                  <a:pt x="3226" y="247476"/>
                </a:lnTo>
                <a:lnTo>
                  <a:pt x="0" y="273850"/>
                </a:lnTo>
                <a:lnTo>
                  <a:pt x="3226" y="300221"/>
                </a:lnTo>
                <a:lnTo>
                  <a:pt x="28153" y="350723"/>
                </a:lnTo>
                <a:lnTo>
                  <a:pt x="75741" y="397469"/>
                </a:lnTo>
                <a:lnTo>
                  <a:pt x="107295" y="419148"/>
                </a:lnTo>
                <a:lnTo>
                  <a:pt x="143629" y="439543"/>
                </a:lnTo>
                <a:lnTo>
                  <a:pt x="184446" y="458541"/>
                </a:lnTo>
                <a:lnTo>
                  <a:pt x="229453" y="476027"/>
                </a:lnTo>
                <a:lnTo>
                  <a:pt x="278352" y="491885"/>
                </a:lnTo>
                <a:lnTo>
                  <a:pt x="330849" y="506001"/>
                </a:lnTo>
                <a:lnTo>
                  <a:pt x="386649" y="518260"/>
                </a:lnTo>
                <a:lnTo>
                  <a:pt x="445457" y="528548"/>
                </a:lnTo>
                <a:lnTo>
                  <a:pt x="506976" y="536749"/>
                </a:lnTo>
                <a:lnTo>
                  <a:pt x="570911" y="542749"/>
                </a:lnTo>
                <a:lnTo>
                  <a:pt x="636967" y="546433"/>
                </a:lnTo>
                <a:lnTo>
                  <a:pt x="704850" y="547687"/>
                </a:lnTo>
                <a:lnTo>
                  <a:pt x="772730" y="546433"/>
                </a:lnTo>
                <a:lnTo>
                  <a:pt x="838785" y="542749"/>
                </a:lnTo>
                <a:lnTo>
                  <a:pt x="902719" y="536749"/>
                </a:lnTo>
                <a:lnTo>
                  <a:pt x="964237" y="528548"/>
                </a:lnTo>
                <a:lnTo>
                  <a:pt x="1023044" y="518260"/>
                </a:lnTo>
                <a:lnTo>
                  <a:pt x="1078844" y="506001"/>
                </a:lnTo>
                <a:lnTo>
                  <a:pt x="1131342" y="491885"/>
                </a:lnTo>
                <a:lnTo>
                  <a:pt x="1180241" y="476027"/>
                </a:lnTo>
                <a:lnTo>
                  <a:pt x="1225248" y="458541"/>
                </a:lnTo>
                <a:lnTo>
                  <a:pt x="1266066" y="439543"/>
                </a:lnTo>
                <a:lnTo>
                  <a:pt x="1302401" y="419148"/>
                </a:lnTo>
                <a:lnTo>
                  <a:pt x="1333955" y="397469"/>
                </a:lnTo>
                <a:lnTo>
                  <a:pt x="1381545" y="350723"/>
                </a:lnTo>
                <a:lnTo>
                  <a:pt x="1406473" y="300221"/>
                </a:lnTo>
                <a:lnTo>
                  <a:pt x="1409700" y="273850"/>
                </a:lnTo>
                <a:lnTo>
                  <a:pt x="1406473" y="247476"/>
                </a:lnTo>
                <a:lnTo>
                  <a:pt x="1381545" y="196971"/>
                </a:lnTo>
                <a:lnTo>
                  <a:pt x="1333955" y="150222"/>
                </a:lnTo>
                <a:lnTo>
                  <a:pt x="1302401" y="128542"/>
                </a:lnTo>
                <a:lnTo>
                  <a:pt x="1266066" y="108146"/>
                </a:lnTo>
                <a:lnTo>
                  <a:pt x="1225248" y="89147"/>
                </a:lnTo>
                <a:lnTo>
                  <a:pt x="1180241" y="71661"/>
                </a:lnTo>
                <a:lnTo>
                  <a:pt x="1131342" y="55803"/>
                </a:lnTo>
                <a:lnTo>
                  <a:pt x="1078844" y="41686"/>
                </a:lnTo>
                <a:lnTo>
                  <a:pt x="1023044" y="29427"/>
                </a:lnTo>
                <a:lnTo>
                  <a:pt x="964237" y="19139"/>
                </a:lnTo>
                <a:lnTo>
                  <a:pt x="902719" y="10938"/>
                </a:lnTo>
                <a:lnTo>
                  <a:pt x="838785" y="4937"/>
                </a:lnTo>
                <a:lnTo>
                  <a:pt x="772730" y="1253"/>
                </a:lnTo>
                <a:lnTo>
                  <a:pt x="70485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6">
            <a:extLst>
              <a:ext uri="{FF2B5EF4-FFF2-40B4-BE49-F238E27FC236}">
                <a16:creationId xmlns:a16="http://schemas.microsoft.com/office/drawing/2014/main" id="{20A5E0C8-3036-570F-2A09-BD64F44781FC}"/>
              </a:ext>
            </a:extLst>
          </p:cNvPr>
          <p:cNvSpPr/>
          <p:nvPr/>
        </p:nvSpPr>
        <p:spPr>
          <a:xfrm>
            <a:off x="8051804" y="1187451"/>
            <a:ext cx="1409700" cy="548005"/>
          </a:xfrm>
          <a:custGeom>
            <a:avLst/>
            <a:gdLst/>
            <a:ahLst/>
            <a:cxnLst/>
            <a:rect l="l" t="t" r="r" b="b"/>
            <a:pathLst>
              <a:path w="1409700" h="548005">
                <a:moveTo>
                  <a:pt x="0" y="273843"/>
                </a:moveTo>
                <a:lnTo>
                  <a:pt x="12709" y="221806"/>
                </a:lnTo>
                <a:lnTo>
                  <a:pt x="49262" y="173066"/>
                </a:lnTo>
                <a:lnTo>
                  <a:pt x="107296" y="128539"/>
                </a:lnTo>
                <a:lnTo>
                  <a:pt x="143630" y="108143"/>
                </a:lnTo>
                <a:lnTo>
                  <a:pt x="184447" y="89145"/>
                </a:lnTo>
                <a:lnTo>
                  <a:pt x="229454" y="71660"/>
                </a:lnTo>
                <a:lnTo>
                  <a:pt x="278353" y="55802"/>
                </a:lnTo>
                <a:lnTo>
                  <a:pt x="330850" y="41686"/>
                </a:lnTo>
                <a:lnTo>
                  <a:pt x="386650" y="29426"/>
                </a:lnTo>
                <a:lnTo>
                  <a:pt x="445457" y="19139"/>
                </a:lnTo>
                <a:lnTo>
                  <a:pt x="506976" y="10937"/>
                </a:lnTo>
                <a:lnTo>
                  <a:pt x="570911" y="4937"/>
                </a:lnTo>
                <a:lnTo>
                  <a:pt x="636967" y="1253"/>
                </a:lnTo>
                <a:lnTo>
                  <a:pt x="704849" y="0"/>
                </a:lnTo>
                <a:lnTo>
                  <a:pt x="772731" y="1253"/>
                </a:lnTo>
                <a:lnTo>
                  <a:pt x="838787" y="4937"/>
                </a:lnTo>
                <a:lnTo>
                  <a:pt x="902722" y="10937"/>
                </a:lnTo>
                <a:lnTo>
                  <a:pt x="964241" y="19139"/>
                </a:lnTo>
                <a:lnTo>
                  <a:pt x="1023048" y="29426"/>
                </a:lnTo>
                <a:lnTo>
                  <a:pt x="1078848" y="41686"/>
                </a:lnTo>
                <a:lnTo>
                  <a:pt x="1131346" y="55802"/>
                </a:lnTo>
                <a:lnTo>
                  <a:pt x="1180245" y="71660"/>
                </a:lnTo>
                <a:lnTo>
                  <a:pt x="1225251" y="89145"/>
                </a:lnTo>
                <a:lnTo>
                  <a:pt x="1266069" y="108143"/>
                </a:lnTo>
                <a:lnTo>
                  <a:pt x="1302402" y="128539"/>
                </a:lnTo>
                <a:lnTo>
                  <a:pt x="1333956" y="150218"/>
                </a:lnTo>
                <a:lnTo>
                  <a:pt x="1381545" y="196967"/>
                </a:lnTo>
                <a:lnTo>
                  <a:pt x="1406472" y="247470"/>
                </a:lnTo>
                <a:lnTo>
                  <a:pt x="1409698" y="273843"/>
                </a:lnTo>
                <a:lnTo>
                  <a:pt x="1406472" y="300216"/>
                </a:lnTo>
                <a:lnTo>
                  <a:pt x="1381545" y="350719"/>
                </a:lnTo>
                <a:lnTo>
                  <a:pt x="1333956" y="397468"/>
                </a:lnTo>
                <a:lnTo>
                  <a:pt x="1302402" y="419147"/>
                </a:lnTo>
                <a:lnTo>
                  <a:pt x="1266069" y="439543"/>
                </a:lnTo>
                <a:lnTo>
                  <a:pt x="1225251" y="458541"/>
                </a:lnTo>
                <a:lnTo>
                  <a:pt x="1180245" y="476026"/>
                </a:lnTo>
                <a:lnTo>
                  <a:pt x="1131346" y="491885"/>
                </a:lnTo>
                <a:lnTo>
                  <a:pt x="1078848" y="506001"/>
                </a:lnTo>
                <a:lnTo>
                  <a:pt x="1023048" y="518260"/>
                </a:lnTo>
                <a:lnTo>
                  <a:pt x="964241" y="528548"/>
                </a:lnTo>
                <a:lnTo>
                  <a:pt x="902722" y="536749"/>
                </a:lnTo>
                <a:lnTo>
                  <a:pt x="838787" y="542749"/>
                </a:lnTo>
                <a:lnTo>
                  <a:pt x="772731" y="546433"/>
                </a:lnTo>
                <a:lnTo>
                  <a:pt x="704849" y="547687"/>
                </a:lnTo>
                <a:lnTo>
                  <a:pt x="636967" y="546433"/>
                </a:lnTo>
                <a:lnTo>
                  <a:pt x="570911" y="542749"/>
                </a:lnTo>
                <a:lnTo>
                  <a:pt x="506976" y="536749"/>
                </a:lnTo>
                <a:lnTo>
                  <a:pt x="445457" y="528548"/>
                </a:lnTo>
                <a:lnTo>
                  <a:pt x="386650" y="518260"/>
                </a:lnTo>
                <a:lnTo>
                  <a:pt x="330850" y="506001"/>
                </a:lnTo>
                <a:lnTo>
                  <a:pt x="278353" y="491885"/>
                </a:lnTo>
                <a:lnTo>
                  <a:pt x="229454" y="476026"/>
                </a:lnTo>
                <a:lnTo>
                  <a:pt x="184447" y="458541"/>
                </a:lnTo>
                <a:lnTo>
                  <a:pt x="143630" y="439543"/>
                </a:lnTo>
                <a:lnTo>
                  <a:pt x="107296" y="419147"/>
                </a:lnTo>
                <a:lnTo>
                  <a:pt x="75742" y="397468"/>
                </a:lnTo>
                <a:lnTo>
                  <a:pt x="28153" y="350719"/>
                </a:lnTo>
                <a:lnTo>
                  <a:pt x="3226" y="300216"/>
                </a:lnTo>
                <a:lnTo>
                  <a:pt x="0" y="27384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7">
            <a:extLst>
              <a:ext uri="{FF2B5EF4-FFF2-40B4-BE49-F238E27FC236}">
                <a16:creationId xmlns:a16="http://schemas.microsoft.com/office/drawing/2014/main" id="{423C7714-07D3-8BDD-57A5-4E8E9B79DF29}"/>
              </a:ext>
            </a:extLst>
          </p:cNvPr>
          <p:cNvSpPr txBox="1"/>
          <p:nvPr/>
        </p:nvSpPr>
        <p:spPr>
          <a:xfrm>
            <a:off x="8324282" y="1265709"/>
            <a:ext cx="866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3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" name="object 48">
            <a:extLst>
              <a:ext uri="{FF2B5EF4-FFF2-40B4-BE49-F238E27FC236}">
                <a16:creationId xmlns:a16="http://schemas.microsoft.com/office/drawing/2014/main" id="{2EB6C547-FD05-382A-726A-8DED25647719}"/>
              </a:ext>
            </a:extLst>
          </p:cNvPr>
          <p:cNvSpPr/>
          <p:nvPr/>
        </p:nvSpPr>
        <p:spPr>
          <a:xfrm>
            <a:off x="8051803" y="2711451"/>
            <a:ext cx="1409700" cy="548005"/>
          </a:xfrm>
          <a:custGeom>
            <a:avLst/>
            <a:gdLst/>
            <a:ahLst/>
            <a:cxnLst/>
            <a:rect l="l" t="t" r="r" b="b"/>
            <a:pathLst>
              <a:path w="1409700" h="548005">
                <a:moveTo>
                  <a:pt x="704850" y="0"/>
                </a:moveTo>
                <a:lnTo>
                  <a:pt x="636967" y="1253"/>
                </a:lnTo>
                <a:lnTo>
                  <a:pt x="570911" y="4937"/>
                </a:lnTo>
                <a:lnTo>
                  <a:pt x="506976" y="10938"/>
                </a:lnTo>
                <a:lnTo>
                  <a:pt x="445457" y="19139"/>
                </a:lnTo>
                <a:lnTo>
                  <a:pt x="386649" y="29427"/>
                </a:lnTo>
                <a:lnTo>
                  <a:pt x="330849" y="41686"/>
                </a:lnTo>
                <a:lnTo>
                  <a:pt x="278352" y="55803"/>
                </a:lnTo>
                <a:lnTo>
                  <a:pt x="229453" y="71661"/>
                </a:lnTo>
                <a:lnTo>
                  <a:pt x="184446" y="89147"/>
                </a:lnTo>
                <a:lnTo>
                  <a:pt x="143629" y="108146"/>
                </a:lnTo>
                <a:lnTo>
                  <a:pt x="107295" y="128542"/>
                </a:lnTo>
                <a:lnTo>
                  <a:pt x="75741" y="150222"/>
                </a:lnTo>
                <a:lnTo>
                  <a:pt x="28153" y="196971"/>
                </a:lnTo>
                <a:lnTo>
                  <a:pt x="3226" y="247476"/>
                </a:lnTo>
                <a:lnTo>
                  <a:pt x="0" y="273850"/>
                </a:lnTo>
                <a:lnTo>
                  <a:pt x="3226" y="300221"/>
                </a:lnTo>
                <a:lnTo>
                  <a:pt x="28153" y="350723"/>
                </a:lnTo>
                <a:lnTo>
                  <a:pt x="75741" y="397469"/>
                </a:lnTo>
                <a:lnTo>
                  <a:pt x="107295" y="419148"/>
                </a:lnTo>
                <a:lnTo>
                  <a:pt x="143629" y="439543"/>
                </a:lnTo>
                <a:lnTo>
                  <a:pt x="184446" y="458541"/>
                </a:lnTo>
                <a:lnTo>
                  <a:pt x="229453" y="476027"/>
                </a:lnTo>
                <a:lnTo>
                  <a:pt x="278352" y="491885"/>
                </a:lnTo>
                <a:lnTo>
                  <a:pt x="330849" y="506001"/>
                </a:lnTo>
                <a:lnTo>
                  <a:pt x="386649" y="518260"/>
                </a:lnTo>
                <a:lnTo>
                  <a:pt x="445457" y="528548"/>
                </a:lnTo>
                <a:lnTo>
                  <a:pt x="506976" y="536749"/>
                </a:lnTo>
                <a:lnTo>
                  <a:pt x="570911" y="542749"/>
                </a:lnTo>
                <a:lnTo>
                  <a:pt x="636967" y="546433"/>
                </a:lnTo>
                <a:lnTo>
                  <a:pt x="704850" y="547687"/>
                </a:lnTo>
                <a:lnTo>
                  <a:pt x="772730" y="546433"/>
                </a:lnTo>
                <a:lnTo>
                  <a:pt x="838785" y="542749"/>
                </a:lnTo>
                <a:lnTo>
                  <a:pt x="902719" y="536749"/>
                </a:lnTo>
                <a:lnTo>
                  <a:pt x="964237" y="528548"/>
                </a:lnTo>
                <a:lnTo>
                  <a:pt x="1023044" y="518260"/>
                </a:lnTo>
                <a:lnTo>
                  <a:pt x="1078844" y="506001"/>
                </a:lnTo>
                <a:lnTo>
                  <a:pt x="1131342" y="491885"/>
                </a:lnTo>
                <a:lnTo>
                  <a:pt x="1180241" y="476027"/>
                </a:lnTo>
                <a:lnTo>
                  <a:pt x="1225248" y="458541"/>
                </a:lnTo>
                <a:lnTo>
                  <a:pt x="1266066" y="439543"/>
                </a:lnTo>
                <a:lnTo>
                  <a:pt x="1302401" y="419148"/>
                </a:lnTo>
                <a:lnTo>
                  <a:pt x="1333955" y="397469"/>
                </a:lnTo>
                <a:lnTo>
                  <a:pt x="1381545" y="350723"/>
                </a:lnTo>
                <a:lnTo>
                  <a:pt x="1406473" y="300221"/>
                </a:lnTo>
                <a:lnTo>
                  <a:pt x="1409700" y="273850"/>
                </a:lnTo>
                <a:lnTo>
                  <a:pt x="1406473" y="247476"/>
                </a:lnTo>
                <a:lnTo>
                  <a:pt x="1381545" y="196971"/>
                </a:lnTo>
                <a:lnTo>
                  <a:pt x="1333955" y="150222"/>
                </a:lnTo>
                <a:lnTo>
                  <a:pt x="1302401" y="128542"/>
                </a:lnTo>
                <a:lnTo>
                  <a:pt x="1266066" y="108146"/>
                </a:lnTo>
                <a:lnTo>
                  <a:pt x="1225248" y="89147"/>
                </a:lnTo>
                <a:lnTo>
                  <a:pt x="1180241" y="71661"/>
                </a:lnTo>
                <a:lnTo>
                  <a:pt x="1131342" y="55803"/>
                </a:lnTo>
                <a:lnTo>
                  <a:pt x="1078844" y="41686"/>
                </a:lnTo>
                <a:lnTo>
                  <a:pt x="1023044" y="29427"/>
                </a:lnTo>
                <a:lnTo>
                  <a:pt x="964237" y="19139"/>
                </a:lnTo>
                <a:lnTo>
                  <a:pt x="902719" y="10938"/>
                </a:lnTo>
                <a:lnTo>
                  <a:pt x="838785" y="4937"/>
                </a:lnTo>
                <a:lnTo>
                  <a:pt x="772730" y="1253"/>
                </a:lnTo>
                <a:lnTo>
                  <a:pt x="70485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49">
            <a:extLst>
              <a:ext uri="{FF2B5EF4-FFF2-40B4-BE49-F238E27FC236}">
                <a16:creationId xmlns:a16="http://schemas.microsoft.com/office/drawing/2014/main" id="{F042B084-5E21-0D47-0D44-4C54D8DF7ACA}"/>
              </a:ext>
            </a:extLst>
          </p:cNvPr>
          <p:cNvSpPr/>
          <p:nvPr/>
        </p:nvSpPr>
        <p:spPr>
          <a:xfrm>
            <a:off x="8051804" y="2711451"/>
            <a:ext cx="1409700" cy="548005"/>
          </a:xfrm>
          <a:custGeom>
            <a:avLst/>
            <a:gdLst/>
            <a:ahLst/>
            <a:cxnLst/>
            <a:rect l="l" t="t" r="r" b="b"/>
            <a:pathLst>
              <a:path w="1409700" h="548005">
                <a:moveTo>
                  <a:pt x="0" y="273843"/>
                </a:moveTo>
                <a:lnTo>
                  <a:pt x="12709" y="221806"/>
                </a:lnTo>
                <a:lnTo>
                  <a:pt x="49262" y="173066"/>
                </a:lnTo>
                <a:lnTo>
                  <a:pt x="107296" y="128539"/>
                </a:lnTo>
                <a:lnTo>
                  <a:pt x="143630" y="108144"/>
                </a:lnTo>
                <a:lnTo>
                  <a:pt x="184447" y="89145"/>
                </a:lnTo>
                <a:lnTo>
                  <a:pt x="229454" y="71660"/>
                </a:lnTo>
                <a:lnTo>
                  <a:pt x="278353" y="55802"/>
                </a:lnTo>
                <a:lnTo>
                  <a:pt x="330850" y="41686"/>
                </a:lnTo>
                <a:lnTo>
                  <a:pt x="386650" y="29426"/>
                </a:lnTo>
                <a:lnTo>
                  <a:pt x="445457" y="19139"/>
                </a:lnTo>
                <a:lnTo>
                  <a:pt x="506976" y="10937"/>
                </a:lnTo>
                <a:lnTo>
                  <a:pt x="570911" y="4937"/>
                </a:lnTo>
                <a:lnTo>
                  <a:pt x="636967" y="1253"/>
                </a:lnTo>
                <a:lnTo>
                  <a:pt x="704849" y="0"/>
                </a:lnTo>
                <a:lnTo>
                  <a:pt x="772731" y="1253"/>
                </a:lnTo>
                <a:lnTo>
                  <a:pt x="838787" y="4937"/>
                </a:lnTo>
                <a:lnTo>
                  <a:pt x="902722" y="10937"/>
                </a:lnTo>
                <a:lnTo>
                  <a:pt x="964241" y="19139"/>
                </a:lnTo>
                <a:lnTo>
                  <a:pt x="1023048" y="29426"/>
                </a:lnTo>
                <a:lnTo>
                  <a:pt x="1078848" y="41686"/>
                </a:lnTo>
                <a:lnTo>
                  <a:pt x="1131346" y="55802"/>
                </a:lnTo>
                <a:lnTo>
                  <a:pt x="1180245" y="71660"/>
                </a:lnTo>
                <a:lnTo>
                  <a:pt x="1225251" y="89145"/>
                </a:lnTo>
                <a:lnTo>
                  <a:pt x="1266069" y="108144"/>
                </a:lnTo>
                <a:lnTo>
                  <a:pt x="1302402" y="128539"/>
                </a:lnTo>
                <a:lnTo>
                  <a:pt x="1333956" y="150219"/>
                </a:lnTo>
                <a:lnTo>
                  <a:pt x="1381545" y="196967"/>
                </a:lnTo>
                <a:lnTo>
                  <a:pt x="1406472" y="247470"/>
                </a:lnTo>
                <a:lnTo>
                  <a:pt x="1409698" y="273843"/>
                </a:lnTo>
                <a:lnTo>
                  <a:pt x="1406472" y="300216"/>
                </a:lnTo>
                <a:lnTo>
                  <a:pt x="1381545" y="350720"/>
                </a:lnTo>
                <a:lnTo>
                  <a:pt x="1333956" y="397468"/>
                </a:lnTo>
                <a:lnTo>
                  <a:pt x="1302402" y="419147"/>
                </a:lnTo>
                <a:lnTo>
                  <a:pt x="1266069" y="439543"/>
                </a:lnTo>
                <a:lnTo>
                  <a:pt x="1225251" y="458541"/>
                </a:lnTo>
                <a:lnTo>
                  <a:pt x="1180245" y="476027"/>
                </a:lnTo>
                <a:lnTo>
                  <a:pt x="1131346" y="491885"/>
                </a:lnTo>
                <a:lnTo>
                  <a:pt x="1078848" y="506001"/>
                </a:lnTo>
                <a:lnTo>
                  <a:pt x="1023048" y="518260"/>
                </a:lnTo>
                <a:lnTo>
                  <a:pt x="964241" y="528548"/>
                </a:lnTo>
                <a:lnTo>
                  <a:pt x="902722" y="536749"/>
                </a:lnTo>
                <a:lnTo>
                  <a:pt x="838787" y="542749"/>
                </a:lnTo>
                <a:lnTo>
                  <a:pt x="772731" y="546433"/>
                </a:lnTo>
                <a:lnTo>
                  <a:pt x="704849" y="547687"/>
                </a:lnTo>
                <a:lnTo>
                  <a:pt x="636967" y="546433"/>
                </a:lnTo>
                <a:lnTo>
                  <a:pt x="570911" y="542749"/>
                </a:lnTo>
                <a:lnTo>
                  <a:pt x="506976" y="536749"/>
                </a:lnTo>
                <a:lnTo>
                  <a:pt x="445457" y="528548"/>
                </a:lnTo>
                <a:lnTo>
                  <a:pt x="386650" y="518260"/>
                </a:lnTo>
                <a:lnTo>
                  <a:pt x="330850" y="506001"/>
                </a:lnTo>
                <a:lnTo>
                  <a:pt x="278353" y="491885"/>
                </a:lnTo>
                <a:lnTo>
                  <a:pt x="229454" y="476027"/>
                </a:lnTo>
                <a:lnTo>
                  <a:pt x="184447" y="458541"/>
                </a:lnTo>
                <a:lnTo>
                  <a:pt x="143630" y="439543"/>
                </a:lnTo>
                <a:lnTo>
                  <a:pt x="107296" y="419147"/>
                </a:lnTo>
                <a:lnTo>
                  <a:pt x="75742" y="397468"/>
                </a:lnTo>
                <a:lnTo>
                  <a:pt x="28153" y="350720"/>
                </a:lnTo>
                <a:lnTo>
                  <a:pt x="3226" y="300216"/>
                </a:lnTo>
                <a:lnTo>
                  <a:pt x="0" y="27384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0">
            <a:extLst>
              <a:ext uri="{FF2B5EF4-FFF2-40B4-BE49-F238E27FC236}">
                <a16:creationId xmlns:a16="http://schemas.microsoft.com/office/drawing/2014/main" id="{DF3C3EE3-3569-E86E-8AC3-BED90B1DE39E}"/>
              </a:ext>
            </a:extLst>
          </p:cNvPr>
          <p:cNvSpPr txBox="1"/>
          <p:nvPr/>
        </p:nvSpPr>
        <p:spPr>
          <a:xfrm>
            <a:off x="8463982" y="2789709"/>
            <a:ext cx="590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latin typeface="Times New Roman"/>
                <a:cs typeface="Times New Roman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ite</a:t>
            </a:r>
            <a:r>
              <a:rPr sz="2400" dirty="0"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2" name="object 51">
            <a:extLst>
              <a:ext uri="{FF2B5EF4-FFF2-40B4-BE49-F238E27FC236}">
                <a16:creationId xmlns:a16="http://schemas.microsoft.com/office/drawing/2014/main" id="{329C484F-456E-F097-B158-921BEEFDBFC1}"/>
              </a:ext>
            </a:extLst>
          </p:cNvPr>
          <p:cNvSpPr/>
          <p:nvPr/>
        </p:nvSpPr>
        <p:spPr>
          <a:xfrm>
            <a:off x="8053391" y="59880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704049" y="0"/>
                </a:moveTo>
                <a:lnTo>
                  <a:pt x="636245" y="1249"/>
                </a:lnTo>
                <a:lnTo>
                  <a:pt x="570264" y="4923"/>
                </a:lnTo>
                <a:lnTo>
                  <a:pt x="506401" y="10906"/>
                </a:lnTo>
                <a:lnTo>
                  <a:pt x="444952" y="19083"/>
                </a:lnTo>
                <a:lnTo>
                  <a:pt x="386212" y="29341"/>
                </a:lnTo>
                <a:lnTo>
                  <a:pt x="330475" y="41565"/>
                </a:lnTo>
                <a:lnTo>
                  <a:pt x="278037" y="55640"/>
                </a:lnTo>
                <a:lnTo>
                  <a:pt x="229193" y="71453"/>
                </a:lnTo>
                <a:lnTo>
                  <a:pt x="184238" y="88888"/>
                </a:lnTo>
                <a:lnTo>
                  <a:pt x="143467" y="107831"/>
                </a:lnTo>
                <a:lnTo>
                  <a:pt x="107174" y="128168"/>
                </a:lnTo>
                <a:lnTo>
                  <a:pt x="75656" y="149784"/>
                </a:lnTo>
                <a:lnTo>
                  <a:pt x="28121" y="196397"/>
                </a:lnTo>
                <a:lnTo>
                  <a:pt x="3222" y="246753"/>
                </a:lnTo>
                <a:lnTo>
                  <a:pt x="0" y="273050"/>
                </a:lnTo>
                <a:lnTo>
                  <a:pt x="3222" y="299346"/>
                </a:lnTo>
                <a:lnTo>
                  <a:pt x="28121" y="349702"/>
                </a:lnTo>
                <a:lnTo>
                  <a:pt x="75656" y="396315"/>
                </a:lnTo>
                <a:lnTo>
                  <a:pt x="107174" y="417931"/>
                </a:lnTo>
                <a:lnTo>
                  <a:pt x="143467" y="438268"/>
                </a:lnTo>
                <a:lnTo>
                  <a:pt x="184238" y="457211"/>
                </a:lnTo>
                <a:lnTo>
                  <a:pt x="229193" y="474646"/>
                </a:lnTo>
                <a:lnTo>
                  <a:pt x="278037" y="490458"/>
                </a:lnTo>
                <a:lnTo>
                  <a:pt x="330475" y="504533"/>
                </a:lnTo>
                <a:lnTo>
                  <a:pt x="386212" y="516757"/>
                </a:lnTo>
                <a:lnTo>
                  <a:pt x="444952" y="527014"/>
                </a:lnTo>
                <a:lnTo>
                  <a:pt x="506401" y="535192"/>
                </a:lnTo>
                <a:lnTo>
                  <a:pt x="570264" y="541175"/>
                </a:lnTo>
                <a:lnTo>
                  <a:pt x="636245" y="544848"/>
                </a:lnTo>
                <a:lnTo>
                  <a:pt x="704049" y="546098"/>
                </a:lnTo>
                <a:lnTo>
                  <a:pt x="771856" y="544848"/>
                </a:lnTo>
                <a:lnTo>
                  <a:pt x="837839" y="541175"/>
                </a:lnTo>
                <a:lnTo>
                  <a:pt x="901703" y="535192"/>
                </a:lnTo>
                <a:lnTo>
                  <a:pt x="963154" y="527014"/>
                </a:lnTo>
                <a:lnTo>
                  <a:pt x="1021895" y="516757"/>
                </a:lnTo>
                <a:lnTo>
                  <a:pt x="1077633" y="504533"/>
                </a:lnTo>
                <a:lnTo>
                  <a:pt x="1130072" y="490458"/>
                </a:lnTo>
                <a:lnTo>
                  <a:pt x="1178916" y="474646"/>
                </a:lnTo>
                <a:lnTo>
                  <a:pt x="1223872" y="457211"/>
                </a:lnTo>
                <a:lnTo>
                  <a:pt x="1264644" y="438268"/>
                </a:lnTo>
                <a:lnTo>
                  <a:pt x="1300937" y="417931"/>
                </a:lnTo>
                <a:lnTo>
                  <a:pt x="1332455" y="396315"/>
                </a:lnTo>
                <a:lnTo>
                  <a:pt x="1379991" y="349702"/>
                </a:lnTo>
                <a:lnTo>
                  <a:pt x="1404889" y="299346"/>
                </a:lnTo>
                <a:lnTo>
                  <a:pt x="1408112" y="273050"/>
                </a:lnTo>
                <a:lnTo>
                  <a:pt x="1404889" y="246753"/>
                </a:lnTo>
                <a:lnTo>
                  <a:pt x="1379991" y="196397"/>
                </a:lnTo>
                <a:lnTo>
                  <a:pt x="1332455" y="149784"/>
                </a:lnTo>
                <a:lnTo>
                  <a:pt x="1300937" y="128168"/>
                </a:lnTo>
                <a:lnTo>
                  <a:pt x="1264644" y="107831"/>
                </a:lnTo>
                <a:lnTo>
                  <a:pt x="1223872" y="88888"/>
                </a:lnTo>
                <a:lnTo>
                  <a:pt x="1178916" y="71453"/>
                </a:lnTo>
                <a:lnTo>
                  <a:pt x="1130072" y="55640"/>
                </a:lnTo>
                <a:lnTo>
                  <a:pt x="1077633" y="41565"/>
                </a:lnTo>
                <a:lnTo>
                  <a:pt x="1021895" y="29341"/>
                </a:lnTo>
                <a:lnTo>
                  <a:pt x="963154" y="19083"/>
                </a:lnTo>
                <a:lnTo>
                  <a:pt x="901703" y="10906"/>
                </a:lnTo>
                <a:lnTo>
                  <a:pt x="837839" y="4923"/>
                </a:lnTo>
                <a:lnTo>
                  <a:pt x="771856" y="1249"/>
                </a:lnTo>
                <a:lnTo>
                  <a:pt x="70404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2">
            <a:extLst>
              <a:ext uri="{FF2B5EF4-FFF2-40B4-BE49-F238E27FC236}">
                <a16:creationId xmlns:a16="http://schemas.microsoft.com/office/drawing/2014/main" id="{D3A1069B-2EDA-5CA0-C600-09201AEBBD29}"/>
              </a:ext>
            </a:extLst>
          </p:cNvPr>
          <p:cNvSpPr/>
          <p:nvPr/>
        </p:nvSpPr>
        <p:spPr>
          <a:xfrm>
            <a:off x="8053391" y="59880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0" y="273049"/>
                </a:moveTo>
                <a:lnTo>
                  <a:pt x="12695" y="221164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8" y="196396"/>
                </a:lnTo>
                <a:lnTo>
                  <a:pt x="1404886" y="246753"/>
                </a:lnTo>
                <a:lnTo>
                  <a:pt x="1408109" y="273049"/>
                </a:lnTo>
                <a:lnTo>
                  <a:pt x="1404886" y="299346"/>
                </a:lnTo>
                <a:lnTo>
                  <a:pt x="1379988" y="349703"/>
                </a:lnTo>
                <a:lnTo>
                  <a:pt x="1332453" y="396315"/>
                </a:lnTo>
                <a:lnTo>
                  <a:pt x="1300935" y="417932"/>
                </a:lnTo>
                <a:lnTo>
                  <a:pt x="1264643" y="438268"/>
                </a:lnTo>
                <a:lnTo>
                  <a:pt x="1223871" y="457211"/>
                </a:lnTo>
                <a:lnTo>
                  <a:pt x="1178916" y="474646"/>
                </a:lnTo>
                <a:lnTo>
                  <a:pt x="1130072" y="490459"/>
                </a:lnTo>
                <a:lnTo>
                  <a:pt x="1077634" y="504534"/>
                </a:lnTo>
                <a:lnTo>
                  <a:pt x="1021897" y="516758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6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6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8"/>
                </a:lnTo>
                <a:lnTo>
                  <a:pt x="330478" y="504534"/>
                </a:lnTo>
                <a:lnTo>
                  <a:pt x="278040" y="490459"/>
                </a:lnTo>
                <a:lnTo>
                  <a:pt x="229195" y="474646"/>
                </a:lnTo>
                <a:lnTo>
                  <a:pt x="184240" y="457211"/>
                </a:lnTo>
                <a:lnTo>
                  <a:pt x="143468" y="438268"/>
                </a:lnTo>
                <a:lnTo>
                  <a:pt x="107175" y="417932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3">
            <a:extLst>
              <a:ext uri="{FF2B5EF4-FFF2-40B4-BE49-F238E27FC236}">
                <a16:creationId xmlns:a16="http://schemas.microsoft.com/office/drawing/2014/main" id="{EBACEA39-0C1F-0D8A-5746-819CB16182C6}"/>
              </a:ext>
            </a:extLst>
          </p:cNvPr>
          <p:cNvSpPr txBox="1"/>
          <p:nvPr/>
        </p:nvSpPr>
        <p:spPr>
          <a:xfrm>
            <a:off x="8376441" y="6065521"/>
            <a:ext cx="753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um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5" name="object 54">
            <a:extLst>
              <a:ext uri="{FF2B5EF4-FFF2-40B4-BE49-F238E27FC236}">
                <a16:creationId xmlns:a16="http://schemas.microsoft.com/office/drawing/2014/main" id="{0F2D4043-B023-8380-04F9-07C027491D4C}"/>
              </a:ext>
            </a:extLst>
          </p:cNvPr>
          <p:cNvSpPr/>
          <p:nvPr/>
        </p:nvSpPr>
        <p:spPr>
          <a:xfrm>
            <a:off x="8053391" y="5302251"/>
            <a:ext cx="1408430" cy="549275"/>
          </a:xfrm>
          <a:custGeom>
            <a:avLst/>
            <a:gdLst/>
            <a:ahLst/>
            <a:cxnLst/>
            <a:rect l="l" t="t" r="r" b="b"/>
            <a:pathLst>
              <a:path w="1408429" h="549275">
                <a:moveTo>
                  <a:pt x="704049" y="0"/>
                </a:moveTo>
                <a:lnTo>
                  <a:pt x="636245" y="1257"/>
                </a:lnTo>
                <a:lnTo>
                  <a:pt x="570264" y="4952"/>
                </a:lnTo>
                <a:lnTo>
                  <a:pt x="506401" y="10969"/>
                </a:lnTo>
                <a:lnTo>
                  <a:pt x="444952" y="19194"/>
                </a:lnTo>
                <a:lnTo>
                  <a:pt x="386212" y="29512"/>
                </a:lnTo>
                <a:lnTo>
                  <a:pt x="330475" y="41807"/>
                </a:lnTo>
                <a:lnTo>
                  <a:pt x="278037" y="55964"/>
                </a:lnTo>
                <a:lnTo>
                  <a:pt x="229193" y="71868"/>
                </a:lnTo>
                <a:lnTo>
                  <a:pt x="184238" y="89405"/>
                </a:lnTo>
                <a:lnTo>
                  <a:pt x="143467" y="108458"/>
                </a:lnTo>
                <a:lnTo>
                  <a:pt x="107174" y="128913"/>
                </a:lnTo>
                <a:lnTo>
                  <a:pt x="75656" y="150655"/>
                </a:lnTo>
                <a:lnTo>
                  <a:pt x="28121" y="197539"/>
                </a:lnTo>
                <a:lnTo>
                  <a:pt x="3222" y="248188"/>
                </a:lnTo>
                <a:lnTo>
                  <a:pt x="0" y="274637"/>
                </a:lnTo>
                <a:lnTo>
                  <a:pt x="3222" y="301086"/>
                </a:lnTo>
                <a:lnTo>
                  <a:pt x="28121" y="351735"/>
                </a:lnTo>
                <a:lnTo>
                  <a:pt x="75656" y="398619"/>
                </a:lnTo>
                <a:lnTo>
                  <a:pt x="107174" y="420361"/>
                </a:lnTo>
                <a:lnTo>
                  <a:pt x="143467" y="440816"/>
                </a:lnTo>
                <a:lnTo>
                  <a:pt x="184238" y="459869"/>
                </a:lnTo>
                <a:lnTo>
                  <a:pt x="229193" y="477406"/>
                </a:lnTo>
                <a:lnTo>
                  <a:pt x="278037" y="493310"/>
                </a:lnTo>
                <a:lnTo>
                  <a:pt x="330475" y="507467"/>
                </a:lnTo>
                <a:lnTo>
                  <a:pt x="386212" y="519762"/>
                </a:lnTo>
                <a:lnTo>
                  <a:pt x="444952" y="530080"/>
                </a:lnTo>
                <a:lnTo>
                  <a:pt x="506401" y="538305"/>
                </a:lnTo>
                <a:lnTo>
                  <a:pt x="570264" y="544322"/>
                </a:lnTo>
                <a:lnTo>
                  <a:pt x="636245" y="548017"/>
                </a:lnTo>
                <a:lnTo>
                  <a:pt x="704049" y="549275"/>
                </a:lnTo>
                <a:lnTo>
                  <a:pt x="771856" y="548017"/>
                </a:lnTo>
                <a:lnTo>
                  <a:pt x="837839" y="544322"/>
                </a:lnTo>
                <a:lnTo>
                  <a:pt x="901703" y="538305"/>
                </a:lnTo>
                <a:lnTo>
                  <a:pt x="963154" y="530080"/>
                </a:lnTo>
                <a:lnTo>
                  <a:pt x="1021895" y="519762"/>
                </a:lnTo>
                <a:lnTo>
                  <a:pt x="1077633" y="507467"/>
                </a:lnTo>
                <a:lnTo>
                  <a:pt x="1130072" y="493310"/>
                </a:lnTo>
                <a:lnTo>
                  <a:pt x="1178916" y="477406"/>
                </a:lnTo>
                <a:lnTo>
                  <a:pt x="1223872" y="459869"/>
                </a:lnTo>
                <a:lnTo>
                  <a:pt x="1264644" y="440816"/>
                </a:lnTo>
                <a:lnTo>
                  <a:pt x="1300937" y="420361"/>
                </a:lnTo>
                <a:lnTo>
                  <a:pt x="1332455" y="398619"/>
                </a:lnTo>
                <a:lnTo>
                  <a:pt x="1379991" y="351735"/>
                </a:lnTo>
                <a:lnTo>
                  <a:pt x="1404889" y="301086"/>
                </a:lnTo>
                <a:lnTo>
                  <a:pt x="1408112" y="274637"/>
                </a:lnTo>
                <a:lnTo>
                  <a:pt x="1404889" y="248188"/>
                </a:lnTo>
                <a:lnTo>
                  <a:pt x="1379991" y="197539"/>
                </a:lnTo>
                <a:lnTo>
                  <a:pt x="1332455" y="150655"/>
                </a:lnTo>
                <a:lnTo>
                  <a:pt x="1300937" y="128913"/>
                </a:lnTo>
                <a:lnTo>
                  <a:pt x="1264644" y="108458"/>
                </a:lnTo>
                <a:lnTo>
                  <a:pt x="1223872" y="89405"/>
                </a:lnTo>
                <a:lnTo>
                  <a:pt x="1178916" y="71868"/>
                </a:lnTo>
                <a:lnTo>
                  <a:pt x="1130072" y="55964"/>
                </a:lnTo>
                <a:lnTo>
                  <a:pt x="1077633" y="41807"/>
                </a:lnTo>
                <a:lnTo>
                  <a:pt x="1021895" y="29512"/>
                </a:lnTo>
                <a:lnTo>
                  <a:pt x="963154" y="19194"/>
                </a:lnTo>
                <a:lnTo>
                  <a:pt x="901703" y="10969"/>
                </a:lnTo>
                <a:lnTo>
                  <a:pt x="837839" y="4952"/>
                </a:lnTo>
                <a:lnTo>
                  <a:pt x="771856" y="1257"/>
                </a:lnTo>
                <a:lnTo>
                  <a:pt x="70404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5">
            <a:extLst>
              <a:ext uri="{FF2B5EF4-FFF2-40B4-BE49-F238E27FC236}">
                <a16:creationId xmlns:a16="http://schemas.microsoft.com/office/drawing/2014/main" id="{5B2A72E9-D682-2855-E654-73FDA1D8533D}"/>
              </a:ext>
            </a:extLst>
          </p:cNvPr>
          <p:cNvSpPr/>
          <p:nvPr/>
        </p:nvSpPr>
        <p:spPr>
          <a:xfrm>
            <a:off x="8053391" y="5302251"/>
            <a:ext cx="1408430" cy="549275"/>
          </a:xfrm>
          <a:custGeom>
            <a:avLst/>
            <a:gdLst/>
            <a:ahLst/>
            <a:cxnLst/>
            <a:rect l="l" t="t" r="r" b="b"/>
            <a:pathLst>
              <a:path w="1408429" h="549275">
                <a:moveTo>
                  <a:pt x="0" y="274637"/>
                </a:moveTo>
                <a:lnTo>
                  <a:pt x="12695" y="222450"/>
                </a:lnTo>
                <a:lnTo>
                  <a:pt x="49207" y="173568"/>
                </a:lnTo>
                <a:lnTo>
                  <a:pt x="107175" y="128912"/>
                </a:lnTo>
                <a:lnTo>
                  <a:pt x="143468" y="108457"/>
                </a:lnTo>
                <a:lnTo>
                  <a:pt x="184240" y="89404"/>
                </a:lnTo>
                <a:lnTo>
                  <a:pt x="229195" y="71868"/>
                </a:lnTo>
                <a:lnTo>
                  <a:pt x="278040" y="55964"/>
                </a:lnTo>
                <a:lnTo>
                  <a:pt x="330478" y="41807"/>
                </a:lnTo>
                <a:lnTo>
                  <a:pt x="386215" y="29512"/>
                </a:lnTo>
                <a:lnTo>
                  <a:pt x="444956" y="19194"/>
                </a:lnTo>
                <a:lnTo>
                  <a:pt x="506406" y="10969"/>
                </a:lnTo>
                <a:lnTo>
                  <a:pt x="570269" y="4952"/>
                </a:lnTo>
                <a:lnTo>
                  <a:pt x="636251" y="1257"/>
                </a:lnTo>
                <a:lnTo>
                  <a:pt x="704056" y="0"/>
                </a:lnTo>
                <a:lnTo>
                  <a:pt x="771862" y="1257"/>
                </a:lnTo>
                <a:lnTo>
                  <a:pt x="837844" y="4952"/>
                </a:lnTo>
                <a:lnTo>
                  <a:pt x="901707" y="10969"/>
                </a:lnTo>
                <a:lnTo>
                  <a:pt x="963157" y="19194"/>
                </a:lnTo>
                <a:lnTo>
                  <a:pt x="1021897" y="29512"/>
                </a:lnTo>
                <a:lnTo>
                  <a:pt x="1077634" y="41807"/>
                </a:lnTo>
                <a:lnTo>
                  <a:pt x="1130072" y="55964"/>
                </a:lnTo>
                <a:lnTo>
                  <a:pt x="1178916" y="71868"/>
                </a:lnTo>
                <a:lnTo>
                  <a:pt x="1223871" y="89404"/>
                </a:lnTo>
                <a:lnTo>
                  <a:pt x="1264643" y="108457"/>
                </a:lnTo>
                <a:lnTo>
                  <a:pt x="1300935" y="128912"/>
                </a:lnTo>
                <a:lnTo>
                  <a:pt x="1332453" y="150654"/>
                </a:lnTo>
                <a:lnTo>
                  <a:pt x="1379988" y="197538"/>
                </a:lnTo>
                <a:lnTo>
                  <a:pt x="1404886" y="248188"/>
                </a:lnTo>
                <a:lnTo>
                  <a:pt x="1408109" y="274637"/>
                </a:lnTo>
                <a:lnTo>
                  <a:pt x="1404886" y="301087"/>
                </a:lnTo>
                <a:lnTo>
                  <a:pt x="1379988" y="351736"/>
                </a:lnTo>
                <a:lnTo>
                  <a:pt x="1332453" y="398620"/>
                </a:lnTo>
                <a:lnTo>
                  <a:pt x="1300935" y="420362"/>
                </a:lnTo>
                <a:lnTo>
                  <a:pt x="1264643" y="440817"/>
                </a:lnTo>
                <a:lnTo>
                  <a:pt x="1223871" y="459870"/>
                </a:lnTo>
                <a:lnTo>
                  <a:pt x="1178916" y="477407"/>
                </a:lnTo>
                <a:lnTo>
                  <a:pt x="1130072" y="493311"/>
                </a:lnTo>
                <a:lnTo>
                  <a:pt x="1077634" y="507468"/>
                </a:lnTo>
                <a:lnTo>
                  <a:pt x="1021897" y="519763"/>
                </a:lnTo>
                <a:lnTo>
                  <a:pt x="963157" y="530080"/>
                </a:lnTo>
                <a:lnTo>
                  <a:pt x="901707" y="538305"/>
                </a:lnTo>
                <a:lnTo>
                  <a:pt x="837844" y="544323"/>
                </a:lnTo>
                <a:lnTo>
                  <a:pt x="771862" y="548018"/>
                </a:lnTo>
                <a:lnTo>
                  <a:pt x="704056" y="549275"/>
                </a:lnTo>
                <a:lnTo>
                  <a:pt x="636251" y="548018"/>
                </a:lnTo>
                <a:lnTo>
                  <a:pt x="570269" y="544323"/>
                </a:lnTo>
                <a:lnTo>
                  <a:pt x="506406" y="538305"/>
                </a:lnTo>
                <a:lnTo>
                  <a:pt x="444956" y="530080"/>
                </a:lnTo>
                <a:lnTo>
                  <a:pt x="386215" y="519763"/>
                </a:lnTo>
                <a:lnTo>
                  <a:pt x="330478" y="507468"/>
                </a:lnTo>
                <a:lnTo>
                  <a:pt x="278040" y="493311"/>
                </a:lnTo>
                <a:lnTo>
                  <a:pt x="229195" y="477407"/>
                </a:lnTo>
                <a:lnTo>
                  <a:pt x="184240" y="459870"/>
                </a:lnTo>
                <a:lnTo>
                  <a:pt x="143468" y="440817"/>
                </a:lnTo>
                <a:lnTo>
                  <a:pt x="107175" y="420362"/>
                </a:lnTo>
                <a:lnTo>
                  <a:pt x="75656" y="398620"/>
                </a:lnTo>
                <a:lnTo>
                  <a:pt x="28121" y="351736"/>
                </a:lnTo>
                <a:lnTo>
                  <a:pt x="3222" y="301087"/>
                </a:lnTo>
                <a:lnTo>
                  <a:pt x="0" y="27463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6">
            <a:extLst>
              <a:ext uri="{FF2B5EF4-FFF2-40B4-BE49-F238E27FC236}">
                <a16:creationId xmlns:a16="http://schemas.microsoft.com/office/drawing/2014/main" id="{E7D8B7BA-1136-E13C-1660-999B2851C8CB}"/>
              </a:ext>
            </a:extLst>
          </p:cNvPr>
          <p:cNvSpPr txBox="1"/>
          <p:nvPr/>
        </p:nvSpPr>
        <p:spPr>
          <a:xfrm>
            <a:off x="8427241" y="5381309"/>
            <a:ext cx="669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8" name="object 57">
            <a:extLst>
              <a:ext uri="{FF2B5EF4-FFF2-40B4-BE49-F238E27FC236}">
                <a16:creationId xmlns:a16="http://schemas.microsoft.com/office/drawing/2014/main" id="{EA4E1BB3-E27A-F267-276A-72E691BEC723}"/>
              </a:ext>
            </a:extLst>
          </p:cNvPr>
          <p:cNvSpPr/>
          <p:nvPr/>
        </p:nvSpPr>
        <p:spPr>
          <a:xfrm>
            <a:off x="5346703" y="6813550"/>
            <a:ext cx="1409700" cy="546100"/>
          </a:xfrm>
          <a:custGeom>
            <a:avLst/>
            <a:gdLst/>
            <a:ahLst/>
            <a:cxnLst/>
            <a:rect l="l" t="t" r="r" b="b"/>
            <a:pathLst>
              <a:path w="1409700" h="546100">
                <a:moveTo>
                  <a:pt x="704850" y="0"/>
                </a:moveTo>
                <a:lnTo>
                  <a:pt x="636967" y="1249"/>
                </a:lnTo>
                <a:lnTo>
                  <a:pt x="570911" y="4923"/>
                </a:lnTo>
                <a:lnTo>
                  <a:pt x="506976" y="10906"/>
                </a:lnTo>
                <a:lnTo>
                  <a:pt x="445457" y="19083"/>
                </a:lnTo>
                <a:lnTo>
                  <a:pt x="386649" y="29341"/>
                </a:lnTo>
                <a:lnTo>
                  <a:pt x="330849" y="41565"/>
                </a:lnTo>
                <a:lnTo>
                  <a:pt x="278352" y="55640"/>
                </a:lnTo>
                <a:lnTo>
                  <a:pt x="229453" y="71452"/>
                </a:lnTo>
                <a:lnTo>
                  <a:pt x="184446" y="88887"/>
                </a:lnTo>
                <a:lnTo>
                  <a:pt x="143629" y="107830"/>
                </a:lnTo>
                <a:lnTo>
                  <a:pt x="107295" y="128167"/>
                </a:lnTo>
                <a:lnTo>
                  <a:pt x="75741" y="149783"/>
                </a:lnTo>
                <a:lnTo>
                  <a:pt x="28153" y="196396"/>
                </a:lnTo>
                <a:lnTo>
                  <a:pt x="3226" y="246753"/>
                </a:lnTo>
                <a:lnTo>
                  <a:pt x="0" y="273049"/>
                </a:lnTo>
                <a:lnTo>
                  <a:pt x="3226" y="299346"/>
                </a:lnTo>
                <a:lnTo>
                  <a:pt x="28153" y="349703"/>
                </a:lnTo>
                <a:lnTo>
                  <a:pt x="75741" y="396316"/>
                </a:lnTo>
                <a:lnTo>
                  <a:pt x="107295" y="417932"/>
                </a:lnTo>
                <a:lnTo>
                  <a:pt x="143629" y="438269"/>
                </a:lnTo>
                <a:lnTo>
                  <a:pt x="184446" y="457212"/>
                </a:lnTo>
                <a:lnTo>
                  <a:pt x="229453" y="474647"/>
                </a:lnTo>
                <a:lnTo>
                  <a:pt x="278352" y="490459"/>
                </a:lnTo>
                <a:lnTo>
                  <a:pt x="330849" y="504534"/>
                </a:lnTo>
                <a:lnTo>
                  <a:pt x="386649" y="516758"/>
                </a:lnTo>
                <a:lnTo>
                  <a:pt x="445457" y="527016"/>
                </a:lnTo>
                <a:lnTo>
                  <a:pt x="506976" y="535193"/>
                </a:lnTo>
                <a:lnTo>
                  <a:pt x="570911" y="541176"/>
                </a:lnTo>
                <a:lnTo>
                  <a:pt x="636967" y="544850"/>
                </a:lnTo>
                <a:lnTo>
                  <a:pt x="704850" y="546099"/>
                </a:lnTo>
                <a:lnTo>
                  <a:pt x="772732" y="544850"/>
                </a:lnTo>
                <a:lnTo>
                  <a:pt x="838788" y="541176"/>
                </a:lnTo>
                <a:lnTo>
                  <a:pt x="902723" y="535193"/>
                </a:lnTo>
                <a:lnTo>
                  <a:pt x="964242" y="527016"/>
                </a:lnTo>
                <a:lnTo>
                  <a:pt x="1023050" y="516758"/>
                </a:lnTo>
                <a:lnTo>
                  <a:pt x="1078850" y="504534"/>
                </a:lnTo>
                <a:lnTo>
                  <a:pt x="1131347" y="490459"/>
                </a:lnTo>
                <a:lnTo>
                  <a:pt x="1180246" y="474647"/>
                </a:lnTo>
                <a:lnTo>
                  <a:pt x="1225253" y="457212"/>
                </a:lnTo>
                <a:lnTo>
                  <a:pt x="1266070" y="438269"/>
                </a:lnTo>
                <a:lnTo>
                  <a:pt x="1302404" y="417932"/>
                </a:lnTo>
                <a:lnTo>
                  <a:pt x="1333958" y="396316"/>
                </a:lnTo>
                <a:lnTo>
                  <a:pt x="1381546" y="349703"/>
                </a:lnTo>
                <a:lnTo>
                  <a:pt x="1406473" y="299346"/>
                </a:lnTo>
                <a:lnTo>
                  <a:pt x="1409700" y="273049"/>
                </a:lnTo>
                <a:lnTo>
                  <a:pt x="1406473" y="246753"/>
                </a:lnTo>
                <a:lnTo>
                  <a:pt x="1381546" y="196396"/>
                </a:lnTo>
                <a:lnTo>
                  <a:pt x="1333958" y="149783"/>
                </a:lnTo>
                <a:lnTo>
                  <a:pt x="1302404" y="128167"/>
                </a:lnTo>
                <a:lnTo>
                  <a:pt x="1266070" y="107830"/>
                </a:lnTo>
                <a:lnTo>
                  <a:pt x="1225253" y="88887"/>
                </a:lnTo>
                <a:lnTo>
                  <a:pt x="1180246" y="71452"/>
                </a:lnTo>
                <a:lnTo>
                  <a:pt x="1131347" y="55640"/>
                </a:lnTo>
                <a:lnTo>
                  <a:pt x="1078850" y="41565"/>
                </a:lnTo>
                <a:lnTo>
                  <a:pt x="1023050" y="29341"/>
                </a:lnTo>
                <a:lnTo>
                  <a:pt x="964242" y="19083"/>
                </a:lnTo>
                <a:lnTo>
                  <a:pt x="902723" y="10906"/>
                </a:lnTo>
                <a:lnTo>
                  <a:pt x="838788" y="4923"/>
                </a:lnTo>
                <a:lnTo>
                  <a:pt x="772732" y="1249"/>
                </a:lnTo>
                <a:lnTo>
                  <a:pt x="70485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8">
            <a:extLst>
              <a:ext uri="{FF2B5EF4-FFF2-40B4-BE49-F238E27FC236}">
                <a16:creationId xmlns:a16="http://schemas.microsoft.com/office/drawing/2014/main" id="{CE9A7802-F415-4B1E-ECDF-1C848534F698}"/>
              </a:ext>
            </a:extLst>
          </p:cNvPr>
          <p:cNvSpPr/>
          <p:nvPr/>
        </p:nvSpPr>
        <p:spPr>
          <a:xfrm>
            <a:off x="5346703" y="6813550"/>
            <a:ext cx="1409700" cy="546100"/>
          </a:xfrm>
          <a:custGeom>
            <a:avLst/>
            <a:gdLst/>
            <a:ahLst/>
            <a:cxnLst/>
            <a:rect l="l" t="t" r="r" b="b"/>
            <a:pathLst>
              <a:path w="1409700" h="546100">
                <a:moveTo>
                  <a:pt x="0" y="273049"/>
                </a:moveTo>
                <a:lnTo>
                  <a:pt x="12709" y="221164"/>
                </a:lnTo>
                <a:lnTo>
                  <a:pt x="49262" y="172564"/>
                </a:lnTo>
                <a:lnTo>
                  <a:pt x="107296" y="128167"/>
                </a:lnTo>
                <a:lnTo>
                  <a:pt x="143629" y="107830"/>
                </a:lnTo>
                <a:lnTo>
                  <a:pt x="184447" y="88887"/>
                </a:lnTo>
                <a:lnTo>
                  <a:pt x="229453" y="71452"/>
                </a:lnTo>
                <a:lnTo>
                  <a:pt x="278353" y="55640"/>
                </a:lnTo>
                <a:lnTo>
                  <a:pt x="330850" y="41565"/>
                </a:lnTo>
                <a:lnTo>
                  <a:pt x="386650" y="29341"/>
                </a:lnTo>
                <a:lnTo>
                  <a:pt x="445457" y="19083"/>
                </a:lnTo>
                <a:lnTo>
                  <a:pt x="506976" y="10906"/>
                </a:lnTo>
                <a:lnTo>
                  <a:pt x="570911" y="4923"/>
                </a:lnTo>
                <a:lnTo>
                  <a:pt x="636967" y="1249"/>
                </a:lnTo>
                <a:lnTo>
                  <a:pt x="704849" y="0"/>
                </a:lnTo>
                <a:lnTo>
                  <a:pt x="772731" y="1249"/>
                </a:lnTo>
                <a:lnTo>
                  <a:pt x="838787" y="4923"/>
                </a:lnTo>
                <a:lnTo>
                  <a:pt x="902723" y="10906"/>
                </a:lnTo>
                <a:lnTo>
                  <a:pt x="964242" y="19083"/>
                </a:lnTo>
                <a:lnTo>
                  <a:pt x="1023049" y="29341"/>
                </a:lnTo>
                <a:lnTo>
                  <a:pt x="1078849" y="41565"/>
                </a:lnTo>
                <a:lnTo>
                  <a:pt x="1131346" y="55640"/>
                </a:lnTo>
                <a:lnTo>
                  <a:pt x="1180245" y="71452"/>
                </a:lnTo>
                <a:lnTo>
                  <a:pt x="1225252" y="88887"/>
                </a:lnTo>
                <a:lnTo>
                  <a:pt x="1266069" y="107830"/>
                </a:lnTo>
                <a:lnTo>
                  <a:pt x="1302403" y="128167"/>
                </a:lnTo>
                <a:lnTo>
                  <a:pt x="1333957" y="149783"/>
                </a:lnTo>
                <a:lnTo>
                  <a:pt x="1381545" y="196396"/>
                </a:lnTo>
                <a:lnTo>
                  <a:pt x="1406472" y="246753"/>
                </a:lnTo>
                <a:lnTo>
                  <a:pt x="1409699" y="273049"/>
                </a:lnTo>
                <a:lnTo>
                  <a:pt x="1406472" y="299346"/>
                </a:lnTo>
                <a:lnTo>
                  <a:pt x="1381545" y="349703"/>
                </a:lnTo>
                <a:lnTo>
                  <a:pt x="1333957" y="396315"/>
                </a:lnTo>
                <a:lnTo>
                  <a:pt x="1302403" y="417932"/>
                </a:lnTo>
                <a:lnTo>
                  <a:pt x="1266069" y="438268"/>
                </a:lnTo>
                <a:lnTo>
                  <a:pt x="1225252" y="457211"/>
                </a:lnTo>
                <a:lnTo>
                  <a:pt x="1180245" y="474646"/>
                </a:lnTo>
                <a:lnTo>
                  <a:pt x="1131346" y="490459"/>
                </a:lnTo>
                <a:lnTo>
                  <a:pt x="1078849" y="504534"/>
                </a:lnTo>
                <a:lnTo>
                  <a:pt x="1023049" y="516758"/>
                </a:lnTo>
                <a:lnTo>
                  <a:pt x="964242" y="527015"/>
                </a:lnTo>
                <a:lnTo>
                  <a:pt x="902723" y="535193"/>
                </a:lnTo>
                <a:lnTo>
                  <a:pt x="838787" y="541176"/>
                </a:lnTo>
                <a:lnTo>
                  <a:pt x="772731" y="544849"/>
                </a:lnTo>
                <a:lnTo>
                  <a:pt x="704849" y="546099"/>
                </a:lnTo>
                <a:lnTo>
                  <a:pt x="636967" y="544849"/>
                </a:lnTo>
                <a:lnTo>
                  <a:pt x="570911" y="541176"/>
                </a:lnTo>
                <a:lnTo>
                  <a:pt x="506976" y="535193"/>
                </a:lnTo>
                <a:lnTo>
                  <a:pt x="445457" y="527015"/>
                </a:lnTo>
                <a:lnTo>
                  <a:pt x="386650" y="516758"/>
                </a:lnTo>
                <a:lnTo>
                  <a:pt x="330850" y="504534"/>
                </a:lnTo>
                <a:lnTo>
                  <a:pt x="278353" y="490459"/>
                </a:lnTo>
                <a:lnTo>
                  <a:pt x="229453" y="474646"/>
                </a:lnTo>
                <a:lnTo>
                  <a:pt x="184447" y="457211"/>
                </a:lnTo>
                <a:lnTo>
                  <a:pt x="143629" y="438268"/>
                </a:lnTo>
                <a:lnTo>
                  <a:pt x="107296" y="417932"/>
                </a:lnTo>
                <a:lnTo>
                  <a:pt x="75742" y="396315"/>
                </a:lnTo>
                <a:lnTo>
                  <a:pt x="28153" y="349703"/>
                </a:lnTo>
                <a:lnTo>
                  <a:pt x="3226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59">
            <a:extLst>
              <a:ext uri="{FF2B5EF4-FFF2-40B4-BE49-F238E27FC236}">
                <a16:creationId xmlns:a16="http://schemas.microsoft.com/office/drawing/2014/main" id="{7AC8B7FD-3439-6B9F-7A4C-D3C72036B33E}"/>
              </a:ext>
            </a:extLst>
          </p:cNvPr>
          <p:cNvSpPr txBox="1"/>
          <p:nvPr/>
        </p:nvSpPr>
        <p:spPr>
          <a:xfrm>
            <a:off x="6949418" y="992506"/>
            <a:ext cx="770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Times New Roman"/>
                <a:cs typeface="Times New Roman"/>
              </a:rPr>
              <a:t>ac</a:t>
            </a:r>
            <a:r>
              <a:rPr sz="2400" dirty="0">
                <a:latin typeface="Times New Roman"/>
                <a:cs typeface="Times New Roman"/>
              </a:rPr>
              <a:t>h-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0">
            <a:extLst>
              <a:ext uri="{FF2B5EF4-FFF2-40B4-BE49-F238E27FC236}">
                <a16:creationId xmlns:a16="http://schemas.microsoft.com/office/drawing/2014/main" id="{D92865C1-9DCD-7CB0-133D-B1EF2295EA56}"/>
              </a:ext>
            </a:extLst>
          </p:cNvPr>
          <p:cNvSpPr txBox="1"/>
          <p:nvPr/>
        </p:nvSpPr>
        <p:spPr>
          <a:xfrm>
            <a:off x="6957827" y="1246506"/>
            <a:ext cx="75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fo</a:t>
            </a:r>
            <a:r>
              <a:rPr sz="2400" spc="-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g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2" name="object 61">
            <a:extLst>
              <a:ext uri="{FF2B5EF4-FFF2-40B4-BE49-F238E27FC236}">
                <a16:creationId xmlns:a16="http://schemas.microsoft.com/office/drawing/2014/main" id="{0F2C9E26-A6DE-2FA9-6418-C325CA84349F}"/>
              </a:ext>
            </a:extLst>
          </p:cNvPr>
          <p:cNvSpPr txBox="1"/>
          <p:nvPr/>
        </p:nvSpPr>
        <p:spPr>
          <a:xfrm>
            <a:off x="4808104" y="1296671"/>
            <a:ext cx="1283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5" dirty="0">
                <a:latin typeface="Times New Roman"/>
                <a:cs typeface="Times New Roman"/>
              </a:rPr>
              <a:t>Vorgänger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3" name="object 62">
            <a:extLst>
              <a:ext uri="{FF2B5EF4-FFF2-40B4-BE49-F238E27FC236}">
                <a16:creationId xmlns:a16="http://schemas.microsoft.com/office/drawing/2014/main" id="{95232105-53D1-CA65-34EF-7E419CE6E714}"/>
              </a:ext>
            </a:extLst>
          </p:cNvPr>
          <p:cNvSpPr/>
          <p:nvPr/>
        </p:nvSpPr>
        <p:spPr>
          <a:xfrm>
            <a:off x="6870703" y="6813550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704049" y="0"/>
                </a:moveTo>
                <a:lnTo>
                  <a:pt x="636245" y="1249"/>
                </a:lnTo>
                <a:lnTo>
                  <a:pt x="570264" y="4923"/>
                </a:lnTo>
                <a:lnTo>
                  <a:pt x="506401" y="10906"/>
                </a:lnTo>
                <a:lnTo>
                  <a:pt x="444952" y="19083"/>
                </a:lnTo>
                <a:lnTo>
                  <a:pt x="386212" y="29341"/>
                </a:lnTo>
                <a:lnTo>
                  <a:pt x="330475" y="41565"/>
                </a:lnTo>
                <a:lnTo>
                  <a:pt x="278037" y="55640"/>
                </a:lnTo>
                <a:lnTo>
                  <a:pt x="229193" y="71452"/>
                </a:lnTo>
                <a:lnTo>
                  <a:pt x="184238" y="88887"/>
                </a:lnTo>
                <a:lnTo>
                  <a:pt x="143467" y="107830"/>
                </a:lnTo>
                <a:lnTo>
                  <a:pt x="107174" y="128167"/>
                </a:lnTo>
                <a:lnTo>
                  <a:pt x="75656" y="149783"/>
                </a:lnTo>
                <a:lnTo>
                  <a:pt x="28121" y="196396"/>
                </a:lnTo>
                <a:lnTo>
                  <a:pt x="3222" y="246753"/>
                </a:lnTo>
                <a:lnTo>
                  <a:pt x="0" y="273049"/>
                </a:lnTo>
                <a:lnTo>
                  <a:pt x="3222" y="299346"/>
                </a:lnTo>
                <a:lnTo>
                  <a:pt x="28121" y="349703"/>
                </a:lnTo>
                <a:lnTo>
                  <a:pt x="75656" y="396316"/>
                </a:lnTo>
                <a:lnTo>
                  <a:pt x="107174" y="417932"/>
                </a:lnTo>
                <a:lnTo>
                  <a:pt x="143467" y="438269"/>
                </a:lnTo>
                <a:lnTo>
                  <a:pt x="184238" y="457212"/>
                </a:lnTo>
                <a:lnTo>
                  <a:pt x="229193" y="474647"/>
                </a:lnTo>
                <a:lnTo>
                  <a:pt x="278037" y="490459"/>
                </a:lnTo>
                <a:lnTo>
                  <a:pt x="330475" y="504534"/>
                </a:lnTo>
                <a:lnTo>
                  <a:pt x="386212" y="516758"/>
                </a:lnTo>
                <a:lnTo>
                  <a:pt x="444952" y="527016"/>
                </a:lnTo>
                <a:lnTo>
                  <a:pt x="506401" y="535193"/>
                </a:lnTo>
                <a:lnTo>
                  <a:pt x="570264" y="541176"/>
                </a:lnTo>
                <a:lnTo>
                  <a:pt x="636245" y="544850"/>
                </a:lnTo>
                <a:lnTo>
                  <a:pt x="704049" y="546099"/>
                </a:lnTo>
                <a:lnTo>
                  <a:pt x="771854" y="544850"/>
                </a:lnTo>
                <a:lnTo>
                  <a:pt x="837836" y="541176"/>
                </a:lnTo>
                <a:lnTo>
                  <a:pt x="901699" y="535193"/>
                </a:lnTo>
                <a:lnTo>
                  <a:pt x="963149" y="527016"/>
                </a:lnTo>
                <a:lnTo>
                  <a:pt x="1021890" y="516758"/>
                </a:lnTo>
                <a:lnTo>
                  <a:pt x="1077627" y="504534"/>
                </a:lnTo>
                <a:lnTo>
                  <a:pt x="1130066" y="490459"/>
                </a:lnTo>
                <a:lnTo>
                  <a:pt x="1178911" y="474647"/>
                </a:lnTo>
                <a:lnTo>
                  <a:pt x="1223868" y="457212"/>
                </a:lnTo>
                <a:lnTo>
                  <a:pt x="1264640" y="438269"/>
                </a:lnTo>
                <a:lnTo>
                  <a:pt x="1300934" y="417932"/>
                </a:lnTo>
                <a:lnTo>
                  <a:pt x="1332453" y="396316"/>
                </a:lnTo>
                <a:lnTo>
                  <a:pt x="1379990" y="349703"/>
                </a:lnTo>
                <a:lnTo>
                  <a:pt x="1404889" y="299346"/>
                </a:lnTo>
                <a:lnTo>
                  <a:pt x="1408112" y="273049"/>
                </a:lnTo>
                <a:lnTo>
                  <a:pt x="1404889" y="246753"/>
                </a:lnTo>
                <a:lnTo>
                  <a:pt x="1379990" y="196396"/>
                </a:lnTo>
                <a:lnTo>
                  <a:pt x="1332453" y="149783"/>
                </a:lnTo>
                <a:lnTo>
                  <a:pt x="1300934" y="128167"/>
                </a:lnTo>
                <a:lnTo>
                  <a:pt x="1264640" y="107830"/>
                </a:lnTo>
                <a:lnTo>
                  <a:pt x="1223868" y="88887"/>
                </a:lnTo>
                <a:lnTo>
                  <a:pt x="1178911" y="71452"/>
                </a:lnTo>
                <a:lnTo>
                  <a:pt x="1130066" y="55640"/>
                </a:lnTo>
                <a:lnTo>
                  <a:pt x="1077627" y="41565"/>
                </a:lnTo>
                <a:lnTo>
                  <a:pt x="1021890" y="29341"/>
                </a:lnTo>
                <a:lnTo>
                  <a:pt x="963149" y="19083"/>
                </a:lnTo>
                <a:lnTo>
                  <a:pt x="901699" y="10906"/>
                </a:lnTo>
                <a:lnTo>
                  <a:pt x="837836" y="4923"/>
                </a:lnTo>
                <a:lnTo>
                  <a:pt x="771854" y="1249"/>
                </a:lnTo>
                <a:lnTo>
                  <a:pt x="70404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3">
            <a:extLst>
              <a:ext uri="{FF2B5EF4-FFF2-40B4-BE49-F238E27FC236}">
                <a16:creationId xmlns:a16="http://schemas.microsoft.com/office/drawing/2014/main" id="{9CA90B37-69B0-2403-5C26-83826072CDCC}"/>
              </a:ext>
            </a:extLst>
          </p:cNvPr>
          <p:cNvSpPr/>
          <p:nvPr/>
        </p:nvSpPr>
        <p:spPr>
          <a:xfrm>
            <a:off x="6870703" y="6813550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0" y="273049"/>
                </a:moveTo>
                <a:lnTo>
                  <a:pt x="12695" y="221164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8" y="196396"/>
                </a:lnTo>
                <a:lnTo>
                  <a:pt x="1404886" y="246753"/>
                </a:lnTo>
                <a:lnTo>
                  <a:pt x="1408109" y="273049"/>
                </a:lnTo>
                <a:lnTo>
                  <a:pt x="1404886" y="299346"/>
                </a:lnTo>
                <a:lnTo>
                  <a:pt x="1379988" y="349703"/>
                </a:lnTo>
                <a:lnTo>
                  <a:pt x="1332453" y="396315"/>
                </a:lnTo>
                <a:lnTo>
                  <a:pt x="1300935" y="417932"/>
                </a:lnTo>
                <a:lnTo>
                  <a:pt x="1264643" y="438268"/>
                </a:lnTo>
                <a:lnTo>
                  <a:pt x="1223871" y="457211"/>
                </a:lnTo>
                <a:lnTo>
                  <a:pt x="1178916" y="474646"/>
                </a:lnTo>
                <a:lnTo>
                  <a:pt x="1130072" y="490459"/>
                </a:lnTo>
                <a:lnTo>
                  <a:pt x="1077634" y="504534"/>
                </a:lnTo>
                <a:lnTo>
                  <a:pt x="1021897" y="516758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6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6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8"/>
                </a:lnTo>
                <a:lnTo>
                  <a:pt x="330478" y="504534"/>
                </a:lnTo>
                <a:lnTo>
                  <a:pt x="278040" y="490459"/>
                </a:lnTo>
                <a:lnTo>
                  <a:pt x="229195" y="474646"/>
                </a:lnTo>
                <a:lnTo>
                  <a:pt x="184240" y="457211"/>
                </a:lnTo>
                <a:lnTo>
                  <a:pt x="143468" y="438268"/>
                </a:lnTo>
                <a:lnTo>
                  <a:pt x="107175" y="417932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4">
            <a:extLst>
              <a:ext uri="{FF2B5EF4-FFF2-40B4-BE49-F238E27FC236}">
                <a16:creationId xmlns:a16="http://schemas.microsoft.com/office/drawing/2014/main" id="{C25F692B-C077-B352-DB55-C53B30B64CE0}"/>
              </a:ext>
            </a:extLst>
          </p:cNvPr>
          <p:cNvSpPr txBox="1"/>
          <p:nvPr/>
        </p:nvSpPr>
        <p:spPr>
          <a:xfrm>
            <a:off x="5606482" y="6891020"/>
            <a:ext cx="2353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2265" algn="l"/>
              </a:tabLst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rsNr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6" name="object 65">
            <a:extLst>
              <a:ext uri="{FF2B5EF4-FFF2-40B4-BE49-F238E27FC236}">
                <a16:creationId xmlns:a16="http://schemas.microsoft.com/office/drawing/2014/main" id="{6E5344D0-0DF9-03AD-1906-A7F29ACC6C6D}"/>
              </a:ext>
            </a:extLst>
          </p:cNvPr>
          <p:cNvSpPr/>
          <p:nvPr/>
        </p:nvSpPr>
        <p:spPr>
          <a:xfrm>
            <a:off x="6261103" y="1111251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0"/>
                </a:moveTo>
                <a:lnTo>
                  <a:pt x="0" y="9143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6">
            <a:extLst>
              <a:ext uri="{FF2B5EF4-FFF2-40B4-BE49-F238E27FC236}">
                <a16:creationId xmlns:a16="http://schemas.microsoft.com/office/drawing/2014/main" id="{2803CC9D-A20E-F201-7D9E-1490D5ED2ABF}"/>
              </a:ext>
            </a:extLst>
          </p:cNvPr>
          <p:cNvSpPr/>
          <p:nvPr/>
        </p:nvSpPr>
        <p:spPr>
          <a:xfrm>
            <a:off x="6870703" y="1111251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0"/>
                </a:moveTo>
                <a:lnTo>
                  <a:pt x="0" y="9143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B8C0888D-674E-A73E-146D-9912BFE223D1}"/>
              </a:ext>
            </a:extLst>
          </p:cNvPr>
          <p:cNvSpPr/>
          <p:nvPr/>
        </p:nvSpPr>
        <p:spPr>
          <a:xfrm>
            <a:off x="1519241" y="5616577"/>
            <a:ext cx="474980" cy="523875"/>
          </a:xfrm>
          <a:custGeom>
            <a:avLst/>
            <a:gdLst/>
            <a:ahLst/>
            <a:cxnLst/>
            <a:rect l="l" t="t" r="r" b="b"/>
            <a:pathLst>
              <a:path w="474980" h="523875">
                <a:moveTo>
                  <a:pt x="474662" y="523874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F4FF77CB-C9D3-0C80-0106-C9A940CFA551}"/>
              </a:ext>
            </a:extLst>
          </p:cNvPr>
          <p:cNvSpPr/>
          <p:nvPr/>
        </p:nvSpPr>
        <p:spPr>
          <a:xfrm>
            <a:off x="1725616" y="6108701"/>
            <a:ext cx="268605" cy="31750"/>
          </a:xfrm>
          <a:custGeom>
            <a:avLst/>
            <a:gdLst/>
            <a:ahLst/>
            <a:cxnLst/>
            <a:rect l="l" t="t" r="r" b="b"/>
            <a:pathLst>
              <a:path w="268605" h="31750">
                <a:moveTo>
                  <a:pt x="268287" y="3174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0FC1B279-58D1-A38B-A5F3-A498D2CD55F1}"/>
              </a:ext>
            </a:extLst>
          </p:cNvPr>
          <p:cNvSpPr/>
          <p:nvPr/>
        </p:nvSpPr>
        <p:spPr>
          <a:xfrm>
            <a:off x="1519241" y="6140451"/>
            <a:ext cx="474980" cy="536575"/>
          </a:xfrm>
          <a:custGeom>
            <a:avLst/>
            <a:gdLst/>
            <a:ahLst/>
            <a:cxnLst/>
            <a:rect l="l" t="t" r="r" b="b"/>
            <a:pathLst>
              <a:path w="474980" h="536575">
                <a:moveTo>
                  <a:pt x="474662" y="0"/>
                </a:moveTo>
                <a:lnTo>
                  <a:pt x="0" y="53657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2909CBBC-EC1E-3F95-D290-8ABB49D5A813}"/>
              </a:ext>
            </a:extLst>
          </p:cNvPr>
          <p:cNvSpPr/>
          <p:nvPr/>
        </p:nvSpPr>
        <p:spPr>
          <a:xfrm>
            <a:off x="4848228" y="4656139"/>
            <a:ext cx="1856105" cy="1276350"/>
          </a:xfrm>
          <a:custGeom>
            <a:avLst/>
            <a:gdLst/>
            <a:ahLst/>
            <a:cxnLst/>
            <a:rect l="l" t="t" r="r" b="b"/>
            <a:pathLst>
              <a:path w="1856104" h="1276350">
                <a:moveTo>
                  <a:pt x="0" y="0"/>
                </a:moveTo>
                <a:lnTo>
                  <a:pt x="1855788" y="1276348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FDFF316A-040A-F0EE-7CD3-38196B9C2433}"/>
              </a:ext>
            </a:extLst>
          </p:cNvPr>
          <p:cNvSpPr/>
          <p:nvPr/>
        </p:nvSpPr>
        <p:spPr>
          <a:xfrm>
            <a:off x="5651503" y="6161089"/>
            <a:ext cx="236854" cy="9525"/>
          </a:xfrm>
          <a:custGeom>
            <a:avLst/>
            <a:gdLst/>
            <a:ahLst/>
            <a:cxnLst/>
            <a:rect l="l" t="t" r="r" b="b"/>
            <a:pathLst>
              <a:path w="236854" h="9525">
                <a:moveTo>
                  <a:pt x="0" y="9524"/>
                </a:moveTo>
                <a:lnTo>
                  <a:pt x="23653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F760CD90-E4EA-9EAF-99DD-A541B017CBBF}"/>
              </a:ext>
            </a:extLst>
          </p:cNvPr>
          <p:cNvSpPr/>
          <p:nvPr/>
        </p:nvSpPr>
        <p:spPr>
          <a:xfrm>
            <a:off x="3625853" y="6140451"/>
            <a:ext cx="273050" cy="30480"/>
          </a:xfrm>
          <a:custGeom>
            <a:avLst/>
            <a:gdLst/>
            <a:ahLst/>
            <a:cxnLst/>
            <a:rect l="l" t="t" r="r" b="b"/>
            <a:pathLst>
              <a:path w="273050" h="30479">
                <a:moveTo>
                  <a:pt x="0" y="0"/>
                </a:moveTo>
                <a:lnTo>
                  <a:pt x="273049" y="30162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>
            <a:extLst>
              <a:ext uri="{FF2B5EF4-FFF2-40B4-BE49-F238E27FC236}">
                <a16:creationId xmlns:a16="http://schemas.microsoft.com/office/drawing/2014/main" id="{642A242D-0A82-5361-495B-B1539188DE97}"/>
              </a:ext>
            </a:extLst>
          </p:cNvPr>
          <p:cNvSpPr/>
          <p:nvPr/>
        </p:nvSpPr>
        <p:spPr>
          <a:xfrm>
            <a:off x="2994030" y="2560635"/>
            <a:ext cx="1854200" cy="1368425"/>
          </a:xfrm>
          <a:custGeom>
            <a:avLst/>
            <a:gdLst/>
            <a:ahLst/>
            <a:cxnLst/>
            <a:rect l="l" t="t" r="r" b="b"/>
            <a:pathLst>
              <a:path w="1854200" h="1368425">
                <a:moveTo>
                  <a:pt x="1854198" y="1368428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>
            <a:extLst>
              <a:ext uri="{FF2B5EF4-FFF2-40B4-BE49-F238E27FC236}">
                <a16:creationId xmlns:a16="http://schemas.microsoft.com/office/drawing/2014/main" id="{8673B96E-1711-D916-AFD3-9C3532161FB8}"/>
              </a:ext>
            </a:extLst>
          </p:cNvPr>
          <p:cNvSpPr/>
          <p:nvPr/>
        </p:nvSpPr>
        <p:spPr>
          <a:xfrm>
            <a:off x="4848235" y="2468563"/>
            <a:ext cx="1781175" cy="1460500"/>
          </a:xfrm>
          <a:custGeom>
            <a:avLst/>
            <a:gdLst/>
            <a:ahLst/>
            <a:cxnLst/>
            <a:rect l="l" t="t" r="r" b="b"/>
            <a:pathLst>
              <a:path w="1781175" h="1460500">
                <a:moveTo>
                  <a:pt x="1781168" y="0"/>
                </a:moveTo>
                <a:lnTo>
                  <a:pt x="0" y="14604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>
            <a:extLst>
              <a:ext uri="{FF2B5EF4-FFF2-40B4-BE49-F238E27FC236}">
                <a16:creationId xmlns:a16="http://schemas.microsoft.com/office/drawing/2014/main" id="{279B79F2-D7A8-9E8E-BFCD-BA02AE8B5187}"/>
              </a:ext>
            </a:extLst>
          </p:cNvPr>
          <p:cNvSpPr/>
          <p:nvPr/>
        </p:nvSpPr>
        <p:spPr>
          <a:xfrm>
            <a:off x="6704016" y="4581530"/>
            <a:ext cx="608330" cy="1351280"/>
          </a:xfrm>
          <a:custGeom>
            <a:avLst/>
            <a:gdLst/>
            <a:ahLst/>
            <a:cxnLst/>
            <a:rect l="l" t="t" r="r" b="b"/>
            <a:pathLst>
              <a:path w="608329" h="1351279">
                <a:moveTo>
                  <a:pt x="0" y="1350958"/>
                </a:moveTo>
                <a:lnTo>
                  <a:pt x="608012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>
            <a:extLst>
              <a:ext uri="{FF2B5EF4-FFF2-40B4-BE49-F238E27FC236}">
                <a16:creationId xmlns:a16="http://schemas.microsoft.com/office/drawing/2014/main" id="{268BC03B-7E3A-C5A2-D98F-B19BB3A92C23}"/>
              </a:ext>
            </a:extLst>
          </p:cNvPr>
          <p:cNvSpPr/>
          <p:nvPr/>
        </p:nvSpPr>
        <p:spPr>
          <a:xfrm>
            <a:off x="6629403" y="2468563"/>
            <a:ext cx="682625" cy="1386205"/>
          </a:xfrm>
          <a:custGeom>
            <a:avLst/>
            <a:gdLst/>
            <a:ahLst/>
            <a:cxnLst/>
            <a:rect l="l" t="t" r="r" b="b"/>
            <a:pathLst>
              <a:path w="682625" h="1386204">
                <a:moveTo>
                  <a:pt x="0" y="0"/>
                </a:moveTo>
                <a:lnTo>
                  <a:pt x="682624" y="138588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>
            <a:extLst>
              <a:ext uri="{FF2B5EF4-FFF2-40B4-BE49-F238E27FC236}">
                <a16:creationId xmlns:a16="http://schemas.microsoft.com/office/drawing/2014/main" id="{08F5D4FE-A54D-76A3-026A-23E085E05BA8}"/>
              </a:ext>
            </a:extLst>
          </p:cNvPr>
          <p:cNvSpPr/>
          <p:nvPr/>
        </p:nvSpPr>
        <p:spPr>
          <a:xfrm>
            <a:off x="3810003" y="2238376"/>
            <a:ext cx="469900" cy="95250"/>
          </a:xfrm>
          <a:custGeom>
            <a:avLst/>
            <a:gdLst/>
            <a:ahLst/>
            <a:cxnLst/>
            <a:rect l="l" t="t" r="r" b="b"/>
            <a:pathLst>
              <a:path w="469900" h="95250">
                <a:moveTo>
                  <a:pt x="0" y="95249"/>
                </a:moveTo>
                <a:lnTo>
                  <a:pt x="46989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>
            <a:extLst>
              <a:ext uri="{FF2B5EF4-FFF2-40B4-BE49-F238E27FC236}">
                <a16:creationId xmlns:a16="http://schemas.microsoft.com/office/drawing/2014/main" id="{D517068D-B135-FF1A-51F3-FA4B9C072277}"/>
              </a:ext>
            </a:extLst>
          </p:cNvPr>
          <p:cNvSpPr/>
          <p:nvPr/>
        </p:nvSpPr>
        <p:spPr>
          <a:xfrm>
            <a:off x="5467353" y="2238376"/>
            <a:ext cx="346075" cy="3175"/>
          </a:xfrm>
          <a:custGeom>
            <a:avLst/>
            <a:gdLst/>
            <a:ahLst/>
            <a:cxnLst/>
            <a:rect l="l" t="t" r="r" b="b"/>
            <a:pathLst>
              <a:path w="346075" h="3175">
                <a:moveTo>
                  <a:pt x="-19049" y="1587"/>
                </a:moveTo>
                <a:lnTo>
                  <a:pt x="365124" y="1587"/>
                </a:lnTo>
              </a:path>
            </a:pathLst>
          </a:custGeom>
          <a:ln w="41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>
            <a:extLst>
              <a:ext uri="{FF2B5EF4-FFF2-40B4-BE49-F238E27FC236}">
                <a16:creationId xmlns:a16="http://schemas.microsoft.com/office/drawing/2014/main" id="{94DD6E67-545C-1BBC-03E3-9256A4D68072}"/>
              </a:ext>
            </a:extLst>
          </p:cNvPr>
          <p:cNvSpPr/>
          <p:nvPr/>
        </p:nvSpPr>
        <p:spPr>
          <a:xfrm>
            <a:off x="6051553" y="6388101"/>
            <a:ext cx="652780" cy="425450"/>
          </a:xfrm>
          <a:custGeom>
            <a:avLst/>
            <a:gdLst/>
            <a:ahLst/>
            <a:cxnLst/>
            <a:rect l="l" t="t" r="r" b="b"/>
            <a:pathLst>
              <a:path w="652779" h="425450">
                <a:moveTo>
                  <a:pt x="652463" y="0"/>
                </a:moveTo>
                <a:lnTo>
                  <a:pt x="0" y="4254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>
            <a:extLst>
              <a:ext uri="{FF2B5EF4-FFF2-40B4-BE49-F238E27FC236}">
                <a16:creationId xmlns:a16="http://schemas.microsoft.com/office/drawing/2014/main" id="{DD536E9F-CF78-2168-121B-4FA0C38875EB}"/>
              </a:ext>
            </a:extLst>
          </p:cNvPr>
          <p:cNvSpPr/>
          <p:nvPr/>
        </p:nvSpPr>
        <p:spPr>
          <a:xfrm>
            <a:off x="6704016" y="6388101"/>
            <a:ext cx="871855" cy="425450"/>
          </a:xfrm>
          <a:custGeom>
            <a:avLst/>
            <a:gdLst/>
            <a:ahLst/>
            <a:cxnLst/>
            <a:rect l="l" t="t" r="r" b="b"/>
            <a:pathLst>
              <a:path w="871854" h="425450">
                <a:moveTo>
                  <a:pt x="0" y="0"/>
                </a:moveTo>
                <a:lnTo>
                  <a:pt x="871536" y="4254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>
            <a:extLst>
              <a:ext uri="{FF2B5EF4-FFF2-40B4-BE49-F238E27FC236}">
                <a16:creationId xmlns:a16="http://schemas.microsoft.com/office/drawing/2014/main" id="{F2A5E957-30FF-A2BF-7B3C-23D29A6B884D}"/>
              </a:ext>
            </a:extLst>
          </p:cNvPr>
          <p:cNvSpPr/>
          <p:nvPr/>
        </p:nvSpPr>
        <p:spPr>
          <a:xfrm>
            <a:off x="7519991" y="5770564"/>
            <a:ext cx="739775" cy="390525"/>
          </a:xfrm>
          <a:custGeom>
            <a:avLst/>
            <a:gdLst/>
            <a:ahLst/>
            <a:cxnLst/>
            <a:rect l="l" t="t" r="r" b="b"/>
            <a:pathLst>
              <a:path w="739775" h="390525">
                <a:moveTo>
                  <a:pt x="0" y="390524"/>
                </a:moveTo>
                <a:lnTo>
                  <a:pt x="739774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>
            <a:extLst>
              <a:ext uri="{FF2B5EF4-FFF2-40B4-BE49-F238E27FC236}">
                <a16:creationId xmlns:a16="http://schemas.microsoft.com/office/drawing/2014/main" id="{E05CD214-B256-49CE-5F75-797D13BC980D}"/>
              </a:ext>
            </a:extLst>
          </p:cNvPr>
          <p:cNvSpPr/>
          <p:nvPr/>
        </p:nvSpPr>
        <p:spPr>
          <a:xfrm>
            <a:off x="7519991" y="6161089"/>
            <a:ext cx="533400" cy="100330"/>
          </a:xfrm>
          <a:custGeom>
            <a:avLst/>
            <a:gdLst/>
            <a:ahLst/>
            <a:cxnLst/>
            <a:rect l="l" t="t" r="r" b="b"/>
            <a:pathLst>
              <a:path w="533400" h="100329">
                <a:moveTo>
                  <a:pt x="0" y="0"/>
                </a:moveTo>
                <a:lnTo>
                  <a:pt x="533399" y="10001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>
            <a:extLst>
              <a:ext uri="{FF2B5EF4-FFF2-40B4-BE49-F238E27FC236}">
                <a16:creationId xmlns:a16="http://schemas.microsoft.com/office/drawing/2014/main" id="{CE1FBA47-56F2-06EB-6AE2-EA0AE36A4C3C}"/>
              </a:ext>
            </a:extLst>
          </p:cNvPr>
          <p:cNvSpPr/>
          <p:nvPr/>
        </p:nvSpPr>
        <p:spPr>
          <a:xfrm>
            <a:off x="1519241" y="1730377"/>
            <a:ext cx="659130" cy="603250"/>
          </a:xfrm>
          <a:custGeom>
            <a:avLst/>
            <a:gdLst/>
            <a:ahLst/>
            <a:cxnLst/>
            <a:rect l="l" t="t" r="r" b="b"/>
            <a:pathLst>
              <a:path w="659130" h="603250">
                <a:moveTo>
                  <a:pt x="658812" y="60324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>
            <a:extLst>
              <a:ext uri="{FF2B5EF4-FFF2-40B4-BE49-F238E27FC236}">
                <a16:creationId xmlns:a16="http://schemas.microsoft.com/office/drawing/2014/main" id="{8B0EB526-2C03-96DD-E25E-2E8ED773B8E4}"/>
              </a:ext>
            </a:extLst>
          </p:cNvPr>
          <p:cNvSpPr/>
          <p:nvPr/>
        </p:nvSpPr>
        <p:spPr>
          <a:xfrm>
            <a:off x="1725616" y="2300289"/>
            <a:ext cx="452755" cy="33655"/>
          </a:xfrm>
          <a:custGeom>
            <a:avLst/>
            <a:gdLst/>
            <a:ahLst/>
            <a:cxnLst/>
            <a:rect l="l" t="t" r="r" b="b"/>
            <a:pathLst>
              <a:path w="452755" h="33655">
                <a:moveTo>
                  <a:pt x="452437" y="33337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>
            <a:extLst>
              <a:ext uri="{FF2B5EF4-FFF2-40B4-BE49-F238E27FC236}">
                <a16:creationId xmlns:a16="http://schemas.microsoft.com/office/drawing/2014/main" id="{38876934-A061-4B87-5FEF-AFA52A1685BB}"/>
              </a:ext>
            </a:extLst>
          </p:cNvPr>
          <p:cNvSpPr/>
          <p:nvPr/>
        </p:nvSpPr>
        <p:spPr>
          <a:xfrm>
            <a:off x="1519241" y="2333626"/>
            <a:ext cx="659130" cy="535305"/>
          </a:xfrm>
          <a:custGeom>
            <a:avLst/>
            <a:gdLst/>
            <a:ahLst/>
            <a:cxnLst/>
            <a:rect l="l" t="t" r="r" b="b"/>
            <a:pathLst>
              <a:path w="659130" h="535305">
                <a:moveTo>
                  <a:pt x="658812" y="0"/>
                </a:moveTo>
                <a:lnTo>
                  <a:pt x="0" y="534986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>
            <a:extLst>
              <a:ext uri="{FF2B5EF4-FFF2-40B4-BE49-F238E27FC236}">
                <a16:creationId xmlns:a16="http://schemas.microsoft.com/office/drawing/2014/main" id="{7DF1E79A-9464-4E36-DC0E-8F8C828C51E2}"/>
              </a:ext>
            </a:extLst>
          </p:cNvPr>
          <p:cNvSpPr/>
          <p:nvPr/>
        </p:nvSpPr>
        <p:spPr>
          <a:xfrm>
            <a:off x="7445378" y="1654177"/>
            <a:ext cx="812800" cy="587375"/>
          </a:xfrm>
          <a:custGeom>
            <a:avLst/>
            <a:gdLst/>
            <a:ahLst/>
            <a:cxnLst/>
            <a:rect l="l" t="t" r="r" b="b"/>
            <a:pathLst>
              <a:path w="812800" h="587375">
                <a:moveTo>
                  <a:pt x="0" y="587374"/>
                </a:moveTo>
                <a:lnTo>
                  <a:pt x="81279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>
            <a:extLst>
              <a:ext uri="{FF2B5EF4-FFF2-40B4-BE49-F238E27FC236}">
                <a16:creationId xmlns:a16="http://schemas.microsoft.com/office/drawing/2014/main" id="{05B167BC-1D1B-5F09-3C7C-BB736E4DDC60}"/>
              </a:ext>
            </a:extLst>
          </p:cNvPr>
          <p:cNvSpPr/>
          <p:nvPr/>
        </p:nvSpPr>
        <p:spPr>
          <a:xfrm>
            <a:off x="7445378" y="2146301"/>
            <a:ext cx="606425" cy="95250"/>
          </a:xfrm>
          <a:custGeom>
            <a:avLst/>
            <a:gdLst/>
            <a:ahLst/>
            <a:cxnLst/>
            <a:rect l="l" t="t" r="r" b="b"/>
            <a:pathLst>
              <a:path w="606425" h="95250">
                <a:moveTo>
                  <a:pt x="0" y="95249"/>
                </a:moveTo>
                <a:lnTo>
                  <a:pt x="606424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>
            <a:extLst>
              <a:ext uri="{FF2B5EF4-FFF2-40B4-BE49-F238E27FC236}">
                <a16:creationId xmlns:a16="http://schemas.microsoft.com/office/drawing/2014/main" id="{FBE3B502-DBC3-2E05-D0E6-F538EAE899E6}"/>
              </a:ext>
            </a:extLst>
          </p:cNvPr>
          <p:cNvSpPr/>
          <p:nvPr/>
        </p:nvSpPr>
        <p:spPr>
          <a:xfrm>
            <a:off x="7445378" y="2241551"/>
            <a:ext cx="812800" cy="551180"/>
          </a:xfrm>
          <a:custGeom>
            <a:avLst/>
            <a:gdLst/>
            <a:ahLst/>
            <a:cxnLst/>
            <a:rect l="l" t="t" r="r" b="b"/>
            <a:pathLst>
              <a:path w="812800" h="551180">
                <a:moveTo>
                  <a:pt x="0" y="0"/>
                </a:moveTo>
                <a:lnTo>
                  <a:pt x="812799" y="55086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>
            <a:extLst>
              <a:ext uri="{FF2B5EF4-FFF2-40B4-BE49-F238E27FC236}">
                <a16:creationId xmlns:a16="http://schemas.microsoft.com/office/drawing/2014/main" id="{90249565-ACDC-05A8-8874-32F5711A2B1E}"/>
              </a:ext>
            </a:extLst>
          </p:cNvPr>
          <p:cNvSpPr/>
          <p:nvPr/>
        </p:nvSpPr>
        <p:spPr>
          <a:xfrm>
            <a:off x="3783016" y="4279901"/>
            <a:ext cx="471805" cy="12700"/>
          </a:xfrm>
          <a:custGeom>
            <a:avLst/>
            <a:gdLst/>
            <a:ahLst/>
            <a:cxnLst/>
            <a:rect l="l" t="t" r="r" b="b"/>
            <a:pathLst>
              <a:path w="471804" h="12700">
                <a:moveTo>
                  <a:pt x="471487" y="1269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>
            <a:extLst>
              <a:ext uri="{FF2B5EF4-FFF2-40B4-BE49-F238E27FC236}">
                <a16:creationId xmlns:a16="http://schemas.microsoft.com/office/drawing/2014/main" id="{D265E05F-852C-09B9-9AEC-D7B115E5C02C}"/>
              </a:ext>
            </a:extLst>
          </p:cNvPr>
          <p:cNvSpPr txBox="1"/>
          <p:nvPr/>
        </p:nvSpPr>
        <p:spPr>
          <a:xfrm>
            <a:off x="7025644" y="5335271"/>
            <a:ext cx="215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2" name="object 92">
            <a:extLst>
              <a:ext uri="{FF2B5EF4-FFF2-40B4-BE49-F238E27FC236}">
                <a16:creationId xmlns:a16="http://schemas.microsoft.com/office/drawing/2014/main" id="{4FB4BFC6-A42D-2E4B-EEB1-CFAFD701A46D}"/>
              </a:ext>
            </a:extLst>
          </p:cNvPr>
          <p:cNvSpPr txBox="1"/>
          <p:nvPr/>
        </p:nvSpPr>
        <p:spPr>
          <a:xfrm>
            <a:off x="5882644" y="5487671"/>
            <a:ext cx="215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CBF5A320-0374-CF6A-67E7-9E211B37AEAB}"/>
              </a:ext>
            </a:extLst>
          </p:cNvPr>
          <p:cNvSpPr txBox="1"/>
          <p:nvPr/>
        </p:nvSpPr>
        <p:spPr>
          <a:xfrm>
            <a:off x="2758444" y="2592071"/>
            <a:ext cx="3009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4" name="object 94">
            <a:extLst>
              <a:ext uri="{FF2B5EF4-FFF2-40B4-BE49-F238E27FC236}">
                <a16:creationId xmlns:a16="http://schemas.microsoft.com/office/drawing/2014/main" id="{5AF989EA-35D0-D8F6-F444-BCADFFBBE32D}"/>
              </a:ext>
            </a:extLst>
          </p:cNvPr>
          <p:cNvSpPr txBox="1"/>
          <p:nvPr/>
        </p:nvSpPr>
        <p:spPr>
          <a:xfrm>
            <a:off x="6873244" y="2515871"/>
            <a:ext cx="3009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5" name="object 95">
            <a:extLst>
              <a:ext uri="{FF2B5EF4-FFF2-40B4-BE49-F238E27FC236}">
                <a16:creationId xmlns:a16="http://schemas.microsoft.com/office/drawing/2014/main" id="{C382CC7D-0E5E-E246-3351-BE0E7DA08080}"/>
              </a:ext>
            </a:extLst>
          </p:cNvPr>
          <p:cNvSpPr txBox="1"/>
          <p:nvPr/>
        </p:nvSpPr>
        <p:spPr>
          <a:xfrm>
            <a:off x="3672844" y="5975034"/>
            <a:ext cx="2197100" cy="681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" algn="ctr">
              <a:lnSpc>
                <a:spcPts val="222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arbeitenFür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ts val="2940"/>
              </a:lnSpc>
              <a:tabLst>
                <a:tab pos="1980564" algn="l"/>
              </a:tabLst>
            </a:pPr>
            <a:r>
              <a:rPr sz="3000" b="1" dirty="0">
                <a:latin typeface="Times New Roman"/>
                <a:cs typeface="Times New Roman"/>
              </a:rPr>
              <a:t>N	</a:t>
            </a:r>
            <a:r>
              <a:rPr sz="300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6" name="object 96">
            <a:extLst>
              <a:ext uri="{FF2B5EF4-FFF2-40B4-BE49-F238E27FC236}">
                <a16:creationId xmlns:a16="http://schemas.microsoft.com/office/drawing/2014/main" id="{AE737BD2-10BB-3994-ABD6-8EA9C5086056}"/>
              </a:ext>
            </a:extLst>
          </p:cNvPr>
          <p:cNvSpPr txBox="1"/>
          <p:nvPr/>
        </p:nvSpPr>
        <p:spPr>
          <a:xfrm>
            <a:off x="6111244" y="2820671"/>
            <a:ext cx="3854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M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7" name="object 97">
            <a:extLst>
              <a:ext uri="{FF2B5EF4-FFF2-40B4-BE49-F238E27FC236}">
                <a16:creationId xmlns:a16="http://schemas.microsoft.com/office/drawing/2014/main" id="{B9F7BC8B-1AED-7B1A-3A80-EEB4B1576498}"/>
              </a:ext>
            </a:extLst>
          </p:cNvPr>
          <p:cNvSpPr txBox="1"/>
          <p:nvPr/>
        </p:nvSpPr>
        <p:spPr>
          <a:xfrm>
            <a:off x="5958844" y="1601471"/>
            <a:ext cx="13760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2665" algn="l"/>
              </a:tabLst>
            </a:pPr>
            <a:r>
              <a:rPr sz="3000" b="1" dirty="0">
                <a:latin typeface="Times New Roman"/>
                <a:cs typeface="Times New Roman"/>
              </a:rPr>
              <a:t>N	M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8" name="object 98">
            <a:extLst>
              <a:ext uri="{FF2B5EF4-FFF2-40B4-BE49-F238E27FC236}">
                <a16:creationId xmlns:a16="http://schemas.microsoft.com/office/drawing/2014/main" id="{BB350D0C-5656-33EC-4859-F7494819B78C}"/>
              </a:ext>
            </a:extLst>
          </p:cNvPr>
          <p:cNvSpPr txBox="1"/>
          <p:nvPr/>
        </p:nvSpPr>
        <p:spPr>
          <a:xfrm>
            <a:off x="5425444" y="2211071"/>
            <a:ext cx="3854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M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9" name="object 99">
            <a:extLst>
              <a:ext uri="{FF2B5EF4-FFF2-40B4-BE49-F238E27FC236}">
                <a16:creationId xmlns:a16="http://schemas.microsoft.com/office/drawing/2014/main" id="{5F165ABF-3F54-B257-2B62-BA2014DC05CF}"/>
              </a:ext>
            </a:extLst>
          </p:cNvPr>
          <p:cNvSpPr txBox="1"/>
          <p:nvPr/>
        </p:nvSpPr>
        <p:spPr>
          <a:xfrm>
            <a:off x="3977644" y="2211071"/>
            <a:ext cx="3009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N</a:t>
            </a:r>
            <a:endParaRPr sz="3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4334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31900" y="1153850"/>
            <a:ext cx="9144000" cy="5520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3" y="0"/>
                </a:lnTo>
                <a:lnTo>
                  <a:pt x="9144003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640" y="2320633"/>
            <a:ext cx="2297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ahoma"/>
                <a:cs typeface="Tahoma"/>
              </a:rPr>
              <a:t>1:N-Beziehung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0640" y="2685885"/>
            <a:ext cx="8399780" cy="4662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815"/>
              </a:lnSpc>
              <a:spcBef>
                <a:spcPts val="10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Initial-</a:t>
            </a:r>
            <a:r>
              <a:rPr sz="2400" spc="-5" dirty="0" err="1">
                <a:latin typeface="Tahoma"/>
                <a:cs typeface="Tahoma"/>
              </a:rPr>
              <a:t>Entwurf</a:t>
            </a:r>
            <a:endParaRPr sz="2400" dirty="0">
              <a:latin typeface="Tahoma"/>
              <a:cs typeface="Tahoma"/>
            </a:endParaRPr>
          </a:p>
          <a:p>
            <a:pPr marL="926465" marR="1122045">
              <a:lnSpc>
                <a:spcPts val="2900"/>
              </a:lnSpc>
              <a:spcBef>
                <a:spcPts val="65"/>
              </a:spcBef>
            </a:pPr>
            <a:r>
              <a:rPr sz="2450" b="1" i="1" spc="-35" dirty="0">
                <a:latin typeface="Tahoma"/>
                <a:cs typeface="Tahoma"/>
              </a:rPr>
              <a:t>Vorlesungen </a:t>
            </a:r>
            <a:r>
              <a:rPr sz="2450" b="1" i="1" spc="-20" dirty="0">
                <a:latin typeface="Tahoma"/>
                <a:cs typeface="Tahoma"/>
              </a:rPr>
              <a:t>: </a:t>
            </a:r>
            <a:r>
              <a:rPr sz="2400" spc="-20" dirty="0">
                <a:latin typeface="Tahoma"/>
                <a:cs typeface="Tahoma"/>
              </a:rPr>
              <a:t>{[</a:t>
            </a:r>
            <a:r>
              <a:rPr sz="2450" i="1" u="heavy" spc="-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VorlNr,</a:t>
            </a:r>
            <a:r>
              <a:rPr sz="2450" i="1" spc="-20" dirty="0">
                <a:latin typeface="Tahoma"/>
                <a:cs typeface="Tahoma"/>
              </a:rPr>
              <a:t> Titel, </a:t>
            </a:r>
            <a:r>
              <a:rPr sz="2450" i="1" spc="-25" dirty="0">
                <a:latin typeface="Tahoma"/>
                <a:cs typeface="Tahoma"/>
              </a:rPr>
              <a:t>SWS</a:t>
            </a:r>
            <a:r>
              <a:rPr sz="2400" spc="-25" dirty="0">
                <a:latin typeface="Tahoma"/>
                <a:cs typeface="Tahoma"/>
              </a:rPr>
              <a:t>]}  </a:t>
            </a:r>
            <a:r>
              <a:rPr sz="2450" b="1" i="1" spc="-30" dirty="0">
                <a:latin typeface="Tahoma"/>
                <a:cs typeface="Tahoma"/>
              </a:rPr>
              <a:t>Professoren </a:t>
            </a:r>
            <a:r>
              <a:rPr sz="2450" b="1" i="1" spc="-20" dirty="0">
                <a:latin typeface="Tahoma"/>
                <a:cs typeface="Tahoma"/>
              </a:rPr>
              <a:t>: </a:t>
            </a:r>
            <a:r>
              <a:rPr sz="2400" spc="-20" dirty="0">
                <a:latin typeface="Tahoma"/>
                <a:cs typeface="Tahoma"/>
              </a:rPr>
              <a:t>{[</a:t>
            </a:r>
            <a:r>
              <a:rPr sz="2450" i="1" u="heavy" spc="-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PersNr,</a:t>
            </a:r>
            <a:r>
              <a:rPr sz="2450" i="1" spc="-20" dirty="0">
                <a:latin typeface="Tahoma"/>
                <a:cs typeface="Tahoma"/>
              </a:rPr>
              <a:t> </a:t>
            </a:r>
            <a:r>
              <a:rPr sz="2450" i="1" spc="-35" dirty="0">
                <a:latin typeface="Tahoma"/>
                <a:cs typeface="Tahoma"/>
              </a:rPr>
              <a:t>Name, </a:t>
            </a:r>
            <a:r>
              <a:rPr sz="2450" i="1" spc="-30" dirty="0">
                <a:latin typeface="Tahoma"/>
                <a:cs typeface="Tahoma"/>
              </a:rPr>
              <a:t>Rang, </a:t>
            </a:r>
            <a:r>
              <a:rPr sz="2450" i="1" spc="-25" dirty="0">
                <a:latin typeface="Tahoma"/>
                <a:cs typeface="Tahoma"/>
              </a:rPr>
              <a:t>Raum</a:t>
            </a:r>
            <a:r>
              <a:rPr sz="2400" spc="-25" dirty="0">
                <a:latin typeface="Tahoma"/>
                <a:cs typeface="Tahoma"/>
              </a:rPr>
              <a:t>]}  </a:t>
            </a:r>
            <a:r>
              <a:rPr sz="2450" b="1" i="1" spc="-30" dirty="0">
                <a:latin typeface="Tahoma"/>
                <a:cs typeface="Tahoma"/>
              </a:rPr>
              <a:t>lesen: </a:t>
            </a:r>
            <a:r>
              <a:rPr sz="2400" spc="-20" dirty="0">
                <a:latin typeface="Tahoma"/>
                <a:cs typeface="Tahoma"/>
              </a:rPr>
              <a:t>{[</a:t>
            </a:r>
            <a:r>
              <a:rPr sz="2450" i="1" u="heavy" spc="-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VorlNr,</a:t>
            </a:r>
            <a:r>
              <a:rPr sz="2450" i="1" spc="40" dirty="0">
                <a:latin typeface="Tahoma"/>
                <a:cs typeface="Tahoma"/>
              </a:rPr>
              <a:t> </a:t>
            </a:r>
            <a:r>
              <a:rPr sz="2450" i="1" spc="-20" dirty="0">
                <a:latin typeface="Tahoma"/>
                <a:cs typeface="Tahoma"/>
              </a:rPr>
              <a:t>PersNr</a:t>
            </a:r>
            <a:r>
              <a:rPr sz="2400" spc="-20" dirty="0">
                <a:latin typeface="Tahoma"/>
                <a:cs typeface="Tahoma"/>
              </a:rPr>
              <a:t>]}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450" dirty="0">
              <a:latin typeface="Times New Roman"/>
              <a:cs typeface="Times New Roman"/>
            </a:endParaRPr>
          </a:p>
          <a:p>
            <a:pPr marL="355600" indent="-342900">
              <a:lnSpc>
                <a:spcPts val="2815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dirty="0" err="1">
                <a:latin typeface="Tahoma"/>
                <a:cs typeface="Tahoma"/>
              </a:rPr>
              <a:t>Verfeinerung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durch</a:t>
            </a:r>
            <a:r>
              <a:rPr sz="2400" spc="-30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Zusammenfassung</a:t>
            </a:r>
            <a:endParaRPr sz="2400" dirty="0">
              <a:latin typeface="Tahoma"/>
              <a:cs typeface="Tahoma"/>
            </a:endParaRPr>
          </a:p>
          <a:p>
            <a:pPr marL="926465" marR="364490">
              <a:lnSpc>
                <a:spcPts val="2900"/>
              </a:lnSpc>
              <a:spcBef>
                <a:spcPts val="65"/>
              </a:spcBef>
            </a:pPr>
            <a:r>
              <a:rPr sz="2450" b="1" i="1" spc="-35" dirty="0">
                <a:latin typeface="Tahoma"/>
                <a:cs typeface="Tahoma"/>
              </a:rPr>
              <a:t>Vorlesungen </a:t>
            </a:r>
            <a:r>
              <a:rPr sz="2450" b="1" i="1" spc="-20" dirty="0">
                <a:latin typeface="Tahoma"/>
                <a:cs typeface="Tahoma"/>
              </a:rPr>
              <a:t>: </a:t>
            </a:r>
            <a:r>
              <a:rPr sz="2400" spc="-20" dirty="0">
                <a:latin typeface="Tahoma"/>
                <a:cs typeface="Tahoma"/>
              </a:rPr>
              <a:t>{[</a:t>
            </a:r>
            <a:r>
              <a:rPr sz="2450" i="1" u="heavy" spc="-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VorlNr,</a:t>
            </a:r>
            <a:r>
              <a:rPr sz="2450" i="1" spc="-20" dirty="0">
                <a:latin typeface="Tahoma"/>
                <a:cs typeface="Tahoma"/>
              </a:rPr>
              <a:t> Titel, </a:t>
            </a:r>
            <a:r>
              <a:rPr sz="2450" i="1" spc="-35" dirty="0">
                <a:latin typeface="Tahoma"/>
                <a:cs typeface="Tahoma"/>
              </a:rPr>
              <a:t>SWS, </a:t>
            </a:r>
            <a:r>
              <a:rPr sz="2450" b="1" i="1" spc="-30" dirty="0">
                <a:solidFill>
                  <a:srgbClr val="CC0099"/>
                </a:solidFill>
                <a:latin typeface="Tahoma"/>
                <a:cs typeface="Tahoma"/>
              </a:rPr>
              <a:t>gelesenVon</a:t>
            </a:r>
            <a:r>
              <a:rPr sz="2400" spc="-30" dirty="0">
                <a:latin typeface="Tahoma"/>
                <a:cs typeface="Tahoma"/>
              </a:rPr>
              <a:t>]}  </a:t>
            </a:r>
            <a:r>
              <a:rPr sz="2450" b="1" i="1" spc="-30" dirty="0">
                <a:latin typeface="Tahoma"/>
                <a:cs typeface="Tahoma"/>
              </a:rPr>
              <a:t>Professoren </a:t>
            </a:r>
            <a:r>
              <a:rPr sz="2450" b="1" i="1" spc="-20" dirty="0">
                <a:latin typeface="Tahoma"/>
                <a:cs typeface="Tahoma"/>
              </a:rPr>
              <a:t>: </a:t>
            </a:r>
            <a:r>
              <a:rPr sz="2400" spc="-20" dirty="0">
                <a:latin typeface="Tahoma"/>
                <a:cs typeface="Tahoma"/>
              </a:rPr>
              <a:t>{[</a:t>
            </a:r>
            <a:r>
              <a:rPr sz="2450" i="1" u="heavy" spc="-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PersNr,</a:t>
            </a:r>
            <a:r>
              <a:rPr sz="2450" i="1" spc="-20" dirty="0">
                <a:latin typeface="Tahoma"/>
                <a:cs typeface="Tahoma"/>
              </a:rPr>
              <a:t> </a:t>
            </a:r>
            <a:r>
              <a:rPr sz="2450" i="1" spc="-35" dirty="0">
                <a:latin typeface="Tahoma"/>
                <a:cs typeface="Tahoma"/>
              </a:rPr>
              <a:t>Name, </a:t>
            </a:r>
            <a:r>
              <a:rPr sz="2450" i="1" spc="-30" dirty="0">
                <a:latin typeface="Tahoma"/>
                <a:cs typeface="Tahoma"/>
              </a:rPr>
              <a:t>Rang,</a:t>
            </a:r>
            <a:r>
              <a:rPr sz="2450" i="1" spc="60" dirty="0">
                <a:latin typeface="Tahoma"/>
                <a:cs typeface="Tahoma"/>
              </a:rPr>
              <a:t> </a:t>
            </a:r>
            <a:r>
              <a:rPr sz="2450" i="1" spc="-25" dirty="0">
                <a:latin typeface="Tahoma"/>
                <a:cs typeface="Tahoma"/>
              </a:rPr>
              <a:t>Raum</a:t>
            </a:r>
            <a:r>
              <a:rPr sz="2400" spc="-25" dirty="0">
                <a:latin typeface="Tahoma"/>
                <a:cs typeface="Tahoma"/>
              </a:rPr>
              <a:t>]}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50" dirty="0">
              <a:latin typeface="Times New Roman"/>
              <a:cs typeface="Times New Roman"/>
            </a:endParaRPr>
          </a:p>
          <a:p>
            <a:pPr marL="12700">
              <a:lnSpc>
                <a:spcPts val="4285"/>
              </a:lnSpc>
            </a:pPr>
            <a:r>
              <a:rPr sz="3600" b="1" spc="-5" dirty="0">
                <a:latin typeface="Tahoma"/>
                <a:cs typeface="Tahoma"/>
              </a:rPr>
              <a:t>Regel</a:t>
            </a:r>
            <a:endParaRPr sz="3600" dirty="0">
              <a:latin typeface="Tahoma"/>
              <a:cs typeface="Tahoma"/>
            </a:endParaRPr>
          </a:p>
          <a:p>
            <a:pPr marL="12700">
              <a:lnSpc>
                <a:spcPts val="2845"/>
              </a:lnSpc>
            </a:pPr>
            <a:r>
              <a:rPr sz="2400" spc="-5" dirty="0">
                <a:latin typeface="Tahoma"/>
                <a:cs typeface="Tahoma"/>
              </a:rPr>
              <a:t>Relationen mit gleichem Schlüssel kann man</a:t>
            </a:r>
            <a:r>
              <a:rPr sz="2400" spc="1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zusammenfassen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400" b="1" spc="-5" dirty="0">
                <a:latin typeface="Tahoma"/>
                <a:cs typeface="Tahoma"/>
              </a:rPr>
              <a:t>aber nur diese und keine</a:t>
            </a:r>
            <a:r>
              <a:rPr sz="2400" b="1" spc="1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anderen!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8177" y="1568450"/>
            <a:ext cx="1631950" cy="4559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50"/>
              </a:spcBef>
            </a:pPr>
            <a:r>
              <a:rPr sz="2400" spc="-5" dirty="0">
                <a:latin typeface="Times New Roman"/>
                <a:cs typeface="Times New Roman"/>
              </a:rPr>
              <a:t>Professoren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93778" y="1492250"/>
            <a:ext cx="1631950" cy="4559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350"/>
              </a:spcBef>
            </a:pPr>
            <a:r>
              <a:rPr sz="2400" spc="-30" dirty="0">
                <a:latin typeface="Times New Roman"/>
                <a:cs typeface="Times New Roman"/>
              </a:rPr>
              <a:t>Vorlesungen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45778" y="1263650"/>
            <a:ext cx="1186180" cy="699473"/>
          </a:xfrm>
          <a:custGeom>
            <a:avLst/>
            <a:gdLst/>
            <a:ahLst/>
            <a:cxnLst/>
            <a:rect l="l" t="t" r="r" b="b"/>
            <a:pathLst>
              <a:path w="1186179" h="727075">
                <a:moveTo>
                  <a:pt x="592937" y="0"/>
                </a:moveTo>
                <a:lnTo>
                  <a:pt x="0" y="363537"/>
                </a:lnTo>
                <a:lnTo>
                  <a:pt x="592937" y="727075"/>
                </a:lnTo>
                <a:lnTo>
                  <a:pt x="1185862" y="363537"/>
                </a:lnTo>
                <a:lnTo>
                  <a:pt x="592937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45778" y="1263650"/>
            <a:ext cx="1186180" cy="699473"/>
          </a:xfrm>
          <a:custGeom>
            <a:avLst/>
            <a:gdLst/>
            <a:ahLst/>
            <a:cxnLst/>
            <a:rect l="l" t="t" r="r" b="b"/>
            <a:pathLst>
              <a:path w="1186179" h="727075">
                <a:moveTo>
                  <a:pt x="0" y="363537"/>
                </a:moveTo>
                <a:lnTo>
                  <a:pt x="592931" y="0"/>
                </a:lnTo>
                <a:lnTo>
                  <a:pt x="1185859" y="363537"/>
                </a:lnTo>
                <a:lnTo>
                  <a:pt x="592931" y="727074"/>
                </a:lnTo>
                <a:lnTo>
                  <a:pt x="0" y="36353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106686" y="1431608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le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820128" y="1627188"/>
            <a:ext cx="2025650" cy="163719"/>
          </a:xfrm>
          <a:custGeom>
            <a:avLst/>
            <a:gdLst/>
            <a:ahLst/>
            <a:cxnLst/>
            <a:rect l="l" t="t" r="r" b="b"/>
            <a:pathLst>
              <a:path w="2025650" h="170180">
                <a:moveTo>
                  <a:pt x="0" y="169861"/>
                </a:moveTo>
                <a:lnTo>
                  <a:pt x="2025648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31639" y="1627188"/>
            <a:ext cx="1862455" cy="90412"/>
          </a:xfrm>
          <a:custGeom>
            <a:avLst/>
            <a:gdLst/>
            <a:ahLst/>
            <a:cxnLst/>
            <a:rect l="l" t="t" r="r" b="b"/>
            <a:pathLst>
              <a:path w="1862454" h="93980">
                <a:moveTo>
                  <a:pt x="1862138" y="93662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476717" y="1677670"/>
            <a:ext cx="215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34318" y="1601470"/>
            <a:ext cx="3009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612900" y="4461345"/>
            <a:ext cx="19050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  <a:scene3d>
            <a:camera prst="orthographicFront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accent1">
                <a:shade val="80000"/>
              </a:schemeClr>
            </a:contour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8242300" y="4080345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rgbClr val="800000"/>
                </a:solidFill>
              </a:rPr>
              <a:t>Fremdschl</a:t>
            </a:r>
            <a:r>
              <a:rPr lang="en-GB" spc="-5" dirty="0" err="1">
                <a:solidFill>
                  <a:srgbClr val="800000"/>
                </a:solidFill>
                <a:cs typeface="Tahoma"/>
              </a:rPr>
              <a:t>ü</a:t>
            </a:r>
            <a:r>
              <a:rPr lang="en-GB" dirty="0" err="1">
                <a:solidFill>
                  <a:srgbClr val="800000"/>
                </a:solidFill>
              </a:rPr>
              <a:t>ssel</a:t>
            </a:r>
            <a:endParaRPr lang="en-US" dirty="0">
              <a:solidFill>
                <a:srgbClr val="800000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7937500" y="4613745"/>
            <a:ext cx="685800" cy="304800"/>
          </a:xfrm>
          <a:prstGeom prst="straightConnector1">
            <a:avLst/>
          </a:prstGeom>
          <a:ln>
            <a:solidFill>
              <a:srgbClr val="8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bject 68">
            <a:extLst>
              <a:ext uri="{FF2B5EF4-FFF2-40B4-BE49-F238E27FC236}">
                <a16:creationId xmlns:a16="http://schemas.microsoft.com/office/drawing/2014/main" id="{3E3C6624-F50F-F419-B024-0693EA47AF52}"/>
              </a:ext>
            </a:extLst>
          </p:cNvPr>
          <p:cNvSpPr txBox="1">
            <a:spLocks/>
          </p:cNvSpPr>
          <p:nvPr/>
        </p:nvSpPr>
        <p:spPr>
          <a:xfrm>
            <a:off x="847036" y="577850"/>
            <a:ext cx="6252264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dirty="0" err="1"/>
              <a:t>Wiederholung</a:t>
            </a:r>
            <a:r>
              <a:rPr lang="en-GB" spc="-10" dirty="0"/>
              <a:t> - </a:t>
            </a:r>
            <a:r>
              <a:rPr lang="en-GB" spc="-10" dirty="0" err="1"/>
              <a:t>Verfeinerung</a:t>
            </a:r>
            <a:r>
              <a:rPr lang="en-GB" spc="-10" dirty="0"/>
              <a:t> des </a:t>
            </a:r>
            <a:r>
              <a:rPr lang="en-GB" spc="-10" dirty="0" err="1"/>
              <a:t>relationalen</a:t>
            </a:r>
            <a:r>
              <a:rPr lang="en-GB" spc="-10" dirty="0"/>
              <a:t> Schemas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9900" y="1187450"/>
            <a:ext cx="9144000" cy="5243611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3" y="0"/>
                </a:lnTo>
                <a:lnTo>
                  <a:pt x="9144003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78861" y="2092325"/>
          <a:ext cx="3581400" cy="355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 gridSpan="4">
                  <a:txBody>
                    <a:bodyPr/>
                    <a:lstStyle/>
                    <a:p>
                      <a:pPr marL="115252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Professoren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0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r</a:t>
                      </a: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Name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20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ang</a:t>
                      </a: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0" dirty="0">
                          <a:latin typeface="Tahoma"/>
                          <a:cs typeface="Tahoma"/>
                        </a:rPr>
                        <a:t>Raum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2125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Sokrates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226</a:t>
                      </a: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Russel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232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2127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0" dirty="0">
                          <a:latin typeface="Tahoma"/>
                          <a:cs typeface="Tahoma"/>
                        </a:rPr>
                        <a:t>Kopernikus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310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2133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0" dirty="0">
                          <a:latin typeface="Tahoma"/>
                          <a:cs typeface="Tahoma"/>
                        </a:rPr>
                        <a:t>Popper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2134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Augustinus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309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2136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Curie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36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2137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5" dirty="0">
                          <a:latin typeface="Tahoma"/>
                          <a:cs typeface="Tahoma"/>
                        </a:rPr>
                        <a:t>Kant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7</a:t>
                      </a: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965065" y="1553210"/>
          <a:ext cx="5106035" cy="466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6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4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 gridSpan="4"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0" dirty="0">
                          <a:latin typeface="Tahoma"/>
                          <a:cs typeface="Tahoma"/>
                        </a:rPr>
                        <a:t>Vorlesungen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20" dirty="0">
                          <a:latin typeface="Tahoma"/>
                          <a:cs typeface="Tahoma"/>
                        </a:rPr>
                        <a:t>VorlNr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Titel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SWS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78460" marR="144780" indent="-272415">
                        <a:lnSpc>
                          <a:spcPts val="2100"/>
                        </a:lnSpc>
                        <a:spcBef>
                          <a:spcPts val="48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Ge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l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esen  </a:t>
                      </a:r>
                      <a:r>
                        <a:rPr sz="2000" spc="-35" dirty="0">
                          <a:latin typeface="Tahoma"/>
                          <a:cs typeface="Tahoma"/>
                        </a:rPr>
                        <a:t>Von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609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5001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Grundzüge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2137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5041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Ethik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2125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5043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Erkenntnistheorie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5049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Mäeutik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2125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4052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Logik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2125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5052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Wissens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haftstheorie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5216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Bioethik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5259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Der Wiener</a:t>
                      </a:r>
                      <a:r>
                        <a:rPr sz="20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Kreis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2133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5022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Glaube und</a:t>
                      </a:r>
                      <a:r>
                        <a:rPr sz="20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Wissen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2134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4630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Die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0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Kritiken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2137</a:t>
                      </a: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98500" y="6700619"/>
            <a:ext cx="1631950" cy="4559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50"/>
              </a:spcBef>
            </a:pPr>
            <a:r>
              <a:rPr sz="2400" spc="-5" dirty="0">
                <a:latin typeface="Times New Roman"/>
                <a:cs typeface="Times New Roman"/>
              </a:rPr>
              <a:t>Professoren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04103" y="6445250"/>
            <a:ext cx="1631950" cy="4559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350"/>
              </a:spcBef>
            </a:pPr>
            <a:r>
              <a:rPr sz="2400" spc="-30" dirty="0">
                <a:latin typeface="Times New Roman"/>
                <a:cs typeface="Times New Roman"/>
              </a:rPr>
              <a:t>Vorlesungen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56103" y="6395820"/>
            <a:ext cx="1186180" cy="727075"/>
          </a:xfrm>
          <a:custGeom>
            <a:avLst/>
            <a:gdLst/>
            <a:ahLst/>
            <a:cxnLst/>
            <a:rect l="l" t="t" r="r" b="b"/>
            <a:pathLst>
              <a:path w="1186179" h="727075">
                <a:moveTo>
                  <a:pt x="592924" y="0"/>
                </a:moveTo>
                <a:lnTo>
                  <a:pt x="0" y="363536"/>
                </a:lnTo>
                <a:lnTo>
                  <a:pt x="592924" y="727073"/>
                </a:lnTo>
                <a:lnTo>
                  <a:pt x="1185862" y="363536"/>
                </a:lnTo>
                <a:lnTo>
                  <a:pt x="592924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56103" y="6395820"/>
            <a:ext cx="1186180" cy="727075"/>
          </a:xfrm>
          <a:custGeom>
            <a:avLst/>
            <a:gdLst/>
            <a:ahLst/>
            <a:cxnLst/>
            <a:rect l="l" t="t" r="r" b="b"/>
            <a:pathLst>
              <a:path w="1186179" h="727075">
                <a:moveTo>
                  <a:pt x="0" y="363537"/>
                </a:moveTo>
                <a:lnTo>
                  <a:pt x="592931" y="0"/>
                </a:lnTo>
                <a:lnTo>
                  <a:pt x="1185859" y="363537"/>
                </a:lnTo>
                <a:lnTo>
                  <a:pt x="592931" y="727074"/>
                </a:lnTo>
                <a:lnTo>
                  <a:pt x="0" y="36353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17000" y="6563778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le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30453" y="6759357"/>
            <a:ext cx="2025650" cy="170180"/>
          </a:xfrm>
          <a:custGeom>
            <a:avLst/>
            <a:gdLst/>
            <a:ahLst/>
            <a:cxnLst/>
            <a:rect l="l" t="t" r="r" b="b"/>
            <a:pathLst>
              <a:path w="2025650" h="170179">
                <a:moveTo>
                  <a:pt x="0" y="169861"/>
                </a:moveTo>
                <a:lnTo>
                  <a:pt x="2025648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 flipV="1">
            <a:off x="5541966" y="6700619"/>
            <a:ext cx="1862138" cy="58738"/>
          </a:xfrm>
          <a:custGeom>
            <a:avLst/>
            <a:gdLst/>
            <a:ahLst/>
            <a:cxnLst/>
            <a:rect l="l" t="t" r="r" b="b"/>
            <a:pathLst>
              <a:path w="1862454" h="93979">
                <a:moveTo>
                  <a:pt x="1862138" y="93661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987044" y="6809839"/>
            <a:ext cx="215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44644" y="6733639"/>
            <a:ext cx="3009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6" name="object 68">
            <a:extLst>
              <a:ext uri="{FF2B5EF4-FFF2-40B4-BE49-F238E27FC236}">
                <a16:creationId xmlns:a16="http://schemas.microsoft.com/office/drawing/2014/main" id="{4336BAC4-924B-F642-1E28-3272733A9BD1}"/>
              </a:ext>
            </a:extLst>
          </p:cNvPr>
          <p:cNvSpPr txBox="1">
            <a:spLocks/>
          </p:cNvSpPr>
          <p:nvPr/>
        </p:nvSpPr>
        <p:spPr>
          <a:xfrm>
            <a:off x="923236" y="577850"/>
            <a:ext cx="6252264" cy="828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dirty="0" err="1"/>
              <a:t>Wiederholung</a:t>
            </a:r>
            <a:r>
              <a:rPr lang="en-GB" spc="-10" dirty="0"/>
              <a:t> - </a:t>
            </a:r>
            <a:r>
              <a:rPr lang="en-GB" spc="-10" dirty="0" err="1"/>
              <a:t>Ausprägung</a:t>
            </a:r>
            <a:r>
              <a:rPr lang="en-GB" spc="-10" dirty="0"/>
              <a:t> von </a:t>
            </a:r>
            <a:r>
              <a:rPr lang="en-GB" spc="-10" dirty="0" err="1"/>
              <a:t>Professoren</a:t>
            </a:r>
            <a:r>
              <a:rPr lang="en-GB" spc="-10" dirty="0"/>
              <a:t> und </a:t>
            </a:r>
            <a:r>
              <a:rPr lang="en-GB" spc="-10" dirty="0" err="1"/>
              <a:t>Vorlesungen</a:t>
            </a:r>
            <a:endParaRPr lang="en-GB" spc="-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6100" y="1194050"/>
            <a:ext cx="9144000" cy="5286441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3" y="0"/>
                </a:lnTo>
                <a:lnTo>
                  <a:pt x="9144003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55061" y="2306638"/>
          <a:ext cx="4327525" cy="355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 gridSpan="5"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Professoren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0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r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Name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20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ang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0" dirty="0">
                          <a:latin typeface="Tahoma"/>
                          <a:cs typeface="Tahoma"/>
                        </a:rPr>
                        <a:t>Raum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liest</a:t>
                      </a: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2125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Sokrates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226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5041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2125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Sokrates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C4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226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5049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2125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Sokrates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C4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226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4052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2134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Augustinus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309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5022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2136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Curie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36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??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184265" y="1554163"/>
          <a:ext cx="3963035" cy="438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6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4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 gridSpan="3">
                  <a:txBody>
                    <a:bodyPr/>
                    <a:lstStyle/>
                    <a:p>
                      <a:pPr marL="131191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0" dirty="0">
                          <a:latin typeface="Tahoma"/>
                          <a:cs typeface="Tahoma"/>
                        </a:rPr>
                        <a:t>Vorlesungen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20" dirty="0">
                          <a:latin typeface="Tahoma"/>
                          <a:cs typeface="Tahoma"/>
                        </a:rPr>
                        <a:t>VorlNr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Titel</a:t>
                      </a: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SWS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5001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Grundzüge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5041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Ethik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5043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Erkenntnistheorie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5049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Mäeutik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4052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Logik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5052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Wissens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haftstheorie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5216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Bioethik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5259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Der Wiener</a:t>
                      </a:r>
                      <a:r>
                        <a:rPr sz="20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Kreis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5022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Glaube und</a:t>
                      </a:r>
                      <a:r>
                        <a:rPr sz="20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Wissen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4630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Die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0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Kritiken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</a:t>
                      </a: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74700" y="6521449"/>
            <a:ext cx="1631950" cy="4559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50"/>
              </a:spcBef>
            </a:pPr>
            <a:r>
              <a:rPr sz="2400" spc="-5" dirty="0">
                <a:latin typeface="Times New Roman"/>
                <a:cs typeface="Times New Roman"/>
              </a:rPr>
              <a:t>Professoren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80303" y="6445250"/>
            <a:ext cx="1631950" cy="4559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350"/>
              </a:spcBef>
            </a:pPr>
            <a:r>
              <a:rPr sz="2400" spc="-30" dirty="0">
                <a:latin typeface="Times New Roman"/>
                <a:cs typeface="Times New Roman"/>
              </a:rPr>
              <a:t>Vorlesungen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32303" y="6216650"/>
            <a:ext cx="1186180" cy="727075"/>
          </a:xfrm>
          <a:custGeom>
            <a:avLst/>
            <a:gdLst/>
            <a:ahLst/>
            <a:cxnLst/>
            <a:rect l="l" t="t" r="r" b="b"/>
            <a:pathLst>
              <a:path w="1186179" h="727075">
                <a:moveTo>
                  <a:pt x="592924" y="0"/>
                </a:moveTo>
                <a:lnTo>
                  <a:pt x="0" y="363536"/>
                </a:lnTo>
                <a:lnTo>
                  <a:pt x="592924" y="727073"/>
                </a:lnTo>
                <a:lnTo>
                  <a:pt x="1185862" y="363536"/>
                </a:lnTo>
                <a:lnTo>
                  <a:pt x="592924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32303" y="6216650"/>
            <a:ext cx="1186180" cy="727075"/>
          </a:xfrm>
          <a:custGeom>
            <a:avLst/>
            <a:gdLst/>
            <a:ahLst/>
            <a:cxnLst/>
            <a:rect l="l" t="t" r="r" b="b"/>
            <a:pathLst>
              <a:path w="1186179" h="727075">
                <a:moveTo>
                  <a:pt x="0" y="363537"/>
                </a:moveTo>
                <a:lnTo>
                  <a:pt x="592931" y="0"/>
                </a:lnTo>
                <a:lnTo>
                  <a:pt x="1185859" y="363537"/>
                </a:lnTo>
                <a:lnTo>
                  <a:pt x="592931" y="727074"/>
                </a:lnTo>
                <a:lnTo>
                  <a:pt x="0" y="36353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693200" y="6384608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le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06653" y="6580187"/>
            <a:ext cx="2025650" cy="170180"/>
          </a:xfrm>
          <a:custGeom>
            <a:avLst/>
            <a:gdLst/>
            <a:ahLst/>
            <a:cxnLst/>
            <a:rect l="l" t="t" r="r" b="b"/>
            <a:pathLst>
              <a:path w="2025650" h="170179">
                <a:moveTo>
                  <a:pt x="0" y="169861"/>
                </a:moveTo>
                <a:lnTo>
                  <a:pt x="2025648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618165" y="6580187"/>
            <a:ext cx="1862455" cy="93980"/>
          </a:xfrm>
          <a:custGeom>
            <a:avLst/>
            <a:gdLst/>
            <a:ahLst/>
            <a:cxnLst/>
            <a:rect l="l" t="t" r="r" b="b"/>
            <a:pathLst>
              <a:path w="1862454" h="93979">
                <a:moveTo>
                  <a:pt x="1862138" y="93661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063244" y="6630669"/>
            <a:ext cx="215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20844" y="6554469"/>
            <a:ext cx="3009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69349" y="1455519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rgbClr val="800000"/>
                </a:solidFill>
              </a:rPr>
              <a:t>Erkennen</a:t>
            </a:r>
            <a:r>
              <a:rPr lang="en-GB" dirty="0">
                <a:solidFill>
                  <a:srgbClr val="800000"/>
                </a:solidFill>
              </a:rPr>
              <a:t> </a:t>
            </a:r>
            <a:r>
              <a:rPr lang="en-GB" dirty="0" err="1">
                <a:solidFill>
                  <a:srgbClr val="800000"/>
                </a:solidFill>
              </a:rPr>
              <a:t>Sie</a:t>
            </a:r>
            <a:r>
              <a:rPr lang="en-GB" dirty="0">
                <a:solidFill>
                  <a:srgbClr val="800000"/>
                </a:solidFill>
              </a:rPr>
              <a:t> die </a:t>
            </a:r>
            <a:r>
              <a:rPr lang="en-GB" dirty="0" err="1">
                <a:solidFill>
                  <a:srgbClr val="800000"/>
                </a:solidFill>
              </a:rPr>
              <a:t>Probleme</a:t>
            </a:r>
            <a:r>
              <a:rPr lang="en-GB" dirty="0">
                <a:solidFill>
                  <a:srgbClr val="800000"/>
                </a:solidFill>
              </a:rPr>
              <a:t>? </a:t>
            </a:r>
            <a:r>
              <a:rPr lang="en-GB" dirty="0" err="1">
                <a:solidFill>
                  <a:srgbClr val="800000"/>
                </a:solidFill>
              </a:rPr>
              <a:t>Denken</a:t>
            </a:r>
            <a:r>
              <a:rPr lang="en-GB" dirty="0">
                <a:solidFill>
                  <a:srgbClr val="800000"/>
                </a:solidFill>
              </a:rPr>
              <a:t> </a:t>
            </a:r>
            <a:r>
              <a:rPr lang="en-GB" dirty="0" err="1">
                <a:solidFill>
                  <a:srgbClr val="800000"/>
                </a:solidFill>
              </a:rPr>
              <a:t>Sie</a:t>
            </a:r>
            <a:r>
              <a:rPr lang="en-GB" dirty="0">
                <a:solidFill>
                  <a:srgbClr val="800000"/>
                </a:solidFill>
              </a:rPr>
              <a:t> </a:t>
            </a:r>
            <a:r>
              <a:rPr lang="en-GB" dirty="0" err="1">
                <a:solidFill>
                  <a:srgbClr val="800000"/>
                </a:solidFill>
              </a:rPr>
              <a:t>auch</a:t>
            </a:r>
            <a:r>
              <a:rPr lang="en-GB" dirty="0">
                <a:solidFill>
                  <a:srgbClr val="800000"/>
                </a:solidFill>
              </a:rPr>
              <a:t> an die Regel </a:t>
            </a:r>
            <a:r>
              <a:rPr lang="mr-IN" dirty="0">
                <a:solidFill>
                  <a:srgbClr val="800000"/>
                </a:solidFill>
              </a:rPr>
              <a:t>…</a:t>
            </a:r>
            <a:endParaRPr lang="en-US" dirty="0">
              <a:solidFill>
                <a:srgbClr val="800000"/>
              </a:solidFill>
            </a:endParaRPr>
          </a:p>
        </p:txBody>
      </p:sp>
      <p:sp>
        <p:nvSpPr>
          <p:cNvPr id="18" name="object 68">
            <a:extLst>
              <a:ext uri="{FF2B5EF4-FFF2-40B4-BE49-F238E27FC236}">
                <a16:creationId xmlns:a16="http://schemas.microsoft.com/office/drawing/2014/main" id="{B3BE5B95-77A5-2029-E1C4-95E3E73E88E5}"/>
              </a:ext>
            </a:extLst>
          </p:cNvPr>
          <p:cNvSpPr txBox="1">
            <a:spLocks/>
          </p:cNvSpPr>
          <p:nvPr/>
        </p:nvSpPr>
        <p:spPr>
          <a:xfrm>
            <a:off x="923236" y="654050"/>
            <a:ext cx="6252264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dirty="0" err="1"/>
              <a:t>Wiederholung</a:t>
            </a:r>
            <a:r>
              <a:rPr lang="en-GB" spc="-10" dirty="0"/>
              <a:t> - </a:t>
            </a:r>
            <a:r>
              <a:rPr lang="en-GB" spc="-10" dirty="0" err="1"/>
              <a:t>Falscher</a:t>
            </a:r>
            <a:r>
              <a:rPr lang="en-GB" spc="-10" dirty="0"/>
              <a:t> Ansatz / </a:t>
            </a:r>
            <a:r>
              <a:rPr lang="en-GB" spc="-10" dirty="0" err="1"/>
              <a:t>Durchführung</a:t>
            </a:r>
            <a:endParaRPr lang="en-GB" spc="-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06251" y="1221990"/>
            <a:ext cx="9144000" cy="532446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3" y="0"/>
                </a:lnTo>
                <a:lnTo>
                  <a:pt x="9144003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27100" y="5530850"/>
            <a:ext cx="8127365" cy="187706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9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u="sng" spc="-5" dirty="0">
                <a:latin typeface="Tahoma"/>
                <a:cs typeface="Tahoma"/>
              </a:rPr>
              <a:t>Update-</a:t>
            </a:r>
            <a:r>
              <a:rPr sz="2400" u="sng" spc="-5" dirty="0" err="1">
                <a:latin typeface="Tahoma"/>
                <a:cs typeface="Tahoma"/>
              </a:rPr>
              <a:t>Anomalie</a:t>
            </a:r>
            <a:r>
              <a:rPr sz="2400" spc="-5" dirty="0">
                <a:latin typeface="Tahoma"/>
                <a:cs typeface="Tahoma"/>
              </a:rPr>
              <a:t>: </a:t>
            </a:r>
            <a:r>
              <a:rPr sz="2400" dirty="0">
                <a:latin typeface="Tahoma"/>
                <a:cs typeface="Tahoma"/>
              </a:rPr>
              <a:t>Was </a:t>
            </a:r>
            <a:r>
              <a:rPr sz="2400" spc="-5" dirty="0">
                <a:latin typeface="Tahoma"/>
                <a:cs typeface="Tahoma"/>
              </a:rPr>
              <a:t>passiert wenn </a:t>
            </a:r>
            <a:r>
              <a:rPr sz="2400" dirty="0">
                <a:latin typeface="Tahoma"/>
                <a:cs typeface="Tahoma"/>
              </a:rPr>
              <a:t>Sokrates</a:t>
            </a:r>
            <a:r>
              <a:rPr sz="2400" spc="-26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umzieht</a:t>
            </a:r>
            <a:endParaRPr sz="2400" dirty="0">
              <a:latin typeface="Tahoma"/>
              <a:cs typeface="Tahoma"/>
            </a:endParaRPr>
          </a:p>
          <a:p>
            <a:pPr marL="355600" marR="5080" indent="-342900">
              <a:lnSpc>
                <a:spcPts val="2620"/>
              </a:lnSpc>
              <a:spcBef>
                <a:spcPts val="50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Lösch-Anomalie</a:t>
            </a:r>
            <a:r>
              <a:rPr sz="2400" spc="-5" dirty="0">
                <a:latin typeface="Tahoma"/>
                <a:cs typeface="Tahoma"/>
              </a:rPr>
              <a:t>: </a:t>
            </a:r>
            <a:r>
              <a:rPr sz="2400" dirty="0">
                <a:latin typeface="Tahoma"/>
                <a:cs typeface="Tahoma"/>
              </a:rPr>
              <a:t>Was </a:t>
            </a:r>
            <a:r>
              <a:rPr sz="2400" spc="-5" dirty="0">
                <a:latin typeface="Tahoma"/>
                <a:cs typeface="Tahoma"/>
              </a:rPr>
              <a:t>passiert wenn „Glaube und</a:t>
            </a:r>
            <a:r>
              <a:rPr sz="2400" spc="-2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Wissen“  </a:t>
            </a:r>
            <a:r>
              <a:rPr sz="2400" spc="-5" dirty="0">
                <a:latin typeface="Tahoma"/>
                <a:cs typeface="Tahoma"/>
              </a:rPr>
              <a:t>wegfällt</a:t>
            </a:r>
            <a:endParaRPr sz="2400" dirty="0">
              <a:latin typeface="Tahoma"/>
              <a:cs typeface="Tahoma"/>
            </a:endParaRPr>
          </a:p>
          <a:p>
            <a:pPr marL="355600" marR="865505" indent="-342900">
              <a:lnSpc>
                <a:spcPts val="2620"/>
              </a:lnSpc>
              <a:spcBef>
                <a:spcPts val="56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u="sng" spc="-5" dirty="0" err="1">
                <a:latin typeface="Tahoma"/>
                <a:cs typeface="Tahoma"/>
              </a:rPr>
              <a:t>Einfügeanomalie</a:t>
            </a:r>
            <a:r>
              <a:rPr sz="2400" spc="-5" dirty="0">
                <a:latin typeface="Tahoma"/>
                <a:cs typeface="Tahoma"/>
              </a:rPr>
              <a:t>: Curie </a:t>
            </a:r>
            <a:r>
              <a:rPr sz="2400" dirty="0">
                <a:latin typeface="Tahoma"/>
                <a:cs typeface="Tahoma"/>
              </a:rPr>
              <a:t>ist </a:t>
            </a:r>
            <a:r>
              <a:rPr sz="2400" spc="-5" dirty="0">
                <a:latin typeface="Tahoma"/>
                <a:cs typeface="Tahoma"/>
              </a:rPr>
              <a:t>neu und </a:t>
            </a:r>
            <a:r>
              <a:rPr sz="2400" dirty="0">
                <a:latin typeface="Tahoma"/>
                <a:cs typeface="Tahoma"/>
              </a:rPr>
              <a:t>liest </a:t>
            </a:r>
            <a:r>
              <a:rPr sz="2400" spc="-5" dirty="0">
                <a:latin typeface="Tahoma"/>
                <a:cs typeface="Tahoma"/>
              </a:rPr>
              <a:t>noch</a:t>
            </a:r>
            <a:r>
              <a:rPr sz="2400" spc="-2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keine  Vorlesungen</a:t>
            </a:r>
            <a:endParaRPr sz="2400" dirty="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293812" y="1644650"/>
          <a:ext cx="4327525" cy="355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 gridSpan="5"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Professoren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0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r</a:t>
                      </a: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Name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20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ang</a:t>
                      </a: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0" dirty="0">
                          <a:latin typeface="Tahoma"/>
                          <a:cs typeface="Tahoma"/>
                        </a:rPr>
                        <a:t>Raum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liest</a:t>
                      </a: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2125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Sokrates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226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5041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2125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Sokrates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C4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226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5049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2125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Sokrates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C4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226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4052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2134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Augustinus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309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5022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2136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Curie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36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0" dirty="0">
                          <a:solidFill>
                            <a:srgbClr val="CC0099"/>
                          </a:solidFill>
                          <a:latin typeface="Tahoma"/>
                          <a:cs typeface="Tahoma"/>
                        </a:rPr>
                        <a:t>??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323016" y="1298575"/>
          <a:ext cx="3963035" cy="4114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6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4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80">
                <a:tc gridSpan="3">
                  <a:txBody>
                    <a:bodyPr/>
                    <a:lstStyle/>
                    <a:p>
                      <a:pPr marL="1311910">
                        <a:lnSpc>
                          <a:spcPts val="2360"/>
                        </a:lnSpc>
                      </a:pPr>
                      <a:r>
                        <a:rPr sz="2000" spc="-10" dirty="0">
                          <a:latin typeface="Tahoma"/>
                          <a:cs typeface="Tahoma"/>
                        </a:rPr>
                        <a:t>Vorlesungen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4290" algn="ctr">
                        <a:lnSpc>
                          <a:spcPts val="2360"/>
                        </a:lnSpc>
                      </a:pPr>
                      <a:r>
                        <a:rPr sz="2000" spc="-20" dirty="0">
                          <a:latin typeface="Tahoma"/>
                          <a:cs typeface="Tahoma"/>
                        </a:rPr>
                        <a:t>VorlNr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Titel</a:t>
                      </a: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ts val="2360"/>
                        </a:lnSpc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SWS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34290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5001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ts val="2360"/>
                        </a:lnSpc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Grundzüge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4290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5041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2360"/>
                        </a:lnSpc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Ethik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4290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5043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2360"/>
                        </a:lnSpc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Erkenntnistheorie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4290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5049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2360"/>
                        </a:lnSpc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Mäeutik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4290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4052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ts val="2360"/>
                        </a:lnSpc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Logik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4290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5052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Wissens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haftstheorie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490">
                <a:tc>
                  <a:txBody>
                    <a:bodyPr/>
                    <a:lstStyle/>
                    <a:p>
                      <a:pPr marL="34290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5216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Bioethik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4290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5259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2360"/>
                        </a:lnSpc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Der Wiener</a:t>
                      </a:r>
                      <a:r>
                        <a:rPr sz="20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Kreis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4490">
                <a:tc>
                  <a:txBody>
                    <a:bodyPr/>
                    <a:lstStyle/>
                    <a:p>
                      <a:pPr marL="34290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5022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ts val="2360"/>
                        </a:lnSpc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Glaube und</a:t>
                      </a:r>
                      <a:r>
                        <a:rPr sz="20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Wissen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4290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4630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2360"/>
                        </a:lnSpc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Die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0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Kritiken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ts val="236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</a:t>
                      </a: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object 68">
            <a:extLst>
              <a:ext uri="{FF2B5EF4-FFF2-40B4-BE49-F238E27FC236}">
                <a16:creationId xmlns:a16="http://schemas.microsoft.com/office/drawing/2014/main" id="{6711CF38-5266-3E44-289B-0DC2B6FED5A7}"/>
              </a:ext>
            </a:extLst>
          </p:cNvPr>
          <p:cNvSpPr txBox="1">
            <a:spLocks/>
          </p:cNvSpPr>
          <p:nvPr/>
        </p:nvSpPr>
        <p:spPr>
          <a:xfrm>
            <a:off x="923236" y="349250"/>
            <a:ext cx="6252264" cy="828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dirty="0" err="1"/>
              <a:t>Wiederholung</a:t>
            </a:r>
            <a:r>
              <a:rPr lang="en-GB" spc="-10" dirty="0"/>
              <a:t> - </a:t>
            </a:r>
            <a:r>
              <a:rPr lang="en-GB" spc="-10" dirty="0" err="1"/>
              <a:t>Falscher</a:t>
            </a:r>
            <a:r>
              <a:rPr lang="en-GB" spc="-10" dirty="0"/>
              <a:t> Ansatz / </a:t>
            </a:r>
            <a:r>
              <a:rPr lang="en-GB" spc="-10" dirty="0" err="1"/>
              <a:t>Durchführung</a:t>
            </a:r>
            <a:r>
              <a:rPr lang="en-GB" spc="-10" dirty="0"/>
              <a:t> - </a:t>
            </a:r>
            <a:r>
              <a:rPr lang="en-GB" spc="-10" dirty="0" err="1"/>
              <a:t>Anomalien</a:t>
            </a:r>
            <a:endParaRPr lang="en-GB" spc="-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31900" y="1035050"/>
            <a:ext cx="9144000" cy="51054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3" y="0"/>
                </a:lnTo>
                <a:lnTo>
                  <a:pt x="9144003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184278" y="3140601"/>
            <a:ext cx="1818005" cy="480695"/>
          </a:xfrm>
          <a:prstGeom prst="rect">
            <a:avLst/>
          </a:prstGeom>
          <a:solidFill>
            <a:srgbClr val="FFC000"/>
          </a:solidFill>
          <a:ln w="11101">
            <a:solidFill>
              <a:srgbClr val="000000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409575">
              <a:lnSpc>
                <a:spcPct val="100000"/>
              </a:lnSpc>
              <a:spcBef>
                <a:spcPts val="700"/>
              </a:spcBef>
            </a:pPr>
            <a:r>
              <a:rPr sz="1700" dirty="0">
                <a:latin typeface="Arial"/>
                <a:cs typeface="Arial"/>
              </a:rPr>
              <a:t>Menschen</a:t>
            </a:r>
          </a:p>
        </p:txBody>
      </p:sp>
      <p:sp>
        <p:nvSpPr>
          <p:cNvPr id="5" name="object 5"/>
          <p:cNvSpPr/>
          <p:nvPr/>
        </p:nvSpPr>
        <p:spPr>
          <a:xfrm>
            <a:off x="5535162" y="1873250"/>
            <a:ext cx="1204595" cy="655955"/>
          </a:xfrm>
          <a:custGeom>
            <a:avLst/>
            <a:gdLst/>
            <a:ahLst/>
            <a:cxnLst/>
            <a:rect l="l" t="t" r="r" b="b"/>
            <a:pathLst>
              <a:path w="1204595" h="655955">
                <a:moveTo>
                  <a:pt x="0" y="327744"/>
                </a:moveTo>
                <a:lnTo>
                  <a:pt x="602337" y="0"/>
                </a:lnTo>
                <a:lnTo>
                  <a:pt x="1204520" y="327744"/>
                </a:lnTo>
                <a:lnTo>
                  <a:pt x="602337" y="655489"/>
                </a:lnTo>
                <a:lnTo>
                  <a:pt x="0" y="327744"/>
                </a:lnTo>
                <a:close/>
              </a:path>
            </a:pathLst>
          </a:custGeom>
          <a:solidFill>
            <a:srgbClr val="72F1E6"/>
          </a:solidFill>
          <a:ln w="111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62394" y="2037377"/>
            <a:ext cx="3505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MP</a:t>
            </a:r>
          </a:p>
        </p:txBody>
      </p:sp>
      <p:sp>
        <p:nvSpPr>
          <p:cNvPr id="7" name="object 7"/>
          <p:cNvSpPr/>
          <p:nvPr/>
        </p:nvSpPr>
        <p:spPr>
          <a:xfrm>
            <a:off x="5535162" y="4386016"/>
            <a:ext cx="1204595" cy="655955"/>
          </a:xfrm>
          <a:custGeom>
            <a:avLst/>
            <a:gdLst/>
            <a:ahLst/>
            <a:cxnLst/>
            <a:rect l="l" t="t" r="r" b="b"/>
            <a:pathLst>
              <a:path w="1204595" h="655954">
                <a:moveTo>
                  <a:pt x="0" y="327744"/>
                </a:moveTo>
                <a:lnTo>
                  <a:pt x="602337" y="0"/>
                </a:lnTo>
                <a:lnTo>
                  <a:pt x="1204520" y="327744"/>
                </a:lnTo>
                <a:lnTo>
                  <a:pt x="602337" y="655486"/>
                </a:lnTo>
                <a:lnTo>
                  <a:pt x="0" y="327744"/>
                </a:lnTo>
                <a:close/>
              </a:path>
            </a:pathLst>
          </a:custGeom>
          <a:solidFill>
            <a:srgbClr val="72F1E6"/>
          </a:solidFill>
          <a:ln w="111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679923" y="4549988"/>
            <a:ext cx="9150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Wohnsi</a:t>
            </a:r>
            <a:r>
              <a:rPr sz="1700" spc="-5" dirty="0">
                <a:latin typeface="Arial"/>
                <a:cs typeface="Arial"/>
              </a:rPr>
              <a:t>t</a:t>
            </a:r>
            <a:r>
              <a:rPr sz="1700" dirty="0">
                <a:latin typeface="Arial"/>
                <a:cs typeface="Arial"/>
              </a:rPr>
              <a:t>z</a:t>
            </a:r>
          </a:p>
        </p:txBody>
      </p:sp>
      <p:sp>
        <p:nvSpPr>
          <p:cNvPr id="9" name="object 9"/>
          <p:cNvSpPr/>
          <p:nvPr/>
        </p:nvSpPr>
        <p:spPr>
          <a:xfrm>
            <a:off x="5535162" y="3053193"/>
            <a:ext cx="1204595" cy="655955"/>
          </a:xfrm>
          <a:custGeom>
            <a:avLst/>
            <a:gdLst/>
            <a:ahLst/>
            <a:cxnLst/>
            <a:rect l="l" t="t" r="r" b="b"/>
            <a:pathLst>
              <a:path w="1204595" h="655954">
                <a:moveTo>
                  <a:pt x="0" y="327744"/>
                </a:moveTo>
                <a:lnTo>
                  <a:pt x="602337" y="0"/>
                </a:lnTo>
                <a:lnTo>
                  <a:pt x="1204520" y="327744"/>
                </a:lnTo>
                <a:lnTo>
                  <a:pt x="602337" y="655489"/>
                </a:lnTo>
                <a:lnTo>
                  <a:pt x="0" y="327744"/>
                </a:lnTo>
                <a:close/>
              </a:path>
            </a:pathLst>
          </a:custGeom>
          <a:solidFill>
            <a:srgbClr val="72F1E6"/>
          </a:solidFill>
          <a:ln w="111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914182" y="3217165"/>
            <a:ext cx="4464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MdL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002122" y="2200995"/>
            <a:ext cx="1533525" cy="1180465"/>
          </a:xfrm>
          <a:custGeom>
            <a:avLst/>
            <a:gdLst/>
            <a:ahLst/>
            <a:cxnLst/>
            <a:rect l="l" t="t" r="r" b="b"/>
            <a:pathLst>
              <a:path w="1533525" h="1180464">
                <a:moveTo>
                  <a:pt x="1533039" y="1179942"/>
                </a:moveTo>
                <a:lnTo>
                  <a:pt x="0" y="1179942"/>
                </a:lnTo>
                <a:lnTo>
                  <a:pt x="1533039" y="0"/>
                </a:lnTo>
              </a:path>
            </a:pathLst>
          </a:custGeom>
          <a:ln w="111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02122" y="3380937"/>
            <a:ext cx="1533525" cy="1332865"/>
          </a:xfrm>
          <a:custGeom>
            <a:avLst/>
            <a:gdLst/>
            <a:ahLst/>
            <a:cxnLst/>
            <a:rect l="l" t="t" r="r" b="b"/>
            <a:pathLst>
              <a:path w="1533525" h="1332864">
                <a:moveTo>
                  <a:pt x="0" y="0"/>
                </a:moveTo>
                <a:lnTo>
                  <a:pt x="1533039" y="1332823"/>
                </a:lnTo>
              </a:path>
            </a:pathLst>
          </a:custGeom>
          <a:ln w="111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739682" y="2200995"/>
            <a:ext cx="1752600" cy="1180465"/>
          </a:xfrm>
          <a:custGeom>
            <a:avLst/>
            <a:gdLst/>
            <a:ahLst/>
            <a:cxnLst/>
            <a:rect l="l" t="t" r="r" b="b"/>
            <a:pathLst>
              <a:path w="1752600" h="1180464">
                <a:moveTo>
                  <a:pt x="0" y="0"/>
                </a:moveTo>
                <a:lnTo>
                  <a:pt x="1752155" y="1179942"/>
                </a:lnTo>
              </a:path>
            </a:pathLst>
          </a:custGeom>
          <a:ln w="111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39682" y="3380937"/>
            <a:ext cx="1752600" cy="1332865"/>
          </a:xfrm>
          <a:custGeom>
            <a:avLst/>
            <a:gdLst/>
            <a:ahLst/>
            <a:cxnLst/>
            <a:rect l="l" t="t" r="r" b="b"/>
            <a:pathLst>
              <a:path w="1752600" h="1332864">
                <a:moveTo>
                  <a:pt x="0" y="1332823"/>
                </a:moveTo>
                <a:lnTo>
                  <a:pt x="1752155" y="0"/>
                </a:lnTo>
              </a:path>
            </a:pathLst>
          </a:custGeom>
          <a:ln w="111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83447" y="4058271"/>
            <a:ext cx="1095375" cy="437515"/>
          </a:xfrm>
          <a:custGeom>
            <a:avLst/>
            <a:gdLst/>
            <a:ahLst/>
            <a:cxnLst/>
            <a:rect l="l" t="t" r="r" b="b"/>
            <a:pathLst>
              <a:path w="1095375" h="437514">
                <a:moveTo>
                  <a:pt x="219007" y="436997"/>
                </a:moveTo>
                <a:lnTo>
                  <a:pt x="876046" y="436997"/>
                </a:lnTo>
                <a:lnTo>
                  <a:pt x="926265" y="431227"/>
                </a:lnTo>
                <a:lnTo>
                  <a:pt x="972364" y="414788"/>
                </a:lnTo>
                <a:lnTo>
                  <a:pt x="1013028" y="388995"/>
                </a:lnTo>
                <a:lnTo>
                  <a:pt x="1046943" y="355158"/>
                </a:lnTo>
                <a:lnTo>
                  <a:pt x="1072795" y="314590"/>
                </a:lnTo>
                <a:lnTo>
                  <a:pt x="1089271" y="268602"/>
                </a:lnTo>
                <a:lnTo>
                  <a:pt x="1095054" y="218506"/>
                </a:lnTo>
                <a:lnTo>
                  <a:pt x="1089271" y="168405"/>
                </a:lnTo>
                <a:lnTo>
                  <a:pt x="1072795" y="122413"/>
                </a:lnTo>
                <a:lnTo>
                  <a:pt x="1046943" y="81842"/>
                </a:lnTo>
                <a:lnTo>
                  <a:pt x="1013028" y="48003"/>
                </a:lnTo>
                <a:lnTo>
                  <a:pt x="972364" y="22209"/>
                </a:lnTo>
                <a:lnTo>
                  <a:pt x="926265" y="5770"/>
                </a:lnTo>
                <a:lnTo>
                  <a:pt x="876046" y="0"/>
                </a:lnTo>
                <a:lnTo>
                  <a:pt x="219007" y="0"/>
                </a:lnTo>
                <a:lnTo>
                  <a:pt x="168792" y="5770"/>
                </a:lnTo>
                <a:lnTo>
                  <a:pt x="122694" y="22209"/>
                </a:lnTo>
                <a:lnTo>
                  <a:pt x="82030" y="48003"/>
                </a:lnTo>
                <a:lnTo>
                  <a:pt x="48114" y="81842"/>
                </a:lnTo>
                <a:lnTo>
                  <a:pt x="22260" y="122413"/>
                </a:lnTo>
                <a:lnTo>
                  <a:pt x="5784" y="168405"/>
                </a:lnTo>
                <a:lnTo>
                  <a:pt x="0" y="218506"/>
                </a:lnTo>
                <a:lnTo>
                  <a:pt x="5784" y="268602"/>
                </a:lnTo>
                <a:lnTo>
                  <a:pt x="22260" y="314590"/>
                </a:lnTo>
                <a:lnTo>
                  <a:pt x="48114" y="355158"/>
                </a:lnTo>
                <a:lnTo>
                  <a:pt x="82030" y="388995"/>
                </a:lnTo>
                <a:lnTo>
                  <a:pt x="122694" y="414788"/>
                </a:lnTo>
                <a:lnTo>
                  <a:pt x="168792" y="431227"/>
                </a:lnTo>
                <a:lnTo>
                  <a:pt x="219007" y="436997"/>
                </a:lnTo>
                <a:close/>
              </a:path>
            </a:pathLst>
          </a:custGeom>
          <a:solidFill>
            <a:srgbClr val="FDFF95"/>
          </a:solidFill>
          <a:ln w="111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904018" y="4113005"/>
            <a:ext cx="254000" cy="284480"/>
          </a:xfrm>
          <a:prstGeom prst="rect">
            <a:avLst/>
          </a:prstGeom>
          <a:solidFill>
            <a:srgbClr val="FDFF95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Nr</a:t>
            </a:r>
            <a:endParaRPr sz="17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49982" y="4604507"/>
            <a:ext cx="1095375" cy="437515"/>
          </a:xfrm>
          <a:custGeom>
            <a:avLst/>
            <a:gdLst/>
            <a:ahLst/>
            <a:cxnLst/>
            <a:rect l="l" t="t" r="r" b="b"/>
            <a:pathLst>
              <a:path w="1095375" h="437514">
                <a:moveTo>
                  <a:pt x="219023" y="436994"/>
                </a:moveTo>
                <a:lnTo>
                  <a:pt x="875985" y="436994"/>
                </a:lnTo>
                <a:lnTo>
                  <a:pt x="926219" y="431224"/>
                </a:lnTo>
                <a:lnTo>
                  <a:pt x="972337" y="414786"/>
                </a:lnTo>
                <a:lnTo>
                  <a:pt x="1013021" y="388994"/>
                </a:lnTo>
                <a:lnTo>
                  <a:pt x="1046957" y="355158"/>
                </a:lnTo>
                <a:lnTo>
                  <a:pt x="1072826" y="314590"/>
                </a:lnTo>
                <a:lnTo>
                  <a:pt x="1089313" y="268602"/>
                </a:lnTo>
                <a:lnTo>
                  <a:pt x="1095101" y="218506"/>
                </a:lnTo>
                <a:lnTo>
                  <a:pt x="1089313" y="168405"/>
                </a:lnTo>
                <a:lnTo>
                  <a:pt x="1072826" y="122413"/>
                </a:lnTo>
                <a:lnTo>
                  <a:pt x="1046957" y="81842"/>
                </a:lnTo>
                <a:lnTo>
                  <a:pt x="1013021" y="48003"/>
                </a:lnTo>
                <a:lnTo>
                  <a:pt x="972337" y="22209"/>
                </a:lnTo>
                <a:lnTo>
                  <a:pt x="926219" y="5770"/>
                </a:lnTo>
                <a:lnTo>
                  <a:pt x="875985" y="0"/>
                </a:lnTo>
                <a:lnTo>
                  <a:pt x="219023" y="0"/>
                </a:lnTo>
                <a:lnTo>
                  <a:pt x="168803" y="5770"/>
                </a:lnTo>
                <a:lnTo>
                  <a:pt x="122702" y="22209"/>
                </a:lnTo>
                <a:lnTo>
                  <a:pt x="82035" y="48003"/>
                </a:lnTo>
                <a:lnTo>
                  <a:pt x="48117" y="81842"/>
                </a:lnTo>
                <a:lnTo>
                  <a:pt x="22262" y="122413"/>
                </a:lnTo>
                <a:lnTo>
                  <a:pt x="5784" y="168405"/>
                </a:lnTo>
                <a:lnTo>
                  <a:pt x="0" y="218506"/>
                </a:lnTo>
                <a:lnTo>
                  <a:pt x="5784" y="268602"/>
                </a:lnTo>
                <a:lnTo>
                  <a:pt x="22262" y="314590"/>
                </a:lnTo>
                <a:lnTo>
                  <a:pt x="48117" y="355158"/>
                </a:lnTo>
                <a:lnTo>
                  <a:pt x="82035" y="388994"/>
                </a:lnTo>
                <a:lnTo>
                  <a:pt x="122702" y="414786"/>
                </a:lnTo>
                <a:lnTo>
                  <a:pt x="168803" y="431224"/>
                </a:lnTo>
                <a:lnTo>
                  <a:pt x="219023" y="436994"/>
                </a:lnTo>
                <a:close/>
              </a:path>
            </a:pathLst>
          </a:custGeom>
          <a:solidFill>
            <a:srgbClr val="FDFF95"/>
          </a:solidFill>
          <a:ln w="111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496157" y="4659241"/>
            <a:ext cx="602615" cy="284480"/>
          </a:xfrm>
          <a:prstGeom prst="rect">
            <a:avLst/>
          </a:prstGeom>
          <a:solidFill>
            <a:srgbClr val="FDFF95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Name</a:t>
            </a:r>
          </a:p>
        </p:txBody>
      </p:sp>
      <p:sp>
        <p:nvSpPr>
          <p:cNvPr id="19" name="object 19"/>
          <p:cNvSpPr/>
          <p:nvPr/>
        </p:nvSpPr>
        <p:spPr>
          <a:xfrm>
            <a:off x="9356725" y="4058271"/>
            <a:ext cx="1095375" cy="437515"/>
          </a:xfrm>
          <a:custGeom>
            <a:avLst/>
            <a:gdLst/>
            <a:ahLst/>
            <a:cxnLst/>
            <a:rect l="l" t="t" r="r" b="b"/>
            <a:pathLst>
              <a:path w="1095375" h="437514">
                <a:moveTo>
                  <a:pt x="218961" y="436997"/>
                </a:moveTo>
                <a:lnTo>
                  <a:pt x="876000" y="436997"/>
                </a:lnTo>
                <a:lnTo>
                  <a:pt x="926226" y="431227"/>
                </a:lnTo>
                <a:lnTo>
                  <a:pt x="972322" y="414788"/>
                </a:lnTo>
                <a:lnTo>
                  <a:pt x="1012976" y="388995"/>
                </a:lnTo>
                <a:lnTo>
                  <a:pt x="1046878" y="355158"/>
                </a:lnTo>
                <a:lnTo>
                  <a:pt x="1072717" y="314590"/>
                </a:lnTo>
                <a:lnTo>
                  <a:pt x="1089182" y="268602"/>
                </a:lnTo>
                <a:lnTo>
                  <a:pt x="1094962" y="218506"/>
                </a:lnTo>
                <a:lnTo>
                  <a:pt x="1089182" y="168405"/>
                </a:lnTo>
                <a:lnTo>
                  <a:pt x="1072717" y="122413"/>
                </a:lnTo>
                <a:lnTo>
                  <a:pt x="1046878" y="81842"/>
                </a:lnTo>
                <a:lnTo>
                  <a:pt x="1012976" y="48003"/>
                </a:lnTo>
                <a:lnTo>
                  <a:pt x="972322" y="22209"/>
                </a:lnTo>
                <a:lnTo>
                  <a:pt x="926226" y="5770"/>
                </a:lnTo>
                <a:lnTo>
                  <a:pt x="876000" y="0"/>
                </a:lnTo>
                <a:lnTo>
                  <a:pt x="218961" y="0"/>
                </a:lnTo>
                <a:lnTo>
                  <a:pt x="168735" y="5770"/>
                </a:lnTo>
                <a:lnTo>
                  <a:pt x="122639" y="22209"/>
                </a:lnTo>
                <a:lnTo>
                  <a:pt x="81985" y="48003"/>
                </a:lnTo>
                <a:lnTo>
                  <a:pt x="48083" y="81842"/>
                </a:lnTo>
                <a:lnTo>
                  <a:pt x="22244" y="122413"/>
                </a:lnTo>
                <a:lnTo>
                  <a:pt x="5779" y="168405"/>
                </a:lnTo>
                <a:lnTo>
                  <a:pt x="0" y="218506"/>
                </a:lnTo>
                <a:lnTo>
                  <a:pt x="5779" y="268602"/>
                </a:lnTo>
                <a:lnTo>
                  <a:pt x="22244" y="314590"/>
                </a:lnTo>
                <a:lnTo>
                  <a:pt x="48083" y="355158"/>
                </a:lnTo>
                <a:lnTo>
                  <a:pt x="81985" y="388995"/>
                </a:lnTo>
                <a:lnTo>
                  <a:pt x="122639" y="414788"/>
                </a:lnTo>
                <a:lnTo>
                  <a:pt x="168735" y="431227"/>
                </a:lnTo>
                <a:lnTo>
                  <a:pt x="218961" y="436997"/>
                </a:lnTo>
                <a:close/>
              </a:path>
            </a:pathLst>
          </a:custGeom>
          <a:solidFill>
            <a:srgbClr val="FDFF95"/>
          </a:solidFill>
          <a:ln w="111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853117" y="4604507"/>
            <a:ext cx="1095375" cy="437515"/>
          </a:xfrm>
          <a:custGeom>
            <a:avLst/>
            <a:gdLst/>
            <a:ahLst/>
            <a:cxnLst/>
            <a:rect l="l" t="t" r="r" b="b"/>
            <a:pathLst>
              <a:path w="1095375" h="437514">
                <a:moveTo>
                  <a:pt x="219116" y="436994"/>
                </a:moveTo>
                <a:lnTo>
                  <a:pt x="876155" y="436994"/>
                </a:lnTo>
                <a:lnTo>
                  <a:pt x="926332" y="431224"/>
                </a:lnTo>
                <a:lnTo>
                  <a:pt x="972409" y="414786"/>
                </a:lnTo>
                <a:lnTo>
                  <a:pt x="1013066" y="388994"/>
                </a:lnTo>
                <a:lnTo>
                  <a:pt x="1046984" y="355158"/>
                </a:lnTo>
                <a:lnTo>
                  <a:pt x="1072845" y="314590"/>
                </a:lnTo>
                <a:lnTo>
                  <a:pt x="1089328" y="268602"/>
                </a:lnTo>
                <a:lnTo>
                  <a:pt x="1095116" y="218506"/>
                </a:lnTo>
                <a:lnTo>
                  <a:pt x="1089328" y="168405"/>
                </a:lnTo>
                <a:lnTo>
                  <a:pt x="1072845" y="122413"/>
                </a:lnTo>
                <a:lnTo>
                  <a:pt x="1046984" y="81842"/>
                </a:lnTo>
                <a:lnTo>
                  <a:pt x="1013066" y="48003"/>
                </a:lnTo>
                <a:lnTo>
                  <a:pt x="972409" y="22209"/>
                </a:lnTo>
                <a:lnTo>
                  <a:pt x="926332" y="5770"/>
                </a:lnTo>
                <a:lnTo>
                  <a:pt x="876155" y="0"/>
                </a:lnTo>
                <a:lnTo>
                  <a:pt x="219116" y="0"/>
                </a:lnTo>
                <a:lnTo>
                  <a:pt x="168881" y="5770"/>
                </a:lnTo>
                <a:lnTo>
                  <a:pt x="122763" y="22209"/>
                </a:lnTo>
                <a:lnTo>
                  <a:pt x="82079" y="48003"/>
                </a:lnTo>
                <a:lnTo>
                  <a:pt x="48144" y="81842"/>
                </a:lnTo>
                <a:lnTo>
                  <a:pt x="22274" y="122413"/>
                </a:lnTo>
                <a:lnTo>
                  <a:pt x="5788" y="168405"/>
                </a:lnTo>
                <a:lnTo>
                  <a:pt x="0" y="218506"/>
                </a:lnTo>
                <a:lnTo>
                  <a:pt x="5788" y="268602"/>
                </a:lnTo>
                <a:lnTo>
                  <a:pt x="22274" y="314590"/>
                </a:lnTo>
                <a:lnTo>
                  <a:pt x="48144" y="355158"/>
                </a:lnTo>
                <a:lnTo>
                  <a:pt x="82079" y="388994"/>
                </a:lnTo>
                <a:lnTo>
                  <a:pt x="122763" y="414786"/>
                </a:lnTo>
                <a:lnTo>
                  <a:pt x="168881" y="431224"/>
                </a:lnTo>
                <a:lnTo>
                  <a:pt x="219116" y="436994"/>
                </a:lnTo>
                <a:close/>
              </a:path>
            </a:pathLst>
          </a:custGeom>
          <a:solidFill>
            <a:srgbClr val="FDFF95"/>
          </a:solidFill>
          <a:ln w="111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213594" y="4659241"/>
            <a:ext cx="374015" cy="284480"/>
          </a:xfrm>
          <a:prstGeom prst="rect">
            <a:avLst/>
          </a:prstGeom>
          <a:solidFill>
            <a:srgbClr val="FDFF95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EW</a:t>
            </a:r>
            <a:endParaRPr sz="17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030974" y="3621288"/>
            <a:ext cx="1062355" cy="983615"/>
          </a:xfrm>
          <a:custGeom>
            <a:avLst/>
            <a:gdLst/>
            <a:ahLst/>
            <a:cxnLst/>
            <a:rect l="l" t="t" r="r" b="b"/>
            <a:pathLst>
              <a:path w="1062355" h="983614">
                <a:moveTo>
                  <a:pt x="766535" y="983218"/>
                </a:moveTo>
                <a:lnTo>
                  <a:pt x="1062233" y="0"/>
                </a:lnTo>
                <a:lnTo>
                  <a:pt x="0" y="436982"/>
                </a:lnTo>
              </a:path>
            </a:pathLst>
          </a:custGeom>
          <a:ln w="111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400752" y="3621288"/>
            <a:ext cx="624205" cy="437515"/>
          </a:xfrm>
          <a:custGeom>
            <a:avLst/>
            <a:gdLst/>
            <a:ahLst/>
            <a:cxnLst/>
            <a:rect l="l" t="t" r="r" b="b"/>
            <a:pathLst>
              <a:path w="624204" h="437514">
                <a:moveTo>
                  <a:pt x="0" y="0"/>
                </a:moveTo>
                <a:lnTo>
                  <a:pt x="624125" y="436982"/>
                </a:lnTo>
              </a:path>
            </a:pathLst>
          </a:custGeom>
          <a:ln w="111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921304" y="2719690"/>
            <a:ext cx="1460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08802" y="3856637"/>
            <a:ext cx="1822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N</a:t>
            </a:r>
            <a:endParaRPr sz="17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73262" y="2719690"/>
            <a:ext cx="1460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6718300" y="3135051"/>
          <a:ext cx="3569334" cy="1463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0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029">
                <a:tc>
                  <a:txBody>
                    <a:bodyPr/>
                    <a:lstStyle/>
                    <a:p>
                      <a:pPr marL="436880" algn="ctr">
                        <a:lnSpc>
                          <a:spcPts val="1789"/>
                        </a:lnSpc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1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Bundesländer</a:t>
                      </a: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 gridSpan="2"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1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8382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  <a:p>
                      <a:pPr marL="340995">
                        <a:lnSpc>
                          <a:spcPct val="100000"/>
                        </a:lnSpc>
                      </a:pPr>
                      <a:endParaRPr lang="en-GB" sz="1550" u="none" dirty="0">
                        <a:uFillTx/>
                        <a:latin typeface="Times New Roman"/>
                        <a:cs typeface="Times New Roman"/>
                      </a:endParaRPr>
                    </a:p>
                    <a:p>
                      <a:pPr marL="340995">
                        <a:lnSpc>
                          <a:spcPct val="100000"/>
                        </a:lnSpc>
                      </a:pPr>
                      <a:r>
                        <a:rPr sz="17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Name</a:t>
                      </a:r>
                      <a:endParaRPr sz="17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object 28"/>
          <p:cNvSpPr txBox="1"/>
          <p:nvPr/>
        </p:nvSpPr>
        <p:spPr>
          <a:xfrm>
            <a:off x="4562091" y="3124669"/>
            <a:ext cx="1822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N</a:t>
            </a:r>
            <a:endParaRPr sz="1700">
              <a:latin typeface="Arial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12900" y="5542962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rgbClr val="800000"/>
                </a:solidFill>
              </a:rPr>
              <a:t>Wir</a:t>
            </a:r>
            <a:r>
              <a:rPr lang="en-GB" dirty="0">
                <a:solidFill>
                  <a:srgbClr val="800000"/>
                </a:solidFill>
              </a:rPr>
              <a:t> </a:t>
            </a:r>
            <a:r>
              <a:rPr lang="en-GB" dirty="0" err="1">
                <a:solidFill>
                  <a:srgbClr val="800000"/>
                </a:solidFill>
              </a:rPr>
              <a:t>wenden</a:t>
            </a:r>
            <a:r>
              <a:rPr lang="en-GB" dirty="0">
                <a:solidFill>
                  <a:srgbClr val="800000"/>
                </a:solidFill>
              </a:rPr>
              <a:t> </a:t>
            </a:r>
            <a:r>
              <a:rPr lang="en-GB" dirty="0" err="1">
                <a:solidFill>
                  <a:srgbClr val="800000"/>
                </a:solidFill>
              </a:rPr>
              <a:t>unsere</a:t>
            </a:r>
            <a:r>
              <a:rPr lang="en-GB" dirty="0">
                <a:solidFill>
                  <a:srgbClr val="800000"/>
                </a:solidFill>
              </a:rPr>
              <a:t> </a:t>
            </a:r>
            <a:r>
              <a:rPr lang="en-GB" dirty="0" err="1">
                <a:solidFill>
                  <a:srgbClr val="800000"/>
                </a:solidFill>
              </a:rPr>
              <a:t>Verfeinerungsmethode</a:t>
            </a:r>
            <a:r>
              <a:rPr lang="en-GB" dirty="0">
                <a:solidFill>
                  <a:srgbClr val="800000"/>
                </a:solidFill>
              </a:rPr>
              <a:t> an </a:t>
            </a:r>
            <a:r>
              <a:rPr lang="mr-IN" dirty="0">
                <a:solidFill>
                  <a:srgbClr val="800000"/>
                </a:solidFill>
              </a:rPr>
              <a:t>…</a:t>
            </a:r>
            <a:endParaRPr lang="en-US" dirty="0">
              <a:solidFill>
                <a:srgbClr val="800000"/>
              </a:solidFill>
            </a:endParaRPr>
          </a:p>
        </p:txBody>
      </p:sp>
      <p:sp>
        <p:nvSpPr>
          <p:cNvPr id="31" name="object 68">
            <a:extLst>
              <a:ext uri="{FF2B5EF4-FFF2-40B4-BE49-F238E27FC236}">
                <a16:creationId xmlns:a16="http://schemas.microsoft.com/office/drawing/2014/main" id="{9252E08F-89EA-B0B9-5A10-3A0C02BCD59C}"/>
              </a:ext>
            </a:extLst>
          </p:cNvPr>
          <p:cNvSpPr txBox="1">
            <a:spLocks/>
          </p:cNvSpPr>
          <p:nvPr/>
        </p:nvSpPr>
        <p:spPr>
          <a:xfrm>
            <a:off x="923236" y="825104"/>
            <a:ext cx="6252264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dirty="0" err="1"/>
              <a:t>Wiederholung</a:t>
            </a:r>
            <a:r>
              <a:rPr lang="en-GB" spc="-10" dirty="0"/>
              <a:t> - </a:t>
            </a:r>
            <a:r>
              <a:rPr lang="en-GB" spc="-10" dirty="0" err="1"/>
              <a:t>Vermeidung</a:t>
            </a:r>
            <a:r>
              <a:rPr lang="en-GB" spc="-10" dirty="0"/>
              <a:t> von Null-</a:t>
            </a:r>
            <a:r>
              <a:rPr lang="en-GB" spc="-10" dirty="0" err="1"/>
              <a:t>Werten</a:t>
            </a:r>
            <a:endParaRPr lang="en-GB"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31900" y="1035050"/>
            <a:ext cx="9144000" cy="51054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3" y="0"/>
                </a:lnTo>
                <a:lnTo>
                  <a:pt x="9144003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1275448E-F5BC-BEB6-7A86-A00AD2D7BDC9}"/>
              </a:ext>
            </a:extLst>
          </p:cNvPr>
          <p:cNvSpPr/>
          <p:nvPr/>
        </p:nvSpPr>
        <p:spPr>
          <a:xfrm>
            <a:off x="1231900" y="1180550"/>
            <a:ext cx="9144000" cy="53409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3" y="0"/>
                </a:lnTo>
                <a:lnTo>
                  <a:pt x="9144003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33">
            <a:extLst>
              <a:ext uri="{FF2B5EF4-FFF2-40B4-BE49-F238E27FC236}">
                <a16:creationId xmlns:a16="http://schemas.microsoft.com/office/drawing/2014/main" id="{A16B7D51-8011-3010-D6A2-5FFC9CC692CF}"/>
              </a:ext>
            </a:extLst>
          </p:cNvPr>
          <p:cNvSpPr/>
          <p:nvPr/>
        </p:nvSpPr>
        <p:spPr>
          <a:xfrm>
            <a:off x="317500" y="3294064"/>
            <a:ext cx="9144000" cy="34559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34">
            <a:extLst>
              <a:ext uri="{FF2B5EF4-FFF2-40B4-BE49-F238E27FC236}">
                <a16:creationId xmlns:a16="http://schemas.microsoft.com/office/drawing/2014/main" id="{F71047E4-CB3E-84CA-C625-3120CC834B0B}"/>
              </a:ext>
            </a:extLst>
          </p:cNvPr>
          <p:cNvSpPr/>
          <p:nvPr/>
        </p:nvSpPr>
        <p:spPr>
          <a:xfrm>
            <a:off x="1739718" y="4647021"/>
            <a:ext cx="498475" cy="296545"/>
          </a:xfrm>
          <a:custGeom>
            <a:avLst/>
            <a:gdLst/>
            <a:ahLst/>
            <a:cxnLst/>
            <a:rect l="l" t="t" r="r" b="b"/>
            <a:pathLst>
              <a:path w="498475" h="296545">
                <a:moveTo>
                  <a:pt x="8255" y="202500"/>
                </a:moveTo>
                <a:lnTo>
                  <a:pt x="15706" y="204279"/>
                </a:lnTo>
                <a:lnTo>
                  <a:pt x="19510" y="206193"/>
                </a:lnTo>
                <a:lnTo>
                  <a:pt x="22639" y="207972"/>
                </a:lnTo>
                <a:lnTo>
                  <a:pt x="28064" y="209346"/>
                </a:lnTo>
                <a:lnTo>
                  <a:pt x="43010" y="210607"/>
                </a:lnTo>
                <a:lnTo>
                  <a:pt x="57957" y="209706"/>
                </a:lnTo>
                <a:lnTo>
                  <a:pt x="72633" y="206914"/>
                </a:lnTo>
                <a:lnTo>
                  <a:pt x="86769" y="202500"/>
                </a:lnTo>
                <a:lnTo>
                  <a:pt x="94828" y="198446"/>
                </a:lnTo>
                <a:lnTo>
                  <a:pt x="100995" y="196014"/>
                </a:lnTo>
                <a:lnTo>
                  <a:pt x="106623" y="195203"/>
                </a:lnTo>
                <a:lnTo>
                  <a:pt x="113060" y="196014"/>
                </a:lnTo>
                <a:lnTo>
                  <a:pt x="111890" y="186229"/>
                </a:lnTo>
                <a:lnTo>
                  <a:pt x="109909" y="174755"/>
                </a:lnTo>
                <a:lnTo>
                  <a:pt x="106172" y="164092"/>
                </a:lnTo>
                <a:lnTo>
                  <a:pt x="99735" y="156739"/>
                </a:lnTo>
                <a:lnTo>
                  <a:pt x="83168" y="152792"/>
                </a:lnTo>
                <a:lnTo>
                  <a:pt x="60928" y="153541"/>
                </a:lnTo>
                <a:lnTo>
                  <a:pt x="22233" y="171388"/>
                </a:lnTo>
                <a:lnTo>
                  <a:pt x="3747" y="207876"/>
                </a:lnTo>
                <a:lnTo>
                  <a:pt x="0" y="235384"/>
                </a:lnTo>
                <a:lnTo>
                  <a:pt x="1772" y="248260"/>
                </a:lnTo>
                <a:lnTo>
                  <a:pt x="44569" y="277345"/>
                </a:lnTo>
                <a:lnTo>
                  <a:pt x="79228" y="282772"/>
                </a:lnTo>
                <a:lnTo>
                  <a:pt x="100545" y="282671"/>
                </a:lnTo>
                <a:lnTo>
                  <a:pt x="138992" y="274564"/>
                </a:lnTo>
                <a:lnTo>
                  <a:pt x="173117" y="250062"/>
                </a:lnTo>
                <a:lnTo>
                  <a:pt x="188727" y="235750"/>
                </a:lnTo>
                <a:lnTo>
                  <a:pt x="204540" y="222317"/>
                </a:lnTo>
                <a:lnTo>
                  <a:pt x="221710" y="210353"/>
                </a:lnTo>
                <a:lnTo>
                  <a:pt x="233848" y="201193"/>
                </a:lnTo>
                <a:lnTo>
                  <a:pt x="241057" y="189534"/>
                </a:lnTo>
                <a:lnTo>
                  <a:pt x="243437" y="170071"/>
                </a:lnTo>
                <a:lnTo>
                  <a:pt x="243437" y="161553"/>
                </a:lnTo>
                <a:lnTo>
                  <a:pt x="243437" y="155162"/>
                </a:lnTo>
                <a:lnTo>
                  <a:pt x="243437" y="149651"/>
                </a:lnTo>
                <a:lnTo>
                  <a:pt x="243437" y="143767"/>
                </a:lnTo>
                <a:lnTo>
                  <a:pt x="234675" y="142247"/>
                </a:lnTo>
                <a:lnTo>
                  <a:pt x="227365" y="140254"/>
                </a:lnTo>
                <a:lnTo>
                  <a:pt x="219988" y="138396"/>
                </a:lnTo>
                <a:lnTo>
                  <a:pt x="211023" y="137282"/>
                </a:lnTo>
                <a:lnTo>
                  <a:pt x="200382" y="138042"/>
                </a:lnTo>
                <a:lnTo>
                  <a:pt x="195041" y="141741"/>
                </a:lnTo>
                <a:lnTo>
                  <a:pt x="191119" y="148074"/>
                </a:lnTo>
                <a:lnTo>
                  <a:pt x="184732" y="156739"/>
                </a:lnTo>
                <a:lnTo>
                  <a:pt x="171412" y="171799"/>
                </a:lnTo>
                <a:lnTo>
                  <a:pt x="163527" y="183718"/>
                </a:lnTo>
                <a:lnTo>
                  <a:pt x="159762" y="196920"/>
                </a:lnTo>
                <a:lnTo>
                  <a:pt x="158800" y="215831"/>
                </a:lnTo>
                <a:lnTo>
                  <a:pt x="160066" y="228454"/>
                </a:lnTo>
                <a:lnTo>
                  <a:pt x="185447" y="267318"/>
                </a:lnTo>
                <a:lnTo>
                  <a:pt x="211023" y="274564"/>
                </a:lnTo>
                <a:lnTo>
                  <a:pt x="236915" y="273089"/>
                </a:lnTo>
                <a:lnTo>
                  <a:pt x="284107" y="253789"/>
                </a:lnTo>
                <a:lnTo>
                  <a:pt x="317905" y="213996"/>
                </a:lnTo>
                <a:lnTo>
                  <a:pt x="345198" y="168303"/>
                </a:lnTo>
                <a:lnTo>
                  <a:pt x="363387" y="116242"/>
                </a:lnTo>
                <a:lnTo>
                  <a:pt x="373009" y="60922"/>
                </a:lnTo>
                <a:lnTo>
                  <a:pt x="367691" y="32789"/>
                </a:lnTo>
                <a:lnTo>
                  <a:pt x="362064" y="21281"/>
                </a:lnTo>
                <a:lnTo>
                  <a:pt x="354546" y="12070"/>
                </a:lnTo>
                <a:lnTo>
                  <a:pt x="345407" y="5021"/>
                </a:lnTo>
                <a:lnTo>
                  <a:pt x="334917" y="0"/>
                </a:lnTo>
                <a:lnTo>
                  <a:pt x="332756" y="0"/>
                </a:lnTo>
                <a:lnTo>
                  <a:pt x="330595" y="0"/>
                </a:lnTo>
                <a:lnTo>
                  <a:pt x="328434" y="0"/>
                </a:lnTo>
                <a:lnTo>
                  <a:pt x="328485" y="42889"/>
                </a:lnTo>
                <a:lnTo>
                  <a:pt x="328029" y="85576"/>
                </a:lnTo>
                <a:lnTo>
                  <a:pt x="326155" y="127992"/>
                </a:lnTo>
                <a:lnTo>
                  <a:pt x="321952" y="170071"/>
                </a:lnTo>
                <a:lnTo>
                  <a:pt x="320128" y="188216"/>
                </a:lnTo>
                <a:lnTo>
                  <a:pt x="318980" y="206328"/>
                </a:lnTo>
                <a:lnTo>
                  <a:pt x="317698" y="224237"/>
                </a:lnTo>
                <a:lnTo>
                  <a:pt x="315469" y="241775"/>
                </a:lnTo>
                <a:lnTo>
                  <a:pt x="314000" y="253536"/>
                </a:lnTo>
                <a:lnTo>
                  <a:pt x="312903" y="264790"/>
                </a:lnTo>
                <a:lnTo>
                  <a:pt x="311468" y="275977"/>
                </a:lnTo>
                <a:lnTo>
                  <a:pt x="308986" y="287535"/>
                </a:lnTo>
                <a:lnTo>
                  <a:pt x="308986" y="294021"/>
                </a:lnTo>
                <a:lnTo>
                  <a:pt x="308986" y="296183"/>
                </a:lnTo>
                <a:lnTo>
                  <a:pt x="308986" y="287535"/>
                </a:lnTo>
                <a:lnTo>
                  <a:pt x="320539" y="259909"/>
                </a:lnTo>
                <a:lnTo>
                  <a:pt x="351884" y="210061"/>
                </a:lnTo>
                <a:lnTo>
                  <a:pt x="386842" y="181269"/>
                </a:lnTo>
                <a:lnTo>
                  <a:pt x="419914" y="170071"/>
                </a:lnTo>
                <a:lnTo>
                  <a:pt x="419053" y="186798"/>
                </a:lnTo>
                <a:lnTo>
                  <a:pt x="417078" y="202815"/>
                </a:lnTo>
                <a:lnTo>
                  <a:pt x="414900" y="218765"/>
                </a:lnTo>
                <a:lnTo>
                  <a:pt x="413432" y="235289"/>
                </a:lnTo>
                <a:lnTo>
                  <a:pt x="412621" y="248013"/>
                </a:lnTo>
                <a:lnTo>
                  <a:pt x="412891" y="258709"/>
                </a:lnTo>
                <a:lnTo>
                  <a:pt x="416673" y="267515"/>
                </a:lnTo>
                <a:lnTo>
                  <a:pt x="426397" y="274564"/>
                </a:lnTo>
                <a:lnTo>
                  <a:pt x="441197" y="279580"/>
                </a:lnTo>
                <a:lnTo>
                  <a:pt x="458631" y="282536"/>
                </a:lnTo>
                <a:lnTo>
                  <a:pt x="476335" y="283127"/>
                </a:lnTo>
                <a:lnTo>
                  <a:pt x="491946" y="281050"/>
                </a:lnTo>
                <a:lnTo>
                  <a:pt x="494107" y="278888"/>
                </a:lnTo>
                <a:lnTo>
                  <a:pt x="496268" y="276726"/>
                </a:lnTo>
                <a:lnTo>
                  <a:pt x="498428" y="274564"/>
                </a:lnTo>
              </a:path>
            </a:pathLst>
          </a:custGeom>
          <a:ln w="19049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35">
            <a:extLst>
              <a:ext uri="{FF2B5EF4-FFF2-40B4-BE49-F238E27FC236}">
                <a16:creationId xmlns:a16="http://schemas.microsoft.com/office/drawing/2014/main" id="{6B409081-BDC4-9AEB-B614-A30B0BB492F5}"/>
              </a:ext>
            </a:extLst>
          </p:cNvPr>
          <p:cNvSpPr/>
          <p:nvPr/>
        </p:nvSpPr>
        <p:spPr>
          <a:xfrm>
            <a:off x="2256791" y="4627294"/>
            <a:ext cx="543560" cy="431800"/>
          </a:xfrm>
          <a:custGeom>
            <a:avLst/>
            <a:gdLst/>
            <a:ahLst/>
            <a:cxnLst/>
            <a:rect l="l" t="t" r="r" b="b"/>
            <a:pathLst>
              <a:path w="543560" h="431800">
                <a:moveTo>
                  <a:pt x="72836" y="183313"/>
                </a:moveTo>
                <a:lnTo>
                  <a:pt x="63917" y="179968"/>
                </a:lnTo>
                <a:lnTo>
                  <a:pt x="58204" y="177097"/>
                </a:lnTo>
                <a:lnTo>
                  <a:pt x="51614" y="177334"/>
                </a:lnTo>
                <a:lnTo>
                  <a:pt x="12194" y="211733"/>
                </a:lnTo>
                <a:lnTo>
                  <a:pt x="804" y="248530"/>
                </a:lnTo>
                <a:lnTo>
                  <a:pt x="0" y="269615"/>
                </a:lnTo>
                <a:lnTo>
                  <a:pt x="3010" y="284788"/>
                </a:lnTo>
                <a:lnTo>
                  <a:pt x="13111" y="294894"/>
                </a:lnTo>
                <a:lnTo>
                  <a:pt x="33578" y="300777"/>
                </a:lnTo>
                <a:lnTo>
                  <a:pt x="54400" y="299505"/>
                </a:lnTo>
                <a:lnTo>
                  <a:pt x="64822" y="289247"/>
                </a:lnTo>
                <a:lnTo>
                  <a:pt x="69437" y="273314"/>
                </a:lnTo>
                <a:lnTo>
                  <a:pt x="72836" y="255016"/>
                </a:lnTo>
                <a:lnTo>
                  <a:pt x="76533" y="237986"/>
                </a:lnTo>
                <a:lnTo>
                  <a:pt x="77833" y="224704"/>
                </a:lnTo>
                <a:lnTo>
                  <a:pt x="76634" y="211896"/>
                </a:lnTo>
                <a:lnTo>
                  <a:pt x="72836" y="196285"/>
                </a:lnTo>
                <a:lnTo>
                  <a:pt x="67073" y="190519"/>
                </a:lnTo>
                <a:lnTo>
                  <a:pt x="64912" y="189078"/>
                </a:lnTo>
                <a:lnTo>
                  <a:pt x="66353" y="183313"/>
                </a:lnTo>
                <a:lnTo>
                  <a:pt x="126004" y="182457"/>
                </a:lnTo>
                <a:lnTo>
                  <a:pt x="183764" y="157010"/>
                </a:lnTo>
                <a:lnTo>
                  <a:pt x="220995" y="104222"/>
                </a:lnTo>
                <a:lnTo>
                  <a:pt x="237298" y="73201"/>
                </a:lnTo>
                <a:lnTo>
                  <a:pt x="255795" y="46031"/>
                </a:lnTo>
                <a:lnTo>
                  <a:pt x="268305" y="31128"/>
                </a:lnTo>
                <a:lnTo>
                  <a:pt x="272408" y="23826"/>
                </a:lnTo>
                <a:lnTo>
                  <a:pt x="273066" y="16186"/>
                </a:lnTo>
                <a:lnTo>
                  <a:pt x="275244" y="270"/>
                </a:lnTo>
                <a:lnTo>
                  <a:pt x="260196" y="472"/>
                </a:lnTo>
                <a:lnTo>
                  <a:pt x="246702" y="0"/>
                </a:lnTo>
                <a:lnTo>
                  <a:pt x="234423" y="2905"/>
                </a:lnTo>
                <a:lnTo>
                  <a:pt x="223021" y="13241"/>
                </a:lnTo>
                <a:lnTo>
                  <a:pt x="209549" y="43255"/>
                </a:lnTo>
                <a:lnTo>
                  <a:pt x="204653" y="77153"/>
                </a:lnTo>
                <a:lnTo>
                  <a:pt x="202459" y="111795"/>
                </a:lnTo>
                <a:lnTo>
                  <a:pt x="197090" y="144038"/>
                </a:lnTo>
                <a:lnTo>
                  <a:pt x="179352" y="205472"/>
                </a:lnTo>
                <a:lnTo>
                  <a:pt x="164316" y="267987"/>
                </a:lnTo>
                <a:lnTo>
                  <a:pt x="150629" y="336629"/>
                </a:lnTo>
                <a:lnTo>
                  <a:pt x="138024" y="405270"/>
                </a:lnTo>
                <a:lnTo>
                  <a:pt x="136403" y="413129"/>
                </a:lnTo>
                <a:lnTo>
                  <a:pt x="134783" y="418421"/>
                </a:lnTo>
                <a:lnTo>
                  <a:pt x="133162" y="423714"/>
                </a:lnTo>
                <a:lnTo>
                  <a:pt x="131541" y="431573"/>
                </a:lnTo>
                <a:lnTo>
                  <a:pt x="141474" y="396594"/>
                </a:lnTo>
                <a:lnTo>
                  <a:pt x="151035" y="360906"/>
                </a:lnTo>
                <a:lnTo>
                  <a:pt x="159043" y="324609"/>
                </a:lnTo>
                <a:lnTo>
                  <a:pt x="164316" y="287805"/>
                </a:lnTo>
                <a:lnTo>
                  <a:pt x="165075" y="271630"/>
                </a:lnTo>
                <a:lnTo>
                  <a:pt x="164991" y="255151"/>
                </a:lnTo>
                <a:lnTo>
                  <a:pt x="164569" y="238605"/>
                </a:lnTo>
                <a:lnTo>
                  <a:pt x="164316" y="222227"/>
                </a:lnTo>
                <a:lnTo>
                  <a:pt x="165784" y="229529"/>
                </a:lnTo>
                <a:lnTo>
                  <a:pt x="165531" y="233352"/>
                </a:lnTo>
                <a:lnTo>
                  <a:pt x="166291" y="236566"/>
                </a:lnTo>
                <a:lnTo>
                  <a:pt x="200021" y="263428"/>
                </a:lnTo>
                <a:lnTo>
                  <a:pt x="253364" y="272582"/>
                </a:lnTo>
                <a:lnTo>
                  <a:pt x="295053" y="255016"/>
                </a:lnTo>
                <a:lnTo>
                  <a:pt x="316628" y="210072"/>
                </a:lnTo>
                <a:lnTo>
                  <a:pt x="307613" y="171107"/>
                </a:lnTo>
                <a:lnTo>
                  <a:pt x="295053" y="163495"/>
                </a:lnTo>
                <a:lnTo>
                  <a:pt x="271744" y="179720"/>
                </a:lnTo>
                <a:lnTo>
                  <a:pt x="241063" y="215280"/>
                </a:lnTo>
                <a:lnTo>
                  <a:pt x="223882" y="258974"/>
                </a:lnTo>
                <a:lnTo>
                  <a:pt x="216538" y="307262"/>
                </a:lnTo>
                <a:lnTo>
                  <a:pt x="257821" y="320414"/>
                </a:lnTo>
                <a:lnTo>
                  <a:pt x="279290" y="323376"/>
                </a:lnTo>
                <a:lnTo>
                  <a:pt x="301535" y="320594"/>
                </a:lnTo>
                <a:lnTo>
                  <a:pt x="322914" y="310753"/>
                </a:lnTo>
                <a:lnTo>
                  <a:pt x="337776" y="297264"/>
                </a:lnTo>
                <a:lnTo>
                  <a:pt x="350815" y="282288"/>
                </a:lnTo>
                <a:lnTo>
                  <a:pt x="366724" y="267987"/>
                </a:lnTo>
                <a:lnTo>
                  <a:pt x="380910" y="261051"/>
                </a:lnTo>
                <a:lnTo>
                  <a:pt x="386487" y="265465"/>
                </a:lnTo>
                <a:lnTo>
                  <a:pt x="388755" y="276095"/>
                </a:lnTo>
                <a:lnTo>
                  <a:pt x="393015" y="287805"/>
                </a:lnTo>
                <a:lnTo>
                  <a:pt x="399498" y="287805"/>
                </a:lnTo>
                <a:lnTo>
                  <a:pt x="401659" y="287805"/>
                </a:lnTo>
                <a:lnTo>
                  <a:pt x="399498" y="294291"/>
                </a:lnTo>
                <a:lnTo>
                  <a:pt x="402790" y="269807"/>
                </a:lnTo>
                <a:lnTo>
                  <a:pt x="404495" y="246234"/>
                </a:lnTo>
                <a:lnTo>
                  <a:pt x="403702" y="222188"/>
                </a:lnTo>
                <a:lnTo>
                  <a:pt x="399498" y="196285"/>
                </a:lnTo>
                <a:lnTo>
                  <a:pt x="397168" y="185638"/>
                </a:lnTo>
                <a:lnTo>
                  <a:pt x="395446" y="176511"/>
                </a:lnTo>
                <a:lnTo>
                  <a:pt x="394129" y="167453"/>
                </a:lnTo>
                <a:lnTo>
                  <a:pt x="393015" y="157010"/>
                </a:lnTo>
                <a:lnTo>
                  <a:pt x="412424" y="160151"/>
                </a:lnTo>
                <a:lnTo>
                  <a:pt x="431597" y="162144"/>
                </a:lnTo>
                <a:lnTo>
                  <a:pt x="451107" y="163191"/>
                </a:lnTo>
                <a:lnTo>
                  <a:pt x="471529" y="163495"/>
                </a:lnTo>
                <a:lnTo>
                  <a:pt x="489919" y="162937"/>
                </a:lnTo>
                <a:lnTo>
                  <a:pt x="507634" y="161468"/>
                </a:lnTo>
                <a:lnTo>
                  <a:pt x="525214" y="159391"/>
                </a:lnTo>
                <a:lnTo>
                  <a:pt x="543199" y="157010"/>
                </a:lnTo>
              </a:path>
            </a:pathLst>
          </a:custGeom>
          <a:ln w="19049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CC2F58C-0468-12F2-6F2F-3E1370A9C19C}"/>
              </a:ext>
            </a:extLst>
          </p:cNvPr>
          <p:cNvSpPr txBox="1"/>
          <p:nvPr/>
        </p:nvSpPr>
        <p:spPr>
          <a:xfrm>
            <a:off x="1460500" y="4612101"/>
            <a:ext cx="13716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cs typeface="Times New Roman"/>
              </a:rPr>
              <a:t>Soeder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2" name="object 3">
            <a:extLst>
              <a:ext uri="{FF2B5EF4-FFF2-40B4-BE49-F238E27FC236}">
                <a16:creationId xmlns:a16="http://schemas.microsoft.com/office/drawing/2014/main" id="{A421EC96-4A64-AEBE-498F-1B7830380D26}"/>
              </a:ext>
            </a:extLst>
          </p:cNvPr>
          <p:cNvSpPr txBox="1"/>
          <p:nvPr/>
        </p:nvSpPr>
        <p:spPr>
          <a:xfrm>
            <a:off x="1955678" y="1464201"/>
            <a:ext cx="1818005" cy="480695"/>
          </a:xfrm>
          <a:prstGeom prst="rect">
            <a:avLst/>
          </a:prstGeom>
          <a:solidFill>
            <a:srgbClr val="FFC000"/>
          </a:solidFill>
          <a:ln w="11101">
            <a:solidFill>
              <a:srgbClr val="000000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409575">
              <a:lnSpc>
                <a:spcPct val="100000"/>
              </a:lnSpc>
              <a:spcBef>
                <a:spcPts val="700"/>
              </a:spcBef>
            </a:pPr>
            <a:r>
              <a:rPr sz="1700" dirty="0">
                <a:latin typeface="Arial"/>
                <a:cs typeface="Arial"/>
              </a:rPr>
              <a:t>Menschen</a:t>
            </a:r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590150AA-0DFC-3D65-0FAF-D590F75D6C14}"/>
              </a:ext>
            </a:extLst>
          </p:cNvPr>
          <p:cNvSpPr txBox="1"/>
          <p:nvPr/>
        </p:nvSpPr>
        <p:spPr>
          <a:xfrm>
            <a:off x="8263238" y="1464201"/>
            <a:ext cx="1818005" cy="480695"/>
          </a:xfrm>
          <a:prstGeom prst="rect">
            <a:avLst/>
          </a:prstGeom>
          <a:solidFill>
            <a:srgbClr val="FFC000"/>
          </a:solidFill>
          <a:ln w="11101">
            <a:solidFill>
              <a:srgbClr val="000000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700"/>
              </a:spcBef>
            </a:pPr>
            <a:r>
              <a:rPr sz="1700" dirty="0">
                <a:latin typeface="Arial"/>
                <a:cs typeface="Arial"/>
              </a:rPr>
              <a:t>Bundesländer</a:t>
            </a:r>
          </a:p>
        </p:txBody>
      </p:sp>
      <p:sp>
        <p:nvSpPr>
          <p:cNvPr id="34" name="object 5">
            <a:extLst>
              <a:ext uri="{FF2B5EF4-FFF2-40B4-BE49-F238E27FC236}">
                <a16:creationId xmlns:a16="http://schemas.microsoft.com/office/drawing/2014/main" id="{37A4E964-997F-66C6-AB85-B19FBD2DBCE1}"/>
              </a:ext>
            </a:extLst>
          </p:cNvPr>
          <p:cNvSpPr/>
          <p:nvPr/>
        </p:nvSpPr>
        <p:spPr>
          <a:xfrm>
            <a:off x="5306562" y="196850"/>
            <a:ext cx="1204595" cy="655955"/>
          </a:xfrm>
          <a:custGeom>
            <a:avLst/>
            <a:gdLst/>
            <a:ahLst/>
            <a:cxnLst/>
            <a:rect l="l" t="t" r="r" b="b"/>
            <a:pathLst>
              <a:path w="1204595" h="655955">
                <a:moveTo>
                  <a:pt x="0" y="327744"/>
                </a:moveTo>
                <a:lnTo>
                  <a:pt x="602337" y="0"/>
                </a:lnTo>
                <a:lnTo>
                  <a:pt x="1204520" y="327744"/>
                </a:lnTo>
                <a:lnTo>
                  <a:pt x="602337" y="655489"/>
                </a:lnTo>
                <a:lnTo>
                  <a:pt x="0" y="327744"/>
                </a:lnTo>
                <a:close/>
              </a:path>
            </a:pathLst>
          </a:custGeom>
          <a:solidFill>
            <a:srgbClr val="72F1E6"/>
          </a:solidFill>
          <a:ln w="111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6">
            <a:extLst>
              <a:ext uri="{FF2B5EF4-FFF2-40B4-BE49-F238E27FC236}">
                <a16:creationId xmlns:a16="http://schemas.microsoft.com/office/drawing/2014/main" id="{C50B8DEA-8186-C0BF-7564-B4E05DD7DA11}"/>
              </a:ext>
            </a:extLst>
          </p:cNvPr>
          <p:cNvSpPr txBox="1"/>
          <p:nvPr/>
        </p:nvSpPr>
        <p:spPr>
          <a:xfrm>
            <a:off x="5733794" y="360977"/>
            <a:ext cx="3505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MP</a:t>
            </a:r>
            <a:endParaRPr sz="1700">
              <a:latin typeface="Arial"/>
              <a:cs typeface="Arial"/>
            </a:endParaRPr>
          </a:p>
        </p:txBody>
      </p:sp>
      <p:sp>
        <p:nvSpPr>
          <p:cNvPr id="36" name="object 7">
            <a:extLst>
              <a:ext uri="{FF2B5EF4-FFF2-40B4-BE49-F238E27FC236}">
                <a16:creationId xmlns:a16="http://schemas.microsoft.com/office/drawing/2014/main" id="{8441C167-3617-0AB0-0F9E-ABC8E2CF01CF}"/>
              </a:ext>
            </a:extLst>
          </p:cNvPr>
          <p:cNvSpPr/>
          <p:nvPr/>
        </p:nvSpPr>
        <p:spPr>
          <a:xfrm>
            <a:off x="5306562" y="2709616"/>
            <a:ext cx="1204595" cy="655955"/>
          </a:xfrm>
          <a:custGeom>
            <a:avLst/>
            <a:gdLst/>
            <a:ahLst/>
            <a:cxnLst/>
            <a:rect l="l" t="t" r="r" b="b"/>
            <a:pathLst>
              <a:path w="1204595" h="655954">
                <a:moveTo>
                  <a:pt x="0" y="327744"/>
                </a:moveTo>
                <a:lnTo>
                  <a:pt x="602337" y="0"/>
                </a:lnTo>
                <a:lnTo>
                  <a:pt x="1204520" y="327744"/>
                </a:lnTo>
                <a:lnTo>
                  <a:pt x="602337" y="655486"/>
                </a:lnTo>
                <a:lnTo>
                  <a:pt x="0" y="327744"/>
                </a:lnTo>
                <a:close/>
              </a:path>
            </a:pathLst>
          </a:custGeom>
          <a:solidFill>
            <a:srgbClr val="72F1E6"/>
          </a:solidFill>
          <a:ln w="111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8">
            <a:extLst>
              <a:ext uri="{FF2B5EF4-FFF2-40B4-BE49-F238E27FC236}">
                <a16:creationId xmlns:a16="http://schemas.microsoft.com/office/drawing/2014/main" id="{464D8523-6501-A003-82BD-81DFAD94FD0E}"/>
              </a:ext>
            </a:extLst>
          </p:cNvPr>
          <p:cNvSpPr txBox="1"/>
          <p:nvPr/>
        </p:nvSpPr>
        <p:spPr>
          <a:xfrm>
            <a:off x="5451323" y="2873588"/>
            <a:ext cx="9150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Wohnsi</a:t>
            </a:r>
            <a:r>
              <a:rPr sz="1700" spc="-5" dirty="0">
                <a:latin typeface="Arial"/>
                <a:cs typeface="Arial"/>
              </a:rPr>
              <a:t>t</a:t>
            </a:r>
            <a:r>
              <a:rPr sz="1700" dirty="0">
                <a:latin typeface="Arial"/>
                <a:cs typeface="Arial"/>
              </a:rPr>
              <a:t>z</a:t>
            </a:r>
          </a:p>
        </p:txBody>
      </p:sp>
      <p:sp>
        <p:nvSpPr>
          <p:cNvPr id="38" name="object 9">
            <a:extLst>
              <a:ext uri="{FF2B5EF4-FFF2-40B4-BE49-F238E27FC236}">
                <a16:creationId xmlns:a16="http://schemas.microsoft.com/office/drawing/2014/main" id="{4597DC84-A456-EE52-B513-BC01468FD042}"/>
              </a:ext>
            </a:extLst>
          </p:cNvPr>
          <p:cNvSpPr/>
          <p:nvPr/>
        </p:nvSpPr>
        <p:spPr>
          <a:xfrm>
            <a:off x="5306562" y="1376793"/>
            <a:ext cx="1204595" cy="655955"/>
          </a:xfrm>
          <a:custGeom>
            <a:avLst/>
            <a:gdLst/>
            <a:ahLst/>
            <a:cxnLst/>
            <a:rect l="l" t="t" r="r" b="b"/>
            <a:pathLst>
              <a:path w="1204595" h="655955">
                <a:moveTo>
                  <a:pt x="0" y="327744"/>
                </a:moveTo>
                <a:lnTo>
                  <a:pt x="602337" y="0"/>
                </a:lnTo>
                <a:lnTo>
                  <a:pt x="1204520" y="327744"/>
                </a:lnTo>
                <a:lnTo>
                  <a:pt x="602337" y="655489"/>
                </a:lnTo>
                <a:lnTo>
                  <a:pt x="0" y="327744"/>
                </a:lnTo>
                <a:close/>
              </a:path>
            </a:pathLst>
          </a:custGeom>
          <a:solidFill>
            <a:srgbClr val="72F1E6"/>
          </a:solidFill>
          <a:ln w="111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0">
            <a:extLst>
              <a:ext uri="{FF2B5EF4-FFF2-40B4-BE49-F238E27FC236}">
                <a16:creationId xmlns:a16="http://schemas.microsoft.com/office/drawing/2014/main" id="{9ABC66BA-69FC-1C24-2D85-F51A900BAB06}"/>
              </a:ext>
            </a:extLst>
          </p:cNvPr>
          <p:cNvSpPr txBox="1"/>
          <p:nvPr/>
        </p:nvSpPr>
        <p:spPr>
          <a:xfrm>
            <a:off x="5685582" y="1540765"/>
            <a:ext cx="4464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MdL</a:t>
            </a:r>
            <a:endParaRPr sz="1700">
              <a:latin typeface="Arial"/>
              <a:cs typeface="Arial"/>
            </a:endParaRPr>
          </a:p>
        </p:txBody>
      </p:sp>
      <p:sp>
        <p:nvSpPr>
          <p:cNvPr id="40" name="object 11">
            <a:extLst>
              <a:ext uri="{FF2B5EF4-FFF2-40B4-BE49-F238E27FC236}">
                <a16:creationId xmlns:a16="http://schemas.microsoft.com/office/drawing/2014/main" id="{65CD8B86-D656-95F6-5F9C-B528079FDA40}"/>
              </a:ext>
            </a:extLst>
          </p:cNvPr>
          <p:cNvSpPr/>
          <p:nvPr/>
        </p:nvSpPr>
        <p:spPr>
          <a:xfrm>
            <a:off x="3773522" y="524595"/>
            <a:ext cx="1533525" cy="1180465"/>
          </a:xfrm>
          <a:custGeom>
            <a:avLst/>
            <a:gdLst/>
            <a:ahLst/>
            <a:cxnLst/>
            <a:rect l="l" t="t" r="r" b="b"/>
            <a:pathLst>
              <a:path w="1533525" h="1180464">
                <a:moveTo>
                  <a:pt x="1533039" y="1179942"/>
                </a:moveTo>
                <a:lnTo>
                  <a:pt x="0" y="1179942"/>
                </a:lnTo>
                <a:lnTo>
                  <a:pt x="1533039" y="0"/>
                </a:lnTo>
              </a:path>
            </a:pathLst>
          </a:custGeom>
          <a:ln w="111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2">
            <a:extLst>
              <a:ext uri="{FF2B5EF4-FFF2-40B4-BE49-F238E27FC236}">
                <a16:creationId xmlns:a16="http://schemas.microsoft.com/office/drawing/2014/main" id="{B1BFBF05-9128-76A6-3A5F-A6088F8EB9EE}"/>
              </a:ext>
            </a:extLst>
          </p:cNvPr>
          <p:cNvSpPr/>
          <p:nvPr/>
        </p:nvSpPr>
        <p:spPr>
          <a:xfrm>
            <a:off x="3773522" y="1704537"/>
            <a:ext cx="1533525" cy="1332865"/>
          </a:xfrm>
          <a:custGeom>
            <a:avLst/>
            <a:gdLst/>
            <a:ahLst/>
            <a:cxnLst/>
            <a:rect l="l" t="t" r="r" b="b"/>
            <a:pathLst>
              <a:path w="1533525" h="1332864">
                <a:moveTo>
                  <a:pt x="0" y="0"/>
                </a:moveTo>
                <a:lnTo>
                  <a:pt x="1533039" y="1332823"/>
                </a:lnTo>
              </a:path>
            </a:pathLst>
          </a:custGeom>
          <a:ln w="111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3">
            <a:extLst>
              <a:ext uri="{FF2B5EF4-FFF2-40B4-BE49-F238E27FC236}">
                <a16:creationId xmlns:a16="http://schemas.microsoft.com/office/drawing/2014/main" id="{4402E7D4-C211-BB04-8DD1-EE5516086CD5}"/>
              </a:ext>
            </a:extLst>
          </p:cNvPr>
          <p:cNvSpPr/>
          <p:nvPr/>
        </p:nvSpPr>
        <p:spPr>
          <a:xfrm>
            <a:off x="6511082" y="524595"/>
            <a:ext cx="1752600" cy="1180465"/>
          </a:xfrm>
          <a:custGeom>
            <a:avLst/>
            <a:gdLst/>
            <a:ahLst/>
            <a:cxnLst/>
            <a:rect l="l" t="t" r="r" b="b"/>
            <a:pathLst>
              <a:path w="1752600" h="1180464">
                <a:moveTo>
                  <a:pt x="0" y="0"/>
                </a:moveTo>
                <a:lnTo>
                  <a:pt x="1752155" y="1179942"/>
                </a:lnTo>
              </a:path>
            </a:pathLst>
          </a:custGeom>
          <a:ln w="111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4">
            <a:extLst>
              <a:ext uri="{FF2B5EF4-FFF2-40B4-BE49-F238E27FC236}">
                <a16:creationId xmlns:a16="http://schemas.microsoft.com/office/drawing/2014/main" id="{511DEA4A-51C1-0D86-F788-5C4D43FC6828}"/>
              </a:ext>
            </a:extLst>
          </p:cNvPr>
          <p:cNvSpPr/>
          <p:nvPr/>
        </p:nvSpPr>
        <p:spPr>
          <a:xfrm>
            <a:off x="6511082" y="1704537"/>
            <a:ext cx="1752600" cy="0"/>
          </a:xfrm>
          <a:custGeom>
            <a:avLst/>
            <a:gdLst/>
            <a:ahLst/>
            <a:cxnLst/>
            <a:rect l="l" t="t" r="r" b="b"/>
            <a:pathLst>
              <a:path w="1752600">
                <a:moveTo>
                  <a:pt x="0" y="0"/>
                </a:moveTo>
                <a:lnTo>
                  <a:pt x="1752155" y="0"/>
                </a:lnTo>
              </a:path>
            </a:pathLst>
          </a:custGeom>
          <a:ln w="11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5">
            <a:extLst>
              <a:ext uri="{FF2B5EF4-FFF2-40B4-BE49-F238E27FC236}">
                <a16:creationId xmlns:a16="http://schemas.microsoft.com/office/drawing/2014/main" id="{00CD2559-10CF-635B-4D01-98A6622234DB}"/>
              </a:ext>
            </a:extLst>
          </p:cNvPr>
          <p:cNvSpPr/>
          <p:nvPr/>
        </p:nvSpPr>
        <p:spPr>
          <a:xfrm>
            <a:off x="6511082" y="1704537"/>
            <a:ext cx="1752600" cy="1332865"/>
          </a:xfrm>
          <a:custGeom>
            <a:avLst/>
            <a:gdLst/>
            <a:ahLst/>
            <a:cxnLst/>
            <a:rect l="l" t="t" r="r" b="b"/>
            <a:pathLst>
              <a:path w="1752600" h="1332864">
                <a:moveTo>
                  <a:pt x="0" y="1332823"/>
                </a:moveTo>
                <a:lnTo>
                  <a:pt x="1752155" y="0"/>
                </a:lnTo>
              </a:path>
            </a:pathLst>
          </a:custGeom>
          <a:ln w="111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6">
            <a:extLst>
              <a:ext uri="{FF2B5EF4-FFF2-40B4-BE49-F238E27FC236}">
                <a16:creationId xmlns:a16="http://schemas.microsoft.com/office/drawing/2014/main" id="{5BDB8293-8408-2695-4FB8-E5130042A812}"/>
              </a:ext>
            </a:extLst>
          </p:cNvPr>
          <p:cNvSpPr/>
          <p:nvPr/>
        </p:nvSpPr>
        <p:spPr>
          <a:xfrm>
            <a:off x="1254847" y="2381871"/>
            <a:ext cx="1095375" cy="437515"/>
          </a:xfrm>
          <a:custGeom>
            <a:avLst/>
            <a:gdLst/>
            <a:ahLst/>
            <a:cxnLst/>
            <a:rect l="l" t="t" r="r" b="b"/>
            <a:pathLst>
              <a:path w="1095375" h="437514">
                <a:moveTo>
                  <a:pt x="219007" y="436997"/>
                </a:moveTo>
                <a:lnTo>
                  <a:pt x="876046" y="436997"/>
                </a:lnTo>
                <a:lnTo>
                  <a:pt x="926265" y="431227"/>
                </a:lnTo>
                <a:lnTo>
                  <a:pt x="972364" y="414788"/>
                </a:lnTo>
                <a:lnTo>
                  <a:pt x="1013028" y="388995"/>
                </a:lnTo>
                <a:lnTo>
                  <a:pt x="1046943" y="355158"/>
                </a:lnTo>
                <a:lnTo>
                  <a:pt x="1072795" y="314590"/>
                </a:lnTo>
                <a:lnTo>
                  <a:pt x="1089271" y="268602"/>
                </a:lnTo>
                <a:lnTo>
                  <a:pt x="1095054" y="218506"/>
                </a:lnTo>
                <a:lnTo>
                  <a:pt x="1089271" y="168405"/>
                </a:lnTo>
                <a:lnTo>
                  <a:pt x="1072795" y="122413"/>
                </a:lnTo>
                <a:lnTo>
                  <a:pt x="1046943" y="81842"/>
                </a:lnTo>
                <a:lnTo>
                  <a:pt x="1013028" y="48003"/>
                </a:lnTo>
                <a:lnTo>
                  <a:pt x="972364" y="22209"/>
                </a:lnTo>
                <a:lnTo>
                  <a:pt x="926265" y="5770"/>
                </a:lnTo>
                <a:lnTo>
                  <a:pt x="876046" y="0"/>
                </a:lnTo>
                <a:lnTo>
                  <a:pt x="219007" y="0"/>
                </a:lnTo>
                <a:lnTo>
                  <a:pt x="168792" y="5770"/>
                </a:lnTo>
                <a:lnTo>
                  <a:pt x="122694" y="22209"/>
                </a:lnTo>
                <a:lnTo>
                  <a:pt x="82030" y="48003"/>
                </a:lnTo>
                <a:lnTo>
                  <a:pt x="48114" y="81842"/>
                </a:lnTo>
                <a:lnTo>
                  <a:pt x="22260" y="122413"/>
                </a:lnTo>
                <a:lnTo>
                  <a:pt x="5784" y="168405"/>
                </a:lnTo>
                <a:lnTo>
                  <a:pt x="0" y="218506"/>
                </a:lnTo>
                <a:lnTo>
                  <a:pt x="5784" y="268602"/>
                </a:lnTo>
                <a:lnTo>
                  <a:pt x="22260" y="314590"/>
                </a:lnTo>
                <a:lnTo>
                  <a:pt x="48114" y="355158"/>
                </a:lnTo>
                <a:lnTo>
                  <a:pt x="82030" y="388995"/>
                </a:lnTo>
                <a:lnTo>
                  <a:pt x="122694" y="414788"/>
                </a:lnTo>
                <a:lnTo>
                  <a:pt x="168792" y="431227"/>
                </a:lnTo>
                <a:lnTo>
                  <a:pt x="219007" y="436997"/>
                </a:lnTo>
                <a:close/>
              </a:path>
            </a:pathLst>
          </a:custGeom>
          <a:solidFill>
            <a:srgbClr val="FDFF95"/>
          </a:solidFill>
          <a:ln w="111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7">
            <a:extLst>
              <a:ext uri="{FF2B5EF4-FFF2-40B4-BE49-F238E27FC236}">
                <a16:creationId xmlns:a16="http://schemas.microsoft.com/office/drawing/2014/main" id="{582779A9-9D84-B6F7-72DC-51A5B40BA9E1}"/>
              </a:ext>
            </a:extLst>
          </p:cNvPr>
          <p:cNvSpPr txBox="1"/>
          <p:nvPr/>
        </p:nvSpPr>
        <p:spPr>
          <a:xfrm>
            <a:off x="1675418" y="2436605"/>
            <a:ext cx="254000" cy="284480"/>
          </a:xfrm>
          <a:prstGeom prst="rect">
            <a:avLst/>
          </a:prstGeom>
          <a:solidFill>
            <a:srgbClr val="FDFF95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Nr</a:t>
            </a:r>
            <a:endParaRPr sz="1700">
              <a:latin typeface="Arial"/>
              <a:cs typeface="Arial"/>
            </a:endParaRPr>
          </a:p>
        </p:txBody>
      </p:sp>
      <p:sp>
        <p:nvSpPr>
          <p:cNvPr id="47" name="object 18">
            <a:extLst>
              <a:ext uri="{FF2B5EF4-FFF2-40B4-BE49-F238E27FC236}">
                <a16:creationId xmlns:a16="http://schemas.microsoft.com/office/drawing/2014/main" id="{0C9596F4-D9D8-14E6-1161-78EE95D22853}"/>
              </a:ext>
            </a:extLst>
          </p:cNvPr>
          <p:cNvSpPr/>
          <p:nvPr/>
        </p:nvSpPr>
        <p:spPr>
          <a:xfrm>
            <a:off x="2021382" y="2928107"/>
            <a:ext cx="1095375" cy="437515"/>
          </a:xfrm>
          <a:custGeom>
            <a:avLst/>
            <a:gdLst/>
            <a:ahLst/>
            <a:cxnLst/>
            <a:rect l="l" t="t" r="r" b="b"/>
            <a:pathLst>
              <a:path w="1095375" h="437514">
                <a:moveTo>
                  <a:pt x="219023" y="436994"/>
                </a:moveTo>
                <a:lnTo>
                  <a:pt x="875985" y="436994"/>
                </a:lnTo>
                <a:lnTo>
                  <a:pt x="926219" y="431224"/>
                </a:lnTo>
                <a:lnTo>
                  <a:pt x="972337" y="414786"/>
                </a:lnTo>
                <a:lnTo>
                  <a:pt x="1013021" y="388994"/>
                </a:lnTo>
                <a:lnTo>
                  <a:pt x="1046957" y="355158"/>
                </a:lnTo>
                <a:lnTo>
                  <a:pt x="1072826" y="314590"/>
                </a:lnTo>
                <a:lnTo>
                  <a:pt x="1089313" y="268602"/>
                </a:lnTo>
                <a:lnTo>
                  <a:pt x="1095101" y="218506"/>
                </a:lnTo>
                <a:lnTo>
                  <a:pt x="1089313" y="168405"/>
                </a:lnTo>
                <a:lnTo>
                  <a:pt x="1072826" y="122413"/>
                </a:lnTo>
                <a:lnTo>
                  <a:pt x="1046957" y="81842"/>
                </a:lnTo>
                <a:lnTo>
                  <a:pt x="1013021" y="48003"/>
                </a:lnTo>
                <a:lnTo>
                  <a:pt x="972337" y="22209"/>
                </a:lnTo>
                <a:lnTo>
                  <a:pt x="926219" y="5770"/>
                </a:lnTo>
                <a:lnTo>
                  <a:pt x="875985" y="0"/>
                </a:lnTo>
                <a:lnTo>
                  <a:pt x="219023" y="0"/>
                </a:lnTo>
                <a:lnTo>
                  <a:pt x="168803" y="5770"/>
                </a:lnTo>
                <a:lnTo>
                  <a:pt x="122702" y="22209"/>
                </a:lnTo>
                <a:lnTo>
                  <a:pt x="82035" y="48003"/>
                </a:lnTo>
                <a:lnTo>
                  <a:pt x="48117" y="81842"/>
                </a:lnTo>
                <a:lnTo>
                  <a:pt x="22262" y="122413"/>
                </a:lnTo>
                <a:lnTo>
                  <a:pt x="5784" y="168405"/>
                </a:lnTo>
                <a:lnTo>
                  <a:pt x="0" y="218506"/>
                </a:lnTo>
                <a:lnTo>
                  <a:pt x="5784" y="268602"/>
                </a:lnTo>
                <a:lnTo>
                  <a:pt x="22262" y="314590"/>
                </a:lnTo>
                <a:lnTo>
                  <a:pt x="48117" y="355158"/>
                </a:lnTo>
                <a:lnTo>
                  <a:pt x="82035" y="388994"/>
                </a:lnTo>
                <a:lnTo>
                  <a:pt x="122702" y="414786"/>
                </a:lnTo>
                <a:lnTo>
                  <a:pt x="168803" y="431224"/>
                </a:lnTo>
                <a:lnTo>
                  <a:pt x="219023" y="436994"/>
                </a:lnTo>
                <a:close/>
              </a:path>
            </a:pathLst>
          </a:custGeom>
          <a:solidFill>
            <a:srgbClr val="FDFF95"/>
          </a:solidFill>
          <a:ln w="111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9">
            <a:extLst>
              <a:ext uri="{FF2B5EF4-FFF2-40B4-BE49-F238E27FC236}">
                <a16:creationId xmlns:a16="http://schemas.microsoft.com/office/drawing/2014/main" id="{C934602B-5238-8E76-4FD2-EAA9C4CC5097}"/>
              </a:ext>
            </a:extLst>
          </p:cNvPr>
          <p:cNvSpPr txBox="1"/>
          <p:nvPr/>
        </p:nvSpPr>
        <p:spPr>
          <a:xfrm>
            <a:off x="2267557" y="2982841"/>
            <a:ext cx="602615" cy="284480"/>
          </a:xfrm>
          <a:prstGeom prst="rect">
            <a:avLst/>
          </a:prstGeom>
          <a:solidFill>
            <a:srgbClr val="FDFF95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Name</a:t>
            </a:r>
            <a:endParaRPr sz="1700">
              <a:latin typeface="Arial"/>
              <a:cs typeface="Arial"/>
            </a:endParaRPr>
          </a:p>
        </p:txBody>
      </p:sp>
      <p:sp>
        <p:nvSpPr>
          <p:cNvPr id="49" name="object 20">
            <a:extLst>
              <a:ext uri="{FF2B5EF4-FFF2-40B4-BE49-F238E27FC236}">
                <a16:creationId xmlns:a16="http://schemas.microsoft.com/office/drawing/2014/main" id="{F931E372-622B-7590-81A3-9C99945DC3B1}"/>
              </a:ext>
            </a:extLst>
          </p:cNvPr>
          <p:cNvSpPr/>
          <p:nvPr/>
        </p:nvSpPr>
        <p:spPr>
          <a:xfrm>
            <a:off x="9248796" y="2381871"/>
            <a:ext cx="1095375" cy="437515"/>
          </a:xfrm>
          <a:custGeom>
            <a:avLst/>
            <a:gdLst/>
            <a:ahLst/>
            <a:cxnLst/>
            <a:rect l="l" t="t" r="r" b="b"/>
            <a:pathLst>
              <a:path w="1095375" h="437514">
                <a:moveTo>
                  <a:pt x="218961" y="436997"/>
                </a:moveTo>
                <a:lnTo>
                  <a:pt x="876000" y="436997"/>
                </a:lnTo>
                <a:lnTo>
                  <a:pt x="926226" y="431227"/>
                </a:lnTo>
                <a:lnTo>
                  <a:pt x="972322" y="414788"/>
                </a:lnTo>
                <a:lnTo>
                  <a:pt x="1012976" y="388995"/>
                </a:lnTo>
                <a:lnTo>
                  <a:pt x="1046878" y="355158"/>
                </a:lnTo>
                <a:lnTo>
                  <a:pt x="1072717" y="314590"/>
                </a:lnTo>
                <a:lnTo>
                  <a:pt x="1089182" y="268602"/>
                </a:lnTo>
                <a:lnTo>
                  <a:pt x="1094962" y="218506"/>
                </a:lnTo>
                <a:lnTo>
                  <a:pt x="1089182" y="168405"/>
                </a:lnTo>
                <a:lnTo>
                  <a:pt x="1072717" y="122413"/>
                </a:lnTo>
                <a:lnTo>
                  <a:pt x="1046878" y="81842"/>
                </a:lnTo>
                <a:lnTo>
                  <a:pt x="1012976" y="48003"/>
                </a:lnTo>
                <a:lnTo>
                  <a:pt x="972322" y="22209"/>
                </a:lnTo>
                <a:lnTo>
                  <a:pt x="926226" y="5770"/>
                </a:lnTo>
                <a:lnTo>
                  <a:pt x="876000" y="0"/>
                </a:lnTo>
                <a:lnTo>
                  <a:pt x="218961" y="0"/>
                </a:lnTo>
                <a:lnTo>
                  <a:pt x="168735" y="5770"/>
                </a:lnTo>
                <a:lnTo>
                  <a:pt x="122639" y="22209"/>
                </a:lnTo>
                <a:lnTo>
                  <a:pt x="81985" y="48003"/>
                </a:lnTo>
                <a:lnTo>
                  <a:pt x="48083" y="81842"/>
                </a:lnTo>
                <a:lnTo>
                  <a:pt x="22244" y="122413"/>
                </a:lnTo>
                <a:lnTo>
                  <a:pt x="5779" y="168405"/>
                </a:lnTo>
                <a:lnTo>
                  <a:pt x="0" y="218506"/>
                </a:lnTo>
                <a:lnTo>
                  <a:pt x="5779" y="268602"/>
                </a:lnTo>
                <a:lnTo>
                  <a:pt x="22244" y="314590"/>
                </a:lnTo>
                <a:lnTo>
                  <a:pt x="48083" y="355158"/>
                </a:lnTo>
                <a:lnTo>
                  <a:pt x="81985" y="388995"/>
                </a:lnTo>
                <a:lnTo>
                  <a:pt x="122639" y="414788"/>
                </a:lnTo>
                <a:lnTo>
                  <a:pt x="168735" y="431227"/>
                </a:lnTo>
                <a:lnTo>
                  <a:pt x="218961" y="436997"/>
                </a:lnTo>
                <a:close/>
              </a:path>
            </a:pathLst>
          </a:custGeom>
          <a:solidFill>
            <a:srgbClr val="FDFF95"/>
          </a:solidFill>
          <a:ln w="111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1">
            <a:extLst>
              <a:ext uri="{FF2B5EF4-FFF2-40B4-BE49-F238E27FC236}">
                <a16:creationId xmlns:a16="http://schemas.microsoft.com/office/drawing/2014/main" id="{877E8FF5-4687-212C-C127-C97180942A30}"/>
              </a:ext>
            </a:extLst>
          </p:cNvPr>
          <p:cNvSpPr txBox="1"/>
          <p:nvPr/>
        </p:nvSpPr>
        <p:spPr>
          <a:xfrm>
            <a:off x="9494925" y="2436605"/>
            <a:ext cx="602615" cy="284480"/>
          </a:xfrm>
          <a:prstGeom prst="rect">
            <a:avLst/>
          </a:prstGeom>
          <a:solidFill>
            <a:srgbClr val="FDFF95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Name</a:t>
            </a:r>
            <a:endParaRPr sz="1700">
              <a:latin typeface="Arial"/>
              <a:cs typeface="Arial"/>
            </a:endParaRPr>
          </a:p>
        </p:txBody>
      </p:sp>
      <p:sp>
        <p:nvSpPr>
          <p:cNvPr id="51" name="object 22">
            <a:extLst>
              <a:ext uri="{FF2B5EF4-FFF2-40B4-BE49-F238E27FC236}">
                <a16:creationId xmlns:a16="http://schemas.microsoft.com/office/drawing/2014/main" id="{7B2AF2E0-F10C-EFA0-1F61-19454E155FBB}"/>
              </a:ext>
            </a:extLst>
          </p:cNvPr>
          <p:cNvSpPr/>
          <p:nvPr/>
        </p:nvSpPr>
        <p:spPr>
          <a:xfrm>
            <a:off x="8624517" y="2928107"/>
            <a:ext cx="1095375" cy="437515"/>
          </a:xfrm>
          <a:custGeom>
            <a:avLst/>
            <a:gdLst/>
            <a:ahLst/>
            <a:cxnLst/>
            <a:rect l="l" t="t" r="r" b="b"/>
            <a:pathLst>
              <a:path w="1095375" h="437514">
                <a:moveTo>
                  <a:pt x="219116" y="436994"/>
                </a:moveTo>
                <a:lnTo>
                  <a:pt x="876155" y="436994"/>
                </a:lnTo>
                <a:lnTo>
                  <a:pt x="926332" y="431224"/>
                </a:lnTo>
                <a:lnTo>
                  <a:pt x="972409" y="414786"/>
                </a:lnTo>
                <a:lnTo>
                  <a:pt x="1013066" y="388994"/>
                </a:lnTo>
                <a:lnTo>
                  <a:pt x="1046984" y="355158"/>
                </a:lnTo>
                <a:lnTo>
                  <a:pt x="1072845" y="314590"/>
                </a:lnTo>
                <a:lnTo>
                  <a:pt x="1089328" y="268602"/>
                </a:lnTo>
                <a:lnTo>
                  <a:pt x="1095116" y="218506"/>
                </a:lnTo>
                <a:lnTo>
                  <a:pt x="1089328" y="168405"/>
                </a:lnTo>
                <a:lnTo>
                  <a:pt x="1072845" y="122413"/>
                </a:lnTo>
                <a:lnTo>
                  <a:pt x="1046984" y="81842"/>
                </a:lnTo>
                <a:lnTo>
                  <a:pt x="1013066" y="48003"/>
                </a:lnTo>
                <a:lnTo>
                  <a:pt x="972409" y="22209"/>
                </a:lnTo>
                <a:lnTo>
                  <a:pt x="926332" y="5770"/>
                </a:lnTo>
                <a:lnTo>
                  <a:pt x="876155" y="0"/>
                </a:lnTo>
                <a:lnTo>
                  <a:pt x="219116" y="0"/>
                </a:lnTo>
                <a:lnTo>
                  <a:pt x="168881" y="5770"/>
                </a:lnTo>
                <a:lnTo>
                  <a:pt x="122763" y="22209"/>
                </a:lnTo>
                <a:lnTo>
                  <a:pt x="82079" y="48003"/>
                </a:lnTo>
                <a:lnTo>
                  <a:pt x="48144" y="81842"/>
                </a:lnTo>
                <a:lnTo>
                  <a:pt x="22274" y="122413"/>
                </a:lnTo>
                <a:lnTo>
                  <a:pt x="5788" y="168405"/>
                </a:lnTo>
                <a:lnTo>
                  <a:pt x="0" y="218506"/>
                </a:lnTo>
                <a:lnTo>
                  <a:pt x="5788" y="268602"/>
                </a:lnTo>
                <a:lnTo>
                  <a:pt x="22274" y="314590"/>
                </a:lnTo>
                <a:lnTo>
                  <a:pt x="48144" y="355158"/>
                </a:lnTo>
                <a:lnTo>
                  <a:pt x="82079" y="388994"/>
                </a:lnTo>
                <a:lnTo>
                  <a:pt x="122763" y="414786"/>
                </a:lnTo>
                <a:lnTo>
                  <a:pt x="168881" y="431224"/>
                </a:lnTo>
                <a:lnTo>
                  <a:pt x="219116" y="436994"/>
                </a:lnTo>
                <a:close/>
              </a:path>
            </a:pathLst>
          </a:custGeom>
          <a:solidFill>
            <a:srgbClr val="FDFF95"/>
          </a:solidFill>
          <a:ln w="111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3">
            <a:extLst>
              <a:ext uri="{FF2B5EF4-FFF2-40B4-BE49-F238E27FC236}">
                <a16:creationId xmlns:a16="http://schemas.microsoft.com/office/drawing/2014/main" id="{86568879-FBBF-830A-AE11-F902EAA47A17}"/>
              </a:ext>
            </a:extLst>
          </p:cNvPr>
          <p:cNvSpPr txBox="1"/>
          <p:nvPr/>
        </p:nvSpPr>
        <p:spPr>
          <a:xfrm>
            <a:off x="8984994" y="2982841"/>
            <a:ext cx="374015" cy="284480"/>
          </a:xfrm>
          <a:prstGeom prst="rect">
            <a:avLst/>
          </a:prstGeom>
          <a:solidFill>
            <a:srgbClr val="FDFF95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EW</a:t>
            </a:r>
            <a:endParaRPr sz="1700">
              <a:latin typeface="Arial"/>
              <a:cs typeface="Arial"/>
            </a:endParaRPr>
          </a:p>
        </p:txBody>
      </p:sp>
      <p:sp>
        <p:nvSpPr>
          <p:cNvPr id="53" name="object 24">
            <a:extLst>
              <a:ext uri="{FF2B5EF4-FFF2-40B4-BE49-F238E27FC236}">
                <a16:creationId xmlns:a16="http://schemas.microsoft.com/office/drawing/2014/main" id="{FD9D206E-C21B-CC38-1C90-BDA567AA45FD}"/>
              </a:ext>
            </a:extLst>
          </p:cNvPr>
          <p:cNvSpPr/>
          <p:nvPr/>
        </p:nvSpPr>
        <p:spPr>
          <a:xfrm>
            <a:off x="1802374" y="1944888"/>
            <a:ext cx="1062355" cy="983615"/>
          </a:xfrm>
          <a:custGeom>
            <a:avLst/>
            <a:gdLst/>
            <a:ahLst/>
            <a:cxnLst/>
            <a:rect l="l" t="t" r="r" b="b"/>
            <a:pathLst>
              <a:path w="1062355" h="983614">
                <a:moveTo>
                  <a:pt x="766535" y="983218"/>
                </a:moveTo>
                <a:lnTo>
                  <a:pt x="1062233" y="0"/>
                </a:lnTo>
                <a:lnTo>
                  <a:pt x="0" y="436982"/>
                </a:lnTo>
              </a:path>
            </a:pathLst>
          </a:custGeom>
          <a:ln w="111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5">
            <a:extLst>
              <a:ext uri="{FF2B5EF4-FFF2-40B4-BE49-F238E27FC236}">
                <a16:creationId xmlns:a16="http://schemas.microsoft.com/office/drawing/2014/main" id="{E5F9E041-5657-8144-C30E-1221BF992CA3}"/>
              </a:ext>
            </a:extLst>
          </p:cNvPr>
          <p:cNvSpPr/>
          <p:nvPr/>
        </p:nvSpPr>
        <p:spPr>
          <a:xfrm>
            <a:off x="9172152" y="1944888"/>
            <a:ext cx="624205" cy="437515"/>
          </a:xfrm>
          <a:custGeom>
            <a:avLst/>
            <a:gdLst/>
            <a:ahLst/>
            <a:cxnLst/>
            <a:rect l="l" t="t" r="r" b="b"/>
            <a:pathLst>
              <a:path w="624204" h="437514">
                <a:moveTo>
                  <a:pt x="0" y="0"/>
                </a:moveTo>
                <a:lnTo>
                  <a:pt x="624125" y="436982"/>
                </a:lnTo>
              </a:path>
            </a:pathLst>
          </a:custGeom>
          <a:ln w="111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6">
            <a:extLst>
              <a:ext uri="{FF2B5EF4-FFF2-40B4-BE49-F238E27FC236}">
                <a16:creationId xmlns:a16="http://schemas.microsoft.com/office/drawing/2014/main" id="{034980EF-F99C-8D8A-5121-FF89A86DBF31}"/>
              </a:ext>
            </a:extLst>
          </p:cNvPr>
          <p:cNvSpPr/>
          <p:nvPr/>
        </p:nvSpPr>
        <p:spPr>
          <a:xfrm>
            <a:off x="9172152" y="1944888"/>
            <a:ext cx="0" cy="983615"/>
          </a:xfrm>
          <a:custGeom>
            <a:avLst/>
            <a:gdLst/>
            <a:ahLst/>
            <a:cxnLst/>
            <a:rect l="l" t="t" r="r" b="b"/>
            <a:pathLst>
              <a:path h="983614">
                <a:moveTo>
                  <a:pt x="0" y="0"/>
                </a:moveTo>
                <a:lnTo>
                  <a:pt x="0" y="983218"/>
                </a:lnTo>
              </a:path>
            </a:pathLst>
          </a:custGeom>
          <a:ln w="111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27">
            <a:extLst>
              <a:ext uri="{FF2B5EF4-FFF2-40B4-BE49-F238E27FC236}">
                <a16:creationId xmlns:a16="http://schemas.microsoft.com/office/drawing/2014/main" id="{6EF5CC64-7253-8DD8-7E2E-E5DFB4246103}"/>
              </a:ext>
            </a:extLst>
          </p:cNvPr>
          <p:cNvSpPr txBox="1"/>
          <p:nvPr/>
        </p:nvSpPr>
        <p:spPr>
          <a:xfrm>
            <a:off x="7692704" y="1043290"/>
            <a:ext cx="1460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</p:txBody>
      </p:sp>
      <p:sp>
        <p:nvSpPr>
          <p:cNvPr id="57" name="object 28">
            <a:extLst>
              <a:ext uri="{FF2B5EF4-FFF2-40B4-BE49-F238E27FC236}">
                <a16:creationId xmlns:a16="http://schemas.microsoft.com/office/drawing/2014/main" id="{7BAA1F4C-4794-6C7E-740C-FEE6AF105E0D}"/>
              </a:ext>
            </a:extLst>
          </p:cNvPr>
          <p:cNvSpPr txBox="1"/>
          <p:nvPr/>
        </p:nvSpPr>
        <p:spPr>
          <a:xfrm>
            <a:off x="4180202" y="2180237"/>
            <a:ext cx="1822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N</a:t>
            </a:r>
            <a:endParaRPr sz="1700">
              <a:latin typeface="Arial"/>
              <a:cs typeface="Arial"/>
            </a:endParaRPr>
          </a:p>
        </p:txBody>
      </p:sp>
      <p:sp>
        <p:nvSpPr>
          <p:cNvPr id="58" name="object 29">
            <a:extLst>
              <a:ext uri="{FF2B5EF4-FFF2-40B4-BE49-F238E27FC236}">
                <a16:creationId xmlns:a16="http://schemas.microsoft.com/office/drawing/2014/main" id="{E2E23EA4-E11C-7FBC-1C7B-B83DB699A2B6}"/>
              </a:ext>
            </a:extLst>
          </p:cNvPr>
          <p:cNvSpPr txBox="1"/>
          <p:nvPr/>
        </p:nvSpPr>
        <p:spPr>
          <a:xfrm>
            <a:off x="4144662" y="1043290"/>
            <a:ext cx="1460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DF06F43C-0DB9-07E3-7BBC-CB818EFAB7E8}"/>
              </a:ext>
            </a:extLst>
          </p:cNvPr>
          <p:cNvSpPr txBox="1"/>
          <p:nvPr/>
        </p:nvSpPr>
        <p:spPr>
          <a:xfrm>
            <a:off x="7758376" y="2016365"/>
            <a:ext cx="1460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</p:txBody>
      </p:sp>
      <p:sp>
        <p:nvSpPr>
          <p:cNvPr id="60" name="object 31">
            <a:extLst>
              <a:ext uri="{FF2B5EF4-FFF2-40B4-BE49-F238E27FC236}">
                <a16:creationId xmlns:a16="http://schemas.microsoft.com/office/drawing/2014/main" id="{1791A419-311C-093E-2452-17D03AE4CCFC}"/>
              </a:ext>
            </a:extLst>
          </p:cNvPr>
          <p:cNvSpPr txBox="1"/>
          <p:nvPr/>
        </p:nvSpPr>
        <p:spPr>
          <a:xfrm>
            <a:off x="7527208" y="1448269"/>
            <a:ext cx="1460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</p:txBody>
      </p:sp>
      <p:sp>
        <p:nvSpPr>
          <p:cNvPr id="61" name="object 32">
            <a:extLst>
              <a:ext uri="{FF2B5EF4-FFF2-40B4-BE49-F238E27FC236}">
                <a16:creationId xmlns:a16="http://schemas.microsoft.com/office/drawing/2014/main" id="{B3182056-E39D-D821-680C-46695EAAB4C2}"/>
              </a:ext>
            </a:extLst>
          </p:cNvPr>
          <p:cNvSpPr txBox="1"/>
          <p:nvPr/>
        </p:nvSpPr>
        <p:spPr>
          <a:xfrm>
            <a:off x="4333491" y="1448269"/>
            <a:ext cx="1822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N</a:t>
            </a:r>
            <a:endParaRPr sz="1700">
              <a:latin typeface="Arial"/>
              <a:cs typeface="Arial"/>
            </a:endParaRPr>
          </a:p>
        </p:txBody>
      </p:sp>
      <p:sp>
        <p:nvSpPr>
          <p:cNvPr id="31" name="object 68">
            <a:extLst>
              <a:ext uri="{FF2B5EF4-FFF2-40B4-BE49-F238E27FC236}">
                <a16:creationId xmlns:a16="http://schemas.microsoft.com/office/drawing/2014/main" id="{9252E08F-89EA-B0B9-5A10-3A0C02BCD59C}"/>
              </a:ext>
            </a:extLst>
          </p:cNvPr>
          <p:cNvSpPr txBox="1">
            <a:spLocks/>
          </p:cNvSpPr>
          <p:nvPr/>
        </p:nvSpPr>
        <p:spPr>
          <a:xfrm>
            <a:off x="622300" y="349250"/>
            <a:ext cx="3557902" cy="687752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dirty="0" err="1"/>
              <a:t>Wiederholung</a:t>
            </a:r>
            <a:r>
              <a:rPr lang="en-GB" spc="-10" dirty="0"/>
              <a:t> - </a:t>
            </a:r>
            <a:r>
              <a:rPr lang="en-GB" spc="-10" dirty="0" err="1"/>
              <a:t>Vermeidung</a:t>
            </a:r>
            <a:r>
              <a:rPr lang="en-GB" spc="-10" dirty="0"/>
              <a:t> von Null-</a:t>
            </a:r>
            <a:r>
              <a:rPr lang="en-GB" spc="-10" dirty="0" err="1"/>
              <a:t>Werten</a:t>
            </a:r>
            <a:endParaRPr lang="en-GB" spc="-10" dirty="0"/>
          </a:p>
        </p:txBody>
      </p:sp>
    </p:spTree>
    <p:extLst>
      <p:ext uri="{BB962C8B-B14F-4D97-AF65-F5344CB8AC3E}">
        <p14:creationId xmlns:p14="http://schemas.microsoft.com/office/powerpoint/2010/main" val="4144644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68">
            <a:extLst>
              <a:ext uri="{FF2B5EF4-FFF2-40B4-BE49-F238E27FC236}">
                <a16:creationId xmlns:a16="http://schemas.microsoft.com/office/drawing/2014/main" id="{9252E08F-89EA-B0B9-5A10-3A0C02BCD59C}"/>
              </a:ext>
            </a:extLst>
          </p:cNvPr>
          <p:cNvSpPr txBox="1">
            <a:spLocks/>
          </p:cNvSpPr>
          <p:nvPr/>
        </p:nvSpPr>
        <p:spPr>
          <a:xfrm>
            <a:off x="923236" y="425450"/>
            <a:ext cx="6252264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dirty="0" err="1"/>
              <a:t>Wiederholung</a:t>
            </a:r>
            <a:r>
              <a:rPr lang="en-GB" spc="-10" dirty="0"/>
              <a:t> - </a:t>
            </a:r>
            <a:r>
              <a:rPr lang="en-GB" spc="-10" dirty="0" err="1"/>
              <a:t>Vermeidung</a:t>
            </a:r>
            <a:r>
              <a:rPr lang="en-GB" spc="-10" dirty="0"/>
              <a:t> von Null-</a:t>
            </a:r>
            <a:r>
              <a:rPr lang="en-GB" spc="-10" dirty="0" err="1"/>
              <a:t>Werten</a:t>
            </a:r>
            <a:endParaRPr lang="en-GB" spc="-10" dirty="0"/>
          </a:p>
        </p:txBody>
      </p:sp>
      <p:sp>
        <p:nvSpPr>
          <p:cNvPr id="33" name="object 3">
            <a:extLst>
              <a:ext uri="{FF2B5EF4-FFF2-40B4-BE49-F238E27FC236}">
                <a16:creationId xmlns:a16="http://schemas.microsoft.com/office/drawing/2014/main" id="{E998C255-E972-3688-94D6-7275CE481E1D}"/>
              </a:ext>
            </a:extLst>
          </p:cNvPr>
          <p:cNvSpPr/>
          <p:nvPr/>
        </p:nvSpPr>
        <p:spPr>
          <a:xfrm>
            <a:off x="1536700" y="1111367"/>
            <a:ext cx="6709758" cy="56386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A5054C-82A8-2898-87AC-3695E5E870F2}"/>
              </a:ext>
            </a:extLst>
          </p:cNvPr>
          <p:cNvSpPr txBox="1"/>
          <p:nvPr/>
        </p:nvSpPr>
        <p:spPr>
          <a:xfrm>
            <a:off x="2804756" y="4324250"/>
            <a:ext cx="762000" cy="261610"/>
          </a:xfrm>
          <a:prstGeom prst="rect">
            <a:avLst/>
          </a:prstGeom>
          <a:solidFill>
            <a:schemeClr val="bg1"/>
          </a:solidFill>
        </p:spPr>
        <p:txBody>
          <a:bodyPr wrap="square" tIns="0" rtlCol="0">
            <a:spAutoFit/>
          </a:bodyPr>
          <a:lstStyle/>
          <a:p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cs typeface="Times New Roman"/>
              </a:rPr>
              <a:t>Soeder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6705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9D4A3-E29A-DCC0-EC9C-8AD3049A1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Entwurfstheorie</a:t>
            </a:r>
            <a:r>
              <a:rPr lang="en-US" dirty="0"/>
              <a:t> – was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brauchen</a:t>
            </a:r>
            <a:endParaRPr lang="en-US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D2D922D-2FA9-62C5-CB78-8BF58A1A7DBD}"/>
              </a:ext>
            </a:extLst>
          </p:cNvPr>
          <p:cNvSpPr txBox="1"/>
          <p:nvPr/>
        </p:nvSpPr>
        <p:spPr>
          <a:xfrm>
            <a:off x="774700" y="2101850"/>
            <a:ext cx="8508365" cy="4010072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Benötigen ein </a:t>
            </a:r>
            <a:r>
              <a:rPr lang="de-DE" sz="2400" b="1" spc="-5" dirty="0">
                <a:latin typeface="Tahoma"/>
                <a:cs typeface="Tahoma"/>
              </a:rPr>
              <a:t>systematisches Vorgehen zur Bestimmung der Entitäten</a:t>
            </a:r>
            <a:endParaRPr sz="2400" b="1" dirty="0">
              <a:latin typeface="Tahoma"/>
              <a:cs typeface="Tahoma"/>
            </a:endParaRPr>
          </a:p>
          <a:p>
            <a:pPr marL="469817" marR="175895" lvl="1">
              <a:lnSpc>
                <a:spcPct val="102800"/>
              </a:lnSpc>
              <a:spcBef>
                <a:spcPts val="128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Kann aber nur für betrachteten Business-Prozess gelten</a:t>
            </a:r>
          </a:p>
          <a:p>
            <a:pPr marL="469817" marR="175895" lvl="1">
              <a:lnSpc>
                <a:spcPct val="102800"/>
              </a:lnSpc>
              <a:spcBef>
                <a:spcPts val="128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spc="-5" dirty="0">
                <a:latin typeface="Tahoma"/>
                <a:cs typeface="Tahoma"/>
              </a:rPr>
              <a:t> Vermeidung Anomalien</a:t>
            </a:r>
          </a:p>
          <a:p>
            <a:pPr marL="469817" marR="175895" lvl="1">
              <a:lnSpc>
                <a:spcPct val="102800"/>
              </a:lnSpc>
              <a:spcBef>
                <a:spcPts val="128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spc="-5" dirty="0">
                <a:latin typeface="Tahoma"/>
                <a:cs typeface="Tahoma"/>
              </a:rPr>
              <a:t> Vermeidung Anomalien aber </a:t>
            </a:r>
            <a:r>
              <a:rPr lang="de-DE" sz="2400" spc="-5" dirty="0" err="1">
                <a:latin typeface="Tahoma"/>
                <a:cs typeface="Tahoma"/>
              </a:rPr>
              <a:t>insert</a:t>
            </a:r>
            <a:r>
              <a:rPr lang="de-DE" sz="2400" spc="-5" dirty="0">
                <a:latin typeface="Tahoma"/>
                <a:cs typeface="Tahoma"/>
              </a:rPr>
              <a:t>-orientiert (gilt nicht für Analyse-Systeme)</a:t>
            </a:r>
          </a:p>
          <a:p>
            <a:pPr marL="469817" marR="175895" lvl="1">
              <a:lnSpc>
                <a:spcPct val="102800"/>
              </a:lnSpc>
              <a:spcBef>
                <a:spcPts val="128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spc="-5" dirty="0">
                <a:latin typeface="Tahoma"/>
                <a:cs typeface="Tahoma"/>
              </a:rPr>
              <a:t> Vermeidung Nullwerte</a:t>
            </a:r>
          </a:p>
          <a:p>
            <a:pPr marL="469817" marR="175895" lvl="1">
              <a:lnSpc>
                <a:spcPct val="102800"/>
              </a:lnSpc>
              <a:spcBef>
                <a:spcPts val="128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spc="-5" dirty="0">
                <a:latin typeface="Tahoma"/>
                <a:cs typeface="Tahoma"/>
              </a:rPr>
              <a:t> ‚Best Practices'</a:t>
            </a:r>
            <a:endParaRPr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580237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755874" y="1088287"/>
            <a:ext cx="7373151" cy="5379923"/>
          </a:xfrm>
          <a:custGeom>
            <a:avLst/>
            <a:gdLst/>
            <a:ahLst/>
            <a:cxnLst/>
            <a:rect l="l" t="t" r="r" b="b"/>
            <a:pathLst>
              <a:path w="7049134" h="5143500">
                <a:moveTo>
                  <a:pt x="7048785" y="0"/>
                </a:moveTo>
                <a:lnTo>
                  <a:pt x="0" y="0"/>
                </a:lnTo>
                <a:lnTo>
                  <a:pt x="0" y="5143189"/>
                </a:lnTo>
                <a:lnTo>
                  <a:pt x="7048785" y="5143189"/>
                </a:lnTo>
                <a:lnTo>
                  <a:pt x="70487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65268" y="501650"/>
            <a:ext cx="5848231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13217" marR="5287" defTabSz="713731">
              <a:lnSpc>
                <a:spcPct val="100000"/>
              </a:lnSpc>
              <a:spcBef>
                <a:spcPts val="104"/>
              </a:spcBef>
            </a:pPr>
            <a:r>
              <a:rPr lang="en-GB" sz="2082" spc="-5" dirty="0" err="1">
                <a:solidFill>
                  <a:srgbClr val="FFFFFF"/>
                </a:solidFill>
                <a:latin typeface="Arial"/>
                <a:cs typeface="Arial"/>
              </a:rPr>
              <a:t>Beispiel</a:t>
            </a:r>
            <a:r>
              <a:rPr lang="en-GB" sz="2082" spc="-5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lang="en-GB" sz="2082" b="0" i="0" kern="1200" spc="-5" baseline="0" dirty="0">
                <a:solidFill>
                  <a:srgbClr val="FFFFFF"/>
                </a:solidFill>
                <a:latin typeface="Arial"/>
                <a:ea typeface="+mj-ea"/>
                <a:cs typeface="Arial"/>
              </a:rPr>
              <a:t>  </a:t>
            </a:r>
            <a:r>
              <a:rPr lang="en-GB" sz="2082" b="0" i="0" kern="1200" spc="-5" baseline="0" dirty="0" err="1">
                <a:solidFill>
                  <a:srgbClr val="FFFFFF"/>
                </a:solidFill>
                <a:latin typeface="Arial"/>
                <a:ea typeface="+mj-ea"/>
                <a:cs typeface="Arial"/>
              </a:rPr>
              <a:t>Enrollment</a:t>
            </a:r>
            <a:r>
              <a:rPr lang="en-GB" sz="2082" b="0" i="0" kern="1200" spc="-5" baseline="0" dirty="0">
                <a:solidFill>
                  <a:srgbClr val="FFFFFF"/>
                </a:solidFill>
                <a:latin typeface="Arial"/>
                <a:ea typeface="+mj-ea"/>
                <a:cs typeface="Arial"/>
              </a:rPr>
              <a:t>  </a:t>
            </a:r>
            <a:r>
              <a:rPr lang="en-GB" sz="2082" spc="-5" dirty="0" err="1">
                <a:solidFill>
                  <a:srgbClr val="FFFFFF"/>
                </a:solidFill>
                <a:latin typeface="Arial"/>
                <a:cs typeface="Arial"/>
              </a:rPr>
              <a:t>Tabelle</a:t>
            </a:r>
            <a:r>
              <a:rPr lang="en-GB" sz="2082" b="0" i="0" kern="1200" spc="-5" baseline="0" dirty="0">
                <a:solidFill>
                  <a:srgbClr val="FFFFFF"/>
                </a:solidFill>
                <a:latin typeface="Arial"/>
                <a:ea typeface="+mj-ea"/>
                <a:cs typeface="Arial"/>
              </a:rPr>
              <a:t> </a:t>
            </a:r>
            <a:r>
              <a:rPr lang="en-GB" sz="2082" b="0" i="0" kern="1200" baseline="0" dirty="0">
                <a:solidFill>
                  <a:srgbClr val="FFFFFF"/>
                </a:solidFill>
                <a:latin typeface="Arial"/>
                <a:ea typeface="+mj-ea"/>
                <a:cs typeface="Arial"/>
              </a:rPr>
              <a:t>-</a:t>
            </a:r>
            <a:r>
              <a:rPr lang="en-GB" sz="2082" b="0" i="0" kern="1200" spc="-104" baseline="0" dirty="0">
                <a:solidFill>
                  <a:srgbClr val="FFFFFF"/>
                </a:solidFill>
                <a:latin typeface="Arial"/>
                <a:ea typeface="+mj-ea"/>
                <a:cs typeface="Arial"/>
              </a:rPr>
              <a:t> </a:t>
            </a:r>
            <a:r>
              <a:rPr lang="en-GB" sz="2082" b="0" i="0" kern="1200" baseline="0" dirty="0">
                <a:solidFill>
                  <a:srgbClr val="FFFFFF"/>
                </a:solidFill>
                <a:latin typeface="Arial"/>
                <a:ea typeface="+mj-ea"/>
                <a:cs typeface="Arial"/>
              </a:rPr>
              <a:t>“v0”</a:t>
            </a:r>
            <a:endParaRPr lang="en-GB" sz="2339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09404" y="2461439"/>
            <a:ext cx="5182774" cy="3719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" name="object 7"/>
          <p:cNvSpPr txBox="1"/>
          <p:nvPr/>
        </p:nvSpPr>
        <p:spPr>
          <a:xfrm>
            <a:off x="2766647" y="3427137"/>
            <a:ext cx="529358" cy="496184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3217" defTabSz="813664">
              <a:spcBef>
                <a:spcPts val="104"/>
              </a:spcBef>
            </a:pPr>
            <a:r>
              <a:rPr lang="en-GB" sz="1040" kern="1200" spc="-5">
                <a:solidFill>
                  <a:srgbClr val="666666"/>
                </a:solidFill>
                <a:latin typeface="Arial"/>
                <a:ea typeface="+mn-ea"/>
                <a:cs typeface="Arial"/>
              </a:rPr>
              <a:t>~375</a:t>
            </a:r>
            <a:endParaRPr lang="en-GB" sz="104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3217" marR="5287" defTabSz="813664"/>
            <a:r>
              <a:rPr lang="en-GB" sz="1040" kern="1200">
                <a:solidFill>
                  <a:srgbClr val="666666"/>
                </a:solidFill>
                <a:latin typeface="Arial"/>
                <a:ea typeface="+mn-ea"/>
                <a:cs typeface="Arial"/>
              </a:rPr>
              <a:t>cs145  students</a:t>
            </a:r>
            <a:endParaRPr lang="en-GB" sz="1169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66647" y="5617828"/>
            <a:ext cx="529358" cy="496184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3217" defTabSz="813664">
              <a:spcBef>
                <a:spcPts val="104"/>
              </a:spcBef>
            </a:pPr>
            <a:r>
              <a:rPr lang="en-GB" sz="1040" kern="1200" spc="-5">
                <a:solidFill>
                  <a:srgbClr val="666666"/>
                </a:solidFill>
                <a:latin typeface="Arial"/>
                <a:ea typeface="+mn-ea"/>
                <a:cs typeface="Arial"/>
              </a:rPr>
              <a:t>~300</a:t>
            </a:r>
            <a:endParaRPr lang="en-GB" sz="104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3217" marR="5287" defTabSz="813664"/>
            <a:r>
              <a:rPr lang="en-GB" sz="1040" kern="1200">
                <a:solidFill>
                  <a:srgbClr val="666666"/>
                </a:solidFill>
                <a:latin typeface="Arial"/>
                <a:ea typeface="+mn-ea"/>
                <a:cs typeface="Arial"/>
              </a:rPr>
              <a:t>cs245  students</a:t>
            </a:r>
            <a:endParaRPr lang="en-GB" sz="1169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02547" y="3426074"/>
            <a:ext cx="2090853" cy="781767"/>
          </a:xfrm>
          <a:prstGeom prst="rect">
            <a:avLst/>
          </a:prstGeom>
        </p:spPr>
        <p:txBody>
          <a:bodyPr vert="horz" wrap="square" lIns="0" tIns="23763" rIns="0" bIns="0" rtlCol="0">
            <a:spAutoFit/>
          </a:bodyPr>
          <a:lstStyle/>
          <a:p>
            <a:pPr marL="13217" marR="744819" defTabSz="813664">
              <a:lnSpc>
                <a:spcPts val="1478"/>
              </a:lnSpc>
              <a:spcBef>
                <a:spcPts val="166"/>
              </a:spcBef>
            </a:pPr>
            <a:r>
              <a:rPr lang="en-GB" sz="1249" u="heavy" kern="1200" spc="-5" dirty="0" err="1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Arial"/>
                <a:ea typeface="+mn-ea"/>
                <a:cs typeface="Arial"/>
              </a:rPr>
              <a:t>Probleme</a:t>
            </a:r>
            <a:r>
              <a:rPr lang="en-GB" sz="1249" u="heavy" kern="1200" spc="-5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Arial"/>
                <a:ea typeface="+mn-ea"/>
                <a:cs typeface="Arial"/>
              </a:rPr>
              <a:t> </a:t>
            </a:r>
            <a:r>
              <a:rPr lang="en-GB" sz="1249" kern="1200" spc="-5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249" kern="1200" spc="-5" dirty="0" err="1">
                <a:solidFill>
                  <a:srgbClr val="666666"/>
                </a:solidFill>
                <a:latin typeface="Arial"/>
                <a:ea typeface="+mn-ea"/>
                <a:cs typeface="Arial"/>
              </a:rPr>
              <a:t>Wiederholungen</a:t>
            </a:r>
            <a:r>
              <a:rPr lang="en-GB" sz="1249" kern="1200" spc="-5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?</a:t>
            </a:r>
            <a:endParaRPr lang="en-GB" sz="1249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3217" marR="5287" defTabSz="813664">
              <a:lnSpc>
                <a:spcPts val="1478"/>
              </a:lnSpc>
              <a:spcBef>
                <a:spcPts val="11"/>
              </a:spcBef>
            </a:pPr>
            <a:r>
              <a:rPr lang="en-GB" sz="1249" kern="1200" spc="-5" dirty="0" err="1">
                <a:solidFill>
                  <a:srgbClr val="666666"/>
                </a:solidFill>
                <a:latin typeface="Arial"/>
                <a:ea typeface="+mn-ea"/>
                <a:cs typeface="Arial"/>
              </a:rPr>
              <a:t>Raum</a:t>
            </a:r>
            <a:r>
              <a:rPr lang="en-GB" sz="1249" kern="1200" spc="-5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/Zeit</a:t>
            </a:r>
            <a:r>
              <a:rPr lang="en-GB" sz="1249" kern="1200" spc="-93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249" spc="-93" dirty="0" err="1">
                <a:solidFill>
                  <a:srgbClr val="666666"/>
                </a:solidFill>
                <a:latin typeface="Arial"/>
                <a:cs typeface="Arial"/>
              </a:rPr>
              <a:t>Änderungen</a:t>
            </a:r>
            <a:r>
              <a:rPr lang="en-GB" sz="1249" kern="1200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?  </a:t>
            </a:r>
            <a:r>
              <a:rPr lang="en-GB" sz="1249" kern="1200" dirty="0" err="1">
                <a:solidFill>
                  <a:srgbClr val="666666"/>
                </a:solidFill>
                <a:latin typeface="Arial"/>
                <a:ea typeface="+mn-ea"/>
                <a:cs typeface="Arial"/>
              </a:rPr>
              <a:t>Löschen</a:t>
            </a:r>
            <a:r>
              <a:rPr lang="en-GB" sz="1249" kern="1200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 / </a:t>
            </a:r>
            <a:r>
              <a:rPr lang="en-GB" sz="1249" kern="1200" spc="-5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Deletes?</a:t>
            </a:r>
            <a:endParaRPr lang="en-GB" sz="1403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61388" y="5149738"/>
            <a:ext cx="1429997" cy="597694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3217" defTabSz="813664">
              <a:lnSpc>
                <a:spcPts val="1488"/>
              </a:lnSpc>
              <a:spcBef>
                <a:spcPts val="104"/>
              </a:spcBef>
            </a:pPr>
            <a:r>
              <a:rPr lang="en-GB" sz="1249" u="heavy" kern="1200" spc="-5" dirty="0" err="1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Arial"/>
                <a:ea typeface="+mn-ea"/>
                <a:cs typeface="Arial"/>
              </a:rPr>
              <a:t>Abhängigkeiten</a:t>
            </a:r>
            <a:endParaRPr lang="en-GB" sz="1249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3217" marR="5287" defTabSz="813664">
              <a:lnSpc>
                <a:spcPts val="1478"/>
              </a:lnSpc>
              <a:spcBef>
                <a:spcPts val="57"/>
              </a:spcBef>
            </a:pPr>
            <a:r>
              <a:rPr lang="en-GB" sz="1249" kern="1200" spc="-5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Class </a:t>
            </a:r>
            <a:r>
              <a:rPr lang="en-GB" sz="1249" kern="1200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-&gt;</a:t>
            </a:r>
            <a:r>
              <a:rPr lang="en-GB" sz="1249" kern="1200" spc="-93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249" kern="1200" spc="-5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Room/time  Room </a:t>
            </a:r>
            <a:r>
              <a:rPr lang="en-GB" sz="1249" kern="1200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-&gt; </a:t>
            </a:r>
            <a:r>
              <a:rPr lang="en-GB" sz="1249" kern="1200" spc="-5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Lat,</a:t>
            </a:r>
            <a:r>
              <a:rPr lang="en-GB" sz="1249" kern="1200" spc="-52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249" kern="1200" spc="-5" dirty="0" err="1">
                <a:solidFill>
                  <a:srgbClr val="666666"/>
                </a:solidFill>
                <a:latin typeface="Arial"/>
                <a:ea typeface="+mn-ea"/>
                <a:cs typeface="Arial"/>
              </a:rPr>
              <a:t>Lng</a:t>
            </a:r>
            <a:endParaRPr lang="en-GB" sz="1403" dirty="0"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1B6421-79D6-A0AE-C0AF-F7097A6874B7}"/>
              </a:ext>
            </a:extLst>
          </p:cNvPr>
          <p:cNvSpPr txBox="1"/>
          <p:nvPr/>
        </p:nvSpPr>
        <p:spPr>
          <a:xfrm>
            <a:off x="546100" y="1568450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Beispiel</a:t>
            </a:r>
            <a:r>
              <a:rPr lang="en-US" dirty="0"/>
              <a:t> </a:t>
            </a:r>
            <a:r>
              <a:rPr lang="en-US" dirty="0" err="1"/>
              <a:t>mittels</a:t>
            </a:r>
            <a:r>
              <a:rPr lang="en-US" dirty="0"/>
              <a:t> </a:t>
            </a:r>
            <a:r>
              <a:rPr lang="en-US" dirty="0" err="1"/>
              <a:t>dessen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Entwurfstheorie</a:t>
            </a:r>
            <a:r>
              <a:rPr lang="en-US" dirty="0"/>
              <a:t> </a:t>
            </a:r>
            <a:r>
              <a:rPr lang="en-US" dirty="0" err="1"/>
              <a:t>entwickeln</a:t>
            </a:r>
            <a:r>
              <a:rPr lang="en-US" dirty="0"/>
              <a:t> </a:t>
            </a:r>
            <a:r>
              <a:rPr lang="en-US" dirty="0" err="1"/>
              <a:t>werden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719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755874" y="1088287"/>
            <a:ext cx="7373151" cy="5379923"/>
          </a:xfrm>
          <a:custGeom>
            <a:avLst/>
            <a:gdLst/>
            <a:ahLst/>
            <a:cxnLst/>
            <a:rect l="l" t="t" r="r" b="b"/>
            <a:pathLst>
              <a:path w="7049134" h="5143500">
                <a:moveTo>
                  <a:pt x="7048785" y="0"/>
                </a:moveTo>
                <a:lnTo>
                  <a:pt x="0" y="0"/>
                </a:lnTo>
                <a:lnTo>
                  <a:pt x="0" y="5143189"/>
                </a:lnTo>
                <a:lnTo>
                  <a:pt x="7048785" y="5143189"/>
                </a:lnTo>
                <a:lnTo>
                  <a:pt x="70487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4700" y="730250"/>
            <a:ext cx="4876800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13217" marR="5287" defTabSz="713731">
              <a:lnSpc>
                <a:spcPct val="100000"/>
              </a:lnSpc>
              <a:spcBef>
                <a:spcPts val="104"/>
              </a:spcBef>
            </a:pPr>
            <a:r>
              <a:rPr lang="en-GB" sz="2082" spc="-5" dirty="0" err="1">
                <a:solidFill>
                  <a:srgbClr val="FFFFFF"/>
                </a:solidFill>
                <a:latin typeface="Arial"/>
                <a:cs typeface="Arial"/>
              </a:rPr>
              <a:t>Beispiel</a:t>
            </a:r>
            <a:r>
              <a:rPr lang="en-GB" sz="2082" spc="-5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lang="en-GB" sz="2082" b="0" i="0" kern="1200" spc="-5" baseline="0" dirty="0">
                <a:solidFill>
                  <a:srgbClr val="FFFFFF"/>
                </a:solidFill>
                <a:latin typeface="Arial"/>
                <a:ea typeface="+mj-ea"/>
                <a:cs typeface="Arial"/>
              </a:rPr>
              <a:t>  </a:t>
            </a:r>
            <a:r>
              <a:rPr lang="en-GB" sz="2082" b="0" i="0" kern="1200" spc="-5" baseline="0" dirty="0" err="1">
                <a:solidFill>
                  <a:srgbClr val="FFFFFF"/>
                </a:solidFill>
                <a:latin typeface="Arial"/>
                <a:ea typeface="+mj-ea"/>
                <a:cs typeface="Arial"/>
              </a:rPr>
              <a:t>Enrollment</a:t>
            </a:r>
            <a:r>
              <a:rPr lang="en-GB" sz="2082" b="0" i="0" kern="1200" spc="-5" baseline="0" dirty="0">
                <a:solidFill>
                  <a:srgbClr val="FFFFFF"/>
                </a:solidFill>
                <a:latin typeface="Arial"/>
                <a:ea typeface="+mj-ea"/>
                <a:cs typeface="Arial"/>
              </a:rPr>
              <a:t>  </a:t>
            </a:r>
            <a:r>
              <a:rPr lang="en-GB" sz="2082" b="0" i="0" kern="1200" spc="-5" baseline="0" dirty="0" err="1">
                <a:solidFill>
                  <a:srgbClr val="FFFFFF"/>
                </a:solidFill>
                <a:latin typeface="Arial"/>
                <a:ea typeface="+mj-ea"/>
                <a:cs typeface="Arial"/>
              </a:rPr>
              <a:t>Tabelle</a:t>
            </a:r>
            <a:r>
              <a:rPr lang="en-GB" sz="2082" b="0" i="0" kern="1200" spc="-5" baseline="0" dirty="0">
                <a:solidFill>
                  <a:srgbClr val="FFFFFF"/>
                </a:solidFill>
                <a:latin typeface="Arial"/>
                <a:ea typeface="+mj-ea"/>
                <a:cs typeface="Arial"/>
              </a:rPr>
              <a:t> </a:t>
            </a:r>
            <a:r>
              <a:rPr lang="en-GB" sz="2082" b="0" i="0" kern="1200" baseline="0" dirty="0">
                <a:solidFill>
                  <a:srgbClr val="FFFFFF"/>
                </a:solidFill>
                <a:latin typeface="Arial"/>
                <a:ea typeface="+mj-ea"/>
                <a:cs typeface="Arial"/>
              </a:rPr>
              <a:t>-</a:t>
            </a:r>
            <a:r>
              <a:rPr lang="en-GB" sz="2082" b="0" i="0" kern="1200" spc="-104" baseline="0" dirty="0">
                <a:solidFill>
                  <a:srgbClr val="FFFFFF"/>
                </a:solidFill>
                <a:latin typeface="Arial"/>
                <a:ea typeface="+mj-ea"/>
                <a:cs typeface="Arial"/>
              </a:rPr>
              <a:t> </a:t>
            </a:r>
            <a:r>
              <a:rPr lang="en-GB" sz="2082" b="0" i="0" kern="1200" baseline="0" dirty="0">
                <a:solidFill>
                  <a:srgbClr val="FFFFFF"/>
                </a:solidFill>
                <a:latin typeface="Arial"/>
                <a:ea typeface="+mj-ea"/>
                <a:cs typeface="Arial"/>
              </a:rPr>
              <a:t>“v1”</a:t>
            </a:r>
            <a:endParaRPr lang="en-GB" sz="2339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66647" y="3427137"/>
            <a:ext cx="529358" cy="496184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3217" defTabSz="813664">
              <a:spcBef>
                <a:spcPts val="104"/>
              </a:spcBef>
            </a:pPr>
            <a:r>
              <a:rPr lang="en-GB" sz="1040" kern="1200" spc="-5">
                <a:solidFill>
                  <a:srgbClr val="666666"/>
                </a:solidFill>
                <a:latin typeface="Arial"/>
                <a:ea typeface="+mn-ea"/>
                <a:cs typeface="Arial"/>
              </a:rPr>
              <a:t>375</a:t>
            </a:r>
            <a:endParaRPr lang="en-GB" sz="104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3217" marR="5287" defTabSz="813664"/>
            <a:r>
              <a:rPr lang="en-GB" sz="1040" kern="1200">
                <a:solidFill>
                  <a:srgbClr val="666666"/>
                </a:solidFill>
                <a:latin typeface="Arial"/>
                <a:ea typeface="+mn-ea"/>
                <a:cs typeface="Arial"/>
              </a:rPr>
              <a:t>cs145  students</a:t>
            </a:r>
            <a:endParaRPr lang="en-GB" sz="1169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66647" y="5697530"/>
            <a:ext cx="529358" cy="496184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3217" defTabSz="813664">
              <a:spcBef>
                <a:spcPts val="104"/>
              </a:spcBef>
            </a:pPr>
            <a:r>
              <a:rPr lang="en-GB" sz="1040" kern="1200" spc="-5">
                <a:solidFill>
                  <a:srgbClr val="666666"/>
                </a:solidFill>
                <a:latin typeface="Arial"/>
                <a:ea typeface="+mn-ea"/>
                <a:cs typeface="Arial"/>
              </a:rPr>
              <a:t>300</a:t>
            </a:r>
            <a:endParaRPr lang="en-GB" sz="104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3217" marR="5287" defTabSz="813664"/>
            <a:r>
              <a:rPr lang="en-GB" sz="1040" kern="1200">
                <a:solidFill>
                  <a:srgbClr val="666666"/>
                </a:solidFill>
                <a:latin typeface="Arial"/>
                <a:ea typeface="+mn-ea"/>
                <a:cs typeface="Arial"/>
              </a:rPr>
              <a:t>cs245  students</a:t>
            </a:r>
            <a:endParaRPr lang="en-GB" sz="1169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34371" y="2187751"/>
            <a:ext cx="1800311" cy="40863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" name="object 9"/>
          <p:cNvSpPr/>
          <p:nvPr/>
        </p:nvSpPr>
        <p:spPr>
          <a:xfrm>
            <a:off x="6014521" y="2627458"/>
            <a:ext cx="2611325" cy="728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" name="object 10"/>
          <p:cNvSpPr/>
          <p:nvPr/>
        </p:nvSpPr>
        <p:spPr>
          <a:xfrm>
            <a:off x="6014521" y="3729343"/>
            <a:ext cx="2611325" cy="3687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FE360F-D7EB-BE4F-D4EA-F0BD7A1B5A7C}"/>
              </a:ext>
            </a:extLst>
          </p:cNvPr>
          <p:cNvSpPr txBox="1"/>
          <p:nvPr/>
        </p:nvSpPr>
        <p:spPr>
          <a:xfrm>
            <a:off x="7175500" y="5149849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Erraten</a:t>
            </a:r>
            <a:r>
              <a:rPr lang="en-US" b="1" dirty="0">
                <a:solidFill>
                  <a:srgbClr val="FF0000"/>
                </a:solidFill>
              </a:rPr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2678150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35820" y="3998955"/>
            <a:ext cx="23723" cy="138851"/>
          </a:xfrm>
          <a:custGeom>
            <a:avLst/>
            <a:gdLst/>
            <a:ahLst/>
            <a:cxnLst/>
            <a:rect l="l" t="t" r="r" b="b"/>
            <a:pathLst>
              <a:path w="21590" h="126364">
                <a:moveTo>
                  <a:pt x="21049" y="126299"/>
                </a:moveTo>
                <a:lnTo>
                  <a:pt x="15237" y="126299"/>
                </a:lnTo>
                <a:lnTo>
                  <a:pt x="10524" y="121599"/>
                </a:lnTo>
                <a:lnTo>
                  <a:pt x="10524" y="115774"/>
                </a:lnTo>
                <a:lnTo>
                  <a:pt x="10524" y="73674"/>
                </a:lnTo>
                <a:lnTo>
                  <a:pt x="10524" y="67849"/>
                </a:lnTo>
                <a:lnTo>
                  <a:pt x="5812" y="63149"/>
                </a:lnTo>
                <a:lnTo>
                  <a:pt x="0" y="63149"/>
                </a:lnTo>
                <a:lnTo>
                  <a:pt x="5812" y="63149"/>
                </a:lnTo>
                <a:lnTo>
                  <a:pt x="10524" y="58449"/>
                </a:lnTo>
                <a:lnTo>
                  <a:pt x="10524" y="52624"/>
                </a:lnTo>
                <a:lnTo>
                  <a:pt x="10524" y="10524"/>
                </a:lnTo>
                <a:lnTo>
                  <a:pt x="10524" y="4699"/>
                </a:lnTo>
                <a:lnTo>
                  <a:pt x="15237" y="0"/>
                </a:lnTo>
                <a:lnTo>
                  <a:pt x="2104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" name="object 3"/>
          <p:cNvSpPr/>
          <p:nvPr/>
        </p:nvSpPr>
        <p:spPr>
          <a:xfrm>
            <a:off x="2907320" y="3998955"/>
            <a:ext cx="23723" cy="138851"/>
          </a:xfrm>
          <a:custGeom>
            <a:avLst/>
            <a:gdLst/>
            <a:ahLst/>
            <a:cxnLst/>
            <a:rect l="l" t="t" r="r" b="b"/>
            <a:pathLst>
              <a:path w="21589" h="126364">
                <a:moveTo>
                  <a:pt x="0" y="0"/>
                </a:moveTo>
                <a:lnTo>
                  <a:pt x="2799" y="0"/>
                </a:lnTo>
                <a:lnTo>
                  <a:pt x="5474" y="1099"/>
                </a:lnTo>
                <a:lnTo>
                  <a:pt x="7449" y="3074"/>
                </a:lnTo>
                <a:lnTo>
                  <a:pt x="9424" y="5049"/>
                </a:lnTo>
                <a:lnTo>
                  <a:pt x="10524" y="7724"/>
                </a:lnTo>
                <a:lnTo>
                  <a:pt x="10524" y="10524"/>
                </a:lnTo>
                <a:lnTo>
                  <a:pt x="10524" y="52624"/>
                </a:lnTo>
                <a:lnTo>
                  <a:pt x="10524" y="58449"/>
                </a:lnTo>
                <a:lnTo>
                  <a:pt x="15249" y="63149"/>
                </a:lnTo>
                <a:lnTo>
                  <a:pt x="21049" y="63149"/>
                </a:lnTo>
                <a:lnTo>
                  <a:pt x="15249" y="63149"/>
                </a:lnTo>
                <a:lnTo>
                  <a:pt x="10524" y="67849"/>
                </a:lnTo>
                <a:lnTo>
                  <a:pt x="10524" y="73674"/>
                </a:lnTo>
                <a:lnTo>
                  <a:pt x="10524" y="115774"/>
                </a:lnTo>
                <a:lnTo>
                  <a:pt x="10524" y="121599"/>
                </a:lnTo>
                <a:lnTo>
                  <a:pt x="5824" y="126299"/>
                </a:lnTo>
                <a:lnTo>
                  <a:pt x="0" y="12629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" name="object 4"/>
          <p:cNvSpPr/>
          <p:nvPr/>
        </p:nvSpPr>
        <p:spPr>
          <a:xfrm>
            <a:off x="3168933" y="3993722"/>
            <a:ext cx="79855" cy="1492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" name="object 5"/>
          <p:cNvSpPr/>
          <p:nvPr/>
        </p:nvSpPr>
        <p:spPr>
          <a:xfrm>
            <a:off x="4294173" y="3993722"/>
            <a:ext cx="79855" cy="1492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" name="object 6"/>
          <p:cNvSpPr/>
          <p:nvPr/>
        </p:nvSpPr>
        <p:spPr>
          <a:xfrm>
            <a:off x="4626771" y="3998955"/>
            <a:ext cx="23723" cy="138851"/>
          </a:xfrm>
          <a:custGeom>
            <a:avLst/>
            <a:gdLst/>
            <a:ahLst/>
            <a:cxnLst/>
            <a:rect l="l" t="t" r="r" b="b"/>
            <a:pathLst>
              <a:path w="21589" h="126364">
                <a:moveTo>
                  <a:pt x="21049" y="126299"/>
                </a:moveTo>
                <a:lnTo>
                  <a:pt x="15224" y="126299"/>
                </a:lnTo>
                <a:lnTo>
                  <a:pt x="10524" y="121599"/>
                </a:lnTo>
                <a:lnTo>
                  <a:pt x="10524" y="115774"/>
                </a:lnTo>
                <a:lnTo>
                  <a:pt x="10524" y="73674"/>
                </a:lnTo>
                <a:lnTo>
                  <a:pt x="10524" y="67849"/>
                </a:lnTo>
                <a:lnTo>
                  <a:pt x="5799" y="63149"/>
                </a:lnTo>
                <a:lnTo>
                  <a:pt x="0" y="63149"/>
                </a:lnTo>
                <a:lnTo>
                  <a:pt x="5799" y="63149"/>
                </a:lnTo>
                <a:lnTo>
                  <a:pt x="10524" y="58449"/>
                </a:lnTo>
                <a:lnTo>
                  <a:pt x="10524" y="52624"/>
                </a:lnTo>
                <a:lnTo>
                  <a:pt x="10524" y="10524"/>
                </a:lnTo>
                <a:lnTo>
                  <a:pt x="10524" y="4699"/>
                </a:lnTo>
                <a:lnTo>
                  <a:pt x="15224" y="0"/>
                </a:lnTo>
                <a:lnTo>
                  <a:pt x="2104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" name="object 7"/>
          <p:cNvSpPr/>
          <p:nvPr/>
        </p:nvSpPr>
        <p:spPr>
          <a:xfrm>
            <a:off x="5798271" y="3998955"/>
            <a:ext cx="23723" cy="138851"/>
          </a:xfrm>
          <a:custGeom>
            <a:avLst/>
            <a:gdLst/>
            <a:ahLst/>
            <a:cxnLst/>
            <a:rect l="l" t="t" r="r" b="b"/>
            <a:pathLst>
              <a:path w="21589" h="126364">
                <a:moveTo>
                  <a:pt x="0" y="0"/>
                </a:moveTo>
                <a:lnTo>
                  <a:pt x="2799" y="0"/>
                </a:lnTo>
                <a:lnTo>
                  <a:pt x="5474" y="1099"/>
                </a:lnTo>
                <a:lnTo>
                  <a:pt x="7449" y="3074"/>
                </a:lnTo>
                <a:lnTo>
                  <a:pt x="9424" y="5049"/>
                </a:lnTo>
                <a:lnTo>
                  <a:pt x="10524" y="7724"/>
                </a:lnTo>
                <a:lnTo>
                  <a:pt x="10524" y="10524"/>
                </a:lnTo>
                <a:lnTo>
                  <a:pt x="10524" y="52624"/>
                </a:lnTo>
                <a:lnTo>
                  <a:pt x="10524" y="58449"/>
                </a:lnTo>
                <a:lnTo>
                  <a:pt x="15224" y="63149"/>
                </a:lnTo>
                <a:lnTo>
                  <a:pt x="21049" y="63149"/>
                </a:lnTo>
                <a:lnTo>
                  <a:pt x="15224" y="63149"/>
                </a:lnTo>
                <a:lnTo>
                  <a:pt x="10524" y="67849"/>
                </a:lnTo>
                <a:lnTo>
                  <a:pt x="10524" y="73674"/>
                </a:lnTo>
                <a:lnTo>
                  <a:pt x="10524" y="115774"/>
                </a:lnTo>
                <a:lnTo>
                  <a:pt x="10524" y="121599"/>
                </a:lnTo>
                <a:lnTo>
                  <a:pt x="5824" y="126299"/>
                </a:lnTo>
                <a:lnTo>
                  <a:pt x="0" y="12629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" name="object 8"/>
          <p:cNvSpPr txBox="1"/>
          <p:nvPr/>
        </p:nvSpPr>
        <p:spPr>
          <a:xfrm>
            <a:off x="4869649" y="3923213"/>
            <a:ext cx="670536" cy="183146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3811" defTabSz="850233">
              <a:spcBef>
                <a:spcPts val="109"/>
              </a:spcBef>
            </a:pPr>
            <a:r>
              <a:rPr lang="en-GB" sz="1087" kern="1200" spc="-6">
                <a:solidFill>
                  <a:srgbClr val="4985E8"/>
                </a:solidFill>
                <a:latin typeface="Arial"/>
                <a:ea typeface="+mn-ea"/>
                <a:cs typeface="Arial"/>
              </a:rPr>
              <a:t>BikeShare</a:t>
            </a:r>
            <a:endParaRPr lang="en-GB" sz="1169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35821" y="4284866"/>
            <a:ext cx="4956104" cy="251189"/>
          </a:xfrm>
          <a:custGeom>
            <a:avLst/>
            <a:gdLst/>
            <a:ahLst/>
            <a:cxnLst/>
            <a:rect l="l" t="t" r="r" b="b"/>
            <a:pathLst>
              <a:path w="4510405" h="228600">
                <a:moveTo>
                  <a:pt x="0" y="228599"/>
                </a:moveTo>
                <a:lnTo>
                  <a:pt x="4510191" y="228599"/>
                </a:lnTo>
                <a:lnTo>
                  <a:pt x="4510191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" name="object 10"/>
          <p:cNvSpPr/>
          <p:nvPr/>
        </p:nvSpPr>
        <p:spPr>
          <a:xfrm>
            <a:off x="1735820" y="4284866"/>
            <a:ext cx="4956104" cy="279099"/>
          </a:xfrm>
          <a:custGeom>
            <a:avLst/>
            <a:gdLst/>
            <a:ahLst/>
            <a:cxnLst/>
            <a:rect l="l" t="t" r="r" b="b"/>
            <a:pathLst>
              <a:path w="4510405" h="254000">
                <a:moveTo>
                  <a:pt x="0" y="0"/>
                </a:moveTo>
                <a:lnTo>
                  <a:pt x="4510190" y="0"/>
                </a:lnTo>
                <a:lnTo>
                  <a:pt x="4510190" y="253799"/>
                </a:lnTo>
                <a:lnTo>
                  <a:pt x="0" y="2537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" name="object 11"/>
          <p:cNvSpPr txBox="1"/>
          <p:nvPr/>
        </p:nvSpPr>
        <p:spPr>
          <a:xfrm>
            <a:off x="1120376" y="4284867"/>
            <a:ext cx="616111" cy="173283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4456" rIns="0" bIns="0" rtlCol="0">
            <a:spAutoFit/>
          </a:bodyPr>
          <a:lstStyle/>
          <a:p>
            <a:pPr marL="93230" defTabSz="850233">
              <a:spcBef>
                <a:spcPts val="33"/>
              </a:spcBef>
            </a:pPr>
            <a:r>
              <a:rPr lang="en-GB" sz="1087" kern="1200" spc="-6">
                <a:solidFill>
                  <a:srgbClr val="4985E8"/>
                </a:solidFill>
                <a:latin typeface="Arial"/>
                <a:ea typeface="+mn-ea"/>
                <a:cs typeface="Arial"/>
              </a:rPr>
              <a:t>94305</a:t>
            </a:r>
            <a:endParaRPr lang="en-GB" sz="1169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73084" y="4286953"/>
            <a:ext cx="5582" cy="308405"/>
          </a:xfrm>
          <a:custGeom>
            <a:avLst/>
            <a:gdLst/>
            <a:ahLst/>
            <a:cxnLst/>
            <a:rect l="l" t="t" r="r" b="b"/>
            <a:pathLst>
              <a:path w="5080" h="280670">
                <a:moveTo>
                  <a:pt x="0" y="0"/>
                </a:moveTo>
                <a:lnTo>
                  <a:pt x="4499" y="28049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" name="object 13"/>
          <p:cNvSpPr/>
          <p:nvPr/>
        </p:nvSpPr>
        <p:spPr>
          <a:xfrm>
            <a:off x="4548480" y="4290636"/>
            <a:ext cx="9071" cy="293752"/>
          </a:xfrm>
          <a:custGeom>
            <a:avLst/>
            <a:gdLst/>
            <a:ahLst/>
            <a:cxnLst/>
            <a:rect l="l" t="t" r="r" b="b"/>
            <a:pathLst>
              <a:path w="8254" h="267335">
                <a:moveTo>
                  <a:pt x="0" y="0"/>
                </a:moveTo>
                <a:lnTo>
                  <a:pt x="7799" y="267274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" name="object 14"/>
          <p:cNvSpPr/>
          <p:nvPr/>
        </p:nvSpPr>
        <p:spPr>
          <a:xfrm>
            <a:off x="6004024" y="4290635"/>
            <a:ext cx="12560" cy="283285"/>
          </a:xfrm>
          <a:custGeom>
            <a:avLst/>
            <a:gdLst/>
            <a:ahLst/>
            <a:cxnLst/>
            <a:rect l="l" t="t" r="r" b="b"/>
            <a:pathLst>
              <a:path w="11429" h="257810">
                <a:moveTo>
                  <a:pt x="0" y="0"/>
                </a:moveTo>
                <a:lnTo>
                  <a:pt x="11099" y="257374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" name="object 15"/>
          <p:cNvSpPr txBox="1"/>
          <p:nvPr/>
        </p:nvSpPr>
        <p:spPr>
          <a:xfrm>
            <a:off x="1066753" y="3920432"/>
            <a:ext cx="2788899" cy="217006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3811" defTabSz="850233">
              <a:spcBef>
                <a:spcPts val="109"/>
              </a:spcBef>
              <a:tabLst>
                <a:tab pos="907434" algn="l"/>
                <a:tab pos="2360434" algn="l"/>
              </a:tabLst>
            </a:pPr>
            <a:r>
              <a:rPr lang="en-GB" sz="1305" kern="1200" spc="-6">
                <a:solidFill>
                  <a:srgbClr val="4985E8"/>
                </a:solidFill>
                <a:latin typeface="Arial"/>
                <a:ea typeface="+mn-ea"/>
                <a:cs typeface="Arial"/>
              </a:rPr>
              <a:t>Zipcod</a:t>
            </a:r>
            <a:r>
              <a:rPr lang="en-GB" sz="1305" kern="1200">
                <a:solidFill>
                  <a:srgbClr val="4985E8"/>
                </a:solidFill>
                <a:latin typeface="Arial"/>
                <a:ea typeface="+mn-ea"/>
                <a:cs typeface="Arial"/>
              </a:rPr>
              <a:t>e	</a:t>
            </a:r>
            <a:r>
              <a:rPr lang="en-GB" sz="1958" kern="1200" spc="-7" baseline="6944">
                <a:solidFill>
                  <a:srgbClr val="4985E8"/>
                </a:solidFill>
                <a:latin typeface="Arial"/>
                <a:ea typeface="+mn-ea"/>
                <a:cs typeface="Arial"/>
              </a:rPr>
              <a:t>Censu</a:t>
            </a:r>
            <a:r>
              <a:rPr lang="en-GB" sz="1958" kern="1200" baseline="6944">
                <a:solidFill>
                  <a:srgbClr val="4985E8"/>
                </a:solidFill>
                <a:latin typeface="Arial"/>
                <a:ea typeface="+mn-ea"/>
                <a:cs typeface="Arial"/>
              </a:rPr>
              <a:t>s	</a:t>
            </a:r>
            <a:r>
              <a:rPr lang="en-GB" sz="1958" kern="1200" spc="-7" baseline="2314">
                <a:solidFill>
                  <a:srgbClr val="4985E8"/>
                </a:solidFill>
                <a:latin typeface="Arial"/>
                <a:ea typeface="+mn-ea"/>
                <a:cs typeface="Arial"/>
              </a:rPr>
              <a:t>Solar</a:t>
            </a:r>
            <a:endParaRPr lang="en-GB" sz="2105" baseline="2314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53201" y="3947714"/>
            <a:ext cx="346083" cy="183146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3811" defTabSz="850233">
              <a:spcBef>
                <a:spcPts val="109"/>
              </a:spcBef>
            </a:pPr>
            <a:r>
              <a:rPr lang="en-GB" sz="1087" kern="1200">
                <a:solidFill>
                  <a:srgbClr val="4985E8"/>
                </a:solidFill>
                <a:latin typeface="Arial"/>
                <a:ea typeface="+mn-ea"/>
                <a:cs typeface="Arial"/>
              </a:rPr>
              <a:t>…….</a:t>
            </a:r>
            <a:endParaRPr lang="en-GB" sz="1169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4374" y="3618089"/>
            <a:ext cx="5103329" cy="250804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3811" defTabSz="850233">
              <a:spcBef>
                <a:spcPts val="109"/>
              </a:spcBef>
            </a:pPr>
            <a:r>
              <a:rPr lang="en-GB" sz="1522" kern="1200" spc="-6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Option </a:t>
            </a:r>
            <a:r>
              <a:rPr lang="en-GB" sz="1522" kern="1200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2 (‘universal </a:t>
            </a:r>
            <a:r>
              <a:rPr lang="en-GB" sz="1522" kern="1200" spc="-6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table’, with 1000-Millionen </a:t>
            </a:r>
            <a:r>
              <a:rPr lang="en-GB" sz="1522" kern="1200" spc="-6" dirty="0" err="1">
                <a:solidFill>
                  <a:srgbClr val="666666"/>
                </a:solidFill>
                <a:latin typeface="Arial"/>
                <a:ea typeface="+mn-ea"/>
                <a:cs typeface="Arial"/>
              </a:rPr>
              <a:t>Spalten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35821" y="4536055"/>
            <a:ext cx="4956104" cy="251189"/>
          </a:xfrm>
          <a:custGeom>
            <a:avLst/>
            <a:gdLst/>
            <a:ahLst/>
            <a:cxnLst/>
            <a:rect l="l" t="t" r="r" b="b"/>
            <a:pathLst>
              <a:path w="4510405" h="228600">
                <a:moveTo>
                  <a:pt x="0" y="228599"/>
                </a:moveTo>
                <a:lnTo>
                  <a:pt x="4510191" y="228599"/>
                </a:lnTo>
                <a:lnTo>
                  <a:pt x="4510191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9" name="object 19"/>
          <p:cNvSpPr/>
          <p:nvPr/>
        </p:nvSpPr>
        <p:spPr>
          <a:xfrm>
            <a:off x="1735820" y="4536055"/>
            <a:ext cx="4956104" cy="279099"/>
          </a:xfrm>
          <a:custGeom>
            <a:avLst/>
            <a:gdLst/>
            <a:ahLst/>
            <a:cxnLst/>
            <a:rect l="l" t="t" r="r" b="b"/>
            <a:pathLst>
              <a:path w="4510405" h="254000">
                <a:moveTo>
                  <a:pt x="0" y="0"/>
                </a:moveTo>
                <a:lnTo>
                  <a:pt x="4510190" y="0"/>
                </a:lnTo>
                <a:lnTo>
                  <a:pt x="4510190" y="253799"/>
                </a:lnTo>
                <a:lnTo>
                  <a:pt x="0" y="2537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0" name="object 20"/>
          <p:cNvSpPr txBox="1"/>
          <p:nvPr/>
        </p:nvSpPr>
        <p:spPr>
          <a:xfrm>
            <a:off x="1120376" y="4536056"/>
            <a:ext cx="616111" cy="173283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4456" rIns="0" bIns="0" rtlCol="0">
            <a:spAutoFit/>
          </a:bodyPr>
          <a:lstStyle/>
          <a:p>
            <a:pPr marL="93230" defTabSz="850233">
              <a:spcBef>
                <a:spcPts val="33"/>
              </a:spcBef>
            </a:pPr>
            <a:r>
              <a:rPr lang="en-GB" sz="1087" kern="1200" spc="-6">
                <a:solidFill>
                  <a:srgbClr val="4985E8"/>
                </a:solidFill>
                <a:latin typeface="Arial"/>
                <a:ea typeface="+mn-ea"/>
                <a:cs typeface="Arial"/>
              </a:rPr>
              <a:t>94040</a:t>
            </a:r>
            <a:endParaRPr lang="en-GB" sz="1169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73084" y="4538143"/>
            <a:ext cx="5582" cy="308405"/>
          </a:xfrm>
          <a:custGeom>
            <a:avLst/>
            <a:gdLst/>
            <a:ahLst/>
            <a:cxnLst/>
            <a:rect l="l" t="t" r="r" b="b"/>
            <a:pathLst>
              <a:path w="5080" h="280670">
                <a:moveTo>
                  <a:pt x="0" y="0"/>
                </a:moveTo>
                <a:lnTo>
                  <a:pt x="4499" y="28049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2" name="object 22"/>
          <p:cNvSpPr/>
          <p:nvPr/>
        </p:nvSpPr>
        <p:spPr>
          <a:xfrm>
            <a:off x="4548480" y="4541798"/>
            <a:ext cx="9071" cy="293752"/>
          </a:xfrm>
          <a:custGeom>
            <a:avLst/>
            <a:gdLst/>
            <a:ahLst/>
            <a:cxnLst/>
            <a:rect l="l" t="t" r="r" b="b"/>
            <a:pathLst>
              <a:path w="8254" h="267335">
                <a:moveTo>
                  <a:pt x="0" y="0"/>
                </a:moveTo>
                <a:lnTo>
                  <a:pt x="7799" y="267324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3" name="object 23"/>
          <p:cNvSpPr/>
          <p:nvPr/>
        </p:nvSpPr>
        <p:spPr>
          <a:xfrm>
            <a:off x="6004024" y="4541797"/>
            <a:ext cx="12560" cy="283285"/>
          </a:xfrm>
          <a:custGeom>
            <a:avLst/>
            <a:gdLst/>
            <a:ahLst/>
            <a:cxnLst/>
            <a:rect l="l" t="t" r="r" b="b"/>
            <a:pathLst>
              <a:path w="11429" h="257810">
                <a:moveTo>
                  <a:pt x="0" y="0"/>
                </a:moveTo>
                <a:lnTo>
                  <a:pt x="11099" y="25739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4" name="object 24"/>
          <p:cNvSpPr/>
          <p:nvPr/>
        </p:nvSpPr>
        <p:spPr>
          <a:xfrm>
            <a:off x="1735821" y="4787244"/>
            <a:ext cx="4956104" cy="279099"/>
          </a:xfrm>
          <a:custGeom>
            <a:avLst/>
            <a:gdLst/>
            <a:ahLst/>
            <a:cxnLst/>
            <a:rect l="l" t="t" r="r" b="b"/>
            <a:pathLst>
              <a:path w="4510405" h="254000">
                <a:moveTo>
                  <a:pt x="0" y="0"/>
                </a:moveTo>
                <a:lnTo>
                  <a:pt x="4510191" y="0"/>
                </a:lnTo>
                <a:lnTo>
                  <a:pt x="4510191" y="253799"/>
                </a:lnTo>
                <a:lnTo>
                  <a:pt x="0" y="253799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5" name="object 25"/>
          <p:cNvSpPr/>
          <p:nvPr/>
        </p:nvSpPr>
        <p:spPr>
          <a:xfrm>
            <a:off x="1735820" y="4787244"/>
            <a:ext cx="4956104" cy="279099"/>
          </a:xfrm>
          <a:custGeom>
            <a:avLst/>
            <a:gdLst/>
            <a:ahLst/>
            <a:cxnLst/>
            <a:rect l="l" t="t" r="r" b="b"/>
            <a:pathLst>
              <a:path w="4510405" h="254000">
                <a:moveTo>
                  <a:pt x="0" y="0"/>
                </a:moveTo>
                <a:lnTo>
                  <a:pt x="4510190" y="0"/>
                </a:lnTo>
                <a:lnTo>
                  <a:pt x="4510190" y="253799"/>
                </a:lnTo>
                <a:lnTo>
                  <a:pt x="0" y="2537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6" name="object 26"/>
          <p:cNvSpPr txBox="1"/>
          <p:nvPr/>
        </p:nvSpPr>
        <p:spPr>
          <a:xfrm>
            <a:off x="1120376" y="4787245"/>
            <a:ext cx="616111" cy="173283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4456" rIns="0" bIns="0" rtlCol="0">
            <a:spAutoFit/>
          </a:bodyPr>
          <a:lstStyle/>
          <a:p>
            <a:pPr marL="93230" defTabSz="850233">
              <a:spcBef>
                <a:spcPts val="33"/>
              </a:spcBef>
            </a:pPr>
            <a:r>
              <a:rPr lang="en-GB" sz="1087" kern="1200" spc="-6">
                <a:solidFill>
                  <a:srgbClr val="4985E8"/>
                </a:solidFill>
                <a:latin typeface="Arial"/>
                <a:ea typeface="+mn-ea"/>
                <a:cs typeface="Arial"/>
              </a:rPr>
              <a:t>94041</a:t>
            </a:r>
            <a:endParaRPr lang="en-GB" sz="1169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973084" y="4789332"/>
            <a:ext cx="5582" cy="308405"/>
          </a:xfrm>
          <a:custGeom>
            <a:avLst/>
            <a:gdLst/>
            <a:ahLst/>
            <a:cxnLst/>
            <a:rect l="l" t="t" r="r" b="b"/>
            <a:pathLst>
              <a:path w="5080" h="280670">
                <a:moveTo>
                  <a:pt x="0" y="0"/>
                </a:moveTo>
                <a:lnTo>
                  <a:pt x="4499" y="28049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8" name="object 28"/>
          <p:cNvSpPr/>
          <p:nvPr/>
        </p:nvSpPr>
        <p:spPr>
          <a:xfrm>
            <a:off x="4548480" y="4792987"/>
            <a:ext cx="9071" cy="293752"/>
          </a:xfrm>
          <a:custGeom>
            <a:avLst/>
            <a:gdLst/>
            <a:ahLst/>
            <a:cxnLst/>
            <a:rect l="l" t="t" r="r" b="b"/>
            <a:pathLst>
              <a:path w="8254" h="267335">
                <a:moveTo>
                  <a:pt x="0" y="0"/>
                </a:moveTo>
                <a:lnTo>
                  <a:pt x="7799" y="267324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9" name="object 29"/>
          <p:cNvSpPr/>
          <p:nvPr/>
        </p:nvSpPr>
        <p:spPr>
          <a:xfrm>
            <a:off x="6004024" y="4792986"/>
            <a:ext cx="12560" cy="283285"/>
          </a:xfrm>
          <a:custGeom>
            <a:avLst/>
            <a:gdLst/>
            <a:ahLst/>
            <a:cxnLst/>
            <a:rect l="l" t="t" r="r" b="b"/>
            <a:pathLst>
              <a:path w="11429" h="257810">
                <a:moveTo>
                  <a:pt x="0" y="0"/>
                </a:moveTo>
                <a:lnTo>
                  <a:pt x="11099" y="257424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1" name="object 31"/>
          <p:cNvSpPr txBox="1"/>
          <p:nvPr/>
        </p:nvSpPr>
        <p:spPr>
          <a:xfrm>
            <a:off x="7942141" y="2310193"/>
            <a:ext cx="523311" cy="183146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3811" defTabSz="850233">
              <a:spcBef>
                <a:spcPts val="109"/>
              </a:spcBef>
            </a:pPr>
            <a:r>
              <a:rPr lang="en-GB" sz="1087" kern="1200" spc="-6">
                <a:solidFill>
                  <a:srgbClr val="4985E8"/>
                </a:solidFill>
                <a:latin typeface="Arial"/>
                <a:ea typeface="+mn-ea"/>
                <a:cs typeface="Arial"/>
              </a:rPr>
              <a:t>Zipcode</a:t>
            </a:r>
            <a:endParaRPr lang="en-GB" sz="1169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84858" y="2310193"/>
            <a:ext cx="221186" cy="183146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3811" defTabSz="850233">
              <a:spcBef>
                <a:spcPts val="109"/>
              </a:spcBef>
            </a:pPr>
            <a:r>
              <a:rPr lang="en-GB" sz="1087" kern="1200">
                <a:solidFill>
                  <a:srgbClr val="4985E8"/>
                </a:solidFill>
                <a:latin typeface="Arial"/>
                <a:ea typeface="+mn-ea"/>
                <a:cs typeface="Arial"/>
              </a:rPr>
              <a:t>. .</a:t>
            </a:r>
            <a:r>
              <a:rPr lang="en-GB" sz="1087" kern="1200" spc="-103">
                <a:solidFill>
                  <a:srgbClr val="4985E8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087" kern="1200">
                <a:solidFill>
                  <a:srgbClr val="4985E8"/>
                </a:solidFill>
                <a:latin typeface="Arial"/>
                <a:ea typeface="+mn-ea"/>
                <a:cs typeface="Arial"/>
              </a:rPr>
              <a:t>.</a:t>
            </a:r>
            <a:endParaRPr lang="en-GB" sz="1169">
              <a:latin typeface="Arial"/>
              <a:cs typeface="Arial"/>
            </a:endParaRPr>
          </a:p>
        </p:txBody>
      </p:sp>
      <p:graphicFrame>
        <p:nvGraphicFramePr>
          <p:cNvPr id="33" name="object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222317"/>
              </p:ext>
            </p:extLst>
          </p:nvPr>
        </p:nvGraphicFramePr>
        <p:xfrm>
          <a:off x="1115141" y="2556914"/>
          <a:ext cx="1976050" cy="829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0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592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000" spc="-5">
                          <a:solidFill>
                            <a:srgbClr val="4985E8"/>
                          </a:solidFill>
                          <a:latin typeface="Arial"/>
                          <a:cs typeface="Arial"/>
                        </a:rPr>
                        <a:t>94305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871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592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000" spc="-5">
                          <a:solidFill>
                            <a:srgbClr val="4985E8"/>
                          </a:solidFill>
                          <a:latin typeface="Arial"/>
                          <a:cs typeface="Arial"/>
                        </a:rPr>
                        <a:t>94040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871" marB="0">
                    <a:lnL w="9525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296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000" spc="-5">
                          <a:solidFill>
                            <a:srgbClr val="4985E8"/>
                          </a:solidFill>
                          <a:latin typeface="Arial"/>
                          <a:cs typeface="Arial"/>
                        </a:rPr>
                        <a:t>94041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871" marB="0">
                    <a:lnL w="9525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4" name="object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76396"/>
              </p:ext>
            </p:extLst>
          </p:nvPr>
        </p:nvGraphicFramePr>
        <p:xfrm>
          <a:off x="3459570" y="2556914"/>
          <a:ext cx="1976050" cy="829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0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592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000" spc="-5">
                          <a:solidFill>
                            <a:srgbClr val="4985E8"/>
                          </a:solidFill>
                          <a:latin typeface="Arial"/>
                          <a:cs typeface="Arial"/>
                        </a:rPr>
                        <a:t>94305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871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592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000" spc="-5">
                          <a:solidFill>
                            <a:srgbClr val="4985E8"/>
                          </a:solidFill>
                          <a:latin typeface="Arial"/>
                          <a:cs typeface="Arial"/>
                        </a:rPr>
                        <a:t>94040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871" marB="0">
                    <a:lnL w="9525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296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000" spc="-5">
                          <a:solidFill>
                            <a:srgbClr val="4985E8"/>
                          </a:solidFill>
                          <a:latin typeface="Arial"/>
                          <a:cs typeface="Arial"/>
                        </a:rPr>
                        <a:t>94041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871" marB="0">
                    <a:lnL w="9525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object 35"/>
          <p:cNvSpPr txBox="1"/>
          <p:nvPr/>
        </p:nvSpPr>
        <p:spPr>
          <a:xfrm>
            <a:off x="1066752" y="2310193"/>
            <a:ext cx="6179256" cy="183146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3811" defTabSz="850233">
              <a:spcBef>
                <a:spcPts val="109"/>
              </a:spcBef>
              <a:tabLst>
                <a:tab pos="847353" algn="l"/>
                <a:tab pos="2333501" algn="l"/>
                <a:tab pos="3167733" algn="l"/>
                <a:tab pos="4653880" algn="l"/>
                <a:tab pos="5488112" algn="l"/>
              </a:tabLst>
            </a:pPr>
            <a:r>
              <a:rPr lang="en-GB" sz="1087" kern="1200" spc="-6">
                <a:solidFill>
                  <a:srgbClr val="4985E8"/>
                </a:solidFill>
                <a:latin typeface="Arial"/>
                <a:ea typeface="+mn-ea"/>
                <a:cs typeface="Arial"/>
              </a:rPr>
              <a:t>Zipcod</a:t>
            </a:r>
            <a:r>
              <a:rPr lang="en-GB" sz="1087" kern="1200">
                <a:solidFill>
                  <a:srgbClr val="4985E8"/>
                </a:solidFill>
                <a:latin typeface="Arial"/>
                <a:ea typeface="+mn-ea"/>
                <a:cs typeface="Arial"/>
              </a:rPr>
              <a:t>e	</a:t>
            </a:r>
            <a:r>
              <a:rPr lang="en-GB" sz="1087" kern="1200" spc="-6">
                <a:solidFill>
                  <a:srgbClr val="4985E8"/>
                </a:solidFill>
                <a:latin typeface="Arial"/>
                <a:ea typeface="+mn-ea"/>
                <a:cs typeface="Arial"/>
              </a:rPr>
              <a:t>Censu</a:t>
            </a:r>
            <a:r>
              <a:rPr lang="en-GB" sz="1087" kern="1200">
                <a:solidFill>
                  <a:srgbClr val="4985E8"/>
                </a:solidFill>
                <a:latin typeface="Arial"/>
                <a:ea typeface="+mn-ea"/>
                <a:cs typeface="Arial"/>
              </a:rPr>
              <a:t>s	</a:t>
            </a:r>
            <a:r>
              <a:rPr lang="en-GB" sz="1087" kern="1200" spc="-6">
                <a:solidFill>
                  <a:srgbClr val="4985E8"/>
                </a:solidFill>
                <a:latin typeface="Arial"/>
                <a:ea typeface="+mn-ea"/>
                <a:cs typeface="Arial"/>
              </a:rPr>
              <a:t>Zipcod</a:t>
            </a:r>
            <a:r>
              <a:rPr lang="en-GB" sz="1087" kern="1200">
                <a:solidFill>
                  <a:srgbClr val="4985E8"/>
                </a:solidFill>
                <a:latin typeface="Arial"/>
                <a:ea typeface="+mn-ea"/>
                <a:cs typeface="Arial"/>
              </a:rPr>
              <a:t>e	</a:t>
            </a:r>
            <a:r>
              <a:rPr lang="en-GB" sz="1087" kern="1200" spc="-6">
                <a:solidFill>
                  <a:srgbClr val="4985E8"/>
                </a:solidFill>
                <a:latin typeface="Arial"/>
                <a:ea typeface="+mn-ea"/>
                <a:cs typeface="Arial"/>
              </a:rPr>
              <a:t>Sola</a:t>
            </a:r>
            <a:r>
              <a:rPr lang="en-GB" sz="1087" kern="1200">
                <a:solidFill>
                  <a:srgbClr val="4985E8"/>
                </a:solidFill>
                <a:latin typeface="Arial"/>
                <a:ea typeface="+mn-ea"/>
                <a:cs typeface="Arial"/>
              </a:rPr>
              <a:t>r	</a:t>
            </a:r>
            <a:r>
              <a:rPr lang="en-GB" sz="1087" kern="1200" spc="-6">
                <a:solidFill>
                  <a:srgbClr val="4985E8"/>
                </a:solidFill>
                <a:latin typeface="Arial"/>
                <a:ea typeface="+mn-ea"/>
                <a:cs typeface="Arial"/>
              </a:rPr>
              <a:t>Zipcod</a:t>
            </a:r>
            <a:r>
              <a:rPr lang="en-GB" sz="1087" kern="1200">
                <a:solidFill>
                  <a:srgbClr val="4985E8"/>
                </a:solidFill>
                <a:latin typeface="Arial"/>
                <a:ea typeface="+mn-ea"/>
                <a:cs typeface="Arial"/>
              </a:rPr>
              <a:t>e	</a:t>
            </a:r>
            <a:r>
              <a:rPr lang="en-GB" sz="1087" kern="1200" spc="-6">
                <a:solidFill>
                  <a:srgbClr val="4985E8"/>
                </a:solidFill>
                <a:latin typeface="Arial"/>
                <a:ea typeface="+mn-ea"/>
                <a:cs typeface="Arial"/>
              </a:rPr>
              <a:t>Bikeshare</a:t>
            </a:r>
            <a:endParaRPr lang="en-GB" sz="1169">
              <a:latin typeface="Arial"/>
              <a:cs typeface="Arial"/>
            </a:endParaRPr>
          </a:p>
        </p:txBody>
      </p:sp>
      <p:graphicFrame>
        <p:nvGraphicFramePr>
          <p:cNvPr id="36" name="object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107653"/>
              </p:ext>
            </p:extLst>
          </p:nvPr>
        </p:nvGraphicFramePr>
        <p:xfrm>
          <a:off x="5803998" y="2556914"/>
          <a:ext cx="1976050" cy="829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0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592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000" spc="-5">
                          <a:solidFill>
                            <a:srgbClr val="4985E8"/>
                          </a:solidFill>
                          <a:latin typeface="Arial"/>
                          <a:cs typeface="Arial"/>
                        </a:rPr>
                        <a:t>94305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871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592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000" spc="-5">
                          <a:solidFill>
                            <a:srgbClr val="4985E8"/>
                          </a:solidFill>
                          <a:latin typeface="Arial"/>
                          <a:cs typeface="Arial"/>
                        </a:rPr>
                        <a:t>94040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871" marB="0">
                    <a:lnL w="9525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296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000" spc="-5">
                          <a:solidFill>
                            <a:srgbClr val="4985E8"/>
                          </a:solidFill>
                          <a:latin typeface="Arial"/>
                          <a:cs typeface="Arial"/>
                        </a:rPr>
                        <a:t>94041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871" marB="0">
                    <a:lnL w="9525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" name="object 37"/>
          <p:cNvSpPr/>
          <p:nvPr/>
        </p:nvSpPr>
        <p:spPr>
          <a:xfrm>
            <a:off x="7695756" y="5601465"/>
            <a:ext cx="2405835" cy="992896"/>
          </a:xfrm>
          <a:custGeom>
            <a:avLst/>
            <a:gdLst/>
            <a:ahLst/>
            <a:cxnLst/>
            <a:rect l="l" t="t" r="r" b="b"/>
            <a:pathLst>
              <a:path w="2189479" h="903604">
                <a:moveTo>
                  <a:pt x="0" y="0"/>
                </a:moveTo>
                <a:lnTo>
                  <a:pt x="2189395" y="0"/>
                </a:lnTo>
                <a:lnTo>
                  <a:pt x="2189395" y="902998"/>
                </a:lnTo>
                <a:lnTo>
                  <a:pt x="0" y="902998"/>
                </a:lnTo>
                <a:lnTo>
                  <a:pt x="0" y="0"/>
                </a:lnTo>
                <a:close/>
              </a:path>
            </a:pathLst>
          </a:custGeom>
          <a:solidFill>
            <a:srgbClr val="C8DAF7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8" name="object 38"/>
          <p:cNvSpPr txBox="1"/>
          <p:nvPr/>
        </p:nvSpPr>
        <p:spPr>
          <a:xfrm>
            <a:off x="7776000" y="5601465"/>
            <a:ext cx="1008858" cy="148880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3811" defTabSz="850233">
              <a:spcBef>
                <a:spcPts val="109"/>
              </a:spcBef>
            </a:pPr>
            <a:r>
              <a:rPr lang="en-GB" sz="870" kern="1200" spc="-6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Was </a:t>
            </a:r>
            <a:r>
              <a:rPr lang="en-GB" sz="870" kern="1200" spc="-6" dirty="0" err="1">
                <a:solidFill>
                  <a:srgbClr val="666666"/>
                </a:solidFill>
                <a:latin typeface="Arial"/>
                <a:ea typeface="+mn-ea"/>
                <a:cs typeface="Arial"/>
              </a:rPr>
              <a:t>ist</a:t>
            </a:r>
            <a:r>
              <a:rPr lang="en-GB" sz="870" kern="1200" spc="-6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870" kern="1200" spc="-6" dirty="0" err="1">
                <a:solidFill>
                  <a:srgbClr val="666666"/>
                </a:solidFill>
                <a:latin typeface="Arial"/>
                <a:ea typeface="+mn-ea"/>
                <a:cs typeface="Arial"/>
              </a:rPr>
              <a:t>besser</a:t>
            </a:r>
            <a:r>
              <a:rPr lang="en-GB" sz="870" kern="1200" spc="-6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?</a:t>
            </a:r>
            <a:endParaRPr lang="en-GB" sz="936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990049" y="5715984"/>
            <a:ext cx="65588" cy="416618"/>
          </a:xfrm>
          <a:prstGeom prst="rect">
            <a:avLst/>
          </a:prstGeom>
        </p:spPr>
        <p:txBody>
          <a:bodyPr vert="horz" wrap="square" lIns="0" tIns="83913" rIns="0" bIns="0" rtlCol="0">
            <a:spAutoFit/>
          </a:bodyPr>
          <a:lstStyle/>
          <a:p>
            <a:pPr marL="13811" defTabSz="850233">
              <a:spcBef>
                <a:spcPts val="615"/>
              </a:spcBef>
            </a:pPr>
            <a:r>
              <a:rPr lang="en-GB" sz="870" kern="1200">
                <a:solidFill>
                  <a:srgbClr val="666666"/>
                </a:solidFill>
                <a:latin typeface="Arial"/>
                <a:ea typeface="+mn-ea"/>
                <a:cs typeface="Arial"/>
              </a:rPr>
              <a:t>-</a:t>
            </a:r>
            <a:endParaRPr lang="en-GB" sz="87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3811" defTabSz="850233">
              <a:spcBef>
                <a:spcPts val="505"/>
              </a:spcBef>
            </a:pPr>
            <a:r>
              <a:rPr lang="en-GB" sz="870" kern="1200">
                <a:solidFill>
                  <a:srgbClr val="666666"/>
                </a:solidFill>
                <a:latin typeface="Arial"/>
                <a:ea typeface="+mn-ea"/>
                <a:cs typeface="Arial"/>
              </a:rPr>
              <a:t>-</a:t>
            </a:r>
            <a:endParaRPr lang="en-GB" sz="936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278377" y="5715985"/>
            <a:ext cx="1627149" cy="591058"/>
          </a:xfrm>
          <a:prstGeom prst="rect">
            <a:avLst/>
          </a:prstGeom>
        </p:spPr>
        <p:txBody>
          <a:bodyPr vert="horz" wrap="square" lIns="0" tIns="83913" rIns="0" bIns="0" rtlCol="0">
            <a:spAutoFit/>
          </a:bodyPr>
          <a:lstStyle/>
          <a:p>
            <a:pPr marL="13811" defTabSz="850233">
              <a:spcBef>
                <a:spcPts val="615"/>
              </a:spcBef>
            </a:pPr>
            <a:r>
              <a:rPr lang="en-GB" sz="870" kern="1200" spc="-6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Reads?</a:t>
            </a:r>
            <a:r>
              <a:rPr lang="en-GB" sz="870" kern="1200" spc="-11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870" kern="1200" spc="-6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Writes?</a:t>
            </a:r>
            <a:endParaRPr lang="en-GB" sz="87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3811" marR="5525" defTabSz="850233">
              <a:lnSpc>
                <a:spcPct val="148400"/>
              </a:lnSpc>
            </a:pPr>
            <a:r>
              <a:rPr lang="en-GB" sz="870" kern="1200" spc="-6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10 </a:t>
            </a:r>
            <a:r>
              <a:rPr lang="en-GB" sz="870" kern="1200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- </a:t>
            </a:r>
            <a:r>
              <a:rPr lang="en-GB" sz="870" spc="-6" dirty="0">
                <a:solidFill>
                  <a:srgbClr val="666666"/>
                </a:solidFill>
                <a:latin typeface="Arial"/>
                <a:cs typeface="Arial"/>
              </a:rPr>
              <a:t>100</a:t>
            </a:r>
            <a:r>
              <a:rPr lang="en-GB" sz="870" kern="1200" spc="-6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870" spc="-6" dirty="0" err="1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lang="en-GB" sz="870" kern="1200" spc="-6" dirty="0" err="1">
                <a:solidFill>
                  <a:srgbClr val="666666"/>
                </a:solidFill>
                <a:latin typeface="Arial"/>
                <a:ea typeface="+mn-ea"/>
                <a:cs typeface="Arial"/>
              </a:rPr>
              <a:t>pplikationen</a:t>
            </a:r>
            <a:r>
              <a:rPr lang="en-GB" sz="870" kern="1200" spc="-6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  </a:t>
            </a:r>
            <a:r>
              <a:rPr lang="en-GB" sz="870" kern="1200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reading/writing</a:t>
            </a:r>
            <a:r>
              <a:rPr lang="en-GB" sz="870" kern="1200" spc="-11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870" spc="-6" dirty="0" err="1">
                <a:solidFill>
                  <a:srgbClr val="666666"/>
                </a:solidFill>
                <a:latin typeface="Arial"/>
                <a:cs typeface="Arial"/>
              </a:rPr>
              <a:t>D</a:t>
            </a:r>
            <a:r>
              <a:rPr lang="en-GB" sz="870" kern="1200" spc="-6" dirty="0" err="1">
                <a:solidFill>
                  <a:srgbClr val="666666"/>
                </a:solidFill>
                <a:latin typeface="Arial"/>
                <a:ea typeface="+mn-ea"/>
                <a:cs typeface="Arial"/>
              </a:rPr>
              <a:t>aten</a:t>
            </a:r>
            <a:endParaRPr lang="en-GB" sz="936" dirty="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55657" y="5519944"/>
            <a:ext cx="5306197" cy="483459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3811" defTabSz="850233">
              <a:spcBef>
                <a:spcPts val="109"/>
              </a:spcBef>
            </a:pPr>
            <a:r>
              <a:rPr lang="en-GB" sz="1522" kern="1200" spc="-6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Option </a:t>
            </a:r>
            <a:r>
              <a:rPr lang="en-GB" sz="1522" kern="1200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3 (</a:t>
            </a:r>
            <a:r>
              <a:rPr lang="en-GB" sz="1522" dirty="0">
                <a:solidFill>
                  <a:srgbClr val="666666"/>
                </a:solidFill>
                <a:latin typeface="Arial"/>
                <a:cs typeface="Arial"/>
              </a:rPr>
              <a:t>1 </a:t>
            </a:r>
            <a:r>
              <a:rPr lang="en-GB" sz="1522" dirty="0" err="1">
                <a:solidFill>
                  <a:srgbClr val="666666"/>
                </a:solidFill>
                <a:latin typeface="Arial"/>
                <a:cs typeface="Arial"/>
              </a:rPr>
              <a:t>Tabelle</a:t>
            </a:r>
            <a:r>
              <a:rPr lang="en-GB" sz="1522" dirty="0">
                <a:solidFill>
                  <a:srgbClr val="666666"/>
                </a:solidFill>
                <a:latin typeface="Arial"/>
                <a:cs typeface="Arial"/>
              </a:rPr>
              <a:t> für </a:t>
            </a:r>
            <a:r>
              <a:rPr lang="en-GB" sz="1522" dirty="0" err="1">
                <a:solidFill>
                  <a:srgbClr val="666666"/>
                </a:solidFill>
                <a:latin typeface="Arial"/>
                <a:cs typeface="Arial"/>
              </a:rPr>
              <a:t>jede</a:t>
            </a:r>
            <a:r>
              <a:rPr lang="en-GB" sz="1522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GB" sz="1522" dirty="0" err="1">
                <a:solidFill>
                  <a:srgbClr val="666666"/>
                </a:solidFill>
                <a:latin typeface="Arial"/>
                <a:cs typeface="Arial"/>
              </a:rPr>
              <a:t>Spalte</a:t>
            </a:r>
            <a:r>
              <a:rPr lang="en-GB" sz="1522" kern="1200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, </a:t>
            </a:r>
            <a:r>
              <a:rPr lang="en-GB" sz="1522" kern="1200" dirty="0" err="1">
                <a:solidFill>
                  <a:srgbClr val="666666"/>
                </a:solidFill>
                <a:latin typeface="Arial"/>
                <a:ea typeface="+mn-ea"/>
                <a:cs typeface="Arial"/>
              </a:rPr>
              <a:t>zipcode</a:t>
            </a:r>
            <a:r>
              <a:rPr lang="en-GB" sz="1522" kern="1200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522" kern="1200" spc="-6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in </a:t>
            </a:r>
            <a:r>
              <a:rPr lang="en-GB" sz="1522" kern="1200" spc="-6" dirty="0" err="1">
                <a:solidFill>
                  <a:srgbClr val="666666"/>
                </a:solidFill>
                <a:latin typeface="Arial"/>
                <a:ea typeface="+mn-ea"/>
                <a:cs typeface="Arial"/>
              </a:rPr>
              <a:t>jeder</a:t>
            </a:r>
            <a:r>
              <a:rPr lang="en-GB" sz="1522" kern="1200" spc="-6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522" kern="1200" spc="-6" dirty="0" err="1">
                <a:solidFill>
                  <a:srgbClr val="666666"/>
                </a:solidFill>
                <a:latin typeface="Arial"/>
                <a:ea typeface="+mn-ea"/>
                <a:cs typeface="Arial"/>
              </a:rPr>
              <a:t>Spalte</a:t>
            </a:r>
            <a:r>
              <a:rPr lang="en-GB" sz="1522" kern="1200" spc="-109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522" kern="1200" spc="-109" dirty="0" err="1">
                <a:solidFill>
                  <a:srgbClr val="666666"/>
                </a:solidFill>
                <a:latin typeface="Arial"/>
                <a:ea typeface="+mn-ea"/>
                <a:cs typeface="Arial"/>
              </a:rPr>
              <a:t>zum</a:t>
            </a:r>
            <a:r>
              <a:rPr lang="en-GB" sz="1522" kern="1200" spc="-109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522" kern="1200" spc="-109" dirty="0" err="1">
                <a:solidFill>
                  <a:srgbClr val="666666"/>
                </a:solidFill>
                <a:latin typeface="Arial"/>
                <a:ea typeface="+mn-ea"/>
                <a:cs typeface="Arial"/>
              </a:rPr>
              <a:t>Joinen</a:t>
            </a:r>
            <a:r>
              <a:rPr lang="en-GB" sz="1522" kern="1200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)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43" name="object 4">
            <a:extLst>
              <a:ext uri="{FF2B5EF4-FFF2-40B4-BE49-F238E27FC236}">
                <a16:creationId xmlns:a16="http://schemas.microsoft.com/office/drawing/2014/main" id="{606FD68F-2DED-0F44-1777-3A04D0DBBC63}"/>
              </a:ext>
            </a:extLst>
          </p:cNvPr>
          <p:cNvSpPr txBox="1">
            <a:spLocks/>
          </p:cNvSpPr>
          <p:nvPr/>
        </p:nvSpPr>
        <p:spPr>
          <a:xfrm>
            <a:off x="774700" y="571250"/>
            <a:ext cx="48768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4852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3217" marR="5287" defTabSz="713731">
              <a:lnSpc>
                <a:spcPct val="100000"/>
              </a:lnSpc>
              <a:spcBef>
                <a:spcPts val="104"/>
              </a:spcBef>
            </a:pPr>
            <a:r>
              <a:rPr lang="en-GB" sz="2082" spc="-5" dirty="0" err="1">
                <a:solidFill>
                  <a:srgbClr val="FFFFFF"/>
                </a:solidFill>
                <a:latin typeface="Arial"/>
                <a:cs typeface="Arial"/>
              </a:rPr>
              <a:t>Berichte</a:t>
            </a:r>
            <a:r>
              <a:rPr lang="en-GB" sz="2082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2082" spc="-5" dirty="0" err="1">
                <a:solidFill>
                  <a:srgbClr val="FFFFFF"/>
                </a:solidFill>
                <a:latin typeface="Arial"/>
                <a:cs typeface="Arial"/>
              </a:rPr>
              <a:t>usw</a:t>
            </a:r>
            <a:r>
              <a:rPr lang="en-GB" sz="2082" spc="-5" dirty="0">
                <a:solidFill>
                  <a:srgbClr val="FFFFFF"/>
                </a:solidFill>
                <a:latin typeface="Arial"/>
                <a:cs typeface="Arial"/>
              </a:rPr>
              <a:t>. </a:t>
            </a:r>
            <a:r>
              <a:rPr lang="en-GB" sz="2082" spc="-5" dirty="0" err="1">
                <a:solidFill>
                  <a:srgbClr val="FFFFFF"/>
                </a:solidFill>
                <a:latin typeface="Arial"/>
                <a:cs typeface="Arial"/>
              </a:rPr>
              <a:t>Mit</a:t>
            </a:r>
            <a:r>
              <a:rPr lang="en-GB" sz="2082" spc="-5" dirty="0">
                <a:solidFill>
                  <a:srgbClr val="FFFFFF"/>
                </a:solidFill>
                <a:latin typeface="Arial"/>
                <a:cs typeface="Arial"/>
              </a:rPr>
              <a:t> Joins</a:t>
            </a:r>
            <a:endParaRPr lang="en-GB" sz="2339" dirty="0">
              <a:latin typeface="Arial"/>
              <a:cs typeface="Arial"/>
            </a:endParaRPr>
          </a:p>
        </p:txBody>
      </p:sp>
      <p:sp>
        <p:nvSpPr>
          <p:cNvPr id="46" name="object 17">
            <a:extLst>
              <a:ext uri="{FF2B5EF4-FFF2-40B4-BE49-F238E27FC236}">
                <a16:creationId xmlns:a16="http://schemas.microsoft.com/office/drawing/2014/main" id="{F7F61370-E088-3DB3-A925-3E501E82E3D3}"/>
              </a:ext>
            </a:extLst>
          </p:cNvPr>
          <p:cNvSpPr txBox="1"/>
          <p:nvPr/>
        </p:nvSpPr>
        <p:spPr>
          <a:xfrm>
            <a:off x="624371" y="1873250"/>
            <a:ext cx="5103329" cy="250804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3811" defTabSz="850233">
              <a:spcBef>
                <a:spcPts val="109"/>
              </a:spcBef>
            </a:pPr>
            <a:r>
              <a:rPr lang="en-GB" sz="1522" kern="1200" spc="-6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Option </a:t>
            </a:r>
            <a:r>
              <a:rPr lang="en-GB" sz="1522" spc="-6" dirty="0">
                <a:solidFill>
                  <a:srgbClr val="666666"/>
                </a:solidFill>
                <a:latin typeface="Arial"/>
                <a:cs typeface="Arial"/>
              </a:rPr>
              <a:t>1</a:t>
            </a:r>
            <a:r>
              <a:rPr lang="en-GB" sz="1522" kern="1200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 (‘</a:t>
            </a:r>
            <a:r>
              <a:rPr lang="en-GB" sz="1522" dirty="0" err="1">
                <a:solidFill>
                  <a:srgbClr val="666666"/>
                </a:solidFill>
                <a:latin typeface="Arial"/>
                <a:cs typeface="Arial"/>
              </a:rPr>
              <a:t>organisiert</a:t>
            </a:r>
            <a:r>
              <a:rPr lang="en-GB" sz="1522" kern="1200" spc="-6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’, </a:t>
            </a:r>
            <a:r>
              <a:rPr lang="en-GB" sz="1522" kern="1200" spc="-6" dirty="0" err="1">
                <a:solidFill>
                  <a:srgbClr val="666666"/>
                </a:solidFill>
                <a:latin typeface="Arial"/>
                <a:ea typeface="+mn-ea"/>
                <a:cs typeface="Arial"/>
              </a:rPr>
              <a:t>mit</a:t>
            </a:r>
            <a:r>
              <a:rPr lang="en-GB" sz="1522" kern="1200" spc="-6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 10-100</a:t>
            </a:r>
            <a:r>
              <a:rPr lang="en-GB" sz="1522" kern="1200" spc="-92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522" spc="-92" dirty="0" err="1">
                <a:solidFill>
                  <a:srgbClr val="666666"/>
                </a:solidFill>
                <a:latin typeface="Arial"/>
                <a:cs typeface="Arial"/>
              </a:rPr>
              <a:t>Spalten</a:t>
            </a:r>
            <a:r>
              <a:rPr lang="en-GB" sz="1522" kern="1200" dirty="0">
                <a:solidFill>
                  <a:srgbClr val="666666"/>
                </a:solidFill>
                <a:latin typeface="Arial"/>
                <a:ea typeface="+mn-ea"/>
                <a:cs typeface="Arial"/>
              </a:rPr>
              <a:t>)</a:t>
            </a:r>
            <a:endParaRPr lang="en-GB" sz="163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5212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BEDD5-203B-A421-DF6D-34B92C38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2" y="614833"/>
            <a:ext cx="7829088" cy="634667"/>
          </a:xfrm>
        </p:spPr>
        <p:txBody>
          <a:bodyPr/>
          <a:lstStyle/>
          <a:p>
            <a:r>
              <a:rPr lang="en-US" sz="3200" dirty="0" err="1"/>
              <a:t>Normalformen</a:t>
            </a:r>
            <a:r>
              <a:rPr lang="en-US" sz="3200" dirty="0"/>
              <a:t> &amp; </a:t>
            </a:r>
            <a:r>
              <a:rPr lang="en-US" sz="3200" dirty="0" err="1"/>
              <a:t>funktionale</a:t>
            </a:r>
            <a:r>
              <a:rPr lang="en-US" sz="3200" dirty="0"/>
              <a:t> </a:t>
            </a:r>
            <a:r>
              <a:rPr lang="en-US" sz="3200" dirty="0" err="1"/>
              <a:t>Abhängigkeiten</a:t>
            </a:r>
            <a:endParaRPr lang="en-US" sz="32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D014882-38E6-1623-2DC8-547BCC8ADFDC}"/>
              </a:ext>
            </a:extLst>
          </p:cNvPr>
          <p:cNvSpPr txBox="1"/>
          <p:nvPr/>
        </p:nvSpPr>
        <p:spPr>
          <a:xfrm>
            <a:off x="774700" y="2101850"/>
            <a:ext cx="8508365" cy="1679947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Normalformen</a:t>
            </a:r>
          </a:p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spc="-5" dirty="0">
                <a:latin typeface="Tahoma"/>
                <a:cs typeface="Tahoma"/>
              </a:rPr>
              <a:t> Datenanomalien &amp; </a:t>
            </a:r>
            <a:r>
              <a:rPr lang="de-DE" sz="2400" spc="-5" dirty="0" err="1">
                <a:latin typeface="Tahoma"/>
                <a:cs typeface="Tahoma"/>
              </a:rPr>
              <a:t>Constraints</a:t>
            </a:r>
            <a:r>
              <a:rPr lang="de-DE" sz="2400" spc="-5" dirty="0">
                <a:latin typeface="Tahoma"/>
                <a:cs typeface="Tahoma"/>
              </a:rPr>
              <a:t>, Anwendungen</a:t>
            </a:r>
          </a:p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spc="-5" dirty="0">
                <a:latin typeface="Tahoma"/>
                <a:cs typeface="Tahoma"/>
              </a:rPr>
              <a:t> Funktionale Abhängigkeiten und Beispiele</a:t>
            </a:r>
            <a:endParaRPr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106365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0900" y="723650"/>
            <a:ext cx="4648200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13366" defTabSz="721751">
              <a:lnSpc>
                <a:spcPct val="100000"/>
              </a:lnSpc>
              <a:spcBef>
                <a:spcPts val="105"/>
              </a:spcBef>
            </a:pPr>
            <a:r>
              <a:rPr lang="en-GB" sz="2200" b="0" i="0" kern="1200" spc="-120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Normalformen</a:t>
            </a:r>
            <a:endParaRPr lang="en-GB" sz="2200" spc="-123" dirty="0"/>
          </a:p>
        </p:txBody>
      </p:sp>
      <p:sp>
        <p:nvSpPr>
          <p:cNvPr id="4" name="object 4"/>
          <p:cNvSpPr txBox="1"/>
          <p:nvPr/>
        </p:nvSpPr>
        <p:spPr>
          <a:xfrm>
            <a:off x="1487315" y="2607070"/>
            <a:ext cx="7288385" cy="855740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285369" indent="-272003" defTabSz="822806">
              <a:spcBef>
                <a:spcPts val="105"/>
              </a:spcBef>
              <a:buChar char="•"/>
              <a:tabLst>
                <a:tab pos="285369" algn="l"/>
                <a:tab pos="286038" algn="l"/>
              </a:tabLst>
            </a:pPr>
            <a:r>
              <a:rPr lang="en-GB" sz="1473" u="heavy" kern="1200" spc="5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1</a:t>
            </a:r>
            <a:r>
              <a:rPr lang="en-GB" sz="1421" u="heavy" kern="1200" spc="7" baseline="30864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ste</a:t>
            </a:r>
            <a:r>
              <a:rPr lang="en-GB" sz="947" kern="1200" spc="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473" u="heavy" kern="1200" spc="-5" dirty="0" err="1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Normalform</a:t>
            </a:r>
            <a:r>
              <a:rPr lang="en-GB" sz="1473" u="heavy" kern="1200" spc="-5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 </a:t>
            </a:r>
            <a:r>
              <a:rPr lang="en-GB" sz="1473" u="heavy" kern="120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(1NF)</a:t>
            </a:r>
            <a:r>
              <a:rPr lang="en-GB" sz="1473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= </a:t>
            </a:r>
            <a:r>
              <a:rPr lang="en-GB" sz="1473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Alle </a:t>
            </a:r>
            <a:r>
              <a:rPr lang="en-GB" sz="1473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Tabellen</a:t>
            </a:r>
            <a:r>
              <a:rPr lang="en-GB" sz="1473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473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sind</a:t>
            </a:r>
            <a:r>
              <a:rPr lang="en-GB" sz="1473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’</a:t>
            </a:r>
            <a:r>
              <a:rPr lang="en-GB" sz="1473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flach</a:t>
            </a:r>
            <a:r>
              <a:rPr lang="en-GB" sz="1473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’ (</a:t>
            </a:r>
            <a:r>
              <a:rPr lang="en-GB" sz="1473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keine</a:t>
            </a:r>
            <a:r>
              <a:rPr lang="en-GB" sz="1473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473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weitere</a:t>
            </a:r>
            <a:r>
              <a:rPr lang="en-GB" sz="1473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473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Struktur</a:t>
            </a:r>
            <a:r>
              <a:rPr lang="en-GB" sz="1473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in </a:t>
            </a:r>
            <a:r>
              <a:rPr lang="en-GB" sz="1473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Feldern</a:t>
            </a:r>
            <a:r>
              <a:rPr lang="en-GB" sz="1473" spc="-5" dirty="0">
                <a:latin typeface="Arial"/>
                <a:cs typeface="Arial"/>
              </a:rPr>
              <a:t>)</a:t>
            </a:r>
            <a:endParaRPr lang="en-GB" sz="1473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822806"/>
            <a:endParaRPr lang="en-GB" sz="1684" kern="1200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285369" indent="-272003" defTabSz="822806">
              <a:spcBef>
                <a:spcPts val="1031"/>
              </a:spcBef>
              <a:buClr>
                <a:srgbClr val="000000"/>
              </a:buClr>
              <a:buChar char="•"/>
              <a:tabLst>
                <a:tab pos="285369" algn="l"/>
                <a:tab pos="286038" algn="l"/>
              </a:tabLst>
            </a:pPr>
            <a:r>
              <a:rPr lang="en-GB" sz="1473" i="1" u="heavy" kern="1200" spc="5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"/>
                <a:ea typeface="+mn-ea"/>
                <a:cs typeface="Arial"/>
              </a:rPr>
              <a:t>2</a:t>
            </a:r>
            <a:r>
              <a:rPr lang="en-GB" sz="1421" i="1" u="heavy" spc="7" baseline="30864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"/>
                <a:cs typeface="Arial"/>
              </a:rPr>
              <a:t>te</a:t>
            </a:r>
            <a:r>
              <a:rPr lang="en-GB" sz="947" i="1" kern="1200" spc="5" dirty="0">
                <a:solidFill>
                  <a:srgbClr val="7E7E7E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473" i="1" u="heavy" kern="1200" spc="-5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"/>
                <a:ea typeface="+mn-ea"/>
                <a:cs typeface="Arial"/>
              </a:rPr>
              <a:t>Normal Form</a:t>
            </a:r>
            <a:r>
              <a:rPr lang="en-GB" sz="1473" i="1" kern="1200" spc="-5" dirty="0">
                <a:solidFill>
                  <a:srgbClr val="7E7E7E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473" i="1" kern="1200" dirty="0">
                <a:solidFill>
                  <a:srgbClr val="7E7E7E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1473" i="1" kern="1200" spc="-21" dirty="0">
                <a:solidFill>
                  <a:srgbClr val="7E7E7E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473" i="1" spc="-5" dirty="0" err="1">
                <a:solidFill>
                  <a:srgbClr val="7E7E7E"/>
                </a:solidFill>
                <a:latin typeface="Arial"/>
                <a:cs typeface="Arial"/>
              </a:rPr>
              <a:t>nicht</a:t>
            </a:r>
            <a:r>
              <a:rPr lang="en-GB" sz="1473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lang="en-GB" sz="1473" i="1" spc="-5" dirty="0" err="1">
                <a:solidFill>
                  <a:srgbClr val="7E7E7E"/>
                </a:solidFill>
                <a:latin typeface="Arial"/>
                <a:cs typeface="Arial"/>
              </a:rPr>
              <a:t>notwending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7316" y="3816963"/>
            <a:ext cx="3331248" cy="241608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285369" indent="-272003" defTabSz="822806">
              <a:spcBef>
                <a:spcPts val="105"/>
              </a:spcBef>
              <a:buChar char="•"/>
              <a:tabLst>
                <a:tab pos="285369" algn="l"/>
                <a:tab pos="286038" algn="l"/>
              </a:tabLst>
            </a:pPr>
            <a:r>
              <a:rPr lang="en-GB" sz="1473" b="1" u="heavy" kern="1200" spc="-5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Boyce-Codd </a:t>
            </a:r>
            <a:r>
              <a:rPr lang="en-GB" sz="1473" b="1" u="heavy" kern="1200" spc="-5" dirty="0" err="1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Normalform</a:t>
            </a:r>
            <a:r>
              <a:rPr lang="en-GB" sz="1473" b="1" u="heavy" kern="1200" spc="-85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 </a:t>
            </a:r>
            <a:r>
              <a:rPr lang="en-GB" sz="1473" b="1" u="heavy" kern="120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(BCNF)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7316" y="4421911"/>
            <a:ext cx="2286031" cy="241608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285369" indent="-272003" defTabSz="822806">
              <a:spcBef>
                <a:spcPts val="105"/>
              </a:spcBef>
              <a:buChar char="•"/>
              <a:tabLst>
                <a:tab pos="285369" algn="l"/>
                <a:tab pos="286038" algn="l"/>
              </a:tabLst>
            </a:pPr>
            <a:r>
              <a:rPr lang="en-GB" sz="1473" b="1" u="heavy" kern="1200" spc="5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3</a:t>
            </a:r>
            <a:r>
              <a:rPr lang="en-GB" sz="1421" b="1" u="heavy" spc="7" baseline="3086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</a:t>
            </a:r>
            <a:r>
              <a:rPr lang="en-GB" sz="947" b="1" kern="1200" spc="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473" b="1" u="heavy" kern="1200" spc="-5" dirty="0" err="1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Normalform</a:t>
            </a:r>
            <a:r>
              <a:rPr lang="en-GB" sz="1473" b="1" u="heavy" kern="1200" spc="-74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 </a:t>
            </a:r>
            <a:r>
              <a:rPr lang="en-GB" sz="1473" b="1" u="heavy" kern="120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(3NF)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87316" y="5026858"/>
            <a:ext cx="3788319" cy="241608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285369" indent="-272003" defTabSz="822806">
              <a:spcBef>
                <a:spcPts val="105"/>
              </a:spcBef>
              <a:buChar char="•"/>
              <a:tabLst>
                <a:tab pos="285369" algn="l"/>
                <a:tab pos="286038" algn="l"/>
              </a:tabLst>
            </a:pPr>
            <a:r>
              <a:rPr lang="en-GB" sz="1473" i="1" u="heavy" kern="1200" spc="5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4</a:t>
            </a:r>
            <a:r>
              <a:rPr lang="en-GB" sz="1421" i="1" u="heavy" kern="1200" spc="7" baseline="30864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te</a:t>
            </a:r>
            <a:r>
              <a:rPr lang="en-GB" sz="947" i="1" kern="1200" spc="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473" i="1" u="heavy" kern="1200" spc="-5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and </a:t>
            </a:r>
            <a:r>
              <a:rPr lang="en-GB" sz="1473" i="1" u="heavy" kern="1200" spc="5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5</a:t>
            </a:r>
            <a:r>
              <a:rPr lang="en-GB" sz="1421" i="1" u="heavy" kern="1200" spc="7" baseline="30864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te</a:t>
            </a:r>
            <a:r>
              <a:rPr lang="en-GB" sz="947" i="1" kern="1200" spc="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473" i="1" u="heavy" kern="1200" spc="-5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Normal Forms</a:t>
            </a:r>
            <a:r>
              <a:rPr lang="en-GB" sz="1473" i="1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473" i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1473" i="1" dirty="0">
                <a:latin typeface="Arial"/>
                <a:cs typeface="Arial"/>
              </a:rPr>
              <a:t>in der </a:t>
            </a:r>
            <a:r>
              <a:rPr lang="en-GB" sz="1473" i="1" dirty="0" err="1">
                <a:latin typeface="Arial"/>
                <a:cs typeface="Arial"/>
              </a:rPr>
              <a:t>Literatur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43990" y="3763686"/>
            <a:ext cx="5799436" cy="1614764"/>
          </a:xfrm>
          <a:custGeom>
            <a:avLst/>
            <a:gdLst/>
            <a:ahLst/>
            <a:cxnLst/>
            <a:rect l="l" t="t" r="r" b="b"/>
            <a:pathLst>
              <a:path w="5478780" h="1283970">
                <a:moveTo>
                  <a:pt x="5264572" y="1283817"/>
                </a:moveTo>
                <a:lnTo>
                  <a:pt x="213982" y="1283817"/>
                </a:lnTo>
                <a:lnTo>
                  <a:pt x="164916" y="1278166"/>
                </a:lnTo>
                <a:lnTo>
                  <a:pt x="119876" y="1262068"/>
                </a:lnTo>
                <a:lnTo>
                  <a:pt x="80145" y="1236809"/>
                </a:lnTo>
                <a:lnTo>
                  <a:pt x="47008" y="1203673"/>
                </a:lnTo>
                <a:lnTo>
                  <a:pt x="21748" y="1163943"/>
                </a:lnTo>
                <a:lnTo>
                  <a:pt x="5651" y="1118905"/>
                </a:lnTo>
                <a:lnTo>
                  <a:pt x="0" y="1069842"/>
                </a:lnTo>
                <a:lnTo>
                  <a:pt x="0" y="213969"/>
                </a:lnTo>
                <a:lnTo>
                  <a:pt x="5651" y="164907"/>
                </a:lnTo>
                <a:lnTo>
                  <a:pt x="21748" y="119870"/>
                </a:lnTo>
                <a:lnTo>
                  <a:pt x="47008" y="80141"/>
                </a:lnTo>
                <a:lnTo>
                  <a:pt x="80145" y="47005"/>
                </a:lnTo>
                <a:lnTo>
                  <a:pt x="119876" y="21747"/>
                </a:lnTo>
                <a:lnTo>
                  <a:pt x="164916" y="5650"/>
                </a:lnTo>
                <a:lnTo>
                  <a:pt x="213982" y="0"/>
                </a:lnTo>
                <a:lnTo>
                  <a:pt x="5264572" y="0"/>
                </a:lnTo>
                <a:lnTo>
                  <a:pt x="5306511" y="4149"/>
                </a:lnTo>
                <a:lnTo>
                  <a:pt x="5346456" y="16288"/>
                </a:lnTo>
                <a:lnTo>
                  <a:pt x="5383283" y="35950"/>
                </a:lnTo>
                <a:lnTo>
                  <a:pt x="5415871" y="62669"/>
                </a:lnTo>
                <a:lnTo>
                  <a:pt x="5442602" y="95257"/>
                </a:lnTo>
                <a:lnTo>
                  <a:pt x="5462265" y="132085"/>
                </a:lnTo>
                <a:lnTo>
                  <a:pt x="5474399" y="172030"/>
                </a:lnTo>
                <a:lnTo>
                  <a:pt x="5478546" y="213969"/>
                </a:lnTo>
                <a:lnTo>
                  <a:pt x="5478546" y="1069842"/>
                </a:lnTo>
                <a:lnTo>
                  <a:pt x="5472895" y="1118905"/>
                </a:lnTo>
                <a:lnTo>
                  <a:pt x="5456797" y="1163943"/>
                </a:lnTo>
                <a:lnTo>
                  <a:pt x="5431538" y="1203673"/>
                </a:lnTo>
                <a:lnTo>
                  <a:pt x="5398402" y="1236809"/>
                </a:lnTo>
                <a:lnTo>
                  <a:pt x="5358672" y="1262068"/>
                </a:lnTo>
                <a:lnTo>
                  <a:pt x="5313634" y="1278166"/>
                </a:lnTo>
                <a:lnTo>
                  <a:pt x="5264572" y="1283817"/>
                </a:lnTo>
                <a:close/>
              </a:path>
            </a:pathLst>
          </a:custGeom>
          <a:solidFill>
            <a:srgbClr val="3A80BA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2105" dirty="0"/>
          </a:p>
        </p:txBody>
      </p:sp>
      <p:sp>
        <p:nvSpPr>
          <p:cNvPr id="9" name="object 9"/>
          <p:cNvSpPr/>
          <p:nvPr/>
        </p:nvSpPr>
        <p:spPr>
          <a:xfrm>
            <a:off x="5037224" y="3847925"/>
            <a:ext cx="238618" cy="1022362"/>
          </a:xfrm>
          <a:custGeom>
            <a:avLst/>
            <a:gdLst/>
            <a:ahLst/>
            <a:cxnLst/>
            <a:rect l="l" t="t" r="r" b="b"/>
            <a:pathLst>
              <a:path w="225425" h="965835">
                <a:moveTo>
                  <a:pt x="0" y="0"/>
                </a:moveTo>
                <a:lnTo>
                  <a:pt x="43768" y="1474"/>
                </a:lnTo>
                <a:lnTo>
                  <a:pt x="79512" y="5493"/>
                </a:lnTo>
                <a:lnTo>
                  <a:pt x="103612" y="11453"/>
                </a:lnTo>
                <a:lnTo>
                  <a:pt x="112449" y="18749"/>
                </a:lnTo>
                <a:lnTo>
                  <a:pt x="112449" y="464074"/>
                </a:lnTo>
                <a:lnTo>
                  <a:pt x="121291" y="471370"/>
                </a:lnTo>
                <a:lnTo>
                  <a:pt x="145399" y="477330"/>
                </a:lnTo>
                <a:lnTo>
                  <a:pt x="181151" y="481349"/>
                </a:lnTo>
                <a:lnTo>
                  <a:pt x="224924" y="482824"/>
                </a:lnTo>
                <a:lnTo>
                  <a:pt x="181151" y="484294"/>
                </a:lnTo>
                <a:lnTo>
                  <a:pt x="145399" y="488305"/>
                </a:lnTo>
                <a:lnTo>
                  <a:pt x="121291" y="494256"/>
                </a:lnTo>
                <a:lnTo>
                  <a:pt x="112449" y="501548"/>
                </a:lnTo>
                <a:lnTo>
                  <a:pt x="112449" y="946873"/>
                </a:lnTo>
                <a:lnTo>
                  <a:pt x="103612" y="954169"/>
                </a:lnTo>
                <a:lnTo>
                  <a:pt x="79512" y="960129"/>
                </a:lnTo>
                <a:lnTo>
                  <a:pt x="43768" y="964148"/>
                </a:lnTo>
                <a:lnTo>
                  <a:pt x="0" y="965623"/>
                </a:lnTo>
              </a:path>
            </a:pathLst>
          </a:custGeom>
          <a:ln w="9524">
            <a:solidFill>
              <a:srgbClr val="347EB8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" name="object 10"/>
          <p:cNvSpPr txBox="1"/>
          <p:nvPr/>
        </p:nvSpPr>
        <p:spPr>
          <a:xfrm>
            <a:off x="5486189" y="3763685"/>
            <a:ext cx="1406840" cy="985797"/>
          </a:xfrm>
          <a:prstGeom prst="rect">
            <a:avLst/>
          </a:prstGeom>
        </p:spPr>
        <p:txBody>
          <a:bodyPr vert="horz" wrap="square" lIns="0" tIns="23763" rIns="0" bIns="0" rtlCol="0">
            <a:spAutoFit/>
          </a:bodyPr>
          <a:lstStyle/>
          <a:p>
            <a:pPr marL="13366" marR="5347" defTabSz="822806">
              <a:lnSpc>
                <a:spcPts val="1495"/>
              </a:lnSpc>
              <a:spcBef>
                <a:spcPts val="168"/>
              </a:spcBef>
            </a:pPr>
            <a:r>
              <a:rPr lang="en-GB" sz="1263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DB Design </a:t>
            </a:r>
            <a:r>
              <a:rPr lang="en-GB" sz="1263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basiert</a:t>
            </a:r>
            <a:r>
              <a:rPr lang="en-GB" sz="1263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 auf </a:t>
            </a:r>
            <a:r>
              <a:rPr lang="en-GB" sz="1263" i="1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funktionalen</a:t>
            </a:r>
            <a:r>
              <a:rPr lang="en-GB" sz="1263" i="1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 </a:t>
            </a:r>
            <a:r>
              <a:rPr lang="en-GB" sz="1263" i="1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Abhängigkeiten</a:t>
            </a:r>
            <a:r>
              <a:rPr lang="en-GB" sz="1263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, um</a:t>
            </a:r>
            <a:r>
              <a:rPr lang="en-GB" sz="1263" kern="1200" spc="-1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263" b="1" i="1" spc="-5" dirty="0" err="1">
                <a:latin typeface="Arial"/>
                <a:cs typeface="Arial"/>
              </a:rPr>
              <a:t>A</a:t>
            </a:r>
            <a:r>
              <a:rPr lang="en-GB" sz="1263" b="1" i="1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nomalien</a:t>
            </a:r>
            <a:r>
              <a:rPr lang="en-GB" sz="1263" b="1" i="1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263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zu</a:t>
            </a:r>
            <a:r>
              <a:rPr lang="en-GB" sz="1263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263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vermeiden</a:t>
            </a:r>
            <a:endParaRPr lang="en-GB" sz="1403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0263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655545"/>
              </p:ext>
            </p:extLst>
          </p:nvPr>
        </p:nvGraphicFramePr>
        <p:xfrm>
          <a:off x="1612900" y="2539913"/>
          <a:ext cx="2965932" cy="145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0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5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13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Student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Courses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Mary</a:t>
                      </a: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{CS145,CS229}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Joe</a:t>
                      </a: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{CS145,CS106}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…</a:t>
                      </a: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…</a:t>
                      </a: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349086" y="4538620"/>
            <a:ext cx="1531717" cy="305659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4851">
              <a:spcBef>
                <a:spcPts val="117"/>
              </a:spcBef>
            </a:pPr>
            <a:r>
              <a:rPr lang="en-GB" sz="1871" b="1" i="1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Verletzt</a:t>
            </a:r>
            <a:r>
              <a:rPr lang="en-GB" sz="1871" b="1" i="1" kern="1200" spc="-94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871" b="1" i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1NF.</a:t>
            </a:r>
            <a:endParaRPr sz="1871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32463" y="5510474"/>
            <a:ext cx="6081237" cy="323142"/>
          </a:xfrm>
          <a:prstGeom prst="rect">
            <a:avLst/>
          </a:prstGeom>
          <a:solidFill>
            <a:srgbClr val="CFE1F2"/>
          </a:solidFill>
        </p:spPr>
        <p:txBody>
          <a:bodyPr vert="horz" wrap="square" lIns="0" tIns="34902" rIns="0" bIns="0" rtlCol="0">
            <a:spAutoFit/>
          </a:bodyPr>
          <a:lstStyle/>
          <a:p>
            <a:pPr marL="761876">
              <a:spcBef>
                <a:spcPts val="275"/>
              </a:spcBef>
            </a:pPr>
            <a:r>
              <a:rPr lang="en-GB" sz="1871" b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1NF Constraint: </a:t>
            </a:r>
            <a:r>
              <a:rPr lang="en-GB" sz="1871" spc="-6" dirty="0" err="1">
                <a:latin typeface="Arial"/>
                <a:cs typeface="Arial"/>
              </a:rPr>
              <a:t>Datent</a:t>
            </a:r>
            <a:r>
              <a:rPr lang="en-GB" sz="1871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ypen</a:t>
            </a:r>
            <a:r>
              <a:rPr lang="en-GB" sz="187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871" kern="1200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müssen</a:t>
            </a:r>
            <a:r>
              <a:rPr lang="en-GB" sz="1871" kern="1200" spc="-2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871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atomar</a:t>
            </a:r>
            <a:r>
              <a:rPr lang="en-GB" sz="187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sein!</a:t>
            </a:r>
            <a:endParaRPr sz="1871" dirty="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957023"/>
              </p:ext>
            </p:extLst>
          </p:nvPr>
        </p:nvGraphicFramePr>
        <p:xfrm>
          <a:off x="5673455" y="2539914"/>
          <a:ext cx="2689687" cy="1815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0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9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13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Student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Courses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Mary</a:t>
                      </a: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CS145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Mary</a:t>
                      </a: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CS229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Joe</a:t>
                      </a: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CS145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Joe</a:t>
                      </a: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CS106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567932" y="4538620"/>
            <a:ext cx="1369568" cy="302896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4851">
              <a:spcBef>
                <a:spcPts val="117"/>
              </a:spcBef>
            </a:pPr>
            <a:r>
              <a:rPr lang="en-GB" sz="187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In </a:t>
            </a:r>
            <a:r>
              <a:rPr lang="en-GB" sz="1871" kern="1200" spc="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1842" kern="1200" spc="8" baseline="3174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ster</a:t>
            </a:r>
            <a:r>
              <a:rPr lang="en-GB" sz="1842" kern="1200" spc="-122" baseline="3174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87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NF</a:t>
            </a:r>
            <a:endParaRPr sz="1871" dirty="0">
              <a:latin typeface="Arial"/>
              <a:cs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26F3DEA-C9D5-2B7F-8811-D41B592DED3C}"/>
              </a:ext>
            </a:extLst>
          </p:cNvPr>
          <p:cNvSpPr txBox="1">
            <a:spLocks/>
          </p:cNvSpPr>
          <p:nvPr/>
        </p:nvSpPr>
        <p:spPr>
          <a:xfrm>
            <a:off x="506189" y="501650"/>
            <a:ext cx="6057271" cy="634667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162000" rIns="91440" bIns="90000" rtlCol="0" anchor="ctr">
            <a:no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1ste </a:t>
            </a:r>
            <a:r>
              <a:rPr lang="en-US" dirty="0" err="1"/>
              <a:t>Normalform</a:t>
            </a:r>
            <a:r>
              <a:rPr lang="en-US" dirty="0"/>
              <a:t> (1NF)</a:t>
            </a:r>
          </a:p>
        </p:txBody>
      </p:sp>
    </p:spTree>
    <p:extLst>
      <p:ext uri="{BB962C8B-B14F-4D97-AF65-F5344CB8AC3E}">
        <p14:creationId xmlns:p14="http://schemas.microsoft.com/office/powerpoint/2010/main" val="561310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543272"/>
              </p:ext>
            </p:extLst>
          </p:nvPr>
        </p:nvGraphicFramePr>
        <p:xfrm>
          <a:off x="850900" y="2539913"/>
          <a:ext cx="3200400" cy="145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8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687941885"/>
                    </a:ext>
                  </a:extLst>
                </a:gridCol>
              </a:tblGrid>
              <a:tr h="36313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Student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b="1" spc="-5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Course</a:t>
                      </a:r>
                      <a:r>
                        <a:rPr lang="de-DE" sz="1400" b="1" spc="-5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_1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marR="0" lvl="0" indent="0" algn="ctr" defTabSz="801945" rtl="0" eaLnBrk="1" fontAlgn="auto" latinLnBrk="0" hangingPunct="1">
                        <a:lnSpc>
                          <a:spcPct val="100000"/>
                        </a:lnSpc>
                        <a:spcBef>
                          <a:spcPts val="459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spc="-5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Course_2</a:t>
                      </a:r>
                      <a:endParaRPr lang="en-GB" sz="1400" dirty="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Mary</a:t>
                      </a: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CS145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de-DE" sz="1400" dirty="0">
                          <a:latin typeface="Arial"/>
                          <a:cs typeface="Arial"/>
                        </a:rPr>
                        <a:t>CS229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Joe</a:t>
                      </a: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CS145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de-DE" sz="1400" dirty="0">
                          <a:latin typeface="Arial"/>
                          <a:cs typeface="Arial"/>
                        </a:rPr>
                        <a:t>CS106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…</a:t>
                      </a: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…</a:t>
                      </a: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349086" y="4538620"/>
            <a:ext cx="1531717" cy="305659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4851">
              <a:spcBef>
                <a:spcPts val="117"/>
              </a:spcBef>
            </a:pPr>
            <a:r>
              <a:rPr lang="en-GB" sz="1871" b="1" i="1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Verletzt</a:t>
            </a:r>
            <a:r>
              <a:rPr lang="en-GB" sz="1871" b="1" i="1" kern="1200" spc="-94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871" b="1" i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1NF.</a:t>
            </a:r>
            <a:endParaRPr sz="1871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32463" y="5510474"/>
            <a:ext cx="6081237" cy="323142"/>
          </a:xfrm>
          <a:prstGeom prst="rect">
            <a:avLst/>
          </a:prstGeom>
          <a:solidFill>
            <a:srgbClr val="CFE1F2"/>
          </a:solidFill>
        </p:spPr>
        <p:txBody>
          <a:bodyPr vert="horz" wrap="square" lIns="0" tIns="34902" rIns="0" bIns="0" rtlCol="0">
            <a:spAutoFit/>
          </a:bodyPr>
          <a:lstStyle/>
          <a:p>
            <a:pPr marL="761876">
              <a:spcBef>
                <a:spcPts val="275"/>
              </a:spcBef>
            </a:pPr>
            <a:r>
              <a:rPr lang="en-GB" sz="1871" b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1NF Constraint: </a:t>
            </a:r>
            <a:r>
              <a:rPr lang="en-GB" sz="1871" spc="-6" dirty="0" err="1">
                <a:latin typeface="Arial"/>
                <a:cs typeface="Arial"/>
              </a:rPr>
              <a:t>Keine</a:t>
            </a:r>
            <a:r>
              <a:rPr lang="en-GB" sz="1871" spc="-6" dirty="0">
                <a:latin typeface="Arial"/>
                <a:cs typeface="Arial"/>
              </a:rPr>
              <a:t> ’repeating groups’</a:t>
            </a:r>
            <a:r>
              <a:rPr lang="en-GB" sz="187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!</a:t>
            </a:r>
            <a:endParaRPr sz="1871" dirty="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673455" y="2539914"/>
          <a:ext cx="2689687" cy="1815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0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9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13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Student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Courses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Mary</a:t>
                      </a: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CS145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Mary</a:t>
                      </a: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CS229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Joe</a:t>
                      </a: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CS145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Joe</a:t>
                      </a: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CS106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567932" y="4538620"/>
            <a:ext cx="1369568" cy="302896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4851">
              <a:spcBef>
                <a:spcPts val="117"/>
              </a:spcBef>
            </a:pPr>
            <a:r>
              <a:rPr lang="en-GB" sz="187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In </a:t>
            </a:r>
            <a:r>
              <a:rPr lang="en-GB" sz="1871" kern="1200" spc="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1842" kern="1200" spc="8" baseline="3174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ster</a:t>
            </a:r>
            <a:r>
              <a:rPr lang="en-GB" sz="1842" kern="1200" spc="-122" baseline="3174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87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NF</a:t>
            </a:r>
            <a:endParaRPr sz="1871" dirty="0">
              <a:latin typeface="Arial"/>
              <a:cs typeface="Arial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8E2C360-BC83-4221-90E7-826CB8A63C94}"/>
              </a:ext>
            </a:extLst>
          </p:cNvPr>
          <p:cNvSpPr txBox="1">
            <a:spLocks/>
          </p:cNvSpPr>
          <p:nvPr/>
        </p:nvSpPr>
        <p:spPr>
          <a:xfrm>
            <a:off x="506189" y="501650"/>
            <a:ext cx="6057271" cy="634667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162000" rIns="91440" bIns="90000" rtlCol="0" anchor="ctr">
            <a:no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1ste </a:t>
            </a:r>
            <a:r>
              <a:rPr lang="en-US" dirty="0" err="1"/>
              <a:t>Normalform</a:t>
            </a:r>
            <a:r>
              <a:rPr lang="en-US" dirty="0"/>
              <a:t> (1NF)</a:t>
            </a:r>
          </a:p>
        </p:txBody>
      </p:sp>
    </p:spTree>
    <p:extLst>
      <p:ext uri="{BB962C8B-B14F-4D97-AF65-F5344CB8AC3E}">
        <p14:creationId xmlns:p14="http://schemas.microsoft.com/office/powerpoint/2010/main" val="1565061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BEDD5-203B-A421-DF6D-34B92C383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Datenanomalien</a:t>
            </a:r>
            <a:r>
              <a:rPr lang="en-US" dirty="0"/>
              <a:t> &amp; Constraints</a:t>
            </a:r>
          </a:p>
        </p:txBody>
      </p:sp>
    </p:spTree>
    <p:extLst>
      <p:ext uri="{BB962C8B-B14F-4D97-AF65-F5344CB8AC3E}">
        <p14:creationId xmlns:p14="http://schemas.microsoft.com/office/powerpoint/2010/main" val="1916695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375" y="654050"/>
            <a:ext cx="5772926" cy="540000"/>
          </a:xfrm>
          <a:prstGeom prst="rect">
            <a:avLst/>
          </a:prstGeom>
        </p:spPr>
        <p:txBody>
          <a:bodyPr vert="horz" wrap="square" lIns="0" tIns="12624" rIns="0" bIns="0" rtlCol="0" anchor="ctr">
            <a:spAutoFit/>
          </a:bodyPr>
          <a:lstStyle/>
          <a:p>
            <a:pPr marL="22425" marR="8971" defTabSz="1210937">
              <a:lnSpc>
                <a:spcPct val="100400"/>
              </a:lnSpc>
              <a:spcBef>
                <a:spcPts val="149"/>
              </a:spcBef>
            </a:pP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Contraints</a:t>
            </a:r>
            <a:r>
              <a:rPr lang="en-GB" sz="2200" b="0" i="0" kern="1200" spc="-177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können</a:t>
            </a:r>
            <a:r>
              <a:rPr lang="en-GB" sz="2200" b="0" i="0" kern="1200" spc="-177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 (</a:t>
            </a: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einige</a:t>
            </a:r>
            <a:r>
              <a:rPr lang="en-GB" sz="2200" spc="-177" dirty="0"/>
              <a:t>)</a:t>
            </a:r>
            <a:r>
              <a:rPr lang="en-GB" sz="2200" b="0" i="0" kern="1200" spc="-177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Anomalien</a:t>
            </a:r>
            <a:r>
              <a:rPr lang="en-GB" sz="2200" b="0" i="0" kern="1200" spc="-177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verhindern</a:t>
            </a:r>
            <a:endParaRPr lang="en-GB" sz="2200" spc="-10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709090"/>
              </p:ext>
            </p:extLst>
          </p:nvPr>
        </p:nvGraphicFramePr>
        <p:xfrm>
          <a:off x="2035276" y="3861047"/>
          <a:ext cx="3020143" cy="1815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0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13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Student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556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Room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Mary</a:t>
                      </a: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0489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CS145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B01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Joe</a:t>
                      </a: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0489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CS145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B01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Sam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0489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CS145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B01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..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..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..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394837" y="4734677"/>
            <a:ext cx="2734188" cy="1329643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46784" rIns="0" bIns="0" rtlCol="0">
            <a:spAutoFit/>
          </a:bodyPr>
          <a:lstStyle/>
          <a:p>
            <a:pPr marL="151373" marR="171556" defTabSz="1380486">
              <a:lnSpc>
                <a:spcPts val="2508"/>
              </a:lnSpc>
              <a:spcBef>
                <a:spcPts val="556"/>
              </a:spcBef>
            </a:pPr>
            <a:r>
              <a:rPr lang="en-GB" sz="2119" spc="-9" dirty="0" err="1">
                <a:latin typeface="Arial"/>
                <a:cs typeface="Arial"/>
              </a:rPr>
              <a:t>Wenn</a:t>
            </a:r>
            <a:r>
              <a:rPr lang="en-GB" sz="2119" spc="-9" dirty="0">
                <a:latin typeface="Arial"/>
                <a:cs typeface="Arial"/>
              </a:rPr>
              <a:t> </a:t>
            </a:r>
            <a:r>
              <a:rPr lang="en-GB" sz="2119" spc="-9" dirty="0" err="1">
                <a:latin typeface="Arial"/>
                <a:cs typeface="Arial"/>
              </a:rPr>
              <a:t>jeder</a:t>
            </a:r>
            <a:r>
              <a:rPr lang="en-GB" sz="2119" spc="-9" dirty="0">
                <a:latin typeface="Arial"/>
                <a:cs typeface="Arial"/>
              </a:rPr>
              <a:t> </a:t>
            </a:r>
            <a:r>
              <a:rPr lang="en-GB" sz="2119" spc="-9" dirty="0" err="1">
                <a:latin typeface="Arial"/>
                <a:cs typeface="Arial"/>
              </a:rPr>
              <a:t>Kurs</a:t>
            </a:r>
            <a:r>
              <a:rPr lang="en-GB" sz="2119" spc="-9" dirty="0">
                <a:latin typeface="Arial"/>
                <a:cs typeface="Arial"/>
              </a:rPr>
              <a:t> in </a:t>
            </a:r>
            <a:r>
              <a:rPr lang="en-GB" sz="2119" spc="-9" dirty="0" err="1">
                <a:latin typeface="Arial"/>
                <a:cs typeface="Arial"/>
              </a:rPr>
              <a:t>einem</a:t>
            </a:r>
            <a:r>
              <a:rPr lang="en-GB" sz="2119" spc="-9" dirty="0">
                <a:latin typeface="Arial"/>
                <a:cs typeface="Arial"/>
              </a:rPr>
              <a:t> </a:t>
            </a:r>
            <a:r>
              <a:rPr lang="en-GB" sz="2119" spc="-9" dirty="0" err="1">
                <a:latin typeface="Arial"/>
                <a:cs typeface="Arial"/>
              </a:rPr>
              <a:t>Raum</a:t>
            </a:r>
            <a:r>
              <a:rPr lang="en-GB" sz="2119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,  </a:t>
            </a:r>
            <a:r>
              <a:rPr lang="en-GB" sz="2119" kern="1200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enthält</a:t>
            </a:r>
            <a:r>
              <a:rPr lang="en-GB" sz="2119" kern="1200" spc="-15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119" b="1" i="1" u="heavy" kern="1200" spc="-9" dirty="0" err="1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redundante</a:t>
            </a:r>
            <a:r>
              <a:rPr lang="en-GB" sz="2119" b="1" i="1" u="heavy" kern="1200" spc="-9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 </a:t>
            </a:r>
            <a:r>
              <a:rPr lang="en-GB" sz="2119" b="1" i="1" kern="1200" spc="-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119" spc="-9" dirty="0">
                <a:latin typeface="Arial"/>
                <a:cs typeface="Arial"/>
              </a:rPr>
              <a:t>I</a:t>
            </a:r>
            <a:r>
              <a:rPr lang="en-GB" sz="2119" kern="1200" spc="-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nformation!</a:t>
            </a:r>
            <a:endParaRPr lang="en-GB" sz="1403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9387" y="2964987"/>
            <a:ext cx="7437575" cy="416418"/>
          </a:xfrm>
          <a:prstGeom prst="rect">
            <a:avLst/>
          </a:prstGeom>
          <a:solidFill>
            <a:srgbClr val="CFE1F2"/>
          </a:solidFill>
        </p:spPr>
        <p:txBody>
          <a:bodyPr vert="horz" wrap="square" lIns="0" tIns="35645" rIns="0" bIns="0" rtlCol="0">
            <a:spAutoFit/>
          </a:bodyPr>
          <a:lstStyle/>
          <a:p>
            <a:pPr marL="371143" defTabSz="1380486">
              <a:spcBef>
                <a:spcPts val="424"/>
              </a:spcBef>
            </a:pPr>
            <a:r>
              <a:rPr lang="en-GB" sz="2472" spc="-88" dirty="0" err="1">
                <a:latin typeface="Arial"/>
                <a:cs typeface="Arial"/>
              </a:rPr>
              <a:t>Schlechtes</a:t>
            </a:r>
            <a:r>
              <a:rPr lang="en-GB" sz="2472" spc="-88" dirty="0">
                <a:latin typeface="Arial"/>
                <a:cs typeface="Arial"/>
              </a:rPr>
              <a:t> Design </a:t>
            </a:r>
            <a:r>
              <a:rPr lang="en-GB" sz="2472" spc="-88" dirty="0" err="1">
                <a:latin typeface="Arial"/>
                <a:cs typeface="Arial"/>
              </a:rPr>
              <a:t>erzeugt</a:t>
            </a:r>
            <a:r>
              <a:rPr lang="en-GB" sz="2472" kern="1200" spc="-8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472" b="1" i="1" spc="-9" dirty="0" err="1">
                <a:latin typeface="Arial"/>
                <a:cs typeface="Arial"/>
              </a:rPr>
              <a:t>A</a:t>
            </a:r>
            <a:r>
              <a:rPr lang="en-GB" sz="2472" b="1" i="1" kern="1200" spc="-9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nomalien</a:t>
            </a:r>
            <a:r>
              <a:rPr lang="en-GB" sz="2472" kern="1200" spc="-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: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17029" y="3702050"/>
            <a:ext cx="1001071" cy="1815650"/>
          </a:xfrm>
          <a:custGeom>
            <a:avLst/>
            <a:gdLst/>
            <a:ahLst/>
            <a:cxnLst/>
            <a:rect l="l" t="t" r="r" b="b"/>
            <a:pathLst>
              <a:path w="867410" h="1487170">
                <a:moveTo>
                  <a:pt x="722373" y="1486812"/>
                </a:moveTo>
                <a:lnTo>
                  <a:pt x="144474" y="1486812"/>
                </a:lnTo>
                <a:lnTo>
                  <a:pt x="98806" y="1479447"/>
                </a:lnTo>
                <a:lnTo>
                  <a:pt x="59146" y="1458939"/>
                </a:lnTo>
                <a:lnTo>
                  <a:pt x="27872" y="1427665"/>
                </a:lnTo>
                <a:lnTo>
                  <a:pt x="7364" y="1388005"/>
                </a:lnTo>
                <a:lnTo>
                  <a:pt x="0" y="1342337"/>
                </a:lnTo>
                <a:lnTo>
                  <a:pt x="0" y="144477"/>
                </a:lnTo>
                <a:lnTo>
                  <a:pt x="7364" y="98811"/>
                </a:lnTo>
                <a:lnTo>
                  <a:pt x="27872" y="59150"/>
                </a:lnTo>
                <a:lnTo>
                  <a:pt x="59146" y="27875"/>
                </a:lnTo>
                <a:lnTo>
                  <a:pt x="98806" y="7365"/>
                </a:lnTo>
                <a:lnTo>
                  <a:pt x="144474" y="0"/>
                </a:lnTo>
                <a:lnTo>
                  <a:pt x="722373" y="0"/>
                </a:lnTo>
                <a:lnTo>
                  <a:pt x="777648" y="10996"/>
                </a:lnTo>
                <a:lnTo>
                  <a:pt x="824523" y="42314"/>
                </a:lnTo>
                <a:lnTo>
                  <a:pt x="855848" y="89187"/>
                </a:lnTo>
                <a:lnTo>
                  <a:pt x="866848" y="144477"/>
                </a:lnTo>
                <a:lnTo>
                  <a:pt x="866848" y="1342337"/>
                </a:lnTo>
                <a:lnTo>
                  <a:pt x="859481" y="1388005"/>
                </a:lnTo>
                <a:lnTo>
                  <a:pt x="838968" y="1427665"/>
                </a:lnTo>
                <a:lnTo>
                  <a:pt x="807691" y="1458939"/>
                </a:lnTo>
                <a:lnTo>
                  <a:pt x="768032" y="1479447"/>
                </a:lnTo>
                <a:lnTo>
                  <a:pt x="722373" y="1486812"/>
                </a:lnTo>
                <a:close/>
              </a:path>
            </a:pathLst>
          </a:custGeom>
          <a:solidFill>
            <a:srgbClr val="FBE4D4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" name="object 7"/>
          <p:cNvSpPr/>
          <p:nvPr/>
        </p:nvSpPr>
        <p:spPr>
          <a:xfrm>
            <a:off x="4117029" y="3702050"/>
            <a:ext cx="1001071" cy="1815650"/>
          </a:xfrm>
          <a:custGeom>
            <a:avLst/>
            <a:gdLst/>
            <a:ahLst/>
            <a:cxnLst/>
            <a:rect l="l" t="t" r="r" b="b"/>
            <a:pathLst>
              <a:path w="867410" h="1487170">
                <a:moveTo>
                  <a:pt x="0" y="144477"/>
                </a:moveTo>
                <a:lnTo>
                  <a:pt x="7364" y="98811"/>
                </a:lnTo>
                <a:lnTo>
                  <a:pt x="27872" y="59150"/>
                </a:lnTo>
                <a:lnTo>
                  <a:pt x="59146" y="27875"/>
                </a:lnTo>
                <a:lnTo>
                  <a:pt x="98806" y="7365"/>
                </a:lnTo>
                <a:lnTo>
                  <a:pt x="144474" y="0"/>
                </a:lnTo>
                <a:lnTo>
                  <a:pt x="722373" y="0"/>
                </a:lnTo>
                <a:lnTo>
                  <a:pt x="777648" y="10996"/>
                </a:lnTo>
                <a:lnTo>
                  <a:pt x="824523" y="42314"/>
                </a:lnTo>
                <a:lnTo>
                  <a:pt x="855848" y="89187"/>
                </a:lnTo>
                <a:lnTo>
                  <a:pt x="866848" y="144477"/>
                </a:lnTo>
                <a:lnTo>
                  <a:pt x="866848" y="1342337"/>
                </a:lnTo>
                <a:lnTo>
                  <a:pt x="859481" y="1388005"/>
                </a:lnTo>
                <a:lnTo>
                  <a:pt x="838968" y="1427665"/>
                </a:lnTo>
                <a:lnTo>
                  <a:pt x="807691" y="1458939"/>
                </a:lnTo>
                <a:lnTo>
                  <a:pt x="768032" y="1479447"/>
                </a:lnTo>
                <a:lnTo>
                  <a:pt x="722373" y="1486812"/>
                </a:lnTo>
                <a:lnTo>
                  <a:pt x="144474" y="1486812"/>
                </a:lnTo>
                <a:lnTo>
                  <a:pt x="98806" y="1479447"/>
                </a:lnTo>
                <a:lnTo>
                  <a:pt x="59146" y="1458939"/>
                </a:lnTo>
                <a:lnTo>
                  <a:pt x="27872" y="1427665"/>
                </a:lnTo>
                <a:lnTo>
                  <a:pt x="7364" y="1388005"/>
                </a:lnTo>
                <a:lnTo>
                  <a:pt x="0" y="1342337"/>
                </a:lnTo>
                <a:lnTo>
                  <a:pt x="0" y="144477"/>
                </a:lnTo>
                <a:close/>
              </a:path>
            </a:pathLst>
          </a:custGeom>
          <a:ln w="25399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F0F2E792-7A32-36DA-5AAB-77701B05D1D3}"/>
              </a:ext>
            </a:extLst>
          </p:cNvPr>
          <p:cNvSpPr txBox="1"/>
          <p:nvPr/>
        </p:nvSpPr>
        <p:spPr>
          <a:xfrm>
            <a:off x="801236" y="1568450"/>
            <a:ext cx="8508365" cy="925894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Relationen / Zusammenhänge müssen jedes Mal überprüft werden (aufwendig?!)</a:t>
            </a:r>
            <a:r>
              <a:rPr lang="de-DE" sz="2400" b="1" spc="-5" dirty="0">
                <a:latin typeface="Tahoma"/>
                <a:cs typeface="Tahoma"/>
              </a:rPr>
              <a:t> </a:t>
            </a:r>
            <a:endParaRPr sz="2400" b="1" dirty="0">
              <a:latin typeface="Tahoma"/>
              <a:cs typeface="Tahom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160CA8-3156-CC1F-E0F7-D372819F53A0}"/>
              </a:ext>
            </a:extLst>
          </p:cNvPr>
          <p:cNvSpPr txBox="1"/>
          <p:nvPr/>
        </p:nvSpPr>
        <p:spPr>
          <a:xfrm>
            <a:off x="564375" y="6064320"/>
            <a:ext cx="3867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Wir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werden</a:t>
            </a:r>
            <a:r>
              <a:rPr lang="en-US" dirty="0">
                <a:solidFill>
                  <a:srgbClr val="FF0000"/>
                </a:solidFill>
              </a:rPr>
              <a:t> dies </a:t>
            </a:r>
            <a:r>
              <a:rPr lang="en-US" dirty="0" err="1">
                <a:solidFill>
                  <a:srgbClr val="FF0000"/>
                </a:solidFill>
              </a:rPr>
              <a:t>gleich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als</a:t>
            </a:r>
            <a:r>
              <a:rPr lang="en-US" dirty="0">
                <a:solidFill>
                  <a:srgbClr val="FF0000"/>
                </a:solidFill>
              </a:rPr>
              <a:t> ‘</a:t>
            </a:r>
            <a:r>
              <a:rPr lang="en-US" dirty="0" err="1">
                <a:solidFill>
                  <a:srgbClr val="FF0000"/>
                </a:solidFill>
              </a:rPr>
              <a:t>funktionale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Abhängigkeiten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identifizieren</a:t>
            </a:r>
            <a:r>
              <a:rPr lang="en-US" dirty="0">
                <a:solidFill>
                  <a:srgbClr val="FF0000"/>
                </a:solidFill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1764758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360135"/>
              </p:ext>
            </p:extLst>
          </p:nvPr>
        </p:nvGraphicFramePr>
        <p:xfrm>
          <a:off x="2003619" y="3859264"/>
          <a:ext cx="3020143" cy="1815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0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13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Student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556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Room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Mary</a:t>
                      </a: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0489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CS145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B01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Joe</a:t>
                      </a: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0489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CS145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C12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Sam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0489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CS145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B01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..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..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..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453682" y="4208729"/>
            <a:ext cx="2846017" cy="1310022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46784" rIns="0" bIns="0" rtlCol="0">
            <a:spAutoFit/>
          </a:bodyPr>
          <a:lstStyle/>
          <a:p>
            <a:pPr marL="147266" marR="138475" defTabSz="1353059">
              <a:lnSpc>
                <a:spcPts val="2458"/>
              </a:lnSpc>
              <a:spcBef>
                <a:spcPts val="545"/>
              </a:spcBef>
            </a:pPr>
            <a:r>
              <a:rPr lang="en-GB" sz="2076" spc="-9" dirty="0">
                <a:latin typeface="Arial"/>
                <a:cs typeface="Arial"/>
              </a:rPr>
              <a:t>U</a:t>
            </a:r>
            <a:r>
              <a:rPr lang="en-GB" sz="2076" kern="1200" spc="-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pdate </a:t>
            </a:r>
            <a:r>
              <a:rPr lang="en-GB" sz="2076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room </a:t>
            </a:r>
            <a:r>
              <a:rPr lang="en-GB" sz="2076" spc="-9" dirty="0">
                <a:latin typeface="Arial"/>
                <a:cs typeface="Arial"/>
              </a:rPr>
              <a:t>für </a:t>
            </a:r>
            <a:r>
              <a:rPr lang="en-GB" sz="2076" spc="-9" dirty="0" err="1">
                <a:latin typeface="Arial"/>
                <a:cs typeface="Arial"/>
              </a:rPr>
              <a:t>nur</a:t>
            </a:r>
            <a:r>
              <a:rPr lang="en-GB" sz="2076" spc="-9" dirty="0">
                <a:latin typeface="Arial"/>
                <a:cs typeface="Arial"/>
              </a:rPr>
              <a:t> </a:t>
            </a:r>
            <a:r>
              <a:rPr lang="en-GB" sz="2076" spc="-9" dirty="0" err="1">
                <a:latin typeface="Arial"/>
                <a:cs typeface="Arial"/>
              </a:rPr>
              <a:t>ein</a:t>
            </a:r>
            <a:r>
              <a:rPr lang="en-GB" sz="2076" spc="-9" dirty="0">
                <a:latin typeface="Arial"/>
                <a:cs typeface="Arial"/>
              </a:rPr>
              <a:t> T</a:t>
            </a:r>
            <a:r>
              <a:rPr lang="en-GB" sz="2076" kern="1200" spc="-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uple</a:t>
            </a:r>
            <a:r>
              <a:rPr lang="en-GB" sz="2076" spc="-9" dirty="0">
                <a:latin typeface="Arial"/>
                <a:cs typeface="Arial"/>
              </a:rPr>
              <a:t> </a:t>
            </a:r>
            <a:r>
              <a:rPr lang="en-GB" sz="2076" spc="-9" dirty="0" err="1">
                <a:latin typeface="Arial"/>
                <a:cs typeface="Arial"/>
              </a:rPr>
              <a:t>erzeugt</a:t>
            </a:r>
            <a:r>
              <a:rPr lang="en-GB" sz="2076" kern="1200" spc="-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76" kern="1200" spc="-9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inkonsistente</a:t>
            </a:r>
            <a:r>
              <a:rPr lang="en-GB" sz="2076" kern="1200" spc="-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76" spc="-9" dirty="0" err="1">
                <a:latin typeface="Arial"/>
                <a:cs typeface="Arial"/>
              </a:rPr>
              <a:t>D</a:t>
            </a:r>
            <a:r>
              <a:rPr lang="en-GB" sz="2076" kern="1200" spc="-9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aten</a:t>
            </a:r>
            <a:r>
              <a:rPr lang="en-GB" sz="2076" kern="1200" spc="-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76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2076" kern="1200" spc="-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76" b="1" i="1" u="heavy" spc="-9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</a:t>
            </a:r>
            <a:r>
              <a:rPr lang="en-GB" sz="2076" b="1" i="1" u="heavy" kern="1200" spc="-9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pdate</a:t>
            </a:r>
            <a:r>
              <a:rPr lang="en-GB" sz="2076" b="1" i="1" u="heavy" spc="-139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-</a:t>
            </a:r>
            <a:r>
              <a:rPr lang="en-GB" sz="2076" b="1" i="1" u="heavy" spc="-9" dirty="0" err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lang="en-GB" sz="2076" b="1" u="heavy" kern="1200" spc="-9" dirty="0" err="1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nomalie</a:t>
            </a:r>
            <a:endParaRPr lang="en-GB" sz="1403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27501" y="4569497"/>
            <a:ext cx="855143" cy="427953"/>
          </a:xfrm>
          <a:custGeom>
            <a:avLst/>
            <a:gdLst/>
            <a:ahLst/>
            <a:cxnLst/>
            <a:rect l="l" t="t" r="r" b="b"/>
            <a:pathLst>
              <a:path w="494029" h="335280">
                <a:moveTo>
                  <a:pt x="437974" y="334674"/>
                </a:moveTo>
                <a:lnTo>
                  <a:pt x="55774" y="334674"/>
                </a:lnTo>
                <a:lnTo>
                  <a:pt x="34055" y="330290"/>
                </a:lnTo>
                <a:lnTo>
                  <a:pt x="16328" y="318336"/>
                </a:lnTo>
                <a:lnTo>
                  <a:pt x="4380" y="300607"/>
                </a:lnTo>
                <a:lnTo>
                  <a:pt x="0" y="278899"/>
                </a:lnTo>
                <a:lnTo>
                  <a:pt x="0" y="55774"/>
                </a:lnTo>
                <a:lnTo>
                  <a:pt x="4380" y="34066"/>
                </a:lnTo>
                <a:lnTo>
                  <a:pt x="16328" y="16337"/>
                </a:lnTo>
                <a:lnTo>
                  <a:pt x="34055" y="4383"/>
                </a:lnTo>
                <a:lnTo>
                  <a:pt x="55774" y="0"/>
                </a:lnTo>
                <a:lnTo>
                  <a:pt x="437974" y="0"/>
                </a:lnTo>
                <a:lnTo>
                  <a:pt x="477424" y="16349"/>
                </a:lnTo>
                <a:lnTo>
                  <a:pt x="493774" y="55774"/>
                </a:lnTo>
                <a:lnTo>
                  <a:pt x="493774" y="278899"/>
                </a:lnTo>
                <a:lnTo>
                  <a:pt x="489390" y="300607"/>
                </a:lnTo>
                <a:lnTo>
                  <a:pt x="477433" y="318336"/>
                </a:lnTo>
                <a:lnTo>
                  <a:pt x="459697" y="330290"/>
                </a:lnTo>
                <a:lnTo>
                  <a:pt x="437974" y="334674"/>
                </a:lnTo>
                <a:close/>
              </a:path>
            </a:pathLst>
          </a:custGeom>
          <a:solidFill>
            <a:srgbClr val="FBE4D4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" name="object 7"/>
          <p:cNvSpPr/>
          <p:nvPr/>
        </p:nvSpPr>
        <p:spPr>
          <a:xfrm>
            <a:off x="4127500" y="4569497"/>
            <a:ext cx="855143" cy="427953"/>
          </a:xfrm>
          <a:custGeom>
            <a:avLst/>
            <a:gdLst/>
            <a:ahLst/>
            <a:cxnLst/>
            <a:rect l="l" t="t" r="r" b="b"/>
            <a:pathLst>
              <a:path w="494029" h="335280">
                <a:moveTo>
                  <a:pt x="0" y="55774"/>
                </a:moveTo>
                <a:lnTo>
                  <a:pt x="4380" y="34066"/>
                </a:lnTo>
                <a:lnTo>
                  <a:pt x="16328" y="16337"/>
                </a:lnTo>
                <a:lnTo>
                  <a:pt x="34055" y="4383"/>
                </a:lnTo>
                <a:lnTo>
                  <a:pt x="55774" y="0"/>
                </a:lnTo>
                <a:lnTo>
                  <a:pt x="437974" y="0"/>
                </a:lnTo>
                <a:lnTo>
                  <a:pt x="477424" y="16349"/>
                </a:lnTo>
                <a:lnTo>
                  <a:pt x="493774" y="55774"/>
                </a:lnTo>
                <a:lnTo>
                  <a:pt x="493774" y="278899"/>
                </a:lnTo>
                <a:lnTo>
                  <a:pt x="489390" y="300607"/>
                </a:lnTo>
                <a:lnTo>
                  <a:pt x="477433" y="318336"/>
                </a:lnTo>
                <a:lnTo>
                  <a:pt x="459697" y="330290"/>
                </a:lnTo>
                <a:lnTo>
                  <a:pt x="437974" y="334674"/>
                </a:lnTo>
                <a:lnTo>
                  <a:pt x="55774" y="334674"/>
                </a:lnTo>
                <a:lnTo>
                  <a:pt x="34055" y="330290"/>
                </a:lnTo>
                <a:lnTo>
                  <a:pt x="16328" y="318336"/>
                </a:lnTo>
                <a:lnTo>
                  <a:pt x="4380" y="300607"/>
                </a:lnTo>
                <a:lnTo>
                  <a:pt x="0" y="278899"/>
                </a:lnTo>
                <a:lnTo>
                  <a:pt x="0" y="55774"/>
                </a:lnTo>
                <a:close/>
              </a:path>
            </a:pathLst>
          </a:custGeom>
          <a:ln w="25399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FEA33CAD-F542-2192-9834-483F13BE9801}"/>
              </a:ext>
            </a:extLst>
          </p:cNvPr>
          <p:cNvSpPr txBox="1"/>
          <p:nvPr/>
        </p:nvSpPr>
        <p:spPr>
          <a:xfrm>
            <a:off x="801236" y="1568450"/>
            <a:ext cx="8508365" cy="925894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Relationen / Zusammenhänge müssen jedes Mal überprüft werden (aufwendig?!)</a:t>
            </a:r>
            <a:r>
              <a:rPr lang="de-DE" sz="2400" b="1" spc="-5" dirty="0">
                <a:latin typeface="Tahoma"/>
                <a:cs typeface="Tahoma"/>
              </a:rPr>
              <a:t> </a:t>
            </a:r>
            <a:endParaRPr sz="2400" b="1" dirty="0">
              <a:latin typeface="Tahoma"/>
              <a:cs typeface="Tahoma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7294389D-FABB-B2FD-0D57-E098EF9E67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4375" y="577850"/>
            <a:ext cx="5772926" cy="540000"/>
          </a:xfrm>
          <a:prstGeom prst="rect">
            <a:avLst/>
          </a:prstGeom>
        </p:spPr>
        <p:txBody>
          <a:bodyPr vert="horz" wrap="square" lIns="0" tIns="12624" rIns="0" bIns="0" rtlCol="0" anchor="ctr">
            <a:spAutoFit/>
          </a:bodyPr>
          <a:lstStyle/>
          <a:p>
            <a:pPr marL="22425" marR="8971" defTabSz="1210937">
              <a:lnSpc>
                <a:spcPct val="100400"/>
              </a:lnSpc>
              <a:spcBef>
                <a:spcPts val="149"/>
              </a:spcBef>
            </a:pP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Contraints</a:t>
            </a:r>
            <a:r>
              <a:rPr lang="en-GB" sz="2200" b="0" i="0" kern="1200" spc="-177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können</a:t>
            </a:r>
            <a:r>
              <a:rPr lang="en-GB" sz="2200" b="0" i="0" kern="1200" spc="-177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 (</a:t>
            </a: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einige</a:t>
            </a:r>
            <a:r>
              <a:rPr lang="en-GB" sz="2200" b="0" i="0" kern="1200" spc="-177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) </a:t>
            </a: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Anomalien</a:t>
            </a:r>
            <a:r>
              <a:rPr lang="en-GB" sz="2200" b="0" i="0" kern="1200" spc="-177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verhindern</a:t>
            </a:r>
            <a:endParaRPr lang="en-GB" sz="2200" spc="-105" dirty="0"/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1C2AB5D1-54EC-65B8-B05E-0BD3C2AFAE7A}"/>
              </a:ext>
            </a:extLst>
          </p:cNvPr>
          <p:cNvSpPr txBox="1"/>
          <p:nvPr/>
        </p:nvSpPr>
        <p:spPr>
          <a:xfrm>
            <a:off x="899387" y="2964987"/>
            <a:ext cx="7437575" cy="416418"/>
          </a:xfrm>
          <a:prstGeom prst="rect">
            <a:avLst/>
          </a:prstGeom>
          <a:solidFill>
            <a:srgbClr val="CFE1F2"/>
          </a:solidFill>
        </p:spPr>
        <p:txBody>
          <a:bodyPr vert="horz" wrap="square" lIns="0" tIns="35645" rIns="0" bIns="0" rtlCol="0">
            <a:spAutoFit/>
          </a:bodyPr>
          <a:lstStyle/>
          <a:p>
            <a:pPr marL="371143" defTabSz="1380486">
              <a:spcBef>
                <a:spcPts val="424"/>
              </a:spcBef>
            </a:pPr>
            <a:r>
              <a:rPr lang="en-GB" sz="2472" spc="-88" dirty="0" err="1">
                <a:latin typeface="Arial"/>
                <a:cs typeface="Arial"/>
              </a:rPr>
              <a:t>Schlechtes</a:t>
            </a:r>
            <a:r>
              <a:rPr lang="en-GB" sz="2472" spc="-88" dirty="0">
                <a:latin typeface="Arial"/>
                <a:cs typeface="Arial"/>
              </a:rPr>
              <a:t> Design </a:t>
            </a:r>
            <a:r>
              <a:rPr lang="en-GB" sz="2472" spc="-88" dirty="0" err="1">
                <a:latin typeface="Arial"/>
                <a:cs typeface="Arial"/>
              </a:rPr>
              <a:t>erzeugt</a:t>
            </a:r>
            <a:r>
              <a:rPr lang="en-GB" sz="2472" kern="1200" spc="-8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472" b="1" i="1" spc="-9" dirty="0" err="1">
                <a:latin typeface="Arial"/>
                <a:cs typeface="Arial"/>
              </a:rPr>
              <a:t>A</a:t>
            </a:r>
            <a:r>
              <a:rPr lang="en-GB" sz="2472" b="1" i="1" kern="1200" spc="-9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nomalien</a:t>
            </a:r>
            <a:r>
              <a:rPr lang="en-GB" sz="2472" kern="1200" spc="-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:</a:t>
            </a:r>
            <a:endParaRPr lang="en-GB" sz="163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8934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AD779A24-7F4D-E01A-D1F1-61DB5D6D6132}"/>
              </a:ext>
            </a:extLst>
          </p:cNvPr>
          <p:cNvSpPr/>
          <p:nvPr/>
        </p:nvSpPr>
        <p:spPr>
          <a:xfrm>
            <a:off x="3683596" y="4244164"/>
            <a:ext cx="0" cy="742597"/>
          </a:xfrm>
          <a:custGeom>
            <a:avLst/>
            <a:gdLst/>
            <a:ahLst/>
            <a:cxnLst/>
            <a:rect l="l" t="t" r="r" b="b"/>
            <a:pathLst>
              <a:path h="635000">
                <a:moveTo>
                  <a:pt x="0" y="0"/>
                </a:moveTo>
                <a:lnTo>
                  <a:pt x="0" y="634498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1BF7C690-E3EE-E9D9-75B2-4612DA513C2D}"/>
              </a:ext>
            </a:extLst>
          </p:cNvPr>
          <p:cNvSpPr/>
          <p:nvPr/>
        </p:nvSpPr>
        <p:spPr>
          <a:xfrm>
            <a:off x="4844325" y="4244164"/>
            <a:ext cx="0" cy="742597"/>
          </a:xfrm>
          <a:custGeom>
            <a:avLst/>
            <a:gdLst/>
            <a:ahLst/>
            <a:cxnLst/>
            <a:rect l="l" t="t" r="r" b="b"/>
            <a:pathLst>
              <a:path h="635000">
                <a:moveTo>
                  <a:pt x="0" y="0"/>
                </a:moveTo>
                <a:lnTo>
                  <a:pt x="0" y="634498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43A81BEE-1586-AAB1-4022-E43BD42985EF}"/>
              </a:ext>
            </a:extLst>
          </p:cNvPr>
          <p:cNvSpPr/>
          <p:nvPr/>
        </p:nvSpPr>
        <p:spPr>
          <a:xfrm>
            <a:off x="5771986" y="4244164"/>
            <a:ext cx="0" cy="742597"/>
          </a:xfrm>
          <a:custGeom>
            <a:avLst/>
            <a:gdLst/>
            <a:ahLst/>
            <a:cxnLst/>
            <a:rect l="l" t="t" r="r" b="b"/>
            <a:pathLst>
              <a:path h="635000">
                <a:moveTo>
                  <a:pt x="0" y="0"/>
                </a:moveTo>
                <a:lnTo>
                  <a:pt x="0" y="634498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A730F48E-9D5C-BEBC-0FAC-B12AFEE37F99}"/>
              </a:ext>
            </a:extLst>
          </p:cNvPr>
          <p:cNvSpPr/>
          <p:nvPr/>
        </p:nvSpPr>
        <p:spPr>
          <a:xfrm>
            <a:off x="6704236" y="4244164"/>
            <a:ext cx="0" cy="742597"/>
          </a:xfrm>
          <a:custGeom>
            <a:avLst/>
            <a:gdLst/>
            <a:ahLst/>
            <a:cxnLst/>
            <a:rect l="l" t="t" r="r" b="b"/>
            <a:pathLst>
              <a:path h="635000">
                <a:moveTo>
                  <a:pt x="0" y="0"/>
                </a:moveTo>
                <a:lnTo>
                  <a:pt x="0" y="634498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B6013020-7935-BD7B-E802-BFCA81BAA27B}"/>
              </a:ext>
            </a:extLst>
          </p:cNvPr>
          <p:cNvSpPr/>
          <p:nvPr/>
        </p:nvSpPr>
        <p:spPr>
          <a:xfrm>
            <a:off x="3676170" y="4251590"/>
            <a:ext cx="3035737" cy="0"/>
          </a:xfrm>
          <a:custGeom>
            <a:avLst/>
            <a:gdLst/>
            <a:ahLst/>
            <a:cxnLst/>
            <a:rect l="l" t="t" r="r" b="b"/>
            <a:pathLst>
              <a:path w="2595879">
                <a:moveTo>
                  <a:pt x="0" y="0"/>
                </a:moveTo>
                <a:lnTo>
                  <a:pt x="2595669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99A17E4F-A27E-58CD-52F9-C97112BEEAB6}"/>
              </a:ext>
            </a:extLst>
          </p:cNvPr>
          <p:cNvSpPr/>
          <p:nvPr/>
        </p:nvSpPr>
        <p:spPr>
          <a:xfrm>
            <a:off x="3676170" y="4615169"/>
            <a:ext cx="3035737" cy="0"/>
          </a:xfrm>
          <a:custGeom>
            <a:avLst/>
            <a:gdLst/>
            <a:ahLst/>
            <a:cxnLst/>
            <a:rect l="l" t="t" r="r" b="b"/>
            <a:pathLst>
              <a:path w="2595879">
                <a:moveTo>
                  <a:pt x="0" y="0"/>
                </a:moveTo>
                <a:lnTo>
                  <a:pt x="2595669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E0054B2F-21B9-13D5-C890-F3CE02F04A23}"/>
              </a:ext>
            </a:extLst>
          </p:cNvPr>
          <p:cNvSpPr/>
          <p:nvPr/>
        </p:nvSpPr>
        <p:spPr>
          <a:xfrm>
            <a:off x="3676170" y="4978749"/>
            <a:ext cx="3035737" cy="0"/>
          </a:xfrm>
          <a:custGeom>
            <a:avLst/>
            <a:gdLst/>
            <a:ahLst/>
            <a:cxnLst/>
            <a:rect l="l" t="t" r="r" b="b"/>
            <a:pathLst>
              <a:path w="2595879">
                <a:moveTo>
                  <a:pt x="0" y="0"/>
                </a:moveTo>
                <a:lnTo>
                  <a:pt x="2595669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60F1B302-0406-FCDF-483E-B731BCE636E5}"/>
              </a:ext>
            </a:extLst>
          </p:cNvPr>
          <p:cNvSpPr txBox="1"/>
          <p:nvPr/>
        </p:nvSpPr>
        <p:spPr>
          <a:xfrm>
            <a:off x="3862412" y="4173602"/>
            <a:ext cx="2685232" cy="748996"/>
          </a:xfrm>
          <a:prstGeom prst="rect">
            <a:avLst/>
          </a:prstGeom>
        </p:spPr>
        <p:txBody>
          <a:bodyPr vert="horz" wrap="square" lIns="0" tIns="128469" rIns="0" bIns="0" rtlCol="0">
            <a:spAutoFit/>
          </a:bodyPr>
          <a:lstStyle/>
          <a:p>
            <a:pPr algn="ctr">
              <a:spcBef>
                <a:spcPts val="1012"/>
              </a:spcBef>
              <a:tabLst>
                <a:tab pos="1072270" algn="l"/>
                <a:tab pos="2065827" algn="l"/>
              </a:tabLst>
            </a:pPr>
            <a:r>
              <a:rPr sz="1637" b="1" spc="-6" dirty="0">
                <a:solidFill>
                  <a:srgbClr val="ED7C31"/>
                </a:solidFill>
                <a:latin typeface="Arial"/>
                <a:cs typeface="Arial"/>
              </a:rPr>
              <a:t>Studen</a:t>
            </a:r>
            <a:r>
              <a:rPr sz="1637" b="1" dirty="0">
                <a:solidFill>
                  <a:srgbClr val="ED7C31"/>
                </a:solidFill>
                <a:latin typeface="Arial"/>
                <a:cs typeface="Arial"/>
              </a:rPr>
              <a:t>t	</a:t>
            </a:r>
            <a:r>
              <a:rPr sz="1637" b="1" spc="-6" dirty="0">
                <a:solidFill>
                  <a:srgbClr val="ED7C31"/>
                </a:solidFill>
                <a:latin typeface="Arial"/>
                <a:cs typeface="Arial"/>
              </a:rPr>
              <a:t>Cours</a:t>
            </a:r>
            <a:r>
              <a:rPr sz="1637" b="1" dirty="0">
                <a:solidFill>
                  <a:srgbClr val="ED7C31"/>
                </a:solidFill>
                <a:latin typeface="Arial"/>
                <a:cs typeface="Arial"/>
              </a:rPr>
              <a:t>e	</a:t>
            </a:r>
            <a:r>
              <a:rPr sz="1637" b="1" spc="-6" dirty="0">
                <a:solidFill>
                  <a:srgbClr val="ED7C31"/>
                </a:solidFill>
                <a:latin typeface="Arial"/>
                <a:cs typeface="Arial"/>
              </a:rPr>
              <a:t>Room</a:t>
            </a:r>
            <a:endParaRPr sz="1637">
              <a:latin typeface="Arial"/>
              <a:cs typeface="Arial"/>
            </a:endParaRPr>
          </a:p>
          <a:p>
            <a:pPr marL="91336" algn="ctr">
              <a:spcBef>
                <a:spcPts val="900"/>
              </a:spcBef>
              <a:tabLst>
                <a:tab pos="1135388" algn="l"/>
                <a:tab pos="2065827" algn="l"/>
              </a:tabLst>
            </a:pPr>
            <a:r>
              <a:rPr sz="1637" spc="-6" dirty="0">
                <a:latin typeface="Arial"/>
                <a:cs typeface="Arial"/>
              </a:rPr>
              <a:t>..	..	..</a:t>
            </a:r>
            <a:endParaRPr sz="1637">
              <a:latin typeface="Arial"/>
              <a:cs typeface="Arial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85C4FDBF-BC0E-BFFF-B56D-AC52C6DF2307}"/>
              </a:ext>
            </a:extLst>
          </p:cNvPr>
          <p:cNvSpPr txBox="1"/>
          <p:nvPr/>
        </p:nvSpPr>
        <p:spPr>
          <a:xfrm>
            <a:off x="3248798" y="5397761"/>
            <a:ext cx="3890467" cy="1123689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46784" rIns="0" bIns="0" rtlCol="0">
            <a:spAutoFit/>
          </a:bodyPr>
          <a:lstStyle/>
          <a:p>
            <a:pPr marL="337869" marR="310394" indent="-23020">
              <a:lnSpc>
                <a:spcPts val="1661"/>
              </a:lnSpc>
              <a:spcBef>
                <a:spcPts val="368"/>
              </a:spcBef>
            </a:pPr>
            <a:r>
              <a:rPr lang="de-DE" sz="1403" spc="-6" dirty="0">
                <a:latin typeface="Arial"/>
                <a:cs typeface="Arial"/>
              </a:rPr>
              <a:t>Wenn alle den Kurs verlassen</a:t>
            </a:r>
            <a:r>
              <a:rPr sz="1403" dirty="0">
                <a:latin typeface="Arial"/>
                <a:cs typeface="Arial"/>
              </a:rPr>
              <a:t>, </a:t>
            </a:r>
            <a:r>
              <a:rPr lang="de-DE" sz="1403" spc="-6" dirty="0">
                <a:latin typeface="Arial"/>
                <a:cs typeface="Arial"/>
              </a:rPr>
              <a:t>dann verlieren wir den Zusammenhang zwischen</a:t>
            </a:r>
            <a:r>
              <a:rPr sz="1403" spc="-6" dirty="0">
                <a:latin typeface="Arial"/>
                <a:cs typeface="Arial"/>
              </a:rPr>
              <a:t> </a:t>
            </a:r>
            <a:r>
              <a:rPr sz="1403" dirty="0">
                <a:latin typeface="Arial"/>
                <a:cs typeface="Arial"/>
              </a:rPr>
              <a:t>room </a:t>
            </a:r>
            <a:r>
              <a:rPr lang="de-DE" sz="1403" spc="-6" dirty="0">
                <a:latin typeface="Arial"/>
                <a:cs typeface="Arial"/>
              </a:rPr>
              <a:t>und</a:t>
            </a:r>
            <a:r>
              <a:rPr sz="1403" spc="-6" dirty="0">
                <a:latin typeface="Arial"/>
                <a:cs typeface="Arial"/>
              </a:rPr>
              <a:t> </a:t>
            </a:r>
            <a:r>
              <a:rPr sz="1403" dirty="0">
                <a:latin typeface="Arial"/>
                <a:cs typeface="Arial"/>
              </a:rPr>
              <a:t>class </a:t>
            </a:r>
            <a:r>
              <a:rPr lang="de-DE" sz="1403" spc="-6" dirty="0">
                <a:latin typeface="Arial"/>
                <a:cs typeface="Arial"/>
              </a:rPr>
              <a:t>(in welchem Raum der Kurs stattfindet)</a:t>
            </a:r>
            <a:r>
              <a:rPr sz="1403" spc="-6" dirty="0">
                <a:latin typeface="Arial"/>
                <a:cs typeface="Arial"/>
              </a:rPr>
              <a:t>! </a:t>
            </a:r>
            <a:r>
              <a:rPr sz="1403" dirty="0">
                <a:latin typeface="Arial"/>
                <a:cs typeface="Arial"/>
              </a:rPr>
              <a:t>= </a:t>
            </a:r>
            <a:r>
              <a:rPr lang="de-DE" sz="1403" b="1" i="1" u="heavy" spc="-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sz="1403" b="1" i="1" u="heavy" spc="-6" dirty="0" err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elete</a:t>
            </a:r>
            <a:r>
              <a:rPr lang="de-DE" sz="1403" b="1" i="1" u="heavy" spc="-8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-A</a:t>
            </a:r>
            <a:r>
              <a:rPr sz="1403" b="1" u="heavy" spc="-6" dirty="0" err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nomal</a:t>
            </a:r>
            <a:r>
              <a:rPr lang="de-DE" sz="1403" b="1" u="heavy" spc="-6" dirty="0" err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ie</a:t>
            </a:r>
            <a:endParaRPr sz="1403" dirty="0">
              <a:latin typeface="Arial"/>
              <a:cs typeface="Arial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25DC0B96-91B4-CD34-9AAF-0D06FF2088E4}"/>
              </a:ext>
            </a:extLst>
          </p:cNvPr>
          <p:cNvSpPr/>
          <p:nvPr/>
        </p:nvSpPr>
        <p:spPr>
          <a:xfrm>
            <a:off x="5928866" y="4638295"/>
            <a:ext cx="577741" cy="391349"/>
          </a:xfrm>
          <a:custGeom>
            <a:avLst/>
            <a:gdLst/>
            <a:ahLst/>
            <a:cxnLst/>
            <a:rect l="l" t="t" r="r" b="b"/>
            <a:pathLst>
              <a:path w="494029" h="334644">
                <a:moveTo>
                  <a:pt x="437999" y="334649"/>
                </a:moveTo>
                <a:lnTo>
                  <a:pt x="55774" y="334649"/>
                </a:lnTo>
                <a:lnTo>
                  <a:pt x="34066" y="330265"/>
                </a:lnTo>
                <a:lnTo>
                  <a:pt x="16337" y="318311"/>
                </a:lnTo>
                <a:lnTo>
                  <a:pt x="4383" y="300582"/>
                </a:lnTo>
                <a:lnTo>
                  <a:pt x="0" y="278874"/>
                </a:lnTo>
                <a:lnTo>
                  <a:pt x="0" y="55774"/>
                </a:lnTo>
                <a:lnTo>
                  <a:pt x="4383" y="34055"/>
                </a:lnTo>
                <a:lnTo>
                  <a:pt x="16342" y="16324"/>
                </a:lnTo>
                <a:lnTo>
                  <a:pt x="34066" y="4380"/>
                </a:lnTo>
                <a:lnTo>
                  <a:pt x="55774" y="0"/>
                </a:lnTo>
                <a:lnTo>
                  <a:pt x="437999" y="0"/>
                </a:lnTo>
                <a:lnTo>
                  <a:pt x="477426" y="16328"/>
                </a:lnTo>
                <a:lnTo>
                  <a:pt x="493774" y="55774"/>
                </a:lnTo>
                <a:lnTo>
                  <a:pt x="493774" y="278874"/>
                </a:lnTo>
                <a:lnTo>
                  <a:pt x="489390" y="300582"/>
                </a:lnTo>
                <a:lnTo>
                  <a:pt x="477436" y="318311"/>
                </a:lnTo>
                <a:lnTo>
                  <a:pt x="459707" y="330265"/>
                </a:lnTo>
                <a:lnTo>
                  <a:pt x="437999" y="334649"/>
                </a:lnTo>
                <a:close/>
              </a:path>
            </a:pathLst>
          </a:custGeom>
          <a:solidFill>
            <a:srgbClr val="FBE4D4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4CED6EE8-4120-41B4-B3D7-2BE800F80B29}"/>
              </a:ext>
            </a:extLst>
          </p:cNvPr>
          <p:cNvSpPr/>
          <p:nvPr/>
        </p:nvSpPr>
        <p:spPr>
          <a:xfrm>
            <a:off x="5928866" y="4638295"/>
            <a:ext cx="577741" cy="391349"/>
          </a:xfrm>
          <a:custGeom>
            <a:avLst/>
            <a:gdLst/>
            <a:ahLst/>
            <a:cxnLst/>
            <a:rect l="l" t="t" r="r" b="b"/>
            <a:pathLst>
              <a:path w="494029" h="334644">
                <a:moveTo>
                  <a:pt x="0" y="55774"/>
                </a:moveTo>
                <a:lnTo>
                  <a:pt x="4383" y="34055"/>
                </a:lnTo>
                <a:lnTo>
                  <a:pt x="16337" y="16328"/>
                </a:lnTo>
                <a:lnTo>
                  <a:pt x="34066" y="4380"/>
                </a:lnTo>
                <a:lnTo>
                  <a:pt x="55774" y="0"/>
                </a:lnTo>
                <a:lnTo>
                  <a:pt x="437999" y="0"/>
                </a:lnTo>
                <a:lnTo>
                  <a:pt x="477424" y="16324"/>
                </a:lnTo>
                <a:lnTo>
                  <a:pt x="493774" y="55774"/>
                </a:lnTo>
                <a:lnTo>
                  <a:pt x="493774" y="278874"/>
                </a:lnTo>
                <a:lnTo>
                  <a:pt x="489390" y="300582"/>
                </a:lnTo>
                <a:lnTo>
                  <a:pt x="477436" y="318311"/>
                </a:lnTo>
                <a:lnTo>
                  <a:pt x="459707" y="330265"/>
                </a:lnTo>
                <a:lnTo>
                  <a:pt x="437999" y="334649"/>
                </a:lnTo>
                <a:lnTo>
                  <a:pt x="55774" y="334649"/>
                </a:lnTo>
                <a:lnTo>
                  <a:pt x="34066" y="330265"/>
                </a:lnTo>
                <a:lnTo>
                  <a:pt x="16337" y="318311"/>
                </a:lnTo>
                <a:lnTo>
                  <a:pt x="4383" y="300582"/>
                </a:lnTo>
                <a:lnTo>
                  <a:pt x="0" y="278874"/>
                </a:lnTo>
                <a:lnTo>
                  <a:pt x="0" y="55774"/>
                </a:lnTo>
                <a:close/>
              </a:path>
            </a:pathLst>
          </a:custGeom>
          <a:ln w="25399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C17C64EA-720C-7DAC-2C74-33EF8A6412BF}"/>
              </a:ext>
            </a:extLst>
          </p:cNvPr>
          <p:cNvSpPr txBox="1"/>
          <p:nvPr/>
        </p:nvSpPr>
        <p:spPr>
          <a:xfrm>
            <a:off x="899387" y="3225362"/>
            <a:ext cx="7437575" cy="416418"/>
          </a:xfrm>
          <a:prstGeom prst="rect">
            <a:avLst/>
          </a:prstGeom>
          <a:solidFill>
            <a:srgbClr val="CFE1F2"/>
          </a:solidFill>
        </p:spPr>
        <p:txBody>
          <a:bodyPr vert="horz" wrap="square" lIns="0" tIns="35645" rIns="0" bIns="0" rtlCol="0">
            <a:spAutoFit/>
          </a:bodyPr>
          <a:lstStyle/>
          <a:p>
            <a:pPr marL="371143" defTabSz="1380486">
              <a:spcBef>
                <a:spcPts val="424"/>
              </a:spcBef>
            </a:pPr>
            <a:r>
              <a:rPr lang="en-GB" sz="2472" spc="-88" dirty="0" err="1">
                <a:latin typeface="Arial"/>
                <a:cs typeface="Arial"/>
              </a:rPr>
              <a:t>Schlechtes</a:t>
            </a:r>
            <a:r>
              <a:rPr lang="en-GB" sz="2472" spc="-88" dirty="0">
                <a:latin typeface="Arial"/>
                <a:cs typeface="Arial"/>
              </a:rPr>
              <a:t> Design </a:t>
            </a:r>
            <a:r>
              <a:rPr lang="en-GB" sz="2472" spc="-88" dirty="0" err="1">
                <a:latin typeface="Arial"/>
                <a:cs typeface="Arial"/>
              </a:rPr>
              <a:t>erzeugt</a:t>
            </a:r>
            <a:r>
              <a:rPr lang="en-GB" sz="2472" kern="1200" spc="-8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472" b="1" i="1" spc="-9" dirty="0" err="1">
                <a:latin typeface="Arial"/>
                <a:cs typeface="Arial"/>
              </a:rPr>
              <a:t>A</a:t>
            </a:r>
            <a:r>
              <a:rPr lang="en-GB" sz="2472" b="1" i="1" kern="1200" spc="-9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nomalien</a:t>
            </a:r>
            <a:r>
              <a:rPr lang="en-GB" sz="2472" kern="1200" spc="-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: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B860B0E4-F929-6B0E-B9BF-242F8D2954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4375" y="577850"/>
            <a:ext cx="5772926" cy="540000"/>
          </a:xfrm>
          <a:prstGeom prst="rect">
            <a:avLst/>
          </a:prstGeom>
        </p:spPr>
        <p:txBody>
          <a:bodyPr vert="horz" wrap="square" lIns="0" tIns="12624" rIns="0" bIns="0" rtlCol="0" anchor="ctr">
            <a:spAutoFit/>
          </a:bodyPr>
          <a:lstStyle/>
          <a:p>
            <a:pPr marL="22425" marR="8971" defTabSz="1210937">
              <a:lnSpc>
                <a:spcPct val="100400"/>
              </a:lnSpc>
              <a:spcBef>
                <a:spcPts val="149"/>
              </a:spcBef>
            </a:pP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Contraints</a:t>
            </a:r>
            <a:r>
              <a:rPr lang="en-GB" sz="2200" b="0" i="0" kern="1200" spc="-177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können</a:t>
            </a:r>
            <a:r>
              <a:rPr lang="en-GB" sz="2200" b="0" i="0" kern="1200" spc="-177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 (</a:t>
            </a: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einige</a:t>
            </a:r>
            <a:r>
              <a:rPr lang="en-GB" sz="2200" spc="-177" dirty="0"/>
              <a:t>) </a:t>
            </a: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Anomalien</a:t>
            </a:r>
            <a:r>
              <a:rPr lang="en-GB" sz="2200" b="0" i="0" kern="1200" spc="-177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verhindern</a:t>
            </a:r>
            <a:endParaRPr lang="en-GB" sz="2200" spc="-105" dirty="0"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159BCD21-31D4-DD08-DF21-73E44C0C00B4}"/>
              </a:ext>
            </a:extLst>
          </p:cNvPr>
          <p:cNvSpPr txBox="1"/>
          <p:nvPr/>
        </p:nvSpPr>
        <p:spPr>
          <a:xfrm>
            <a:off x="801236" y="1568450"/>
            <a:ext cx="8508365" cy="1295226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Relationen / Zusammenhänge müssen jedes Mal überprüft werden (aufwendig?!). Aber hilft nicht immer: benötigt z.B. zusätzliche Tabellen</a:t>
            </a:r>
            <a:r>
              <a:rPr lang="de-DE" sz="2400" b="1" spc="-5" dirty="0">
                <a:latin typeface="Tahoma"/>
                <a:cs typeface="Tahoma"/>
              </a:rPr>
              <a:t> </a:t>
            </a:r>
            <a:endParaRPr sz="2400" b="1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938100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21888D1-D3B8-F475-3DA1-0BC278156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713029"/>
              </p:ext>
            </p:extLst>
          </p:nvPr>
        </p:nvGraphicFramePr>
        <p:xfrm>
          <a:off x="4520425" y="4619956"/>
          <a:ext cx="3020143" cy="1815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0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13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Student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556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Room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Mary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0489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CS145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B01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Joe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0489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CS145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B01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Sam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0489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CS145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B01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..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..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..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4">
            <a:extLst>
              <a:ext uri="{FF2B5EF4-FFF2-40B4-BE49-F238E27FC236}">
                <a16:creationId xmlns:a16="http://schemas.microsoft.com/office/drawing/2014/main" id="{6F6E5162-93CC-279A-80BB-8D5FE758542A}"/>
              </a:ext>
            </a:extLst>
          </p:cNvPr>
          <p:cNvSpPr txBox="1"/>
          <p:nvPr/>
        </p:nvSpPr>
        <p:spPr>
          <a:xfrm>
            <a:off x="8063455" y="4980787"/>
            <a:ext cx="1664160" cy="1123689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46784" rIns="0" bIns="0" rtlCol="0">
            <a:spAutoFit/>
          </a:bodyPr>
          <a:lstStyle/>
          <a:p>
            <a:pPr marL="100247" marR="113613">
              <a:lnSpc>
                <a:spcPts val="1661"/>
              </a:lnSpc>
              <a:spcBef>
                <a:spcPts val="368"/>
              </a:spcBef>
            </a:pPr>
            <a:r>
              <a:rPr lang="de-DE" sz="1403" spc="-6" dirty="0">
                <a:latin typeface="Arial"/>
                <a:cs typeface="Arial"/>
              </a:rPr>
              <a:t>Für einen Kurs kann kein</a:t>
            </a:r>
            <a:r>
              <a:rPr sz="1403" dirty="0">
                <a:latin typeface="Arial"/>
                <a:cs typeface="Arial"/>
              </a:rPr>
              <a:t> room</a:t>
            </a:r>
            <a:r>
              <a:rPr lang="de-DE" sz="1403" dirty="0">
                <a:latin typeface="Arial"/>
                <a:cs typeface="Arial"/>
              </a:rPr>
              <a:t> ohne</a:t>
            </a:r>
            <a:r>
              <a:rPr sz="1403" spc="-6" dirty="0">
                <a:latin typeface="Arial"/>
                <a:cs typeface="Arial"/>
              </a:rPr>
              <a:t> </a:t>
            </a:r>
            <a:r>
              <a:rPr sz="1403" dirty="0">
                <a:latin typeface="Arial"/>
                <a:cs typeface="Arial"/>
              </a:rPr>
              <a:t>student</a:t>
            </a:r>
            <a:r>
              <a:rPr lang="de-DE" sz="1403" dirty="0">
                <a:latin typeface="Arial"/>
                <a:cs typeface="Arial"/>
              </a:rPr>
              <a:t> gebucht werden</a:t>
            </a:r>
            <a:r>
              <a:rPr sz="1403" spc="-111" dirty="0">
                <a:latin typeface="Arial"/>
                <a:cs typeface="Arial"/>
              </a:rPr>
              <a:t> </a:t>
            </a:r>
            <a:r>
              <a:rPr sz="1403" dirty="0">
                <a:latin typeface="Arial"/>
                <a:cs typeface="Arial"/>
              </a:rPr>
              <a:t>=  </a:t>
            </a:r>
            <a:r>
              <a:rPr lang="de-DE" sz="1403" b="1" i="1" u="sng" spc="-6" dirty="0">
                <a:latin typeface="Arial"/>
                <a:cs typeface="Arial"/>
              </a:rPr>
              <a:t>I</a:t>
            </a:r>
            <a:r>
              <a:rPr sz="1403" b="1" i="1" u="heavy" spc="-6" dirty="0" err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nsert</a:t>
            </a:r>
            <a:r>
              <a:rPr sz="1403" b="1" i="1" u="heavy" spc="-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de-DE" sz="1403" b="1" i="1" u="heavy" spc="-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-A</a:t>
            </a:r>
            <a:r>
              <a:rPr sz="1403" b="1" u="heavy" spc="-6" dirty="0" err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nomal</a:t>
            </a:r>
            <a:r>
              <a:rPr lang="de-DE" sz="1403" b="1" u="heavy" spc="-6" dirty="0" err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ie</a:t>
            </a:r>
            <a:endParaRPr sz="1403" dirty="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85D172B-246E-58D9-D173-898935541D24}"/>
              </a:ext>
            </a:extLst>
          </p:cNvPr>
          <p:cNvSpPr/>
          <p:nvPr/>
        </p:nvSpPr>
        <p:spPr>
          <a:xfrm>
            <a:off x="2016047" y="6081669"/>
            <a:ext cx="2004269" cy="0"/>
          </a:xfrm>
          <a:custGeom>
            <a:avLst/>
            <a:gdLst/>
            <a:ahLst/>
            <a:cxnLst/>
            <a:rect l="l" t="t" r="r" b="b"/>
            <a:pathLst>
              <a:path w="1713864">
                <a:moveTo>
                  <a:pt x="0" y="0"/>
                </a:moveTo>
                <a:lnTo>
                  <a:pt x="1713861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42E9EA5-AECC-A998-02CD-8967F282990E}"/>
              </a:ext>
            </a:extLst>
          </p:cNvPr>
          <p:cNvSpPr/>
          <p:nvPr/>
        </p:nvSpPr>
        <p:spPr>
          <a:xfrm>
            <a:off x="2016047" y="6445250"/>
            <a:ext cx="2004269" cy="0"/>
          </a:xfrm>
          <a:custGeom>
            <a:avLst/>
            <a:gdLst/>
            <a:ahLst/>
            <a:cxnLst/>
            <a:rect l="l" t="t" r="r" b="b"/>
            <a:pathLst>
              <a:path w="1713864">
                <a:moveTo>
                  <a:pt x="0" y="0"/>
                </a:moveTo>
                <a:lnTo>
                  <a:pt x="1713861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42A4679-14FB-EFF9-31C2-6987C45E3E61}"/>
              </a:ext>
            </a:extLst>
          </p:cNvPr>
          <p:cNvSpPr txBox="1"/>
          <p:nvPr/>
        </p:nvSpPr>
        <p:spPr>
          <a:xfrm>
            <a:off x="2023474" y="6081670"/>
            <a:ext cx="513877" cy="266175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4109" rIns="0" bIns="0" rtlCol="0">
            <a:spAutoFit/>
          </a:bodyPr>
          <a:lstStyle/>
          <a:p>
            <a:pPr marL="55693">
              <a:spcBef>
                <a:spcPts val="111"/>
              </a:spcBef>
            </a:pPr>
            <a:r>
              <a:rPr sz="1637" dirty="0">
                <a:latin typeface="Arial"/>
                <a:cs typeface="Arial"/>
              </a:rPr>
              <a:t>…</a:t>
            </a:r>
            <a:endParaRPr sz="1637">
              <a:latin typeface="Arial"/>
              <a:cs typeface="Aria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A8F0314-E102-825D-842D-6F4BDF7C0C79}"/>
              </a:ext>
            </a:extLst>
          </p:cNvPr>
          <p:cNvSpPr txBox="1"/>
          <p:nvPr/>
        </p:nvSpPr>
        <p:spPr>
          <a:xfrm>
            <a:off x="2537169" y="6081670"/>
            <a:ext cx="862155" cy="266175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4109" rIns="0" bIns="0" rtlCol="0">
            <a:spAutoFit/>
          </a:bodyPr>
          <a:lstStyle/>
          <a:p>
            <a:pPr marL="55693">
              <a:spcBef>
                <a:spcPts val="111"/>
              </a:spcBef>
            </a:pPr>
            <a:r>
              <a:rPr sz="1637" spc="-6" dirty="0">
                <a:latin typeface="Arial"/>
                <a:cs typeface="Arial"/>
              </a:rPr>
              <a:t>CS229</a:t>
            </a:r>
            <a:endParaRPr sz="1637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10093CA-5BF2-8992-462C-CB5E4953B7B0}"/>
              </a:ext>
            </a:extLst>
          </p:cNvPr>
          <p:cNvSpPr txBox="1"/>
          <p:nvPr/>
        </p:nvSpPr>
        <p:spPr>
          <a:xfrm>
            <a:off x="3398901" y="6081670"/>
            <a:ext cx="614128" cy="266175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4109" rIns="0" bIns="0" rtlCol="0">
            <a:spAutoFit/>
          </a:bodyPr>
          <a:lstStyle/>
          <a:p>
            <a:pPr marL="55693">
              <a:spcBef>
                <a:spcPts val="111"/>
              </a:spcBef>
            </a:pPr>
            <a:r>
              <a:rPr sz="1637" spc="-6" dirty="0">
                <a:latin typeface="Arial"/>
                <a:cs typeface="Arial"/>
              </a:rPr>
              <a:t>C12</a:t>
            </a:r>
            <a:endParaRPr sz="1637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43C151D3-86FF-0DF2-A233-0DE078066734}"/>
              </a:ext>
            </a:extLst>
          </p:cNvPr>
          <p:cNvSpPr/>
          <p:nvPr/>
        </p:nvSpPr>
        <p:spPr>
          <a:xfrm>
            <a:off x="4109103" y="6167185"/>
            <a:ext cx="334169" cy="193075"/>
          </a:xfrm>
          <a:custGeom>
            <a:avLst/>
            <a:gdLst/>
            <a:ahLst/>
            <a:cxnLst/>
            <a:rect l="l" t="t" r="r" b="b"/>
            <a:pathLst>
              <a:path w="285750" h="165100">
                <a:moveTo>
                  <a:pt x="202999" y="164599"/>
                </a:moveTo>
                <a:lnTo>
                  <a:pt x="202999" y="123449"/>
                </a:lnTo>
                <a:lnTo>
                  <a:pt x="0" y="123449"/>
                </a:lnTo>
                <a:lnTo>
                  <a:pt x="0" y="41149"/>
                </a:lnTo>
                <a:lnTo>
                  <a:pt x="202999" y="41149"/>
                </a:lnTo>
                <a:lnTo>
                  <a:pt x="202999" y="0"/>
                </a:lnTo>
                <a:lnTo>
                  <a:pt x="285299" y="82299"/>
                </a:lnTo>
                <a:lnTo>
                  <a:pt x="202999" y="164599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4AB9FBB9-A97F-F792-123F-3397F2A67A81}"/>
              </a:ext>
            </a:extLst>
          </p:cNvPr>
          <p:cNvSpPr/>
          <p:nvPr/>
        </p:nvSpPr>
        <p:spPr>
          <a:xfrm>
            <a:off x="1959736" y="6060650"/>
            <a:ext cx="578483" cy="367586"/>
          </a:xfrm>
          <a:custGeom>
            <a:avLst/>
            <a:gdLst/>
            <a:ahLst/>
            <a:cxnLst/>
            <a:rect l="l" t="t" r="r" b="b"/>
            <a:pathLst>
              <a:path w="494664" h="314325">
                <a:moveTo>
                  <a:pt x="442166" y="313874"/>
                </a:moveTo>
                <a:lnTo>
                  <a:pt x="52312" y="313874"/>
                </a:lnTo>
                <a:lnTo>
                  <a:pt x="31949" y="309766"/>
                </a:lnTo>
                <a:lnTo>
                  <a:pt x="15321" y="298561"/>
                </a:lnTo>
                <a:lnTo>
                  <a:pt x="4110" y="281938"/>
                </a:lnTo>
                <a:lnTo>
                  <a:pt x="0" y="261574"/>
                </a:lnTo>
                <a:lnTo>
                  <a:pt x="0" y="52324"/>
                </a:lnTo>
                <a:lnTo>
                  <a:pt x="4110" y="31956"/>
                </a:lnTo>
                <a:lnTo>
                  <a:pt x="15321" y="15324"/>
                </a:lnTo>
                <a:lnTo>
                  <a:pt x="31949" y="4111"/>
                </a:lnTo>
                <a:lnTo>
                  <a:pt x="52312" y="0"/>
                </a:lnTo>
                <a:lnTo>
                  <a:pt x="442166" y="0"/>
                </a:lnTo>
                <a:lnTo>
                  <a:pt x="479166" y="15324"/>
                </a:lnTo>
                <a:lnTo>
                  <a:pt x="494491" y="52324"/>
                </a:lnTo>
                <a:lnTo>
                  <a:pt x="494491" y="261574"/>
                </a:lnTo>
                <a:lnTo>
                  <a:pt x="490379" y="281938"/>
                </a:lnTo>
                <a:lnTo>
                  <a:pt x="479166" y="298561"/>
                </a:lnTo>
                <a:lnTo>
                  <a:pt x="462534" y="309766"/>
                </a:lnTo>
                <a:lnTo>
                  <a:pt x="442166" y="313874"/>
                </a:lnTo>
                <a:close/>
              </a:path>
            </a:pathLst>
          </a:custGeom>
          <a:solidFill>
            <a:srgbClr val="FBE4D4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C588EC4-95EB-6ECF-3C48-4D008CA955C1}"/>
              </a:ext>
            </a:extLst>
          </p:cNvPr>
          <p:cNvSpPr/>
          <p:nvPr/>
        </p:nvSpPr>
        <p:spPr>
          <a:xfrm>
            <a:off x="1959736" y="6060650"/>
            <a:ext cx="578483" cy="367586"/>
          </a:xfrm>
          <a:custGeom>
            <a:avLst/>
            <a:gdLst/>
            <a:ahLst/>
            <a:cxnLst/>
            <a:rect l="l" t="t" r="r" b="b"/>
            <a:pathLst>
              <a:path w="494664" h="314325">
                <a:moveTo>
                  <a:pt x="0" y="52324"/>
                </a:moveTo>
                <a:lnTo>
                  <a:pt x="4110" y="31956"/>
                </a:lnTo>
                <a:lnTo>
                  <a:pt x="15321" y="15324"/>
                </a:lnTo>
                <a:lnTo>
                  <a:pt x="31949" y="4111"/>
                </a:lnTo>
                <a:lnTo>
                  <a:pt x="52312" y="0"/>
                </a:lnTo>
                <a:lnTo>
                  <a:pt x="442166" y="0"/>
                </a:lnTo>
                <a:lnTo>
                  <a:pt x="479166" y="15324"/>
                </a:lnTo>
                <a:lnTo>
                  <a:pt x="494491" y="52324"/>
                </a:lnTo>
                <a:lnTo>
                  <a:pt x="494491" y="261574"/>
                </a:lnTo>
                <a:lnTo>
                  <a:pt x="490379" y="281938"/>
                </a:lnTo>
                <a:lnTo>
                  <a:pt x="479166" y="298561"/>
                </a:lnTo>
                <a:lnTo>
                  <a:pt x="462534" y="309766"/>
                </a:lnTo>
                <a:lnTo>
                  <a:pt x="442166" y="313874"/>
                </a:lnTo>
                <a:lnTo>
                  <a:pt x="52312" y="313874"/>
                </a:lnTo>
                <a:lnTo>
                  <a:pt x="31949" y="309766"/>
                </a:lnTo>
                <a:lnTo>
                  <a:pt x="15321" y="298561"/>
                </a:lnTo>
                <a:lnTo>
                  <a:pt x="4110" y="281938"/>
                </a:lnTo>
                <a:lnTo>
                  <a:pt x="0" y="261574"/>
                </a:lnTo>
                <a:lnTo>
                  <a:pt x="0" y="52324"/>
                </a:lnTo>
                <a:close/>
              </a:path>
            </a:pathLst>
          </a:custGeom>
          <a:ln w="25399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A9ACD3D2-D098-6589-DF4C-A98FB57CE95B}"/>
              </a:ext>
            </a:extLst>
          </p:cNvPr>
          <p:cNvSpPr txBox="1"/>
          <p:nvPr/>
        </p:nvSpPr>
        <p:spPr>
          <a:xfrm>
            <a:off x="880925" y="3168650"/>
            <a:ext cx="7437575" cy="416418"/>
          </a:xfrm>
          <a:prstGeom prst="rect">
            <a:avLst/>
          </a:prstGeom>
          <a:solidFill>
            <a:srgbClr val="CFE1F2"/>
          </a:solidFill>
        </p:spPr>
        <p:txBody>
          <a:bodyPr vert="horz" wrap="square" lIns="0" tIns="35645" rIns="0" bIns="0" rtlCol="0">
            <a:spAutoFit/>
          </a:bodyPr>
          <a:lstStyle/>
          <a:p>
            <a:pPr marL="371143" defTabSz="1380486">
              <a:spcBef>
                <a:spcPts val="424"/>
              </a:spcBef>
            </a:pPr>
            <a:r>
              <a:rPr lang="en-GB" sz="2472" spc="-88" dirty="0" err="1">
                <a:latin typeface="Arial"/>
                <a:cs typeface="Arial"/>
              </a:rPr>
              <a:t>Schlechtes</a:t>
            </a:r>
            <a:r>
              <a:rPr lang="en-GB" sz="2472" spc="-88" dirty="0">
                <a:latin typeface="Arial"/>
                <a:cs typeface="Arial"/>
              </a:rPr>
              <a:t> Design </a:t>
            </a:r>
            <a:r>
              <a:rPr lang="en-GB" sz="2472" spc="-88" dirty="0" err="1">
                <a:latin typeface="Arial"/>
                <a:cs typeface="Arial"/>
              </a:rPr>
              <a:t>erzeugt</a:t>
            </a:r>
            <a:r>
              <a:rPr lang="en-GB" sz="2472" kern="1200" spc="-8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472" b="1" i="1" spc="-9" dirty="0" err="1">
                <a:latin typeface="Arial"/>
                <a:cs typeface="Arial"/>
              </a:rPr>
              <a:t>A</a:t>
            </a:r>
            <a:r>
              <a:rPr lang="en-GB" sz="2472" b="1" i="1" kern="1200" spc="-9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nomalien</a:t>
            </a:r>
            <a:r>
              <a:rPr lang="en-GB" sz="2472" kern="1200" spc="-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: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4BD65413-D3D7-4865-2686-04681E1F76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4375" y="577850"/>
            <a:ext cx="5772926" cy="540000"/>
          </a:xfrm>
          <a:prstGeom prst="rect">
            <a:avLst/>
          </a:prstGeom>
        </p:spPr>
        <p:txBody>
          <a:bodyPr vert="horz" wrap="square" lIns="0" tIns="12624" rIns="0" bIns="0" rtlCol="0" anchor="ctr">
            <a:spAutoFit/>
          </a:bodyPr>
          <a:lstStyle/>
          <a:p>
            <a:pPr marL="22425" marR="8971" defTabSz="1210937">
              <a:lnSpc>
                <a:spcPct val="100400"/>
              </a:lnSpc>
              <a:spcBef>
                <a:spcPts val="149"/>
              </a:spcBef>
            </a:pP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Contraints</a:t>
            </a:r>
            <a:r>
              <a:rPr lang="en-GB" sz="2200" b="0" i="0" kern="1200" spc="-177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können</a:t>
            </a:r>
            <a:r>
              <a:rPr lang="en-GB" sz="2200" b="0" i="0" kern="1200" spc="-177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 (</a:t>
            </a: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einige</a:t>
            </a:r>
            <a:r>
              <a:rPr lang="en-GB" sz="2200" spc="-177" dirty="0"/>
              <a:t>) </a:t>
            </a: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Anomalien</a:t>
            </a:r>
            <a:r>
              <a:rPr lang="en-GB" sz="2200" b="0" i="0" kern="1200" spc="-177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verhindern</a:t>
            </a:r>
            <a:endParaRPr lang="en-GB" sz="2200" spc="-105" dirty="0"/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F84EC7C8-160A-5629-9E9B-1FAC5A378BC1}"/>
              </a:ext>
            </a:extLst>
          </p:cNvPr>
          <p:cNvSpPr txBox="1"/>
          <p:nvPr/>
        </p:nvSpPr>
        <p:spPr>
          <a:xfrm>
            <a:off x="801236" y="1568450"/>
            <a:ext cx="8508365" cy="1295226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Relationen / Zusammenhänge müssen jedes Mal überprüft werden (aufwendig?!). Aber hilft nicht immer: benötigt z.B. zusätzliche Tabellen</a:t>
            </a:r>
            <a:r>
              <a:rPr lang="de-DE" sz="2400" b="1" spc="-5" dirty="0">
                <a:latin typeface="Tahoma"/>
                <a:cs typeface="Tahoma"/>
              </a:rPr>
              <a:t> </a:t>
            </a:r>
            <a:endParaRPr sz="2400" b="1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847166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311914"/>
              </p:ext>
            </p:extLst>
          </p:nvPr>
        </p:nvGraphicFramePr>
        <p:xfrm>
          <a:off x="852764" y="2527857"/>
          <a:ext cx="2088183" cy="1815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0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13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Student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Mary</a:t>
                      </a: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CS145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Joe</a:t>
                      </a: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CS145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Sam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CS145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..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..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590373"/>
              </p:ext>
            </p:extLst>
          </p:nvPr>
        </p:nvGraphicFramePr>
        <p:xfrm>
          <a:off x="4058635" y="2919029"/>
          <a:ext cx="1859464" cy="1089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7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6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Room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6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CS145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B01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CS229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6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C12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6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110585" y="2406650"/>
            <a:ext cx="3018440" cy="1999318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35645" rIns="0" bIns="0" rtlCol="0">
            <a:spAutoFit/>
          </a:bodyPr>
          <a:lstStyle/>
          <a:p>
            <a:pPr marL="131345" defTabSz="1206782">
              <a:spcBef>
                <a:spcPts val="371"/>
              </a:spcBef>
            </a:pPr>
            <a:r>
              <a:rPr lang="en-GB" sz="2161" spc="-8" dirty="0" err="1">
                <a:latin typeface="Arial"/>
                <a:cs typeface="Arial"/>
              </a:rPr>
              <a:t>Wieso</a:t>
            </a:r>
            <a:r>
              <a:rPr lang="en-GB" sz="2161" spc="-8" dirty="0">
                <a:latin typeface="Arial"/>
                <a:cs typeface="Arial"/>
              </a:rPr>
              <a:t> </a:t>
            </a:r>
            <a:r>
              <a:rPr lang="en-GB" sz="2161" spc="-8" dirty="0" err="1">
                <a:latin typeface="Arial"/>
                <a:cs typeface="Arial"/>
              </a:rPr>
              <a:t>besser</a:t>
            </a:r>
            <a:r>
              <a:rPr lang="en-GB" sz="2161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?</a:t>
            </a:r>
            <a:endParaRPr lang="en-GB" sz="2161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206782">
              <a:spcBef>
                <a:spcPts val="16"/>
              </a:spcBef>
            </a:pPr>
            <a:endParaRPr lang="en-GB" sz="2161" kern="1200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485195" indent="-311701" defTabSz="1206782">
              <a:lnSpc>
                <a:spcPts val="2569"/>
              </a:lnSpc>
              <a:spcBef>
                <a:spcPts val="8"/>
              </a:spcBef>
              <a:buChar char="•"/>
              <a:tabLst>
                <a:tab pos="484214" algn="l"/>
                <a:tab pos="485195" algn="l"/>
              </a:tabLst>
            </a:pPr>
            <a:r>
              <a:rPr lang="en-GB" sz="2161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Redundanz</a:t>
            </a:r>
            <a:r>
              <a:rPr lang="en-GB" sz="2161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?</a:t>
            </a:r>
            <a:endParaRPr lang="en-GB" sz="2161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485195" indent="-311701" defTabSz="1206782">
              <a:lnSpc>
                <a:spcPts val="2548"/>
              </a:lnSpc>
              <a:buChar char="•"/>
              <a:tabLst>
                <a:tab pos="484214" algn="l"/>
                <a:tab pos="485195" algn="l"/>
              </a:tabLst>
            </a:pPr>
            <a:r>
              <a:rPr lang="en-GB" sz="2161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Update</a:t>
            </a:r>
            <a:r>
              <a:rPr lang="en-GB" sz="2161" spc="-38" dirty="0">
                <a:latin typeface="Arial"/>
                <a:cs typeface="Arial"/>
              </a:rPr>
              <a:t>-</a:t>
            </a:r>
            <a:r>
              <a:rPr lang="en-GB" sz="2161" spc="-38" dirty="0" err="1">
                <a:latin typeface="Arial"/>
                <a:cs typeface="Arial"/>
              </a:rPr>
              <a:t>A</a:t>
            </a:r>
            <a:r>
              <a:rPr lang="en-GB" sz="2161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nomalie</a:t>
            </a:r>
            <a:r>
              <a:rPr lang="en-GB" sz="2161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?</a:t>
            </a:r>
            <a:endParaRPr lang="en-GB" sz="2161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485195" indent="-311701" defTabSz="1206782">
              <a:lnSpc>
                <a:spcPts val="2548"/>
              </a:lnSpc>
              <a:buChar char="•"/>
              <a:tabLst>
                <a:tab pos="484214" algn="l"/>
                <a:tab pos="485195" algn="l"/>
              </a:tabLst>
            </a:pPr>
            <a:r>
              <a:rPr lang="en-GB" sz="2161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Delete</a:t>
            </a:r>
            <a:r>
              <a:rPr lang="en-GB" sz="2161" spc="-30" dirty="0">
                <a:latin typeface="Arial"/>
                <a:cs typeface="Arial"/>
              </a:rPr>
              <a:t>-</a:t>
            </a:r>
            <a:r>
              <a:rPr lang="en-GB" sz="2161" spc="-30" dirty="0" err="1">
                <a:latin typeface="Arial"/>
                <a:cs typeface="Arial"/>
              </a:rPr>
              <a:t>A</a:t>
            </a:r>
            <a:r>
              <a:rPr lang="en-GB" sz="2161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nomalie</a:t>
            </a:r>
            <a:r>
              <a:rPr lang="en-GB" sz="2161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?</a:t>
            </a:r>
            <a:endParaRPr lang="en-GB" sz="2161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485195" indent="-311701" defTabSz="1206782">
              <a:lnSpc>
                <a:spcPts val="2569"/>
              </a:lnSpc>
              <a:buChar char="•"/>
              <a:tabLst>
                <a:tab pos="484214" algn="l"/>
                <a:tab pos="485195" algn="l"/>
              </a:tabLst>
            </a:pPr>
            <a:r>
              <a:rPr lang="en-GB" sz="2161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Insert</a:t>
            </a:r>
            <a:r>
              <a:rPr lang="en-GB" sz="2161" spc="-30" dirty="0">
                <a:latin typeface="Arial"/>
                <a:cs typeface="Arial"/>
              </a:rPr>
              <a:t>-</a:t>
            </a:r>
            <a:r>
              <a:rPr lang="en-GB" sz="2161" spc="-30" dirty="0" err="1">
                <a:latin typeface="Arial"/>
                <a:cs typeface="Arial"/>
              </a:rPr>
              <a:t>A</a:t>
            </a:r>
            <a:r>
              <a:rPr lang="en-GB" sz="2161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nomalie</a:t>
            </a:r>
            <a:r>
              <a:rPr lang="en-GB" sz="2161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?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B667DF01-D65A-DBF9-2D3E-1315FD2837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4375" y="723650"/>
            <a:ext cx="5772926" cy="540000"/>
          </a:xfrm>
          <a:prstGeom prst="rect">
            <a:avLst/>
          </a:prstGeom>
        </p:spPr>
        <p:txBody>
          <a:bodyPr vert="horz" wrap="square" lIns="0" tIns="12624" rIns="0" bIns="0" rtlCol="0" anchor="ctr">
            <a:spAutoFit/>
          </a:bodyPr>
          <a:lstStyle/>
          <a:p>
            <a:pPr marL="22425" marR="8971" defTabSz="1210937">
              <a:lnSpc>
                <a:spcPct val="100400"/>
              </a:lnSpc>
              <a:spcBef>
                <a:spcPts val="149"/>
              </a:spcBef>
            </a:pP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Contraints</a:t>
            </a:r>
            <a:r>
              <a:rPr lang="en-GB" sz="2200" b="0" i="0" kern="1200" spc="-177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können</a:t>
            </a:r>
            <a:r>
              <a:rPr lang="en-GB" sz="2200" b="0" i="0" kern="1200" spc="-177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 </a:t>
            </a: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Anomalien</a:t>
            </a:r>
            <a:r>
              <a:rPr lang="en-GB" sz="2200" b="0" i="0" kern="1200" spc="-177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200" b="0" i="0" kern="1200" spc="-177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verhindern</a:t>
            </a:r>
            <a:endParaRPr lang="en-GB" sz="2200" spc="-105" dirty="0"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073ECC94-7D4D-4DC4-14B7-E9781E5AA104}"/>
              </a:ext>
            </a:extLst>
          </p:cNvPr>
          <p:cNvSpPr txBox="1"/>
          <p:nvPr/>
        </p:nvSpPr>
        <p:spPr>
          <a:xfrm>
            <a:off x="801236" y="1568450"/>
            <a:ext cx="8508365" cy="556563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Zerlegung in 2 Tabellen</a:t>
            </a:r>
            <a:endParaRPr sz="2400" b="1" dirty="0">
              <a:latin typeface="Tahoma"/>
              <a:cs typeface="Tahoma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81FEFD8A-5163-44B3-F2B6-A4A3ED6F2A23}"/>
              </a:ext>
            </a:extLst>
          </p:cNvPr>
          <p:cNvSpPr txBox="1"/>
          <p:nvPr/>
        </p:nvSpPr>
        <p:spPr>
          <a:xfrm>
            <a:off x="756937" y="4872476"/>
            <a:ext cx="7637763" cy="1330392"/>
          </a:xfrm>
          <a:prstGeom prst="rect">
            <a:avLst/>
          </a:prstGeom>
          <a:solidFill>
            <a:srgbClr val="CFE1F2"/>
          </a:solidFill>
        </p:spPr>
        <p:txBody>
          <a:bodyPr vert="horz" wrap="square" lIns="0" tIns="47526" rIns="0" bIns="0" rtlCol="0">
            <a:spAutoFit/>
          </a:bodyPr>
          <a:lstStyle/>
          <a:p>
            <a:pPr marL="943924" marR="307780" indent="-633201" defTabSz="1206782">
              <a:lnSpc>
                <a:spcPts val="2548"/>
              </a:lnSpc>
              <a:spcBef>
                <a:spcPts val="494"/>
              </a:spcBef>
            </a:pPr>
            <a:r>
              <a:rPr lang="en-GB" sz="2161" spc="-8" dirty="0" err="1">
                <a:latin typeface="Arial"/>
                <a:cs typeface="Arial"/>
              </a:rPr>
              <a:t>Ziel</a:t>
            </a:r>
            <a:r>
              <a:rPr lang="en-GB" sz="2161" spc="-8" dirty="0">
                <a:latin typeface="Arial"/>
                <a:cs typeface="Arial"/>
              </a:rPr>
              <a:t>: </a:t>
            </a:r>
            <a:r>
              <a:rPr lang="en-GB" sz="2161" spc="-8" dirty="0" err="1">
                <a:latin typeface="Arial"/>
                <a:cs typeface="Arial"/>
              </a:rPr>
              <a:t>Entwicklung</a:t>
            </a:r>
            <a:r>
              <a:rPr lang="en-GB" sz="2161" spc="-8" dirty="0">
                <a:latin typeface="Arial"/>
                <a:cs typeface="Arial"/>
              </a:rPr>
              <a:t> </a:t>
            </a:r>
            <a:r>
              <a:rPr lang="en-GB" sz="2161" spc="-8" dirty="0" err="1">
                <a:latin typeface="Arial"/>
                <a:cs typeface="Arial"/>
              </a:rPr>
              <a:t>einer</a:t>
            </a:r>
            <a:r>
              <a:rPr lang="en-GB" sz="2161" spc="-8" dirty="0">
                <a:latin typeface="Arial"/>
                <a:cs typeface="Arial"/>
              </a:rPr>
              <a:t> </a:t>
            </a:r>
            <a:r>
              <a:rPr lang="en-GB" sz="2161" spc="-8" dirty="0" err="1">
                <a:latin typeface="Arial"/>
                <a:cs typeface="Arial"/>
              </a:rPr>
              <a:t>Theorie</a:t>
            </a:r>
            <a:r>
              <a:rPr lang="en-GB" sz="2161" spc="-8" dirty="0">
                <a:latin typeface="Arial"/>
                <a:cs typeface="Arial"/>
              </a:rPr>
              <a:t> / Ansatz / ‘Best Practice’ um </a:t>
            </a:r>
            <a:r>
              <a:rPr lang="en-GB" sz="2161" spc="-8" dirty="0" err="1">
                <a:latin typeface="Arial"/>
                <a:cs typeface="Arial"/>
              </a:rPr>
              <a:t>zu</a:t>
            </a:r>
            <a:r>
              <a:rPr lang="en-GB" sz="2161" spc="-8" dirty="0">
                <a:latin typeface="Arial"/>
                <a:cs typeface="Arial"/>
              </a:rPr>
              <a:t> verstehen </a:t>
            </a:r>
            <a:r>
              <a:rPr lang="en-GB" sz="2161" spc="-8" dirty="0" err="1">
                <a:latin typeface="Arial"/>
                <a:cs typeface="Arial"/>
              </a:rPr>
              <a:t>warum</a:t>
            </a:r>
            <a:r>
              <a:rPr lang="en-GB" sz="2161" spc="-8" dirty="0">
                <a:latin typeface="Arial"/>
                <a:cs typeface="Arial"/>
              </a:rPr>
              <a:t> </a:t>
            </a:r>
            <a:r>
              <a:rPr lang="en-GB" sz="2161" spc="-8" dirty="0" err="1">
                <a:latin typeface="Arial"/>
                <a:cs typeface="Arial"/>
              </a:rPr>
              <a:t>dieser</a:t>
            </a:r>
            <a:r>
              <a:rPr lang="en-GB" sz="2161" spc="-8" dirty="0">
                <a:latin typeface="Arial"/>
                <a:cs typeface="Arial"/>
              </a:rPr>
              <a:t> Ansatz </a:t>
            </a:r>
            <a:r>
              <a:rPr lang="en-GB" sz="2161" spc="-8" dirty="0" err="1">
                <a:latin typeface="Arial"/>
                <a:cs typeface="Arial"/>
              </a:rPr>
              <a:t>besser</a:t>
            </a:r>
            <a:r>
              <a:rPr lang="en-GB" sz="2161" spc="-8" dirty="0">
                <a:latin typeface="Arial"/>
                <a:cs typeface="Arial"/>
              </a:rPr>
              <a:t> </a:t>
            </a:r>
            <a:r>
              <a:rPr lang="en-GB" sz="2161" spc="-8" dirty="0" err="1">
                <a:latin typeface="Arial"/>
                <a:cs typeface="Arial"/>
              </a:rPr>
              <a:t>ist</a:t>
            </a:r>
            <a:r>
              <a:rPr lang="en-GB" sz="2161" spc="-8" dirty="0">
                <a:latin typeface="Arial"/>
                <a:cs typeface="Arial"/>
              </a:rPr>
              <a:t> und um die </a:t>
            </a:r>
            <a:r>
              <a:rPr lang="en-GB" sz="2161" spc="-8" dirty="0" err="1">
                <a:latin typeface="Arial"/>
                <a:cs typeface="Arial"/>
              </a:rPr>
              <a:t>entsprechende</a:t>
            </a:r>
            <a:r>
              <a:rPr lang="en-GB" sz="2161" spc="-8" dirty="0">
                <a:latin typeface="Arial"/>
                <a:cs typeface="Arial"/>
              </a:rPr>
              <a:t> </a:t>
            </a:r>
            <a:r>
              <a:rPr lang="en-GB" sz="2161" spc="-8" dirty="0" err="1">
                <a:latin typeface="Arial"/>
                <a:cs typeface="Arial"/>
              </a:rPr>
              <a:t>Zerlegung</a:t>
            </a:r>
            <a:r>
              <a:rPr lang="en-GB" sz="2161" spc="-8" dirty="0">
                <a:latin typeface="Arial"/>
                <a:cs typeface="Arial"/>
              </a:rPr>
              <a:t> </a:t>
            </a:r>
            <a:r>
              <a:rPr lang="en-GB" sz="2161" spc="-8" dirty="0" err="1">
                <a:latin typeface="Arial"/>
                <a:cs typeface="Arial"/>
              </a:rPr>
              <a:t>systematisch</a:t>
            </a:r>
            <a:r>
              <a:rPr lang="en-GB" sz="2161" spc="-8" dirty="0">
                <a:latin typeface="Arial"/>
                <a:cs typeface="Arial"/>
              </a:rPr>
              <a:t> </a:t>
            </a:r>
            <a:r>
              <a:rPr lang="en-GB" sz="2161" spc="-8" dirty="0" err="1">
                <a:latin typeface="Arial"/>
                <a:cs typeface="Arial"/>
              </a:rPr>
              <a:t>zu</a:t>
            </a:r>
            <a:r>
              <a:rPr lang="en-GB" sz="2161" spc="-8" dirty="0">
                <a:latin typeface="Arial"/>
                <a:cs typeface="Arial"/>
              </a:rPr>
              <a:t> </a:t>
            </a:r>
            <a:r>
              <a:rPr lang="en-GB" sz="2161" spc="-8" dirty="0" err="1">
                <a:latin typeface="Arial"/>
                <a:cs typeface="Arial"/>
              </a:rPr>
              <a:t>entwickeln</a:t>
            </a:r>
            <a:r>
              <a:rPr lang="en-GB" sz="2161" spc="-8" dirty="0">
                <a:latin typeface="Arial"/>
                <a:cs typeface="Arial"/>
              </a:rPr>
              <a:t> …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517F8E-7178-DDFB-4CD4-A5DA8513E046}"/>
              </a:ext>
            </a:extLst>
          </p:cNvPr>
          <p:cNvSpPr txBox="1"/>
          <p:nvPr/>
        </p:nvSpPr>
        <p:spPr>
          <a:xfrm>
            <a:off x="478161" y="6445250"/>
            <a:ext cx="9650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Wir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werden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gleich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sehen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dass</a:t>
            </a:r>
            <a:r>
              <a:rPr lang="en-US" dirty="0">
                <a:solidFill>
                  <a:srgbClr val="FF0000"/>
                </a:solidFill>
              </a:rPr>
              <a:t> ‘</a:t>
            </a:r>
            <a:r>
              <a:rPr lang="en-US" dirty="0" err="1">
                <a:solidFill>
                  <a:srgbClr val="FF0000"/>
                </a:solidFill>
              </a:rPr>
              <a:t>funktionale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Abhängigkeiten</a:t>
            </a:r>
            <a:r>
              <a:rPr lang="en-US" dirty="0">
                <a:solidFill>
                  <a:srgbClr val="FF0000"/>
                </a:solidFill>
              </a:rPr>
              <a:t>’ </a:t>
            </a:r>
            <a:r>
              <a:rPr lang="en-US" dirty="0" err="1">
                <a:solidFill>
                  <a:srgbClr val="FF0000"/>
                </a:solidFill>
              </a:rPr>
              <a:t>hier</a:t>
            </a:r>
            <a:r>
              <a:rPr lang="en-US" dirty="0">
                <a:solidFill>
                  <a:srgbClr val="FF0000"/>
                </a:solidFill>
              </a:rPr>
              <a:t> das Problem </a:t>
            </a:r>
            <a:r>
              <a:rPr lang="en-US" dirty="0" err="1">
                <a:solidFill>
                  <a:srgbClr val="FF0000"/>
                </a:solidFill>
              </a:rPr>
              <a:t>sind</a:t>
            </a:r>
            <a:r>
              <a:rPr lang="en-US" dirty="0">
                <a:solidFill>
                  <a:srgbClr val="FF0000"/>
                </a:solidFill>
              </a:rPr>
              <a:t>. Die </a:t>
            </a:r>
            <a:r>
              <a:rPr lang="en-US" dirty="0" err="1">
                <a:solidFill>
                  <a:srgbClr val="FF0000"/>
                </a:solidFill>
              </a:rPr>
              <a:t>Zerlegung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gemäß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funktionaler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Abhängigkeiten</a:t>
            </a:r>
            <a:r>
              <a:rPr lang="en-US" dirty="0">
                <a:solidFill>
                  <a:srgbClr val="FF0000"/>
                </a:solidFill>
              </a:rPr>
              <a:t>) hat die </a:t>
            </a:r>
            <a:r>
              <a:rPr lang="en-US" dirty="0" err="1">
                <a:solidFill>
                  <a:srgbClr val="FF0000"/>
                </a:solidFill>
              </a:rPr>
              <a:t>Anomalien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eliminiert</a:t>
            </a:r>
            <a:r>
              <a:rPr lang="en-US" dirty="0">
                <a:solidFill>
                  <a:srgbClr val="FF0000"/>
                </a:solidFill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4908111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BEDD5-203B-A421-DF6D-34B92C383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Funktionale</a:t>
            </a:r>
            <a:r>
              <a:rPr lang="en-US" dirty="0"/>
              <a:t> </a:t>
            </a:r>
            <a:r>
              <a:rPr lang="en-US" dirty="0" err="1"/>
              <a:t>Abhängigkeiten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871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755874" y="1065327"/>
            <a:ext cx="7373151" cy="5379923"/>
          </a:xfrm>
          <a:custGeom>
            <a:avLst/>
            <a:gdLst/>
            <a:ahLst/>
            <a:cxnLst/>
            <a:rect l="l" t="t" r="r" b="b"/>
            <a:pathLst>
              <a:path w="7049134" h="5143500">
                <a:moveTo>
                  <a:pt x="7048785" y="0"/>
                </a:moveTo>
                <a:lnTo>
                  <a:pt x="0" y="0"/>
                </a:lnTo>
                <a:lnTo>
                  <a:pt x="0" y="5143189"/>
                </a:lnTo>
                <a:lnTo>
                  <a:pt x="7048785" y="5143189"/>
                </a:lnTo>
                <a:lnTo>
                  <a:pt x="70487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4700" y="654050"/>
            <a:ext cx="6705600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13217" marR="5287" defTabSz="713731">
              <a:lnSpc>
                <a:spcPct val="100000"/>
              </a:lnSpc>
              <a:spcBef>
                <a:spcPts val="104"/>
              </a:spcBef>
            </a:pPr>
            <a:r>
              <a:rPr lang="en-GB" sz="2200" b="0" i="0" kern="1200" spc="-5" baseline="0" dirty="0">
                <a:solidFill>
                  <a:srgbClr val="FFFFFF"/>
                </a:solidFill>
                <a:latin typeface="Arial"/>
                <a:ea typeface="+mj-ea"/>
                <a:cs typeface="Arial"/>
              </a:rPr>
              <a:t>Transitive </a:t>
            </a:r>
            <a:r>
              <a:rPr lang="en-GB" sz="2200" b="0" i="0" kern="1200" spc="-5" baseline="0" dirty="0" err="1">
                <a:solidFill>
                  <a:srgbClr val="FFFFFF"/>
                </a:solidFill>
                <a:latin typeface="Arial"/>
                <a:ea typeface="+mj-ea"/>
                <a:cs typeface="Arial"/>
              </a:rPr>
              <a:t>Hülle</a:t>
            </a:r>
            <a:r>
              <a:rPr lang="en-GB" sz="2200" b="0" i="0" kern="1200" spc="-5" baseline="0" dirty="0">
                <a:solidFill>
                  <a:srgbClr val="FFFFFF"/>
                </a:solidFill>
                <a:latin typeface="Arial"/>
                <a:ea typeface="+mj-ea"/>
                <a:cs typeface="Arial"/>
              </a:rPr>
              <a:t> / Closures</a:t>
            </a:r>
            <a:endParaRPr lang="en-GB" sz="22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46843" y="2178050"/>
            <a:ext cx="593784" cy="238741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3217" defTabSz="813664">
              <a:spcBef>
                <a:spcPts val="104"/>
              </a:spcBef>
            </a:pPr>
            <a:r>
              <a:rPr lang="en-GB" sz="145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A </a:t>
            </a:r>
            <a:r>
              <a:rPr lang="en-GB" sz="1457" kern="1200" spc="-5">
                <a:solidFill>
                  <a:schemeClr val="tx1"/>
                </a:solidFill>
                <a:latin typeface="Arial"/>
                <a:ea typeface="+mn-ea"/>
                <a:cs typeface="Arial"/>
              </a:rPr>
              <a:t>=&gt;</a:t>
            </a:r>
            <a:r>
              <a:rPr lang="en-GB" sz="1457" kern="1200" spc="-99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45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B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46843" y="2615938"/>
            <a:ext cx="4155160" cy="238741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3217" defTabSz="813664">
              <a:spcBef>
                <a:spcPts val="104"/>
              </a:spcBef>
            </a:pPr>
            <a:r>
              <a:rPr lang="en-GB" sz="145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B </a:t>
            </a:r>
            <a:r>
              <a:rPr lang="en-GB" sz="1457" kern="1200" spc="-5">
                <a:solidFill>
                  <a:schemeClr val="tx1"/>
                </a:solidFill>
                <a:latin typeface="Arial"/>
                <a:ea typeface="+mn-ea"/>
                <a:cs typeface="Arial"/>
              </a:rPr>
              <a:t>=&gt; C, </a:t>
            </a:r>
            <a:r>
              <a:rPr lang="en-GB" sz="145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C </a:t>
            </a:r>
            <a:r>
              <a:rPr lang="en-GB" sz="1457" kern="1200" spc="-5">
                <a:solidFill>
                  <a:schemeClr val="tx1"/>
                </a:solidFill>
                <a:latin typeface="Arial"/>
                <a:ea typeface="+mn-ea"/>
                <a:cs typeface="Arial"/>
              </a:rPr>
              <a:t>=&gt; D, </a:t>
            </a:r>
            <a:r>
              <a:rPr lang="en-GB" sz="145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… X </a:t>
            </a:r>
            <a:r>
              <a:rPr lang="en-GB" sz="1457" kern="1200" spc="-5">
                <a:solidFill>
                  <a:schemeClr val="tx1"/>
                </a:solidFill>
                <a:latin typeface="Arial"/>
                <a:ea typeface="+mn-ea"/>
                <a:cs typeface="Arial"/>
              </a:rPr>
              <a:t>=&gt; Y, </a:t>
            </a:r>
            <a:r>
              <a:rPr lang="en-GB" sz="145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… (transitive</a:t>
            </a:r>
            <a:r>
              <a:rPr lang="en-GB" sz="1457" kern="1200" spc="-104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45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closures)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93900" y="4207857"/>
            <a:ext cx="3188095" cy="17036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</p:spTree>
    <p:extLst>
      <p:ext uri="{BB962C8B-B14F-4D97-AF65-F5344CB8AC3E}">
        <p14:creationId xmlns:p14="http://schemas.microsoft.com/office/powerpoint/2010/main" val="18966747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8500" y="654050"/>
            <a:ext cx="6400800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15148" defTabSz="817984">
              <a:lnSpc>
                <a:spcPct val="100000"/>
              </a:lnSpc>
              <a:spcBef>
                <a:spcPts val="119"/>
              </a:spcBef>
            </a:pPr>
            <a:r>
              <a:rPr lang="en-GB" sz="2237" b="0" i="0" kern="1200" spc="-90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Funktionale</a:t>
            </a:r>
            <a:r>
              <a:rPr lang="en-GB" sz="2237" b="0" i="0" kern="1200" spc="-90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237" b="0" i="0" kern="1200" spc="-90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Abhängigkeit</a:t>
            </a:r>
            <a:r>
              <a:rPr lang="en-GB" sz="2237" b="0" i="0" kern="1200" spc="-90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(Functional </a:t>
            </a:r>
            <a:r>
              <a:rPr lang="en-GB" sz="2237" b="0" i="0" kern="1200" spc="-90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Dependecies</a:t>
            </a:r>
            <a:r>
              <a:rPr lang="en-GB" sz="2237" b="0" i="0" kern="1200" spc="-90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= FDs)</a:t>
            </a:r>
            <a:endParaRPr lang="en-GB" spc="-70" dirty="0"/>
          </a:p>
        </p:txBody>
      </p:sp>
      <p:sp>
        <p:nvSpPr>
          <p:cNvPr id="4" name="object 4"/>
          <p:cNvSpPr txBox="1"/>
          <p:nvPr/>
        </p:nvSpPr>
        <p:spPr>
          <a:xfrm>
            <a:off x="3798107" y="5140418"/>
            <a:ext cx="5892963" cy="806183"/>
          </a:xfrm>
          <a:prstGeom prst="rect">
            <a:avLst/>
          </a:prstGeom>
          <a:solidFill>
            <a:srgbClr val="CFE1F2"/>
          </a:solidFill>
        </p:spPr>
        <p:txBody>
          <a:bodyPr vert="horz" wrap="square" lIns="0" tIns="36386" rIns="0" bIns="0" rtlCol="0">
            <a:spAutoFit/>
          </a:bodyPr>
          <a:lstStyle/>
          <a:p>
            <a:pPr algn="ctr" defTabSz="932514">
              <a:lnSpc>
                <a:spcPts val="1985"/>
              </a:lnSpc>
              <a:spcBef>
                <a:spcPts val="291"/>
              </a:spcBef>
            </a:pPr>
            <a:r>
              <a:rPr lang="en-GB" sz="1670" i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A-&gt;B </a:t>
            </a:r>
            <a:r>
              <a:rPr lang="en-GB" sz="1670" i="1" spc="-6" dirty="0" err="1">
                <a:latin typeface="Arial"/>
                <a:cs typeface="Arial"/>
              </a:rPr>
              <a:t>bedeutet</a:t>
            </a:r>
            <a:r>
              <a:rPr lang="en-GB" sz="1670" i="1" spc="-6" dirty="0">
                <a:latin typeface="Arial"/>
                <a:cs typeface="Arial"/>
              </a:rPr>
              <a:t>, </a:t>
            </a:r>
            <a:r>
              <a:rPr lang="en-GB" sz="1670" i="1" spc="-6" dirty="0" err="1">
                <a:latin typeface="Arial"/>
                <a:cs typeface="Arial"/>
              </a:rPr>
              <a:t>daß</a:t>
            </a:r>
            <a:endParaRPr lang="en-GB" sz="167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algn="ctr" defTabSz="932514">
              <a:lnSpc>
                <a:spcPts val="1985"/>
              </a:lnSpc>
            </a:pPr>
            <a:r>
              <a:rPr lang="en-GB" sz="1670" i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“</a:t>
            </a:r>
            <a:r>
              <a:rPr lang="en-GB" sz="1670" i="1" kern="1200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wenn</a:t>
            </a:r>
            <a:r>
              <a:rPr lang="en-GB" sz="1670" i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70" i="1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zwei</a:t>
            </a:r>
            <a:r>
              <a:rPr lang="en-GB" sz="1670" i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70" i="1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Tupel</a:t>
            </a:r>
            <a:r>
              <a:rPr lang="en-GB" sz="1670" i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in den </a:t>
            </a:r>
            <a:r>
              <a:rPr lang="en-GB" sz="1670" i="1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Attributen</a:t>
            </a:r>
            <a:r>
              <a:rPr lang="en-GB" sz="1670" i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A </a:t>
            </a:r>
            <a:r>
              <a:rPr lang="en-GB" sz="1670" i="1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übereinstimmen</a:t>
            </a:r>
            <a:r>
              <a:rPr lang="en-GB" sz="1670" i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, </a:t>
            </a:r>
            <a:r>
              <a:rPr lang="en-GB" sz="1670" i="1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dann</a:t>
            </a:r>
            <a:r>
              <a:rPr lang="en-GB" sz="1670" i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70" i="1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stimmen</a:t>
            </a:r>
            <a:r>
              <a:rPr lang="en-GB" sz="1670" i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70" i="1" spc="-6" dirty="0" err="1">
                <a:latin typeface="Arial"/>
                <a:cs typeface="Arial"/>
              </a:rPr>
              <a:t>sie</a:t>
            </a:r>
            <a:r>
              <a:rPr lang="en-GB" sz="1670" i="1" spc="-6" dirty="0">
                <a:latin typeface="Arial"/>
                <a:cs typeface="Arial"/>
              </a:rPr>
              <a:t> </a:t>
            </a:r>
            <a:r>
              <a:rPr lang="en-GB" sz="1670" i="1" spc="-6" dirty="0" err="1">
                <a:latin typeface="Arial"/>
                <a:cs typeface="Arial"/>
              </a:rPr>
              <a:t>auch</a:t>
            </a:r>
            <a:r>
              <a:rPr lang="en-GB" sz="1670" i="1" spc="-6" dirty="0">
                <a:latin typeface="Arial"/>
                <a:cs typeface="Arial"/>
              </a:rPr>
              <a:t> in den B </a:t>
            </a:r>
            <a:r>
              <a:rPr lang="en-GB" sz="1670" i="1" spc="-6" dirty="0" err="1">
                <a:latin typeface="Arial"/>
                <a:cs typeface="Arial"/>
              </a:rPr>
              <a:t>überein</a:t>
            </a:r>
            <a:r>
              <a:rPr lang="en-GB" sz="1670" i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.”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C11168D6-832E-F123-F967-6996802EA947}"/>
              </a:ext>
            </a:extLst>
          </p:cNvPr>
          <p:cNvSpPr txBox="1"/>
          <p:nvPr/>
        </p:nvSpPr>
        <p:spPr>
          <a:xfrm>
            <a:off x="2298700" y="1866380"/>
            <a:ext cx="5242737" cy="2619797"/>
          </a:xfrm>
          <a:prstGeom prst="rect">
            <a:avLst/>
          </a:prstGeom>
          <a:solidFill>
            <a:srgbClr val="E6E4F4"/>
          </a:solidFill>
        </p:spPr>
        <p:txBody>
          <a:bodyPr vert="horz" wrap="square" lIns="0" tIns="34902" rIns="0" bIns="0" rtlCol="0">
            <a:spAutoFit/>
          </a:bodyPr>
          <a:lstStyle/>
          <a:p>
            <a:pPr marL="101494" defTabSz="932514">
              <a:spcBef>
                <a:spcPts val="281"/>
              </a:spcBef>
            </a:pPr>
            <a:r>
              <a:rPr lang="en-GB" sz="1908" b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Definition: </a:t>
            </a:r>
            <a:r>
              <a:rPr lang="en-GB" sz="1908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Gegeben</a:t>
            </a:r>
            <a:r>
              <a:rPr lang="en-GB" sz="1908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08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sein</a:t>
            </a:r>
            <a:r>
              <a:rPr lang="en-GB" sz="1908" spc="-6" dirty="0" err="1">
                <a:latin typeface="Arial"/>
                <a:cs typeface="Arial"/>
              </a:rPr>
              <a:t>en</a:t>
            </a:r>
            <a:r>
              <a:rPr lang="en-GB" sz="1908" spc="-6" dirty="0">
                <a:latin typeface="Arial"/>
                <a:cs typeface="Arial"/>
              </a:rPr>
              <a:t> </a:t>
            </a:r>
            <a:r>
              <a:rPr lang="en-GB" sz="1908" spc="-6" dirty="0" err="1">
                <a:latin typeface="Arial"/>
                <a:cs typeface="Arial"/>
              </a:rPr>
              <a:t>Attributmengen</a:t>
            </a:r>
            <a:r>
              <a:rPr lang="en-GB" sz="1908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A,B. </a:t>
            </a:r>
            <a:endParaRPr lang="en-GB" sz="1908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01494" marR="839979" defTabSz="932514">
              <a:lnSpc>
                <a:spcPct val="101600"/>
              </a:lnSpc>
            </a:pPr>
            <a:r>
              <a:rPr lang="en-GB" sz="1908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Wir</a:t>
            </a:r>
            <a:r>
              <a:rPr lang="en-GB" sz="1908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08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sagen</a:t>
            </a:r>
            <a:r>
              <a:rPr lang="en-GB" sz="1908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08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 → B (A </a:t>
            </a:r>
            <a:r>
              <a:rPr lang="en-GB" sz="1908" kern="1200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implizert</a:t>
            </a:r>
            <a:r>
              <a:rPr lang="en-GB" sz="1908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B) </a:t>
            </a:r>
            <a:r>
              <a:rPr lang="en-GB" sz="1908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oder</a:t>
            </a:r>
            <a:r>
              <a:rPr lang="en-GB" sz="1908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08" dirty="0">
                <a:latin typeface="Arial"/>
                <a:cs typeface="Arial"/>
              </a:rPr>
              <a:t>B </a:t>
            </a:r>
            <a:r>
              <a:rPr lang="en-GB" sz="1908" dirty="0" err="1">
                <a:latin typeface="Arial"/>
                <a:cs typeface="Arial"/>
              </a:rPr>
              <a:t>ist</a:t>
            </a:r>
            <a:r>
              <a:rPr lang="en-GB" sz="1908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08" b="1" i="1" kern="1200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funktional</a:t>
            </a:r>
            <a:r>
              <a:rPr lang="en-GB" sz="1908" b="1" i="1" dirty="0">
                <a:latin typeface="Arial"/>
                <a:cs typeface="Arial"/>
              </a:rPr>
              <a:t> </a:t>
            </a:r>
            <a:r>
              <a:rPr lang="en-GB" sz="1908" b="1" i="1" dirty="0" err="1">
                <a:latin typeface="Arial"/>
                <a:cs typeface="Arial"/>
              </a:rPr>
              <a:t>abhängig</a:t>
            </a:r>
            <a:r>
              <a:rPr lang="en-GB" sz="1908" b="1" i="1" dirty="0">
                <a:latin typeface="Arial"/>
                <a:cs typeface="Arial"/>
              </a:rPr>
              <a:t> </a:t>
            </a:r>
            <a:r>
              <a:rPr lang="en-GB" sz="1908" dirty="0">
                <a:latin typeface="Arial"/>
                <a:cs typeface="Arial"/>
              </a:rPr>
              <a:t>von</a:t>
            </a:r>
            <a:r>
              <a:rPr lang="en-GB" sz="1908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08" spc="-6" dirty="0">
                <a:latin typeface="Arial"/>
                <a:cs typeface="Arial"/>
              </a:rPr>
              <a:t>A, </a:t>
            </a:r>
            <a:r>
              <a:rPr lang="en-GB" sz="1908" spc="-6" dirty="0" err="1">
                <a:latin typeface="Arial"/>
                <a:cs typeface="Arial"/>
              </a:rPr>
              <a:t>wenn</a:t>
            </a:r>
            <a:r>
              <a:rPr lang="en-GB" sz="1908" spc="-6" dirty="0">
                <a:latin typeface="Arial"/>
                <a:cs typeface="Arial"/>
              </a:rPr>
              <a:t> für</a:t>
            </a:r>
            <a:r>
              <a:rPr lang="en-GB" sz="1908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08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jedes</a:t>
            </a:r>
            <a:r>
              <a:rPr lang="en-GB" sz="1908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08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Paar</a:t>
            </a:r>
            <a:r>
              <a:rPr lang="en-GB" sz="1908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von </a:t>
            </a:r>
            <a:r>
              <a:rPr lang="en-GB" sz="1908" spc="-6" dirty="0" err="1">
                <a:latin typeface="Arial"/>
                <a:cs typeface="Arial"/>
              </a:rPr>
              <a:t>T</a:t>
            </a:r>
            <a:r>
              <a:rPr lang="en-GB" sz="1908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upeln</a:t>
            </a:r>
            <a:r>
              <a:rPr lang="en-GB" sz="1908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08" kern="1200" spc="1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t</a:t>
            </a:r>
            <a:r>
              <a:rPr lang="en-GB" sz="1879" kern="1200" spc="27" baseline="-3174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1 </a:t>
            </a:r>
            <a:r>
              <a:rPr lang="en-GB" sz="1908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and</a:t>
            </a:r>
            <a:r>
              <a:rPr lang="en-GB" sz="1908" kern="1200" spc="-71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08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t</a:t>
            </a:r>
            <a:r>
              <a:rPr lang="en-GB" sz="1879" kern="1200" baseline="-3174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2</a:t>
            </a:r>
            <a:r>
              <a:rPr lang="en-GB" sz="1908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:</a:t>
            </a:r>
          </a:p>
          <a:p>
            <a:pPr algn="ctr" defTabSz="932514">
              <a:spcBef>
                <a:spcPts val="895"/>
              </a:spcBef>
            </a:pPr>
            <a:r>
              <a:rPr lang="en-GB" sz="1908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t</a:t>
            </a:r>
            <a:r>
              <a:rPr lang="en-GB" sz="1879" kern="1200" spc="-8" baseline="-3174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1908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[A] </a:t>
            </a:r>
            <a:r>
              <a:rPr lang="en-GB" sz="1908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= t</a:t>
            </a:r>
            <a:r>
              <a:rPr lang="en-GB" sz="1879" kern="1200" baseline="-3174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2</a:t>
            </a:r>
            <a:r>
              <a:rPr lang="en-GB" sz="1908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[A] </a:t>
            </a:r>
            <a:r>
              <a:rPr lang="en-GB" sz="1908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implies </a:t>
            </a:r>
            <a:r>
              <a:rPr lang="en-GB" sz="1908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t</a:t>
            </a:r>
            <a:r>
              <a:rPr lang="en-GB" sz="1879" kern="1200" baseline="-3174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1908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[B] =</a:t>
            </a:r>
            <a:r>
              <a:rPr lang="en-GB" sz="1908" kern="1200" spc="-84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08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t</a:t>
            </a:r>
            <a:r>
              <a:rPr lang="en-GB" sz="1879" kern="1200" spc="-8" baseline="-3174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2</a:t>
            </a:r>
            <a:r>
              <a:rPr lang="en-GB" sz="1908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[B]</a:t>
            </a:r>
            <a:endParaRPr lang="en-GB" sz="1908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01494" defTabSz="932514">
              <a:spcBef>
                <a:spcPts val="840"/>
              </a:spcBef>
            </a:pPr>
            <a:r>
              <a:rPr lang="en-GB" sz="1908" spc="-6" dirty="0">
                <a:latin typeface="Arial"/>
                <a:cs typeface="Arial"/>
              </a:rPr>
              <a:t>u</a:t>
            </a:r>
            <a:r>
              <a:rPr lang="en-GB" sz="1908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nd </a:t>
            </a:r>
            <a:r>
              <a:rPr lang="en-GB" sz="1908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wir</a:t>
            </a:r>
            <a:r>
              <a:rPr lang="en-GB" sz="1908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08" spc="-6" dirty="0" err="1">
                <a:latin typeface="Arial"/>
                <a:cs typeface="Arial"/>
              </a:rPr>
              <a:t>nennen</a:t>
            </a:r>
            <a:r>
              <a:rPr lang="en-GB" sz="1908" spc="-6" dirty="0">
                <a:latin typeface="Arial"/>
                <a:cs typeface="Arial"/>
              </a:rPr>
              <a:t> </a:t>
            </a:r>
            <a:r>
              <a:rPr lang="en-GB" sz="1908" spc="-6" dirty="0" err="1">
                <a:latin typeface="Arial"/>
                <a:cs typeface="Arial"/>
              </a:rPr>
              <a:t>dann</a:t>
            </a:r>
            <a:r>
              <a:rPr lang="en-GB" sz="1908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A → B </a:t>
            </a:r>
            <a:r>
              <a:rPr lang="en-GB" sz="1908" kern="1200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eine</a:t>
            </a:r>
            <a:r>
              <a:rPr lang="en-GB" sz="1908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08" b="1" u="heavy" kern="1200" dirty="0" err="1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funktional</a:t>
            </a:r>
            <a:r>
              <a:rPr lang="en-GB" sz="1908" b="1" u="heavy" kern="1200" spc="-96" dirty="0" err="1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e</a:t>
            </a:r>
            <a:r>
              <a:rPr lang="en-GB" sz="1908" b="1" u="heavy" kern="1200" spc="-96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 </a:t>
            </a:r>
            <a:r>
              <a:rPr lang="en-GB" sz="1908" b="1" u="heavy" kern="1200" spc="-96" dirty="0" err="1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Abhängigkeit</a:t>
            </a:r>
            <a:endParaRPr lang="en-GB" sz="187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44017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ACBED-EDD3-2162-6D6E-4A30D9F0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540000"/>
          </a:xfrm>
        </p:spPr>
        <p:txBody>
          <a:bodyPr/>
          <a:lstStyle/>
          <a:p>
            <a:r>
              <a:rPr lang="en-US" dirty="0" err="1"/>
              <a:t>Anschauliche</a:t>
            </a:r>
            <a:r>
              <a:rPr lang="en-US" dirty="0"/>
              <a:t> </a:t>
            </a:r>
            <a:r>
              <a:rPr lang="en-US" dirty="0" err="1"/>
              <a:t>Darstellung</a:t>
            </a:r>
            <a:endParaRPr lang="en-US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3C75069B-6779-56A8-EBB7-01C8A7405FE0}"/>
              </a:ext>
            </a:extLst>
          </p:cNvPr>
          <p:cNvSpPr/>
          <p:nvPr/>
        </p:nvSpPr>
        <p:spPr>
          <a:xfrm>
            <a:off x="1620326" y="399334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F23F5806-233E-8BE8-F8E2-6716AC07886B}"/>
              </a:ext>
            </a:extLst>
          </p:cNvPr>
          <p:cNvSpPr/>
          <p:nvPr/>
        </p:nvSpPr>
        <p:spPr>
          <a:xfrm>
            <a:off x="2048049" y="399334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1269C0B2-ED82-62C7-694E-4E540388307C}"/>
              </a:ext>
            </a:extLst>
          </p:cNvPr>
          <p:cNvSpPr/>
          <p:nvPr/>
        </p:nvSpPr>
        <p:spPr>
          <a:xfrm>
            <a:off x="2475774" y="399334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62D7907A-A64F-BE8B-C49B-8E63A4F01132}"/>
              </a:ext>
            </a:extLst>
          </p:cNvPr>
          <p:cNvSpPr/>
          <p:nvPr/>
        </p:nvSpPr>
        <p:spPr>
          <a:xfrm>
            <a:off x="2903497" y="399334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42323427-EA7C-E3C7-AC98-22C370EEE0D9}"/>
              </a:ext>
            </a:extLst>
          </p:cNvPr>
          <p:cNvSpPr/>
          <p:nvPr/>
        </p:nvSpPr>
        <p:spPr>
          <a:xfrm>
            <a:off x="3331220" y="399334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94E271C4-C3D4-8675-99C5-0FB34AE09BD8}"/>
              </a:ext>
            </a:extLst>
          </p:cNvPr>
          <p:cNvSpPr/>
          <p:nvPr/>
        </p:nvSpPr>
        <p:spPr>
          <a:xfrm>
            <a:off x="3758944" y="399334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AB366469-879D-9D46-FEDA-084433A08346}"/>
              </a:ext>
            </a:extLst>
          </p:cNvPr>
          <p:cNvSpPr/>
          <p:nvPr/>
        </p:nvSpPr>
        <p:spPr>
          <a:xfrm>
            <a:off x="4186667" y="399334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33D120BA-9939-5F45-CFBB-68924573F9A7}"/>
              </a:ext>
            </a:extLst>
          </p:cNvPr>
          <p:cNvSpPr/>
          <p:nvPr/>
        </p:nvSpPr>
        <p:spPr>
          <a:xfrm>
            <a:off x="4614391" y="399334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9FF57134-422D-DBA1-EC37-0CA79B45E29A}"/>
              </a:ext>
            </a:extLst>
          </p:cNvPr>
          <p:cNvSpPr/>
          <p:nvPr/>
        </p:nvSpPr>
        <p:spPr>
          <a:xfrm>
            <a:off x="5042114" y="399334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7D078316-2ACD-ED88-E04C-838F10059DF2}"/>
              </a:ext>
            </a:extLst>
          </p:cNvPr>
          <p:cNvSpPr/>
          <p:nvPr/>
        </p:nvSpPr>
        <p:spPr>
          <a:xfrm>
            <a:off x="1620326" y="425354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2AE4BFB4-327B-AC57-D44C-9EAB41BE5E3F}"/>
              </a:ext>
            </a:extLst>
          </p:cNvPr>
          <p:cNvSpPr/>
          <p:nvPr/>
        </p:nvSpPr>
        <p:spPr>
          <a:xfrm>
            <a:off x="2048049" y="425354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21152C92-B2C4-1286-310A-5B83B349914B}"/>
              </a:ext>
            </a:extLst>
          </p:cNvPr>
          <p:cNvSpPr/>
          <p:nvPr/>
        </p:nvSpPr>
        <p:spPr>
          <a:xfrm>
            <a:off x="2475774" y="425354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6E91F248-723F-423B-A88B-A3E7F88E4FA7}"/>
              </a:ext>
            </a:extLst>
          </p:cNvPr>
          <p:cNvSpPr/>
          <p:nvPr/>
        </p:nvSpPr>
        <p:spPr>
          <a:xfrm>
            <a:off x="2903497" y="425354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99BF3153-4594-A78A-96CE-016D01DF12A3}"/>
              </a:ext>
            </a:extLst>
          </p:cNvPr>
          <p:cNvSpPr/>
          <p:nvPr/>
        </p:nvSpPr>
        <p:spPr>
          <a:xfrm>
            <a:off x="3331220" y="425354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id="{0E9EE7A8-12E5-C394-A218-63BE97F079E5}"/>
              </a:ext>
            </a:extLst>
          </p:cNvPr>
          <p:cNvSpPr/>
          <p:nvPr/>
        </p:nvSpPr>
        <p:spPr>
          <a:xfrm>
            <a:off x="3758944" y="425354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431F991E-D6C4-0D5B-E856-F3C210BEDC10}"/>
              </a:ext>
            </a:extLst>
          </p:cNvPr>
          <p:cNvSpPr/>
          <p:nvPr/>
        </p:nvSpPr>
        <p:spPr>
          <a:xfrm>
            <a:off x="4186667" y="425354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20F079D7-71A0-0543-5A58-45814DC5546D}"/>
              </a:ext>
            </a:extLst>
          </p:cNvPr>
          <p:cNvSpPr/>
          <p:nvPr/>
        </p:nvSpPr>
        <p:spPr>
          <a:xfrm>
            <a:off x="4614391" y="425354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BE3B030E-FD6D-9882-36DB-3946E212DF01}"/>
              </a:ext>
            </a:extLst>
          </p:cNvPr>
          <p:cNvSpPr/>
          <p:nvPr/>
        </p:nvSpPr>
        <p:spPr>
          <a:xfrm>
            <a:off x="5042114" y="425354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6C1031F5-6AC5-1BD4-8FD4-44B37A2745DC}"/>
              </a:ext>
            </a:extLst>
          </p:cNvPr>
          <p:cNvSpPr/>
          <p:nvPr/>
        </p:nvSpPr>
        <p:spPr>
          <a:xfrm>
            <a:off x="1620326" y="451373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BD945BF3-1A58-7869-B5B9-B483FC879229}"/>
              </a:ext>
            </a:extLst>
          </p:cNvPr>
          <p:cNvSpPr/>
          <p:nvPr/>
        </p:nvSpPr>
        <p:spPr>
          <a:xfrm>
            <a:off x="2048049" y="451373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6D72A5EF-5558-1D33-65ED-982E82EE7022}"/>
              </a:ext>
            </a:extLst>
          </p:cNvPr>
          <p:cNvSpPr/>
          <p:nvPr/>
        </p:nvSpPr>
        <p:spPr>
          <a:xfrm>
            <a:off x="2475774" y="451373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6" name="object 24">
            <a:extLst>
              <a:ext uri="{FF2B5EF4-FFF2-40B4-BE49-F238E27FC236}">
                <a16:creationId xmlns:a16="http://schemas.microsoft.com/office/drawing/2014/main" id="{EB69FA00-696E-EFC7-9A18-375C8B4A3423}"/>
              </a:ext>
            </a:extLst>
          </p:cNvPr>
          <p:cNvSpPr/>
          <p:nvPr/>
        </p:nvSpPr>
        <p:spPr>
          <a:xfrm>
            <a:off x="2903497" y="451373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7" name="object 25">
            <a:extLst>
              <a:ext uri="{FF2B5EF4-FFF2-40B4-BE49-F238E27FC236}">
                <a16:creationId xmlns:a16="http://schemas.microsoft.com/office/drawing/2014/main" id="{165DEC37-6168-5201-7ABB-E0FA409FEABB}"/>
              </a:ext>
            </a:extLst>
          </p:cNvPr>
          <p:cNvSpPr/>
          <p:nvPr/>
        </p:nvSpPr>
        <p:spPr>
          <a:xfrm>
            <a:off x="3331220" y="451373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632CC2A0-3BAD-B69D-C182-E30FA72FDFBE}"/>
              </a:ext>
            </a:extLst>
          </p:cNvPr>
          <p:cNvSpPr/>
          <p:nvPr/>
        </p:nvSpPr>
        <p:spPr>
          <a:xfrm>
            <a:off x="3758944" y="451373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98559BD4-6DED-241D-87EB-0348ECB73849}"/>
              </a:ext>
            </a:extLst>
          </p:cNvPr>
          <p:cNvSpPr/>
          <p:nvPr/>
        </p:nvSpPr>
        <p:spPr>
          <a:xfrm>
            <a:off x="4186667" y="451373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25E934BE-96CA-AA8B-F3C6-FE883B32D1E1}"/>
              </a:ext>
            </a:extLst>
          </p:cNvPr>
          <p:cNvSpPr/>
          <p:nvPr/>
        </p:nvSpPr>
        <p:spPr>
          <a:xfrm>
            <a:off x="4614391" y="451373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1" name="object 29">
            <a:extLst>
              <a:ext uri="{FF2B5EF4-FFF2-40B4-BE49-F238E27FC236}">
                <a16:creationId xmlns:a16="http://schemas.microsoft.com/office/drawing/2014/main" id="{664D31AD-19F6-72C8-19EF-FB8FE7A021F2}"/>
              </a:ext>
            </a:extLst>
          </p:cNvPr>
          <p:cNvSpPr/>
          <p:nvPr/>
        </p:nvSpPr>
        <p:spPr>
          <a:xfrm>
            <a:off x="5042114" y="451373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2" name="object 30">
            <a:extLst>
              <a:ext uri="{FF2B5EF4-FFF2-40B4-BE49-F238E27FC236}">
                <a16:creationId xmlns:a16="http://schemas.microsoft.com/office/drawing/2014/main" id="{E728A887-8780-E097-0135-AD81244B8C62}"/>
              </a:ext>
            </a:extLst>
          </p:cNvPr>
          <p:cNvSpPr/>
          <p:nvPr/>
        </p:nvSpPr>
        <p:spPr>
          <a:xfrm>
            <a:off x="1620326" y="477393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3" name="object 31">
            <a:extLst>
              <a:ext uri="{FF2B5EF4-FFF2-40B4-BE49-F238E27FC236}">
                <a16:creationId xmlns:a16="http://schemas.microsoft.com/office/drawing/2014/main" id="{67FC226C-E147-D2F3-E1B8-54A24D5FEB31}"/>
              </a:ext>
            </a:extLst>
          </p:cNvPr>
          <p:cNvSpPr/>
          <p:nvPr/>
        </p:nvSpPr>
        <p:spPr>
          <a:xfrm>
            <a:off x="2048049" y="477393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4" name="object 32">
            <a:extLst>
              <a:ext uri="{FF2B5EF4-FFF2-40B4-BE49-F238E27FC236}">
                <a16:creationId xmlns:a16="http://schemas.microsoft.com/office/drawing/2014/main" id="{88C0536D-776D-EAB3-9BE2-0BABCB32C6AD}"/>
              </a:ext>
            </a:extLst>
          </p:cNvPr>
          <p:cNvSpPr/>
          <p:nvPr/>
        </p:nvSpPr>
        <p:spPr>
          <a:xfrm>
            <a:off x="2475774" y="477393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5" name="object 33">
            <a:extLst>
              <a:ext uri="{FF2B5EF4-FFF2-40B4-BE49-F238E27FC236}">
                <a16:creationId xmlns:a16="http://schemas.microsoft.com/office/drawing/2014/main" id="{765A2DB3-C3C4-0427-FBD7-0450DD7DFE48}"/>
              </a:ext>
            </a:extLst>
          </p:cNvPr>
          <p:cNvSpPr/>
          <p:nvPr/>
        </p:nvSpPr>
        <p:spPr>
          <a:xfrm>
            <a:off x="2903497" y="477393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6" name="object 34">
            <a:extLst>
              <a:ext uri="{FF2B5EF4-FFF2-40B4-BE49-F238E27FC236}">
                <a16:creationId xmlns:a16="http://schemas.microsoft.com/office/drawing/2014/main" id="{2BD365D2-7DEB-D8BA-669F-352313CADCD9}"/>
              </a:ext>
            </a:extLst>
          </p:cNvPr>
          <p:cNvSpPr/>
          <p:nvPr/>
        </p:nvSpPr>
        <p:spPr>
          <a:xfrm>
            <a:off x="3331220" y="477393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7" name="object 35">
            <a:extLst>
              <a:ext uri="{FF2B5EF4-FFF2-40B4-BE49-F238E27FC236}">
                <a16:creationId xmlns:a16="http://schemas.microsoft.com/office/drawing/2014/main" id="{D259A75C-1953-D855-9B2C-B60C13DEA4E0}"/>
              </a:ext>
            </a:extLst>
          </p:cNvPr>
          <p:cNvSpPr/>
          <p:nvPr/>
        </p:nvSpPr>
        <p:spPr>
          <a:xfrm>
            <a:off x="3758944" y="477393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8" name="object 36">
            <a:extLst>
              <a:ext uri="{FF2B5EF4-FFF2-40B4-BE49-F238E27FC236}">
                <a16:creationId xmlns:a16="http://schemas.microsoft.com/office/drawing/2014/main" id="{BD5829E2-A795-4308-8870-EC703C65CD6A}"/>
              </a:ext>
            </a:extLst>
          </p:cNvPr>
          <p:cNvSpPr/>
          <p:nvPr/>
        </p:nvSpPr>
        <p:spPr>
          <a:xfrm>
            <a:off x="4186667" y="477393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9" name="object 37">
            <a:extLst>
              <a:ext uri="{FF2B5EF4-FFF2-40B4-BE49-F238E27FC236}">
                <a16:creationId xmlns:a16="http://schemas.microsoft.com/office/drawing/2014/main" id="{F4B23DF6-DE1D-C82D-E317-AECD1CB21BBD}"/>
              </a:ext>
            </a:extLst>
          </p:cNvPr>
          <p:cNvSpPr/>
          <p:nvPr/>
        </p:nvSpPr>
        <p:spPr>
          <a:xfrm>
            <a:off x="4614391" y="477393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0" name="object 38">
            <a:extLst>
              <a:ext uri="{FF2B5EF4-FFF2-40B4-BE49-F238E27FC236}">
                <a16:creationId xmlns:a16="http://schemas.microsoft.com/office/drawing/2014/main" id="{C0BEA093-C3A2-C5CD-F18F-21B577674B4E}"/>
              </a:ext>
            </a:extLst>
          </p:cNvPr>
          <p:cNvSpPr/>
          <p:nvPr/>
        </p:nvSpPr>
        <p:spPr>
          <a:xfrm>
            <a:off x="5042114" y="477393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1" name="object 39">
            <a:extLst>
              <a:ext uri="{FF2B5EF4-FFF2-40B4-BE49-F238E27FC236}">
                <a16:creationId xmlns:a16="http://schemas.microsoft.com/office/drawing/2014/main" id="{EC9C6728-8C59-2959-ECC1-813EE8CE93FC}"/>
              </a:ext>
            </a:extLst>
          </p:cNvPr>
          <p:cNvSpPr/>
          <p:nvPr/>
        </p:nvSpPr>
        <p:spPr>
          <a:xfrm>
            <a:off x="1620326" y="503413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2" name="object 40">
            <a:extLst>
              <a:ext uri="{FF2B5EF4-FFF2-40B4-BE49-F238E27FC236}">
                <a16:creationId xmlns:a16="http://schemas.microsoft.com/office/drawing/2014/main" id="{5254BD6B-F03F-C3DF-B157-9ECD934923BB}"/>
              </a:ext>
            </a:extLst>
          </p:cNvPr>
          <p:cNvSpPr/>
          <p:nvPr/>
        </p:nvSpPr>
        <p:spPr>
          <a:xfrm>
            <a:off x="2048049" y="503413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3" name="object 41">
            <a:extLst>
              <a:ext uri="{FF2B5EF4-FFF2-40B4-BE49-F238E27FC236}">
                <a16:creationId xmlns:a16="http://schemas.microsoft.com/office/drawing/2014/main" id="{65DEEC4D-43F2-37F5-648A-F636374D1919}"/>
              </a:ext>
            </a:extLst>
          </p:cNvPr>
          <p:cNvSpPr/>
          <p:nvPr/>
        </p:nvSpPr>
        <p:spPr>
          <a:xfrm>
            <a:off x="2475774" y="503413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4" name="object 42">
            <a:extLst>
              <a:ext uri="{FF2B5EF4-FFF2-40B4-BE49-F238E27FC236}">
                <a16:creationId xmlns:a16="http://schemas.microsoft.com/office/drawing/2014/main" id="{2B1B322B-BA7A-4581-4E41-34C7A31E1C37}"/>
              </a:ext>
            </a:extLst>
          </p:cNvPr>
          <p:cNvSpPr/>
          <p:nvPr/>
        </p:nvSpPr>
        <p:spPr>
          <a:xfrm>
            <a:off x="2903497" y="503413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5" name="object 43">
            <a:extLst>
              <a:ext uri="{FF2B5EF4-FFF2-40B4-BE49-F238E27FC236}">
                <a16:creationId xmlns:a16="http://schemas.microsoft.com/office/drawing/2014/main" id="{BDD73907-14A7-C92E-3549-752490B1FD9D}"/>
              </a:ext>
            </a:extLst>
          </p:cNvPr>
          <p:cNvSpPr/>
          <p:nvPr/>
        </p:nvSpPr>
        <p:spPr>
          <a:xfrm>
            <a:off x="3331220" y="503413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6" name="object 44">
            <a:extLst>
              <a:ext uri="{FF2B5EF4-FFF2-40B4-BE49-F238E27FC236}">
                <a16:creationId xmlns:a16="http://schemas.microsoft.com/office/drawing/2014/main" id="{7815A72F-4DCA-007B-9FF1-9EF4ABA534C6}"/>
              </a:ext>
            </a:extLst>
          </p:cNvPr>
          <p:cNvSpPr/>
          <p:nvPr/>
        </p:nvSpPr>
        <p:spPr>
          <a:xfrm>
            <a:off x="3758944" y="503413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7" name="object 45">
            <a:extLst>
              <a:ext uri="{FF2B5EF4-FFF2-40B4-BE49-F238E27FC236}">
                <a16:creationId xmlns:a16="http://schemas.microsoft.com/office/drawing/2014/main" id="{E1BAD19C-DB95-E9CC-4F06-52076A4259E5}"/>
              </a:ext>
            </a:extLst>
          </p:cNvPr>
          <p:cNvSpPr/>
          <p:nvPr/>
        </p:nvSpPr>
        <p:spPr>
          <a:xfrm>
            <a:off x="4186667" y="503413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8" name="object 46">
            <a:extLst>
              <a:ext uri="{FF2B5EF4-FFF2-40B4-BE49-F238E27FC236}">
                <a16:creationId xmlns:a16="http://schemas.microsoft.com/office/drawing/2014/main" id="{5A529089-25B3-8FF1-D99B-277256961096}"/>
              </a:ext>
            </a:extLst>
          </p:cNvPr>
          <p:cNvSpPr/>
          <p:nvPr/>
        </p:nvSpPr>
        <p:spPr>
          <a:xfrm>
            <a:off x="4614391" y="503413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9" name="object 47">
            <a:extLst>
              <a:ext uri="{FF2B5EF4-FFF2-40B4-BE49-F238E27FC236}">
                <a16:creationId xmlns:a16="http://schemas.microsoft.com/office/drawing/2014/main" id="{96598911-241D-F150-C5F6-8487F069D65A}"/>
              </a:ext>
            </a:extLst>
          </p:cNvPr>
          <p:cNvSpPr/>
          <p:nvPr/>
        </p:nvSpPr>
        <p:spPr>
          <a:xfrm>
            <a:off x="5042114" y="503413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0" name="object 48">
            <a:extLst>
              <a:ext uri="{FF2B5EF4-FFF2-40B4-BE49-F238E27FC236}">
                <a16:creationId xmlns:a16="http://schemas.microsoft.com/office/drawing/2014/main" id="{F0B018C0-B43D-FF7E-2B50-B77843E17514}"/>
              </a:ext>
            </a:extLst>
          </p:cNvPr>
          <p:cNvSpPr/>
          <p:nvPr/>
        </p:nvSpPr>
        <p:spPr>
          <a:xfrm>
            <a:off x="1620326" y="372571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1" name="object 49">
            <a:extLst>
              <a:ext uri="{FF2B5EF4-FFF2-40B4-BE49-F238E27FC236}">
                <a16:creationId xmlns:a16="http://schemas.microsoft.com/office/drawing/2014/main" id="{4B721F15-051F-923C-07E7-4D9949339AC0}"/>
              </a:ext>
            </a:extLst>
          </p:cNvPr>
          <p:cNvSpPr/>
          <p:nvPr/>
        </p:nvSpPr>
        <p:spPr>
          <a:xfrm>
            <a:off x="2048049" y="372571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2" name="object 50">
            <a:extLst>
              <a:ext uri="{FF2B5EF4-FFF2-40B4-BE49-F238E27FC236}">
                <a16:creationId xmlns:a16="http://schemas.microsoft.com/office/drawing/2014/main" id="{7D064013-37EE-94C2-BBAF-BB0D7A7ED043}"/>
              </a:ext>
            </a:extLst>
          </p:cNvPr>
          <p:cNvSpPr/>
          <p:nvPr/>
        </p:nvSpPr>
        <p:spPr>
          <a:xfrm>
            <a:off x="2475772" y="372571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3" name="object 51">
            <a:extLst>
              <a:ext uri="{FF2B5EF4-FFF2-40B4-BE49-F238E27FC236}">
                <a16:creationId xmlns:a16="http://schemas.microsoft.com/office/drawing/2014/main" id="{FE322565-1A2C-2143-6EAC-965CAF6E8C93}"/>
              </a:ext>
            </a:extLst>
          </p:cNvPr>
          <p:cNvSpPr/>
          <p:nvPr/>
        </p:nvSpPr>
        <p:spPr>
          <a:xfrm>
            <a:off x="2903497" y="372571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4" name="object 52">
            <a:extLst>
              <a:ext uri="{FF2B5EF4-FFF2-40B4-BE49-F238E27FC236}">
                <a16:creationId xmlns:a16="http://schemas.microsoft.com/office/drawing/2014/main" id="{35DEF46F-483A-A632-D12D-DC1EAD14A732}"/>
              </a:ext>
            </a:extLst>
          </p:cNvPr>
          <p:cNvSpPr/>
          <p:nvPr/>
        </p:nvSpPr>
        <p:spPr>
          <a:xfrm>
            <a:off x="3331220" y="372571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5" name="object 53">
            <a:extLst>
              <a:ext uri="{FF2B5EF4-FFF2-40B4-BE49-F238E27FC236}">
                <a16:creationId xmlns:a16="http://schemas.microsoft.com/office/drawing/2014/main" id="{1043194B-8C31-7FC8-13AA-42D0BDFE9DE9}"/>
              </a:ext>
            </a:extLst>
          </p:cNvPr>
          <p:cNvSpPr/>
          <p:nvPr/>
        </p:nvSpPr>
        <p:spPr>
          <a:xfrm>
            <a:off x="3758943" y="372571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6" name="object 54">
            <a:extLst>
              <a:ext uri="{FF2B5EF4-FFF2-40B4-BE49-F238E27FC236}">
                <a16:creationId xmlns:a16="http://schemas.microsoft.com/office/drawing/2014/main" id="{387AD658-8B57-BDF6-3F2C-0901C135AAFB}"/>
              </a:ext>
            </a:extLst>
          </p:cNvPr>
          <p:cNvSpPr/>
          <p:nvPr/>
        </p:nvSpPr>
        <p:spPr>
          <a:xfrm>
            <a:off x="4186667" y="372571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7" name="object 55">
            <a:extLst>
              <a:ext uri="{FF2B5EF4-FFF2-40B4-BE49-F238E27FC236}">
                <a16:creationId xmlns:a16="http://schemas.microsoft.com/office/drawing/2014/main" id="{716FA32F-1ACC-A0DE-F321-78A21901F07A}"/>
              </a:ext>
            </a:extLst>
          </p:cNvPr>
          <p:cNvSpPr/>
          <p:nvPr/>
        </p:nvSpPr>
        <p:spPr>
          <a:xfrm>
            <a:off x="4614391" y="372571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8" name="object 56">
            <a:extLst>
              <a:ext uri="{FF2B5EF4-FFF2-40B4-BE49-F238E27FC236}">
                <a16:creationId xmlns:a16="http://schemas.microsoft.com/office/drawing/2014/main" id="{3EE7EBCB-7DA3-DBF4-3ECA-8DD2A86EA537}"/>
              </a:ext>
            </a:extLst>
          </p:cNvPr>
          <p:cNvSpPr/>
          <p:nvPr/>
        </p:nvSpPr>
        <p:spPr>
          <a:xfrm>
            <a:off x="5042114" y="372571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9" name="object 57">
            <a:extLst>
              <a:ext uri="{FF2B5EF4-FFF2-40B4-BE49-F238E27FC236}">
                <a16:creationId xmlns:a16="http://schemas.microsoft.com/office/drawing/2014/main" id="{0C9C250B-EDBE-6C1A-8790-84C6AC43B4D9}"/>
              </a:ext>
            </a:extLst>
          </p:cNvPr>
          <p:cNvSpPr/>
          <p:nvPr/>
        </p:nvSpPr>
        <p:spPr>
          <a:xfrm>
            <a:off x="5469837" y="372571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0" name="object 58">
            <a:extLst>
              <a:ext uri="{FF2B5EF4-FFF2-40B4-BE49-F238E27FC236}">
                <a16:creationId xmlns:a16="http://schemas.microsoft.com/office/drawing/2014/main" id="{4A2A10A2-C181-8D0B-2CC4-F3826A8B54D5}"/>
              </a:ext>
            </a:extLst>
          </p:cNvPr>
          <p:cNvSpPr/>
          <p:nvPr/>
        </p:nvSpPr>
        <p:spPr>
          <a:xfrm>
            <a:off x="1612900" y="3733142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1" name="object 59">
            <a:extLst>
              <a:ext uri="{FF2B5EF4-FFF2-40B4-BE49-F238E27FC236}">
                <a16:creationId xmlns:a16="http://schemas.microsoft.com/office/drawing/2014/main" id="{D68AC6C4-C09B-DA06-268E-512FF3D90CCE}"/>
              </a:ext>
            </a:extLst>
          </p:cNvPr>
          <p:cNvSpPr/>
          <p:nvPr/>
        </p:nvSpPr>
        <p:spPr>
          <a:xfrm>
            <a:off x="1612900" y="3993342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2" name="object 60">
            <a:extLst>
              <a:ext uri="{FF2B5EF4-FFF2-40B4-BE49-F238E27FC236}">
                <a16:creationId xmlns:a16="http://schemas.microsoft.com/office/drawing/2014/main" id="{36AA5925-CA42-C885-4FE5-059BE56ED3F4}"/>
              </a:ext>
            </a:extLst>
          </p:cNvPr>
          <p:cNvSpPr/>
          <p:nvPr/>
        </p:nvSpPr>
        <p:spPr>
          <a:xfrm>
            <a:off x="1612900" y="4253543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3" name="object 61">
            <a:extLst>
              <a:ext uri="{FF2B5EF4-FFF2-40B4-BE49-F238E27FC236}">
                <a16:creationId xmlns:a16="http://schemas.microsoft.com/office/drawing/2014/main" id="{C6E88859-C2DA-8276-399B-0F4D8E3687E1}"/>
              </a:ext>
            </a:extLst>
          </p:cNvPr>
          <p:cNvSpPr/>
          <p:nvPr/>
        </p:nvSpPr>
        <p:spPr>
          <a:xfrm>
            <a:off x="1612900" y="4513732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4" name="object 62">
            <a:extLst>
              <a:ext uri="{FF2B5EF4-FFF2-40B4-BE49-F238E27FC236}">
                <a16:creationId xmlns:a16="http://schemas.microsoft.com/office/drawing/2014/main" id="{B85C74A1-9C82-D9FA-A214-5ACDF47F08C9}"/>
              </a:ext>
            </a:extLst>
          </p:cNvPr>
          <p:cNvSpPr/>
          <p:nvPr/>
        </p:nvSpPr>
        <p:spPr>
          <a:xfrm>
            <a:off x="1612900" y="4773933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5" name="object 63">
            <a:extLst>
              <a:ext uri="{FF2B5EF4-FFF2-40B4-BE49-F238E27FC236}">
                <a16:creationId xmlns:a16="http://schemas.microsoft.com/office/drawing/2014/main" id="{CFB42E93-4624-FF81-EDD2-CDE8737C96C7}"/>
              </a:ext>
            </a:extLst>
          </p:cNvPr>
          <p:cNvSpPr/>
          <p:nvPr/>
        </p:nvSpPr>
        <p:spPr>
          <a:xfrm>
            <a:off x="1612900" y="5034135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6" name="object 64">
            <a:extLst>
              <a:ext uri="{FF2B5EF4-FFF2-40B4-BE49-F238E27FC236}">
                <a16:creationId xmlns:a16="http://schemas.microsoft.com/office/drawing/2014/main" id="{44630B38-7E38-3E5A-83F2-F8698535CF29}"/>
              </a:ext>
            </a:extLst>
          </p:cNvPr>
          <p:cNvSpPr/>
          <p:nvPr/>
        </p:nvSpPr>
        <p:spPr>
          <a:xfrm>
            <a:off x="1612900" y="5294335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7" name="object 65">
            <a:extLst>
              <a:ext uri="{FF2B5EF4-FFF2-40B4-BE49-F238E27FC236}">
                <a16:creationId xmlns:a16="http://schemas.microsoft.com/office/drawing/2014/main" id="{231138AF-2FCD-914F-F568-0F0D172F288B}"/>
              </a:ext>
            </a:extLst>
          </p:cNvPr>
          <p:cNvSpPr txBox="1"/>
          <p:nvPr/>
        </p:nvSpPr>
        <p:spPr>
          <a:xfrm>
            <a:off x="2048049" y="3733142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2177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A</a:t>
            </a:r>
            <a:r>
              <a:rPr sz="1140" b="1" baseline="-29914" dirty="0">
                <a:latin typeface="Arial"/>
                <a:cs typeface="Arial"/>
              </a:rPr>
              <a:t>1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68" name="object 66">
            <a:extLst>
              <a:ext uri="{FF2B5EF4-FFF2-40B4-BE49-F238E27FC236}">
                <a16:creationId xmlns:a16="http://schemas.microsoft.com/office/drawing/2014/main" id="{A63FC192-FA6F-DE3B-1898-95640689B40D}"/>
              </a:ext>
            </a:extLst>
          </p:cNvPr>
          <p:cNvSpPr txBox="1"/>
          <p:nvPr/>
        </p:nvSpPr>
        <p:spPr>
          <a:xfrm>
            <a:off x="2475772" y="3733142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9603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…</a:t>
            </a:r>
            <a:endParaRPr sz="1169">
              <a:latin typeface="Arial"/>
              <a:cs typeface="Arial"/>
            </a:endParaRPr>
          </a:p>
        </p:txBody>
      </p:sp>
      <p:sp>
        <p:nvSpPr>
          <p:cNvPr id="69" name="object 67">
            <a:extLst>
              <a:ext uri="{FF2B5EF4-FFF2-40B4-BE49-F238E27FC236}">
                <a16:creationId xmlns:a16="http://schemas.microsoft.com/office/drawing/2014/main" id="{ADB1A9C6-391B-08AA-7AB2-77C53AD26EFE}"/>
              </a:ext>
            </a:extLst>
          </p:cNvPr>
          <p:cNvSpPr txBox="1"/>
          <p:nvPr/>
        </p:nvSpPr>
        <p:spPr>
          <a:xfrm>
            <a:off x="2903497" y="3733142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15841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A</a:t>
            </a:r>
            <a:r>
              <a:rPr sz="1140" b="1" baseline="-29914" dirty="0">
                <a:latin typeface="Arial"/>
                <a:cs typeface="Arial"/>
              </a:rPr>
              <a:t>m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70" name="object 68">
            <a:extLst>
              <a:ext uri="{FF2B5EF4-FFF2-40B4-BE49-F238E27FC236}">
                <a16:creationId xmlns:a16="http://schemas.microsoft.com/office/drawing/2014/main" id="{BEF2D0EE-23D7-C37D-6B60-988C701128EE}"/>
              </a:ext>
            </a:extLst>
          </p:cNvPr>
          <p:cNvSpPr txBox="1"/>
          <p:nvPr/>
        </p:nvSpPr>
        <p:spPr>
          <a:xfrm>
            <a:off x="3758943" y="3733142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2177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B</a:t>
            </a:r>
            <a:r>
              <a:rPr sz="1140" b="1" baseline="-29914" dirty="0">
                <a:latin typeface="Arial"/>
                <a:cs typeface="Arial"/>
              </a:rPr>
              <a:t>1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71" name="object 69">
            <a:extLst>
              <a:ext uri="{FF2B5EF4-FFF2-40B4-BE49-F238E27FC236}">
                <a16:creationId xmlns:a16="http://schemas.microsoft.com/office/drawing/2014/main" id="{626D6951-2024-FAB9-2BB6-3CD01420026B}"/>
              </a:ext>
            </a:extLst>
          </p:cNvPr>
          <p:cNvSpPr txBox="1"/>
          <p:nvPr/>
        </p:nvSpPr>
        <p:spPr>
          <a:xfrm>
            <a:off x="4186667" y="3733142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9603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…</a:t>
            </a:r>
            <a:endParaRPr sz="1169">
              <a:latin typeface="Arial"/>
              <a:cs typeface="Arial"/>
            </a:endParaRPr>
          </a:p>
        </p:txBody>
      </p:sp>
      <p:sp>
        <p:nvSpPr>
          <p:cNvPr id="72" name="object 70">
            <a:extLst>
              <a:ext uri="{FF2B5EF4-FFF2-40B4-BE49-F238E27FC236}">
                <a16:creationId xmlns:a16="http://schemas.microsoft.com/office/drawing/2014/main" id="{558B9464-D390-CA1D-E685-CA3B8052C703}"/>
              </a:ext>
            </a:extLst>
          </p:cNvPr>
          <p:cNvSpPr txBox="1"/>
          <p:nvPr/>
        </p:nvSpPr>
        <p:spPr>
          <a:xfrm>
            <a:off x="4614391" y="3733142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29950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B</a:t>
            </a:r>
            <a:r>
              <a:rPr sz="1140" b="1" baseline="-29914" dirty="0">
                <a:latin typeface="Arial"/>
                <a:cs typeface="Arial"/>
              </a:rPr>
              <a:t>n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73" name="object 71">
            <a:extLst>
              <a:ext uri="{FF2B5EF4-FFF2-40B4-BE49-F238E27FC236}">
                <a16:creationId xmlns:a16="http://schemas.microsoft.com/office/drawing/2014/main" id="{33E83CD5-B9A3-4D20-019D-29C38B7033A4}"/>
              </a:ext>
            </a:extLst>
          </p:cNvPr>
          <p:cNvSpPr txBox="1"/>
          <p:nvPr/>
        </p:nvSpPr>
        <p:spPr>
          <a:xfrm>
            <a:off x="5717028" y="2878969"/>
            <a:ext cx="3068412" cy="895933"/>
          </a:xfrm>
          <a:prstGeom prst="rect">
            <a:avLst/>
          </a:prstGeom>
          <a:solidFill>
            <a:srgbClr val="D4E4F2"/>
          </a:solidFill>
        </p:spPr>
        <p:txBody>
          <a:bodyPr vert="horz" wrap="square" lIns="0" tIns="37130" rIns="0" bIns="0" rtlCol="0">
            <a:spAutoFit/>
          </a:bodyPr>
          <a:lstStyle/>
          <a:p>
            <a:pPr marL="99504">
              <a:lnSpc>
                <a:spcPts val="1672"/>
              </a:lnSpc>
              <a:spcBef>
                <a:spcPts val="292"/>
              </a:spcBef>
            </a:pPr>
            <a:r>
              <a:rPr sz="1403" u="heavy" spc="-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Def</a:t>
            </a:r>
            <a:r>
              <a:rPr lang="de-DE" sz="1403" u="heavy" spc="-6" dirty="0" err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inition</a:t>
            </a:r>
            <a:r>
              <a:rPr sz="1403" u="heavy" spc="-12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de-DE" sz="1403" u="heavy" spc="-12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(s.o.</a:t>
            </a:r>
            <a:r>
              <a:rPr sz="1403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):</a:t>
            </a:r>
            <a:endParaRPr sz="1403" dirty="0">
              <a:latin typeface="Arial"/>
              <a:cs typeface="Arial"/>
            </a:endParaRPr>
          </a:p>
          <a:p>
            <a:pPr marL="99504">
              <a:lnSpc>
                <a:spcPts val="1666"/>
              </a:lnSpc>
            </a:pPr>
            <a:r>
              <a:rPr sz="1403" spc="-6" dirty="0">
                <a:latin typeface="Arial"/>
                <a:cs typeface="Arial"/>
              </a:rPr>
              <a:t>G</a:t>
            </a:r>
            <a:r>
              <a:rPr lang="de-DE" sz="1403" spc="-6" dirty="0" err="1">
                <a:latin typeface="Arial"/>
                <a:cs typeface="Arial"/>
              </a:rPr>
              <a:t>egeben</a:t>
            </a:r>
            <a:r>
              <a:rPr lang="de-DE" sz="1403" spc="-6" dirty="0">
                <a:latin typeface="Arial"/>
                <a:cs typeface="Arial"/>
              </a:rPr>
              <a:t> seien die</a:t>
            </a:r>
            <a:r>
              <a:rPr sz="1403" spc="-6" dirty="0">
                <a:latin typeface="Arial"/>
                <a:cs typeface="Arial"/>
              </a:rPr>
              <a:t> </a:t>
            </a:r>
            <a:r>
              <a:rPr lang="de-DE" sz="1403" spc="-6" dirty="0">
                <a:latin typeface="Arial"/>
                <a:cs typeface="Arial"/>
              </a:rPr>
              <a:t>Attributmengen</a:t>
            </a:r>
            <a:r>
              <a:rPr sz="1403" spc="-12" dirty="0">
                <a:latin typeface="Arial"/>
                <a:cs typeface="Arial"/>
              </a:rPr>
              <a:t> </a:t>
            </a:r>
            <a:r>
              <a:rPr sz="1403" b="1" spc="-6" dirty="0">
                <a:latin typeface="Arial"/>
                <a:cs typeface="Arial"/>
              </a:rPr>
              <a:t>A={A</a:t>
            </a:r>
            <a:r>
              <a:rPr sz="1403" b="1" spc="-8" baseline="-31250" dirty="0">
                <a:latin typeface="Arial"/>
                <a:cs typeface="Arial"/>
              </a:rPr>
              <a:t>1</a:t>
            </a:r>
            <a:r>
              <a:rPr sz="1403" b="1" spc="-6" dirty="0">
                <a:latin typeface="Arial"/>
                <a:cs typeface="Arial"/>
              </a:rPr>
              <a:t>,…,A</a:t>
            </a:r>
            <a:r>
              <a:rPr sz="1403" b="1" spc="-8" baseline="-31250" dirty="0">
                <a:latin typeface="Arial"/>
                <a:cs typeface="Arial"/>
              </a:rPr>
              <a:t>m</a:t>
            </a:r>
            <a:r>
              <a:rPr sz="1403" b="1" spc="-6" dirty="0">
                <a:latin typeface="Arial"/>
                <a:cs typeface="Arial"/>
              </a:rPr>
              <a:t>}</a:t>
            </a:r>
            <a:endParaRPr sz="1403" dirty="0">
              <a:latin typeface="Arial"/>
              <a:cs typeface="Arial"/>
            </a:endParaRPr>
          </a:p>
          <a:p>
            <a:pPr marL="99504">
              <a:lnSpc>
                <a:spcPts val="1672"/>
              </a:lnSpc>
            </a:pPr>
            <a:r>
              <a:rPr lang="de-DE" sz="1403" spc="-6" dirty="0">
                <a:latin typeface="Arial"/>
                <a:cs typeface="Arial"/>
              </a:rPr>
              <a:t>u</a:t>
            </a:r>
            <a:r>
              <a:rPr sz="1403" spc="-6" dirty="0" err="1">
                <a:latin typeface="Arial"/>
                <a:cs typeface="Arial"/>
              </a:rPr>
              <a:t>nd</a:t>
            </a:r>
            <a:r>
              <a:rPr sz="1403" spc="-6" dirty="0">
                <a:latin typeface="Arial"/>
                <a:cs typeface="Arial"/>
              </a:rPr>
              <a:t> </a:t>
            </a:r>
            <a:r>
              <a:rPr sz="1403" b="1" dirty="0">
                <a:latin typeface="Arial"/>
                <a:cs typeface="Arial"/>
              </a:rPr>
              <a:t>B = </a:t>
            </a:r>
            <a:r>
              <a:rPr sz="1403" b="1" spc="-6" dirty="0">
                <a:latin typeface="Arial"/>
                <a:cs typeface="Arial"/>
              </a:rPr>
              <a:t>{B</a:t>
            </a:r>
            <a:r>
              <a:rPr sz="1403" b="1" spc="-8" baseline="-31250" dirty="0">
                <a:latin typeface="Arial"/>
                <a:cs typeface="Arial"/>
              </a:rPr>
              <a:t>1</a:t>
            </a:r>
            <a:r>
              <a:rPr sz="1403" b="1" spc="-6" dirty="0">
                <a:latin typeface="Arial"/>
                <a:cs typeface="Arial"/>
              </a:rPr>
              <a:t>,…B</a:t>
            </a:r>
            <a:r>
              <a:rPr sz="1403" b="1" spc="-8" baseline="-31250" dirty="0">
                <a:latin typeface="Arial"/>
                <a:cs typeface="Arial"/>
              </a:rPr>
              <a:t>n</a:t>
            </a:r>
            <a:r>
              <a:rPr sz="1403" b="1" spc="-6" dirty="0">
                <a:latin typeface="Arial"/>
                <a:cs typeface="Arial"/>
              </a:rPr>
              <a:t>} </a:t>
            </a:r>
            <a:r>
              <a:rPr sz="1403" spc="-6" dirty="0">
                <a:latin typeface="Arial"/>
                <a:cs typeface="Arial"/>
              </a:rPr>
              <a:t>in</a:t>
            </a:r>
            <a:r>
              <a:rPr sz="1403" spc="-18" dirty="0">
                <a:latin typeface="Arial"/>
                <a:cs typeface="Arial"/>
              </a:rPr>
              <a:t> </a:t>
            </a:r>
            <a:r>
              <a:rPr sz="1403" b="1" spc="-6" dirty="0">
                <a:latin typeface="Arial"/>
                <a:cs typeface="Arial"/>
              </a:rPr>
              <a:t>R,</a:t>
            </a:r>
            <a:endParaRPr sz="1403" dirty="0">
              <a:latin typeface="Arial"/>
              <a:cs typeface="Arial"/>
            </a:endParaRPr>
          </a:p>
        </p:txBody>
      </p:sp>
      <p:sp>
        <p:nvSpPr>
          <p:cNvPr id="74" name="object 72">
            <a:extLst>
              <a:ext uri="{FF2B5EF4-FFF2-40B4-BE49-F238E27FC236}">
                <a16:creationId xmlns:a16="http://schemas.microsoft.com/office/drawing/2014/main" id="{496341D4-9C82-FEAF-467F-70A6E5957789}"/>
              </a:ext>
            </a:extLst>
          </p:cNvPr>
          <p:cNvSpPr/>
          <p:nvPr/>
        </p:nvSpPr>
        <p:spPr>
          <a:xfrm>
            <a:off x="2013845" y="3683513"/>
            <a:ext cx="1297317" cy="354219"/>
          </a:xfrm>
          <a:custGeom>
            <a:avLst/>
            <a:gdLst/>
            <a:ahLst/>
            <a:cxnLst/>
            <a:rect l="l" t="t" r="r" b="b"/>
            <a:pathLst>
              <a:path w="1109345" h="302894">
                <a:moveTo>
                  <a:pt x="1058947" y="302449"/>
                </a:moveTo>
                <a:lnTo>
                  <a:pt x="50424" y="302449"/>
                </a:lnTo>
                <a:lnTo>
                  <a:pt x="30796" y="298488"/>
                </a:lnTo>
                <a:lnTo>
                  <a:pt x="14768" y="287685"/>
                </a:lnTo>
                <a:lnTo>
                  <a:pt x="3962" y="271663"/>
                </a:lnTo>
                <a:lnTo>
                  <a:pt x="0" y="252041"/>
                </a:lnTo>
                <a:lnTo>
                  <a:pt x="0" y="50409"/>
                </a:lnTo>
                <a:lnTo>
                  <a:pt x="3962" y="30788"/>
                </a:lnTo>
                <a:lnTo>
                  <a:pt x="14768" y="14764"/>
                </a:lnTo>
                <a:lnTo>
                  <a:pt x="30796" y="3961"/>
                </a:lnTo>
                <a:lnTo>
                  <a:pt x="50424" y="0"/>
                </a:lnTo>
                <a:lnTo>
                  <a:pt x="1058947" y="0"/>
                </a:lnTo>
                <a:lnTo>
                  <a:pt x="1094597" y="14764"/>
                </a:lnTo>
                <a:lnTo>
                  <a:pt x="1109347" y="50409"/>
                </a:lnTo>
                <a:lnTo>
                  <a:pt x="1109347" y="252041"/>
                </a:lnTo>
                <a:lnTo>
                  <a:pt x="1105389" y="271663"/>
                </a:lnTo>
                <a:lnTo>
                  <a:pt x="1094591" y="287685"/>
                </a:lnTo>
                <a:lnTo>
                  <a:pt x="1078572" y="298488"/>
                </a:lnTo>
                <a:lnTo>
                  <a:pt x="1058947" y="302449"/>
                </a:lnTo>
                <a:close/>
              </a:path>
            </a:pathLst>
          </a:custGeom>
          <a:solidFill>
            <a:srgbClr val="F6CAAC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5" name="object 73">
            <a:extLst>
              <a:ext uri="{FF2B5EF4-FFF2-40B4-BE49-F238E27FC236}">
                <a16:creationId xmlns:a16="http://schemas.microsoft.com/office/drawing/2014/main" id="{185E6D09-E011-5E52-D4A5-0B123FAEBFD1}"/>
              </a:ext>
            </a:extLst>
          </p:cNvPr>
          <p:cNvSpPr/>
          <p:nvPr/>
        </p:nvSpPr>
        <p:spPr>
          <a:xfrm>
            <a:off x="2013844" y="3683513"/>
            <a:ext cx="1297317" cy="354219"/>
          </a:xfrm>
          <a:custGeom>
            <a:avLst/>
            <a:gdLst/>
            <a:ahLst/>
            <a:cxnLst/>
            <a:rect l="l" t="t" r="r" b="b"/>
            <a:pathLst>
              <a:path w="1109345" h="302894">
                <a:moveTo>
                  <a:pt x="0" y="50409"/>
                </a:moveTo>
                <a:lnTo>
                  <a:pt x="3962" y="30788"/>
                </a:lnTo>
                <a:lnTo>
                  <a:pt x="14768" y="14764"/>
                </a:lnTo>
                <a:lnTo>
                  <a:pt x="30796" y="3961"/>
                </a:lnTo>
                <a:lnTo>
                  <a:pt x="50424" y="0"/>
                </a:lnTo>
                <a:lnTo>
                  <a:pt x="1058947" y="0"/>
                </a:lnTo>
                <a:lnTo>
                  <a:pt x="1094597" y="14764"/>
                </a:lnTo>
                <a:lnTo>
                  <a:pt x="1109347" y="50409"/>
                </a:lnTo>
                <a:lnTo>
                  <a:pt x="1109347" y="252041"/>
                </a:lnTo>
                <a:lnTo>
                  <a:pt x="1105389" y="271663"/>
                </a:lnTo>
                <a:lnTo>
                  <a:pt x="1094591" y="287685"/>
                </a:lnTo>
                <a:lnTo>
                  <a:pt x="1078572" y="298488"/>
                </a:lnTo>
                <a:lnTo>
                  <a:pt x="1058947" y="302449"/>
                </a:lnTo>
                <a:lnTo>
                  <a:pt x="50424" y="302449"/>
                </a:lnTo>
                <a:lnTo>
                  <a:pt x="30796" y="298488"/>
                </a:lnTo>
                <a:lnTo>
                  <a:pt x="14768" y="287685"/>
                </a:lnTo>
                <a:lnTo>
                  <a:pt x="3962" y="271663"/>
                </a:lnTo>
                <a:lnTo>
                  <a:pt x="0" y="252041"/>
                </a:lnTo>
                <a:lnTo>
                  <a:pt x="0" y="50409"/>
                </a:lnTo>
                <a:close/>
              </a:path>
            </a:pathLst>
          </a:custGeom>
          <a:ln w="25399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6" name="object 74">
            <a:extLst>
              <a:ext uri="{FF2B5EF4-FFF2-40B4-BE49-F238E27FC236}">
                <a16:creationId xmlns:a16="http://schemas.microsoft.com/office/drawing/2014/main" id="{F4070746-98E1-6CC5-FB87-74B0D4C5BC66}"/>
              </a:ext>
            </a:extLst>
          </p:cNvPr>
          <p:cNvSpPr/>
          <p:nvPr/>
        </p:nvSpPr>
        <p:spPr>
          <a:xfrm>
            <a:off x="3741900" y="3683513"/>
            <a:ext cx="1297317" cy="354219"/>
          </a:xfrm>
          <a:custGeom>
            <a:avLst/>
            <a:gdLst/>
            <a:ahLst/>
            <a:cxnLst/>
            <a:rect l="l" t="t" r="r" b="b"/>
            <a:pathLst>
              <a:path w="1109345" h="302894">
                <a:moveTo>
                  <a:pt x="1058947" y="302449"/>
                </a:moveTo>
                <a:lnTo>
                  <a:pt x="50424" y="302449"/>
                </a:lnTo>
                <a:lnTo>
                  <a:pt x="30796" y="298488"/>
                </a:lnTo>
                <a:lnTo>
                  <a:pt x="14768" y="287685"/>
                </a:lnTo>
                <a:lnTo>
                  <a:pt x="3962" y="271663"/>
                </a:lnTo>
                <a:lnTo>
                  <a:pt x="0" y="252041"/>
                </a:lnTo>
                <a:lnTo>
                  <a:pt x="0" y="50409"/>
                </a:lnTo>
                <a:lnTo>
                  <a:pt x="3962" y="30788"/>
                </a:lnTo>
                <a:lnTo>
                  <a:pt x="14768" y="14764"/>
                </a:lnTo>
                <a:lnTo>
                  <a:pt x="30796" y="3961"/>
                </a:lnTo>
                <a:lnTo>
                  <a:pt x="50424" y="0"/>
                </a:lnTo>
                <a:lnTo>
                  <a:pt x="1058947" y="0"/>
                </a:lnTo>
                <a:lnTo>
                  <a:pt x="1094597" y="14764"/>
                </a:lnTo>
                <a:lnTo>
                  <a:pt x="1109347" y="50409"/>
                </a:lnTo>
                <a:lnTo>
                  <a:pt x="1109347" y="252041"/>
                </a:lnTo>
                <a:lnTo>
                  <a:pt x="1105385" y="271663"/>
                </a:lnTo>
                <a:lnTo>
                  <a:pt x="1094582" y="287685"/>
                </a:lnTo>
                <a:lnTo>
                  <a:pt x="1078561" y="298488"/>
                </a:lnTo>
                <a:lnTo>
                  <a:pt x="1058947" y="302449"/>
                </a:lnTo>
                <a:close/>
              </a:path>
            </a:pathLst>
          </a:custGeom>
          <a:solidFill>
            <a:srgbClr val="F6CAAC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7" name="object 75">
            <a:extLst>
              <a:ext uri="{FF2B5EF4-FFF2-40B4-BE49-F238E27FC236}">
                <a16:creationId xmlns:a16="http://schemas.microsoft.com/office/drawing/2014/main" id="{689F22BA-B833-AB02-B5B3-DB6D559CFA80}"/>
              </a:ext>
            </a:extLst>
          </p:cNvPr>
          <p:cNvSpPr/>
          <p:nvPr/>
        </p:nvSpPr>
        <p:spPr>
          <a:xfrm>
            <a:off x="3741900" y="3683513"/>
            <a:ext cx="1297317" cy="354219"/>
          </a:xfrm>
          <a:custGeom>
            <a:avLst/>
            <a:gdLst/>
            <a:ahLst/>
            <a:cxnLst/>
            <a:rect l="l" t="t" r="r" b="b"/>
            <a:pathLst>
              <a:path w="1109345" h="302894">
                <a:moveTo>
                  <a:pt x="0" y="50409"/>
                </a:moveTo>
                <a:lnTo>
                  <a:pt x="3962" y="30788"/>
                </a:lnTo>
                <a:lnTo>
                  <a:pt x="14768" y="14764"/>
                </a:lnTo>
                <a:lnTo>
                  <a:pt x="30796" y="3961"/>
                </a:lnTo>
                <a:lnTo>
                  <a:pt x="50424" y="0"/>
                </a:lnTo>
                <a:lnTo>
                  <a:pt x="1058947" y="0"/>
                </a:lnTo>
                <a:lnTo>
                  <a:pt x="1094597" y="14764"/>
                </a:lnTo>
                <a:lnTo>
                  <a:pt x="1109347" y="50409"/>
                </a:lnTo>
                <a:lnTo>
                  <a:pt x="1109347" y="252041"/>
                </a:lnTo>
                <a:lnTo>
                  <a:pt x="1105385" y="271663"/>
                </a:lnTo>
                <a:lnTo>
                  <a:pt x="1094582" y="287685"/>
                </a:lnTo>
                <a:lnTo>
                  <a:pt x="1078561" y="298488"/>
                </a:lnTo>
                <a:lnTo>
                  <a:pt x="1058947" y="302449"/>
                </a:lnTo>
                <a:lnTo>
                  <a:pt x="50424" y="302449"/>
                </a:lnTo>
                <a:lnTo>
                  <a:pt x="30796" y="298488"/>
                </a:lnTo>
                <a:lnTo>
                  <a:pt x="14768" y="287685"/>
                </a:lnTo>
                <a:lnTo>
                  <a:pt x="3962" y="271663"/>
                </a:lnTo>
                <a:lnTo>
                  <a:pt x="0" y="252041"/>
                </a:lnTo>
                <a:lnTo>
                  <a:pt x="0" y="50409"/>
                </a:lnTo>
                <a:close/>
              </a:path>
            </a:pathLst>
          </a:custGeom>
          <a:ln w="25399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</p:spTree>
    <p:extLst>
      <p:ext uri="{BB962C8B-B14F-4D97-AF65-F5344CB8AC3E}">
        <p14:creationId xmlns:p14="http://schemas.microsoft.com/office/powerpoint/2010/main" val="37391205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580248D4-2ED1-4B36-124A-AA9858D8E199}"/>
              </a:ext>
            </a:extLst>
          </p:cNvPr>
          <p:cNvSpPr/>
          <p:nvPr/>
        </p:nvSpPr>
        <p:spPr>
          <a:xfrm>
            <a:off x="1840122" y="391714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4A3F72B2-7297-8C8B-02A8-421A28C06B3A}"/>
              </a:ext>
            </a:extLst>
          </p:cNvPr>
          <p:cNvSpPr/>
          <p:nvPr/>
        </p:nvSpPr>
        <p:spPr>
          <a:xfrm>
            <a:off x="2267845" y="391714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57B5B08-2C68-3BC5-BE04-2743931AAE2F}"/>
              </a:ext>
            </a:extLst>
          </p:cNvPr>
          <p:cNvSpPr/>
          <p:nvPr/>
        </p:nvSpPr>
        <p:spPr>
          <a:xfrm>
            <a:off x="2695570" y="391714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31EA3FE1-E3BF-F876-B6EA-9873E79477D2}"/>
              </a:ext>
            </a:extLst>
          </p:cNvPr>
          <p:cNvSpPr/>
          <p:nvPr/>
        </p:nvSpPr>
        <p:spPr>
          <a:xfrm>
            <a:off x="3123293" y="391714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F6964BC-1C38-8592-6CC3-BF308CE6A3AF}"/>
              </a:ext>
            </a:extLst>
          </p:cNvPr>
          <p:cNvSpPr/>
          <p:nvPr/>
        </p:nvSpPr>
        <p:spPr>
          <a:xfrm>
            <a:off x="3551016" y="391714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D8DD54FE-579C-BCFF-64A8-0C3ED0CEE9C5}"/>
              </a:ext>
            </a:extLst>
          </p:cNvPr>
          <p:cNvSpPr/>
          <p:nvPr/>
        </p:nvSpPr>
        <p:spPr>
          <a:xfrm>
            <a:off x="3978740" y="391714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E5545D55-7F1C-6F48-1425-7285C9175030}"/>
              </a:ext>
            </a:extLst>
          </p:cNvPr>
          <p:cNvSpPr/>
          <p:nvPr/>
        </p:nvSpPr>
        <p:spPr>
          <a:xfrm>
            <a:off x="4406463" y="391714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1CDFD921-746A-7995-8959-41A097C27674}"/>
              </a:ext>
            </a:extLst>
          </p:cNvPr>
          <p:cNvSpPr/>
          <p:nvPr/>
        </p:nvSpPr>
        <p:spPr>
          <a:xfrm>
            <a:off x="4834187" y="391714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F66E4A52-9C18-9A7A-BA44-EE7E099A1E05}"/>
              </a:ext>
            </a:extLst>
          </p:cNvPr>
          <p:cNvSpPr/>
          <p:nvPr/>
        </p:nvSpPr>
        <p:spPr>
          <a:xfrm>
            <a:off x="5261910" y="391714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6BFFD394-CB33-1230-51EC-0B39E6FA3609}"/>
              </a:ext>
            </a:extLst>
          </p:cNvPr>
          <p:cNvSpPr/>
          <p:nvPr/>
        </p:nvSpPr>
        <p:spPr>
          <a:xfrm>
            <a:off x="1840122" y="417734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54542CD2-E752-1FBC-E3A7-DC483AB37E9D}"/>
              </a:ext>
            </a:extLst>
          </p:cNvPr>
          <p:cNvSpPr/>
          <p:nvPr/>
        </p:nvSpPr>
        <p:spPr>
          <a:xfrm>
            <a:off x="2267845" y="417734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71903538-D349-BA5E-74FB-08C705C5B969}"/>
              </a:ext>
            </a:extLst>
          </p:cNvPr>
          <p:cNvSpPr/>
          <p:nvPr/>
        </p:nvSpPr>
        <p:spPr>
          <a:xfrm>
            <a:off x="2695570" y="417734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D40D3551-DB0B-8BD9-01BC-18A9F421DE2E}"/>
              </a:ext>
            </a:extLst>
          </p:cNvPr>
          <p:cNvSpPr/>
          <p:nvPr/>
        </p:nvSpPr>
        <p:spPr>
          <a:xfrm>
            <a:off x="3123293" y="417734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1D4C809C-6894-CCBD-5FB5-C9CECBB49EEB}"/>
              </a:ext>
            </a:extLst>
          </p:cNvPr>
          <p:cNvSpPr/>
          <p:nvPr/>
        </p:nvSpPr>
        <p:spPr>
          <a:xfrm>
            <a:off x="3551016" y="417734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id="{45117358-89AC-94E3-FACD-51013CC62888}"/>
              </a:ext>
            </a:extLst>
          </p:cNvPr>
          <p:cNvSpPr/>
          <p:nvPr/>
        </p:nvSpPr>
        <p:spPr>
          <a:xfrm>
            <a:off x="3978740" y="417734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7602A05F-B786-05E6-5E78-8B28A9F9B9B3}"/>
              </a:ext>
            </a:extLst>
          </p:cNvPr>
          <p:cNvSpPr/>
          <p:nvPr/>
        </p:nvSpPr>
        <p:spPr>
          <a:xfrm>
            <a:off x="4406463" y="417734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76FB9B9E-705F-29A9-886A-9A339B326042}"/>
              </a:ext>
            </a:extLst>
          </p:cNvPr>
          <p:cNvSpPr/>
          <p:nvPr/>
        </p:nvSpPr>
        <p:spPr>
          <a:xfrm>
            <a:off x="4834187" y="417734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5B14F32A-768F-5067-928C-B26A7B5F7182}"/>
              </a:ext>
            </a:extLst>
          </p:cNvPr>
          <p:cNvSpPr/>
          <p:nvPr/>
        </p:nvSpPr>
        <p:spPr>
          <a:xfrm>
            <a:off x="5261910" y="417734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C654408C-1C64-2665-3EC3-863D619E4E21}"/>
              </a:ext>
            </a:extLst>
          </p:cNvPr>
          <p:cNvSpPr/>
          <p:nvPr/>
        </p:nvSpPr>
        <p:spPr>
          <a:xfrm>
            <a:off x="1840122" y="443753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6F0461AC-3C22-EA36-3737-8BB61CB93540}"/>
              </a:ext>
            </a:extLst>
          </p:cNvPr>
          <p:cNvSpPr/>
          <p:nvPr/>
        </p:nvSpPr>
        <p:spPr>
          <a:xfrm>
            <a:off x="2267845" y="443753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6018F947-E46E-D49C-7D82-40C0CCE51D54}"/>
              </a:ext>
            </a:extLst>
          </p:cNvPr>
          <p:cNvSpPr/>
          <p:nvPr/>
        </p:nvSpPr>
        <p:spPr>
          <a:xfrm>
            <a:off x="2695570" y="443753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6" name="object 24">
            <a:extLst>
              <a:ext uri="{FF2B5EF4-FFF2-40B4-BE49-F238E27FC236}">
                <a16:creationId xmlns:a16="http://schemas.microsoft.com/office/drawing/2014/main" id="{2E79D8E2-2195-0717-47DB-9CB159E3E26C}"/>
              </a:ext>
            </a:extLst>
          </p:cNvPr>
          <p:cNvSpPr/>
          <p:nvPr/>
        </p:nvSpPr>
        <p:spPr>
          <a:xfrm>
            <a:off x="3123293" y="443753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7" name="object 25">
            <a:extLst>
              <a:ext uri="{FF2B5EF4-FFF2-40B4-BE49-F238E27FC236}">
                <a16:creationId xmlns:a16="http://schemas.microsoft.com/office/drawing/2014/main" id="{D4A39D70-1117-7A8A-C7CC-C8B1879B36D4}"/>
              </a:ext>
            </a:extLst>
          </p:cNvPr>
          <p:cNvSpPr/>
          <p:nvPr/>
        </p:nvSpPr>
        <p:spPr>
          <a:xfrm>
            <a:off x="3551016" y="443753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857BDEC3-EDD0-32E3-C6C0-8E6C39331F98}"/>
              </a:ext>
            </a:extLst>
          </p:cNvPr>
          <p:cNvSpPr/>
          <p:nvPr/>
        </p:nvSpPr>
        <p:spPr>
          <a:xfrm>
            <a:off x="3978740" y="443753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010419B3-78E8-5260-92C8-E2F793C75DB5}"/>
              </a:ext>
            </a:extLst>
          </p:cNvPr>
          <p:cNvSpPr/>
          <p:nvPr/>
        </p:nvSpPr>
        <p:spPr>
          <a:xfrm>
            <a:off x="4406463" y="443753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E49B0454-439B-2311-7182-4F544B499DEE}"/>
              </a:ext>
            </a:extLst>
          </p:cNvPr>
          <p:cNvSpPr/>
          <p:nvPr/>
        </p:nvSpPr>
        <p:spPr>
          <a:xfrm>
            <a:off x="4834187" y="443753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1" name="object 29">
            <a:extLst>
              <a:ext uri="{FF2B5EF4-FFF2-40B4-BE49-F238E27FC236}">
                <a16:creationId xmlns:a16="http://schemas.microsoft.com/office/drawing/2014/main" id="{D530E48F-810D-5D4B-C72C-20A3F1D347B2}"/>
              </a:ext>
            </a:extLst>
          </p:cNvPr>
          <p:cNvSpPr/>
          <p:nvPr/>
        </p:nvSpPr>
        <p:spPr>
          <a:xfrm>
            <a:off x="5261910" y="443753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2" name="object 30">
            <a:extLst>
              <a:ext uri="{FF2B5EF4-FFF2-40B4-BE49-F238E27FC236}">
                <a16:creationId xmlns:a16="http://schemas.microsoft.com/office/drawing/2014/main" id="{384F1A6F-7DEB-169D-8792-E2E8D05ED2F8}"/>
              </a:ext>
            </a:extLst>
          </p:cNvPr>
          <p:cNvSpPr/>
          <p:nvPr/>
        </p:nvSpPr>
        <p:spPr>
          <a:xfrm>
            <a:off x="1840122" y="469773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3" name="object 31">
            <a:extLst>
              <a:ext uri="{FF2B5EF4-FFF2-40B4-BE49-F238E27FC236}">
                <a16:creationId xmlns:a16="http://schemas.microsoft.com/office/drawing/2014/main" id="{2F9E9E5C-C757-8B1C-DCD9-3FD5F740EADE}"/>
              </a:ext>
            </a:extLst>
          </p:cNvPr>
          <p:cNvSpPr/>
          <p:nvPr/>
        </p:nvSpPr>
        <p:spPr>
          <a:xfrm>
            <a:off x="2267845" y="469773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4" name="object 32">
            <a:extLst>
              <a:ext uri="{FF2B5EF4-FFF2-40B4-BE49-F238E27FC236}">
                <a16:creationId xmlns:a16="http://schemas.microsoft.com/office/drawing/2014/main" id="{133CF679-DE52-EFE7-1963-7512CE0FFEC7}"/>
              </a:ext>
            </a:extLst>
          </p:cNvPr>
          <p:cNvSpPr/>
          <p:nvPr/>
        </p:nvSpPr>
        <p:spPr>
          <a:xfrm>
            <a:off x="2695570" y="469773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5" name="object 33">
            <a:extLst>
              <a:ext uri="{FF2B5EF4-FFF2-40B4-BE49-F238E27FC236}">
                <a16:creationId xmlns:a16="http://schemas.microsoft.com/office/drawing/2014/main" id="{801B7067-F2B7-8C6D-7E6C-31B0348BBA23}"/>
              </a:ext>
            </a:extLst>
          </p:cNvPr>
          <p:cNvSpPr/>
          <p:nvPr/>
        </p:nvSpPr>
        <p:spPr>
          <a:xfrm>
            <a:off x="3123293" y="469773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6" name="object 34">
            <a:extLst>
              <a:ext uri="{FF2B5EF4-FFF2-40B4-BE49-F238E27FC236}">
                <a16:creationId xmlns:a16="http://schemas.microsoft.com/office/drawing/2014/main" id="{1475EB86-BD2B-0642-6427-7FB225B10926}"/>
              </a:ext>
            </a:extLst>
          </p:cNvPr>
          <p:cNvSpPr/>
          <p:nvPr/>
        </p:nvSpPr>
        <p:spPr>
          <a:xfrm>
            <a:off x="3551016" y="469773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7" name="object 35">
            <a:extLst>
              <a:ext uri="{FF2B5EF4-FFF2-40B4-BE49-F238E27FC236}">
                <a16:creationId xmlns:a16="http://schemas.microsoft.com/office/drawing/2014/main" id="{432A8A85-255C-6733-94A6-AA002BFE1C84}"/>
              </a:ext>
            </a:extLst>
          </p:cNvPr>
          <p:cNvSpPr/>
          <p:nvPr/>
        </p:nvSpPr>
        <p:spPr>
          <a:xfrm>
            <a:off x="3978740" y="469773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8" name="object 36">
            <a:extLst>
              <a:ext uri="{FF2B5EF4-FFF2-40B4-BE49-F238E27FC236}">
                <a16:creationId xmlns:a16="http://schemas.microsoft.com/office/drawing/2014/main" id="{23A373AF-5D30-11EF-EBC5-306D1C3513E1}"/>
              </a:ext>
            </a:extLst>
          </p:cNvPr>
          <p:cNvSpPr/>
          <p:nvPr/>
        </p:nvSpPr>
        <p:spPr>
          <a:xfrm>
            <a:off x="4406463" y="469773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9" name="object 37">
            <a:extLst>
              <a:ext uri="{FF2B5EF4-FFF2-40B4-BE49-F238E27FC236}">
                <a16:creationId xmlns:a16="http://schemas.microsoft.com/office/drawing/2014/main" id="{72CBEACA-1122-4B0E-2FBE-B8CCAAE28188}"/>
              </a:ext>
            </a:extLst>
          </p:cNvPr>
          <p:cNvSpPr/>
          <p:nvPr/>
        </p:nvSpPr>
        <p:spPr>
          <a:xfrm>
            <a:off x="4834187" y="469773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0" name="object 38">
            <a:extLst>
              <a:ext uri="{FF2B5EF4-FFF2-40B4-BE49-F238E27FC236}">
                <a16:creationId xmlns:a16="http://schemas.microsoft.com/office/drawing/2014/main" id="{C17D360B-48C8-44C7-4B2F-323A026EB101}"/>
              </a:ext>
            </a:extLst>
          </p:cNvPr>
          <p:cNvSpPr/>
          <p:nvPr/>
        </p:nvSpPr>
        <p:spPr>
          <a:xfrm>
            <a:off x="5261910" y="469773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1" name="object 39">
            <a:extLst>
              <a:ext uri="{FF2B5EF4-FFF2-40B4-BE49-F238E27FC236}">
                <a16:creationId xmlns:a16="http://schemas.microsoft.com/office/drawing/2014/main" id="{6410EF5A-D66F-44AB-8E89-A0219B4A1633}"/>
              </a:ext>
            </a:extLst>
          </p:cNvPr>
          <p:cNvSpPr/>
          <p:nvPr/>
        </p:nvSpPr>
        <p:spPr>
          <a:xfrm>
            <a:off x="1840122" y="495793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2" name="object 40">
            <a:extLst>
              <a:ext uri="{FF2B5EF4-FFF2-40B4-BE49-F238E27FC236}">
                <a16:creationId xmlns:a16="http://schemas.microsoft.com/office/drawing/2014/main" id="{04CB4D55-59C8-8F56-6065-9AF9A97EE080}"/>
              </a:ext>
            </a:extLst>
          </p:cNvPr>
          <p:cNvSpPr/>
          <p:nvPr/>
        </p:nvSpPr>
        <p:spPr>
          <a:xfrm>
            <a:off x="2267845" y="495793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3" name="object 41">
            <a:extLst>
              <a:ext uri="{FF2B5EF4-FFF2-40B4-BE49-F238E27FC236}">
                <a16:creationId xmlns:a16="http://schemas.microsoft.com/office/drawing/2014/main" id="{9E4B8EEF-81DB-8C55-8723-79EC5284F35F}"/>
              </a:ext>
            </a:extLst>
          </p:cNvPr>
          <p:cNvSpPr/>
          <p:nvPr/>
        </p:nvSpPr>
        <p:spPr>
          <a:xfrm>
            <a:off x="2695570" y="495793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4" name="object 42">
            <a:extLst>
              <a:ext uri="{FF2B5EF4-FFF2-40B4-BE49-F238E27FC236}">
                <a16:creationId xmlns:a16="http://schemas.microsoft.com/office/drawing/2014/main" id="{182C040F-BE37-FAB0-7D79-CA2B6D3C164D}"/>
              </a:ext>
            </a:extLst>
          </p:cNvPr>
          <p:cNvSpPr/>
          <p:nvPr/>
        </p:nvSpPr>
        <p:spPr>
          <a:xfrm>
            <a:off x="3123293" y="495793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5" name="object 43">
            <a:extLst>
              <a:ext uri="{FF2B5EF4-FFF2-40B4-BE49-F238E27FC236}">
                <a16:creationId xmlns:a16="http://schemas.microsoft.com/office/drawing/2014/main" id="{9F03E2BA-14A0-335A-3D24-9ED5E91C982C}"/>
              </a:ext>
            </a:extLst>
          </p:cNvPr>
          <p:cNvSpPr/>
          <p:nvPr/>
        </p:nvSpPr>
        <p:spPr>
          <a:xfrm>
            <a:off x="3551016" y="495793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6" name="object 44">
            <a:extLst>
              <a:ext uri="{FF2B5EF4-FFF2-40B4-BE49-F238E27FC236}">
                <a16:creationId xmlns:a16="http://schemas.microsoft.com/office/drawing/2014/main" id="{F42BD773-A864-8AF1-ADA2-2A7B4C5C0D46}"/>
              </a:ext>
            </a:extLst>
          </p:cNvPr>
          <p:cNvSpPr/>
          <p:nvPr/>
        </p:nvSpPr>
        <p:spPr>
          <a:xfrm>
            <a:off x="3978740" y="495793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7" name="object 45">
            <a:extLst>
              <a:ext uri="{FF2B5EF4-FFF2-40B4-BE49-F238E27FC236}">
                <a16:creationId xmlns:a16="http://schemas.microsoft.com/office/drawing/2014/main" id="{173978B3-B36F-70C8-95C1-E48D2AFCF612}"/>
              </a:ext>
            </a:extLst>
          </p:cNvPr>
          <p:cNvSpPr/>
          <p:nvPr/>
        </p:nvSpPr>
        <p:spPr>
          <a:xfrm>
            <a:off x="4406463" y="495793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8" name="object 46">
            <a:extLst>
              <a:ext uri="{FF2B5EF4-FFF2-40B4-BE49-F238E27FC236}">
                <a16:creationId xmlns:a16="http://schemas.microsoft.com/office/drawing/2014/main" id="{B64F33AB-C5A2-006D-80A4-78E8FE6B7717}"/>
              </a:ext>
            </a:extLst>
          </p:cNvPr>
          <p:cNvSpPr/>
          <p:nvPr/>
        </p:nvSpPr>
        <p:spPr>
          <a:xfrm>
            <a:off x="4834187" y="495793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9" name="object 47">
            <a:extLst>
              <a:ext uri="{FF2B5EF4-FFF2-40B4-BE49-F238E27FC236}">
                <a16:creationId xmlns:a16="http://schemas.microsoft.com/office/drawing/2014/main" id="{A267D31A-B00A-3E1B-C5BE-9985CC01259B}"/>
              </a:ext>
            </a:extLst>
          </p:cNvPr>
          <p:cNvSpPr/>
          <p:nvPr/>
        </p:nvSpPr>
        <p:spPr>
          <a:xfrm>
            <a:off x="5261910" y="495793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0" name="object 48">
            <a:extLst>
              <a:ext uri="{FF2B5EF4-FFF2-40B4-BE49-F238E27FC236}">
                <a16:creationId xmlns:a16="http://schemas.microsoft.com/office/drawing/2014/main" id="{1DD621FF-C3B4-0506-F7CF-9B3AD81DED65}"/>
              </a:ext>
            </a:extLst>
          </p:cNvPr>
          <p:cNvSpPr/>
          <p:nvPr/>
        </p:nvSpPr>
        <p:spPr>
          <a:xfrm>
            <a:off x="1840122" y="364951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1" name="object 49">
            <a:extLst>
              <a:ext uri="{FF2B5EF4-FFF2-40B4-BE49-F238E27FC236}">
                <a16:creationId xmlns:a16="http://schemas.microsoft.com/office/drawing/2014/main" id="{5A6297B0-26F0-0768-E0F8-198542A72F4B}"/>
              </a:ext>
            </a:extLst>
          </p:cNvPr>
          <p:cNvSpPr/>
          <p:nvPr/>
        </p:nvSpPr>
        <p:spPr>
          <a:xfrm>
            <a:off x="2267845" y="364951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2" name="object 50">
            <a:extLst>
              <a:ext uri="{FF2B5EF4-FFF2-40B4-BE49-F238E27FC236}">
                <a16:creationId xmlns:a16="http://schemas.microsoft.com/office/drawing/2014/main" id="{2FAD394A-6AE2-0A1D-9677-E880DFD0A8D4}"/>
              </a:ext>
            </a:extLst>
          </p:cNvPr>
          <p:cNvSpPr/>
          <p:nvPr/>
        </p:nvSpPr>
        <p:spPr>
          <a:xfrm>
            <a:off x="2695568" y="364951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3" name="object 51">
            <a:extLst>
              <a:ext uri="{FF2B5EF4-FFF2-40B4-BE49-F238E27FC236}">
                <a16:creationId xmlns:a16="http://schemas.microsoft.com/office/drawing/2014/main" id="{89945000-541D-13EF-C613-62BDF325F26F}"/>
              </a:ext>
            </a:extLst>
          </p:cNvPr>
          <p:cNvSpPr/>
          <p:nvPr/>
        </p:nvSpPr>
        <p:spPr>
          <a:xfrm>
            <a:off x="3123293" y="364951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4" name="object 52">
            <a:extLst>
              <a:ext uri="{FF2B5EF4-FFF2-40B4-BE49-F238E27FC236}">
                <a16:creationId xmlns:a16="http://schemas.microsoft.com/office/drawing/2014/main" id="{BADA470F-825E-B8FE-F7FF-F41A2D68403F}"/>
              </a:ext>
            </a:extLst>
          </p:cNvPr>
          <p:cNvSpPr/>
          <p:nvPr/>
        </p:nvSpPr>
        <p:spPr>
          <a:xfrm>
            <a:off x="3551016" y="364951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5" name="object 53">
            <a:extLst>
              <a:ext uri="{FF2B5EF4-FFF2-40B4-BE49-F238E27FC236}">
                <a16:creationId xmlns:a16="http://schemas.microsoft.com/office/drawing/2014/main" id="{A953E2C9-AF2E-D0B1-D1B6-FAC4B9F276CA}"/>
              </a:ext>
            </a:extLst>
          </p:cNvPr>
          <p:cNvSpPr/>
          <p:nvPr/>
        </p:nvSpPr>
        <p:spPr>
          <a:xfrm>
            <a:off x="3978739" y="364951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6" name="object 54">
            <a:extLst>
              <a:ext uri="{FF2B5EF4-FFF2-40B4-BE49-F238E27FC236}">
                <a16:creationId xmlns:a16="http://schemas.microsoft.com/office/drawing/2014/main" id="{F41B452D-23FB-05E3-96BD-DE4C58FEB072}"/>
              </a:ext>
            </a:extLst>
          </p:cNvPr>
          <p:cNvSpPr/>
          <p:nvPr/>
        </p:nvSpPr>
        <p:spPr>
          <a:xfrm>
            <a:off x="4406463" y="364951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7" name="object 55">
            <a:extLst>
              <a:ext uri="{FF2B5EF4-FFF2-40B4-BE49-F238E27FC236}">
                <a16:creationId xmlns:a16="http://schemas.microsoft.com/office/drawing/2014/main" id="{48F0F6F4-AFE2-F153-1428-80CC93696696}"/>
              </a:ext>
            </a:extLst>
          </p:cNvPr>
          <p:cNvSpPr/>
          <p:nvPr/>
        </p:nvSpPr>
        <p:spPr>
          <a:xfrm>
            <a:off x="4834187" y="364951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8" name="object 56">
            <a:extLst>
              <a:ext uri="{FF2B5EF4-FFF2-40B4-BE49-F238E27FC236}">
                <a16:creationId xmlns:a16="http://schemas.microsoft.com/office/drawing/2014/main" id="{7DB007A2-C93A-7E22-FFCC-F036044B5409}"/>
              </a:ext>
            </a:extLst>
          </p:cNvPr>
          <p:cNvSpPr/>
          <p:nvPr/>
        </p:nvSpPr>
        <p:spPr>
          <a:xfrm>
            <a:off x="5261910" y="364951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9" name="object 57">
            <a:extLst>
              <a:ext uri="{FF2B5EF4-FFF2-40B4-BE49-F238E27FC236}">
                <a16:creationId xmlns:a16="http://schemas.microsoft.com/office/drawing/2014/main" id="{49913B22-AE33-6206-AE21-D00A417A185B}"/>
              </a:ext>
            </a:extLst>
          </p:cNvPr>
          <p:cNvSpPr/>
          <p:nvPr/>
        </p:nvSpPr>
        <p:spPr>
          <a:xfrm>
            <a:off x="5689633" y="364951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0" name="object 58">
            <a:extLst>
              <a:ext uri="{FF2B5EF4-FFF2-40B4-BE49-F238E27FC236}">
                <a16:creationId xmlns:a16="http://schemas.microsoft.com/office/drawing/2014/main" id="{EF697EE3-4810-EB76-848B-06FDA3203BC2}"/>
              </a:ext>
            </a:extLst>
          </p:cNvPr>
          <p:cNvSpPr/>
          <p:nvPr/>
        </p:nvSpPr>
        <p:spPr>
          <a:xfrm>
            <a:off x="1832696" y="3656942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1" name="object 59">
            <a:extLst>
              <a:ext uri="{FF2B5EF4-FFF2-40B4-BE49-F238E27FC236}">
                <a16:creationId xmlns:a16="http://schemas.microsoft.com/office/drawing/2014/main" id="{2541E493-7B3B-CF48-C2C2-96BD05C721B6}"/>
              </a:ext>
            </a:extLst>
          </p:cNvPr>
          <p:cNvSpPr/>
          <p:nvPr/>
        </p:nvSpPr>
        <p:spPr>
          <a:xfrm>
            <a:off x="1832696" y="3917142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2" name="object 60">
            <a:extLst>
              <a:ext uri="{FF2B5EF4-FFF2-40B4-BE49-F238E27FC236}">
                <a16:creationId xmlns:a16="http://schemas.microsoft.com/office/drawing/2014/main" id="{73E98FE1-0CF6-3CD4-437D-0B1B2BE8EC29}"/>
              </a:ext>
            </a:extLst>
          </p:cNvPr>
          <p:cNvSpPr/>
          <p:nvPr/>
        </p:nvSpPr>
        <p:spPr>
          <a:xfrm>
            <a:off x="1832696" y="4177343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3" name="object 61">
            <a:extLst>
              <a:ext uri="{FF2B5EF4-FFF2-40B4-BE49-F238E27FC236}">
                <a16:creationId xmlns:a16="http://schemas.microsoft.com/office/drawing/2014/main" id="{8C4BD9D1-7B89-00AE-3E1F-1CD2201E9FDD}"/>
              </a:ext>
            </a:extLst>
          </p:cNvPr>
          <p:cNvSpPr/>
          <p:nvPr/>
        </p:nvSpPr>
        <p:spPr>
          <a:xfrm>
            <a:off x="1832696" y="4437532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4" name="object 62">
            <a:extLst>
              <a:ext uri="{FF2B5EF4-FFF2-40B4-BE49-F238E27FC236}">
                <a16:creationId xmlns:a16="http://schemas.microsoft.com/office/drawing/2014/main" id="{738DCD98-CE8B-8B05-0602-1B7EC962F514}"/>
              </a:ext>
            </a:extLst>
          </p:cNvPr>
          <p:cNvSpPr/>
          <p:nvPr/>
        </p:nvSpPr>
        <p:spPr>
          <a:xfrm>
            <a:off x="1832696" y="4697733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5" name="object 63">
            <a:extLst>
              <a:ext uri="{FF2B5EF4-FFF2-40B4-BE49-F238E27FC236}">
                <a16:creationId xmlns:a16="http://schemas.microsoft.com/office/drawing/2014/main" id="{89025A5A-DA39-F3C2-BF27-0D9E639B0D32}"/>
              </a:ext>
            </a:extLst>
          </p:cNvPr>
          <p:cNvSpPr/>
          <p:nvPr/>
        </p:nvSpPr>
        <p:spPr>
          <a:xfrm>
            <a:off x="1832696" y="4957935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6" name="object 64">
            <a:extLst>
              <a:ext uri="{FF2B5EF4-FFF2-40B4-BE49-F238E27FC236}">
                <a16:creationId xmlns:a16="http://schemas.microsoft.com/office/drawing/2014/main" id="{24E82E3B-8AFC-39F2-72E4-A38529E4879A}"/>
              </a:ext>
            </a:extLst>
          </p:cNvPr>
          <p:cNvSpPr/>
          <p:nvPr/>
        </p:nvSpPr>
        <p:spPr>
          <a:xfrm>
            <a:off x="1832696" y="5218135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7" name="object 65">
            <a:extLst>
              <a:ext uri="{FF2B5EF4-FFF2-40B4-BE49-F238E27FC236}">
                <a16:creationId xmlns:a16="http://schemas.microsoft.com/office/drawing/2014/main" id="{18D7A31D-C563-7C0A-932F-D87077E446B8}"/>
              </a:ext>
            </a:extLst>
          </p:cNvPr>
          <p:cNvSpPr txBox="1"/>
          <p:nvPr/>
        </p:nvSpPr>
        <p:spPr>
          <a:xfrm>
            <a:off x="2267845" y="3656942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2177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A</a:t>
            </a:r>
            <a:r>
              <a:rPr sz="1140" b="1" baseline="-29914" dirty="0">
                <a:latin typeface="Arial"/>
                <a:cs typeface="Arial"/>
              </a:rPr>
              <a:t>1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68" name="object 66">
            <a:extLst>
              <a:ext uri="{FF2B5EF4-FFF2-40B4-BE49-F238E27FC236}">
                <a16:creationId xmlns:a16="http://schemas.microsoft.com/office/drawing/2014/main" id="{817AE460-BBE6-1A9D-720B-D2485E1ECB6C}"/>
              </a:ext>
            </a:extLst>
          </p:cNvPr>
          <p:cNvSpPr txBox="1"/>
          <p:nvPr/>
        </p:nvSpPr>
        <p:spPr>
          <a:xfrm>
            <a:off x="2695568" y="3656942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9603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…</a:t>
            </a:r>
            <a:endParaRPr sz="1169">
              <a:latin typeface="Arial"/>
              <a:cs typeface="Arial"/>
            </a:endParaRPr>
          </a:p>
        </p:txBody>
      </p:sp>
      <p:sp>
        <p:nvSpPr>
          <p:cNvPr id="69" name="object 67">
            <a:extLst>
              <a:ext uri="{FF2B5EF4-FFF2-40B4-BE49-F238E27FC236}">
                <a16:creationId xmlns:a16="http://schemas.microsoft.com/office/drawing/2014/main" id="{C2B697F5-7C0C-B9A5-CD7C-F0DD9B387D58}"/>
              </a:ext>
            </a:extLst>
          </p:cNvPr>
          <p:cNvSpPr txBox="1"/>
          <p:nvPr/>
        </p:nvSpPr>
        <p:spPr>
          <a:xfrm>
            <a:off x="3123293" y="3656942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15841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A</a:t>
            </a:r>
            <a:r>
              <a:rPr sz="1140" b="1" baseline="-29914" dirty="0">
                <a:latin typeface="Arial"/>
                <a:cs typeface="Arial"/>
              </a:rPr>
              <a:t>m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70" name="object 68">
            <a:extLst>
              <a:ext uri="{FF2B5EF4-FFF2-40B4-BE49-F238E27FC236}">
                <a16:creationId xmlns:a16="http://schemas.microsoft.com/office/drawing/2014/main" id="{3F7CAFDF-3587-33A3-AB9B-BC8DA18FD5F0}"/>
              </a:ext>
            </a:extLst>
          </p:cNvPr>
          <p:cNvSpPr txBox="1"/>
          <p:nvPr/>
        </p:nvSpPr>
        <p:spPr>
          <a:xfrm>
            <a:off x="3978739" y="3656942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2177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B</a:t>
            </a:r>
            <a:r>
              <a:rPr sz="1140" b="1" baseline="-29914" dirty="0">
                <a:latin typeface="Arial"/>
                <a:cs typeface="Arial"/>
              </a:rPr>
              <a:t>1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71" name="object 69">
            <a:extLst>
              <a:ext uri="{FF2B5EF4-FFF2-40B4-BE49-F238E27FC236}">
                <a16:creationId xmlns:a16="http://schemas.microsoft.com/office/drawing/2014/main" id="{11F38911-970A-7791-20C8-6B2A810AD670}"/>
              </a:ext>
            </a:extLst>
          </p:cNvPr>
          <p:cNvSpPr txBox="1"/>
          <p:nvPr/>
        </p:nvSpPr>
        <p:spPr>
          <a:xfrm>
            <a:off x="4406463" y="3656942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9603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…</a:t>
            </a:r>
            <a:endParaRPr sz="1169">
              <a:latin typeface="Arial"/>
              <a:cs typeface="Arial"/>
            </a:endParaRPr>
          </a:p>
        </p:txBody>
      </p:sp>
      <p:sp>
        <p:nvSpPr>
          <p:cNvPr id="72" name="object 70">
            <a:extLst>
              <a:ext uri="{FF2B5EF4-FFF2-40B4-BE49-F238E27FC236}">
                <a16:creationId xmlns:a16="http://schemas.microsoft.com/office/drawing/2014/main" id="{CE963A66-A4F4-9915-E1FA-626E020AB192}"/>
              </a:ext>
            </a:extLst>
          </p:cNvPr>
          <p:cNvSpPr txBox="1"/>
          <p:nvPr/>
        </p:nvSpPr>
        <p:spPr>
          <a:xfrm>
            <a:off x="4834187" y="3656942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29950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B</a:t>
            </a:r>
            <a:r>
              <a:rPr sz="1140" b="1" baseline="-29914" dirty="0">
                <a:latin typeface="Arial"/>
                <a:cs typeface="Arial"/>
              </a:rPr>
              <a:t>n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73" name="object 71">
            <a:extLst>
              <a:ext uri="{FF2B5EF4-FFF2-40B4-BE49-F238E27FC236}">
                <a16:creationId xmlns:a16="http://schemas.microsoft.com/office/drawing/2014/main" id="{C6554316-B417-E512-86F0-BE1748E3AD64}"/>
              </a:ext>
            </a:extLst>
          </p:cNvPr>
          <p:cNvSpPr txBox="1"/>
          <p:nvPr/>
        </p:nvSpPr>
        <p:spPr>
          <a:xfrm>
            <a:off x="1583459" y="4190450"/>
            <a:ext cx="93567" cy="194918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4851">
              <a:spcBef>
                <a:spcPts val="117"/>
              </a:spcBef>
            </a:pPr>
            <a:r>
              <a:rPr sz="1169" spc="-6" dirty="0">
                <a:latin typeface="Arial"/>
                <a:cs typeface="Arial"/>
              </a:rPr>
              <a:t>t</a:t>
            </a:r>
            <a:r>
              <a:rPr sz="1140" baseline="-29914" dirty="0">
                <a:latin typeface="Arial"/>
                <a:cs typeface="Arial"/>
              </a:rPr>
              <a:t>i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74" name="object 72">
            <a:extLst>
              <a:ext uri="{FF2B5EF4-FFF2-40B4-BE49-F238E27FC236}">
                <a16:creationId xmlns:a16="http://schemas.microsoft.com/office/drawing/2014/main" id="{6ADC41A8-554A-A8C3-F9F4-B92FC814E67C}"/>
              </a:ext>
            </a:extLst>
          </p:cNvPr>
          <p:cNvSpPr txBox="1"/>
          <p:nvPr/>
        </p:nvSpPr>
        <p:spPr>
          <a:xfrm>
            <a:off x="1583459" y="4726945"/>
            <a:ext cx="93567" cy="194918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4851">
              <a:spcBef>
                <a:spcPts val="117"/>
              </a:spcBef>
            </a:pPr>
            <a:r>
              <a:rPr sz="1169" spc="-6" dirty="0">
                <a:latin typeface="Arial"/>
                <a:cs typeface="Arial"/>
              </a:rPr>
              <a:t>t</a:t>
            </a:r>
            <a:r>
              <a:rPr sz="1140" baseline="-29914" dirty="0">
                <a:latin typeface="Arial"/>
                <a:cs typeface="Arial"/>
              </a:rPr>
              <a:t>j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75" name="object 73">
            <a:extLst>
              <a:ext uri="{FF2B5EF4-FFF2-40B4-BE49-F238E27FC236}">
                <a16:creationId xmlns:a16="http://schemas.microsoft.com/office/drawing/2014/main" id="{2BFC578E-F575-F691-708E-A49DEC0D360B}"/>
              </a:ext>
            </a:extLst>
          </p:cNvPr>
          <p:cNvSpPr txBox="1"/>
          <p:nvPr/>
        </p:nvSpPr>
        <p:spPr>
          <a:xfrm>
            <a:off x="5936795" y="2802769"/>
            <a:ext cx="3017173" cy="1549958"/>
          </a:xfrm>
          <a:prstGeom prst="rect">
            <a:avLst/>
          </a:prstGeom>
          <a:solidFill>
            <a:srgbClr val="D4E4F2"/>
          </a:solidFill>
        </p:spPr>
        <p:txBody>
          <a:bodyPr vert="horz" wrap="square" lIns="0" tIns="37130" rIns="0" bIns="0" rtlCol="0">
            <a:spAutoFit/>
          </a:bodyPr>
          <a:lstStyle/>
          <a:p>
            <a:pPr marL="99504">
              <a:lnSpc>
                <a:spcPts val="1672"/>
              </a:lnSpc>
              <a:spcBef>
                <a:spcPts val="292"/>
              </a:spcBef>
            </a:pPr>
            <a:r>
              <a:rPr lang="en-GB" sz="1403" u="heavy" spc="-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Definition</a:t>
            </a:r>
            <a:r>
              <a:rPr lang="en-GB" sz="1403" u="heavy" spc="-12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(</a:t>
            </a:r>
            <a:r>
              <a:rPr lang="en-GB" sz="1403" u="heavy" spc="-12" dirty="0" err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s.o</a:t>
            </a:r>
            <a:r>
              <a:rPr lang="en-GB" sz="1403" u="heavy" spc="-12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.</a:t>
            </a:r>
            <a:r>
              <a:rPr lang="en-GB" sz="1403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):</a:t>
            </a:r>
            <a:endParaRPr lang="en-GB" sz="1403" dirty="0">
              <a:latin typeface="Arial"/>
              <a:cs typeface="Arial"/>
            </a:endParaRPr>
          </a:p>
          <a:p>
            <a:pPr marL="99504">
              <a:lnSpc>
                <a:spcPts val="1666"/>
              </a:lnSpc>
            </a:pPr>
            <a:r>
              <a:rPr lang="en-GB" sz="1403" spc="-6" dirty="0" err="1">
                <a:latin typeface="Arial"/>
                <a:cs typeface="Arial"/>
              </a:rPr>
              <a:t>Gegeben</a:t>
            </a:r>
            <a:r>
              <a:rPr lang="en-GB" sz="1403" spc="-6" dirty="0">
                <a:latin typeface="Arial"/>
                <a:cs typeface="Arial"/>
              </a:rPr>
              <a:t> </a:t>
            </a:r>
            <a:r>
              <a:rPr lang="en-GB" sz="1403" spc="-6" dirty="0" err="1">
                <a:latin typeface="Arial"/>
                <a:cs typeface="Arial"/>
              </a:rPr>
              <a:t>seien</a:t>
            </a:r>
            <a:r>
              <a:rPr lang="en-GB" sz="1403" spc="-6" dirty="0">
                <a:latin typeface="Arial"/>
                <a:cs typeface="Arial"/>
              </a:rPr>
              <a:t> die </a:t>
            </a:r>
            <a:r>
              <a:rPr lang="en-GB" sz="1403" spc="-6" dirty="0" err="1">
                <a:latin typeface="Arial"/>
                <a:cs typeface="Arial"/>
              </a:rPr>
              <a:t>Attributmengen</a:t>
            </a:r>
            <a:r>
              <a:rPr lang="en-GB" sz="1403" spc="-12" dirty="0">
                <a:latin typeface="Arial"/>
                <a:cs typeface="Arial"/>
              </a:rPr>
              <a:t> </a:t>
            </a:r>
            <a:r>
              <a:rPr lang="en-GB" sz="1403" b="1" spc="-6" dirty="0">
                <a:latin typeface="Arial"/>
                <a:cs typeface="Arial"/>
              </a:rPr>
              <a:t>A={A</a:t>
            </a:r>
            <a:r>
              <a:rPr lang="en-GB" sz="1403" b="1" spc="-8" baseline="-31250" dirty="0">
                <a:latin typeface="Arial"/>
                <a:cs typeface="Arial"/>
              </a:rPr>
              <a:t>1</a:t>
            </a:r>
            <a:r>
              <a:rPr lang="en-GB" sz="1403" b="1" spc="-6" dirty="0">
                <a:latin typeface="Arial"/>
                <a:cs typeface="Arial"/>
              </a:rPr>
              <a:t>,…,A</a:t>
            </a:r>
            <a:r>
              <a:rPr lang="en-GB" sz="1403" b="1" spc="-8" baseline="-31250" dirty="0">
                <a:latin typeface="Arial"/>
                <a:cs typeface="Arial"/>
              </a:rPr>
              <a:t>m</a:t>
            </a:r>
            <a:r>
              <a:rPr lang="en-GB" sz="1403" b="1" spc="-6" dirty="0">
                <a:latin typeface="Arial"/>
                <a:cs typeface="Arial"/>
              </a:rPr>
              <a:t>}</a:t>
            </a:r>
            <a:endParaRPr lang="en-GB" sz="1403" dirty="0">
              <a:latin typeface="Arial"/>
              <a:cs typeface="Arial"/>
            </a:endParaRPr>
          </a:p>
          <a:p>
            <a:pPr marL="99504">
              <a:lnSpc>
                <a:spcPts val="1672"/>
              </a:lnSpc>
            </a:pPr>
            <a:r>
              <a:rPr lang="en-GB" sz="1403" spc="-6" dirty="0">
                <a:latin typeface="Arial"/>
                <a:cs typeface="Arial"/>
              </a:rPr>
              <a:t>und </a:t>
            </a:r>
            <a:r>
              <a:rPr lang="en-GB" sz="1403" b="1" dirty="0">
                <a:latin typeface="Arial"/>
                <a:cs typeface="Arial"/>
              </a:rPr>
              <a:t>B = </a:t>
            </a:r>
            <a:r>
              <a:rPr lang="en-GB" sz="1403" b="1" spc="-6" dirty="0">
                <a:latin typeface="Arial"/>
                <a:cs typeface="Arial"/>
              </a:rPr>
              <a:t>{B</a:t>
            </a:r>
            <a:r>
              <a:rPr lang="en-GB" sz="1403" b="1" spc="-8" baseline="-31250" dirty="0">
                <a:latin typeface="Arial"/>
                <a:cs typeface="Arial"/>
              </a:rPr>
              <a:t>1</a:t>
            </a:r>
            <a:r>
              <a:rPr lang="en-GB" sz="1403" b="1" spc="-6" dirty="0">
                <a:latin typeface="Arial"/>
                <a:cs typeface="Arial"/>
              </a:rPr>
              <a:t>,…B</a:t>
            </a:r>
            <a:r>
              <a:rPr lang="en-GB" sz="1403" b="1" spc="-8" baseline="-31250" dirty="0">
                <a:latin typeface="Arial"/>
                <a:cs typeface="Arial"/>
              </a:rPr>
              <a:t>n</a:t>
            </a:r>
            <a:r>
              <a:rPr lang="en-GB" sz="1403" b="1" spc="-6" dirty="0">
                <a:latin typeface="Arial"/>
                <a:cs typeface="Arial"/>
              </a:rPr>
              <a:t>} </a:t>
            </a:r>
            <a:r>
              <a:rPr lang="en-GB" sz="1403" spc="-6" dirty="0">
                <a:latin typeface="Arial"/>
                <a:cs typeface="Arial"/>
              </a:rPr>
              <a:t>in</a:t>
            </a:r>
            <a:r>
              <a:rPr lang="en-GB" sz="1403" spc="-18" dirty="0">
                <a:latin typeface="Arial"/>
                <a:cs typeface="Arial"/>
              </a:rPr>
              <a:t> </a:t>
            </a:r>
            <a:r>
              <a:rPr lang="en-GB" sz="1403" b="1" spc="-6" dirty="0">
                <a:latin typeface="Arial"/>
                <a:cs typeface="Arial"/>
              </a:rPr>
              <a:t>R,</a:t>
            </a:r>
            <a:endParaRPr lang="en-GB" sz="1403" dirty="0">
              <a:latin typeface="Arial"/>
              <a:cs typeface="Arial"/>
            </a:endParaRPr>
          </a:p>
          <a:p>
            <a:pPr marL="100247" marR="253959">
              <a:lnSpc>
                <a:spcPts val="1661"/>
              </a:lnSpc>
              <a:spcBef>
                <a:spcPts val="1725"/>
              </a:spcBef>
            </a:pPr>
            <a:r>
              <a:rPr lang="de-DE" sz="1403" spc="-6" dirty="0">
                <a:latin typeface="Arial"/>
                <a:cs typeface="Arial"/>
              </a:rPr>
              <a:t>Die</a:t>
            </a:r>
            <a:r>
              <a:rPr sz="1403" spc="-6" dirty="0">
                <a:latin typeface="Arial"/>
                <a:cs typeface="Arial"/>
              </a:rPr>
              <a:t> </a:t>
            </a:r>
            <a:r>
              <a:rPr sz="1403" b="1" i="1" dirty="0">
                <a:latin typeface="Arial"/>
                <a:cs typeface="Arial"/>
              </a:rPr>
              <a:t>fun</a:t>
            </a:r>
            <a:r>
              <a:rPr lang="de-DE" sz="1403" b="1" i="1" dirty="0" err="1">
                <a:latin typeface="Arial"/>
                <a:cs typeface="Arial"/>
              </a:rPr>
              <a:t>ktionale</a:t>
            </a:r>
            <a:r>
              <a:rPr sz="1403" b="1" i="1" dirty="0">
                <a:latin typeface="Arial"/>
                <a:cs typeface="Arial"/>
              </a:rPr>
              <a:t> </a:t>
            </a:r>
            <a:r>
              <a:rPr lang="de-DE" sz="1403" b="1" i="1" spc="-6" dirty="0">
                <a:latin typeface="Arial"/>
                <a:cs typeface="Arial"/>
              </a:rPr>
              <a:t>Abhängigkeit</a:t>
            </a:r>
            <a:r>
              <a:rPr sz="1403" b="1" i="1" spc="-88" dirty="0">
                <a:latin typeface="Arial"/>
                <a:cs typeface="Arial"/>
              </a:rPr>
              <a:t> </a:t>
            </a:r>
            <a:r>
              <a:rPr lang="de-DE" sz="1403" b="1" i="1" spc="-88" dirty="0">
                <a:latin typeface="Arial"/>
                <a:cs typeface="Arial"/>
              </a:rPr>
              <a:t> </a:t>
            </a:r>
            <a:r>
              <a:rPr sz="1403" b="1" spc="-6" dirty="0">
                <a:latin typeface="Arial"/>
                <a:cs typeface="Arial"/>
              </a:rPr>
              <a:t>A</a:t>
            </a:r>
            <a:r>
              <a:rPr lang="de-DE" sz="1403" b="1" spc="-6" dirty="0">
                <a:latin typeface="Arial"/>
                <a:cs typeface="Arial"/>
              </a:rPr>
              <a:t> </a:t>
            </a:r>
            <a:r>
              <a:rPr sz="1403" b="1" spc="-6" dirty="0">
                <a:latin typeface="Arial"/>
                <a:cs typeface="Arial"/>
              </a:rPr>
              <a:t>→  </a:t>
            </a:r>
            <a:r>
              <a:rPr sz="1403" b="1" dirty="0">
                <a:latin typeface="Arial"/>
                <a:cs typeface="Arial"/>
              </a:rPr>
              <a:t>B </a:t>
            </a:r>
            <a:r>
              <a:rPr lang="de-DE" sz="1403" b="1" spc="-6" dirty="0">
                <a:latin typeface="Arial"/>
                <a:cs typeface="Arial"/>
              </a:rPr>
              <a:t>in</a:t>
            </a:r>
            <a:r>
              <a:rPr sz="1403" b="1" spc="-6" dirty="0">
                <a:latin typeface="Arial"/>
                <a:cs typeface="Arial"/>
              </a:rPr>
              <a:t> </a:t>
            </a:r>
            <a:r>
              <a:rPr sz="1403" b="1" dirty="0">
                <a:latin typeface="Arial"/>
                <a:cs typeface="Arial"/>
              </a:rPr>
              <a:t>R </a:t>
            </a:r>
            <a:r>
              <a:rPr lang="de-DE" sz="1403" spc="-6" dirty="0">
                <a:latin typeface="Arial"/>
                <a:cs typeface="Arial"/>
              </a:rPr>
              <a:t>wenn</a:t>
            </a:r>
            <a:r>
              <a:rPr sz="1403" spc="-6" dirty="0">
                <a:latin typeface="Arial"/>
                <a:cs typeface="Arial"/>
              </a:rPr>
              <a:t> f</a:t>
            </a:r>
            <a:r>
              <a:rPr lang="de-DE" sz="1403" spc="-6" dirty="0" err="1">
                <a:latin typeface="Arial"/>
                <a:cs typeface="Arial"/>
              </a:rPr>
              <a:t>ü</a:t>
            </a:r>
            <a:r>
              <a:rPr sz="1403" spc="-6" dirty="0">
                <a:latin typeface="Arial"/>
                <a:cs typeface="Arial"/>
              </a:rPr>
              <a:t>r </a:t>
            </a:r>
            <a:r>
              <a:rPr lang="de-DE" sz="1403" b="1" i="1" spc="-6" dirty="0">
                <a:latin typeface="Arial"/>
                <a:cs typeface="Arial"/>
              </a:rPr>
              <a:t>alle</a:t>
            </a:r>
            <a:r>
              <a:rPr sz="1403" b="1" i="1" spc="-6" dirty="0">
                <a:latin typeface="Arial"/>
                <a:cs typeface="Arial"/>
              </a:rPr>
              <a:t> </a:t>
            </a:r>
            <a:r>
              <a:rPr sz="1403" spc="-6" dirty="0">
                <a:latin typeface="Arial"/>
                <a:cs typeface="Arial"/>
              </a:rPr>
              <a:t>t</a:t>
            </a:r>
            <a:r>
              <a:rPr sz="1403" spc="-8" baseline="-31250" dirty="0">
                <a:latin typeface="Arial"/>
                <a:cs typeface="Arial"/>
              </a:rPr>
              <a:t>i</a:t>
            </a:r>
            <a:r>
              <a:rPr sz="1403" spc="-6" dirty="0">
                <a:latin typeface="Arial"/>
                <a:cs typeface="Arial"/>
              </a:rPr>
              <a:t>,t</a:t>
            </a:r>
            <a:r>
              <a:rPr sz="1403" spc="-8" baseline="-31250" dirty="0">
                <a:latin typeface="Arial"/>
                <a:cs typeface="Arial"/>
              </a:rPr>
              <a:t>j </a:t>
            </a:r>
            <a:r>
              <a:rPr sz="1403" spc="-6" dirty="0">
                <a:latin typeface="Arial"/>
                <a:cs typeface="Arial"/>
              </a:rPr>
              <a:t>in</a:t>
            </a:r>
            <a:r>
              <a:rPr sz="1403" spc="-35" dirty="0">
                <a:latin typeface="Arial"/>
                <a:cs typeface="Arial"/>
              </a:rPr>
              <a:t> </a:t>
            </a:r>
            <a:r>
              <a:rPr sz="1403" spc="-6" dirty="0">
                <a:latin typeface="Arial"/>
                <a:cs typeface="Arial"/>
              </a:rPr>
              <a:t>R:</a:t>
            </a:r>
            <a:endParaRPr sz="1403" dirty="0">
              <a:latin typeface="Arial"/>
              <a:cs typeface="Arial"/>
            </a:endParaRPr>
          </a:p>
        </p:txBody>
      </p:sp>
      <p:sp>
        <p:nvSpPr>
          <p:cNvPr id="76" name="object 74">
            <a:extLst>
              <a:ext uri="{FF2B5EF4-FFF2-40B4-BE49-F238E27FC236}">
                <a16:creationId xmlns:a16="http://schemas.microsoft.com/office/drawing/2014/main" id="{CDBCF15F-C3BE-0D17-220D-D1ADA03E1500}"/>
              </a:ext>
            </a:extLst>
          </p:cNvPr>
          <p:cNvSpPr/>
          <p:nvPr/>
        </p:nvSpPr>
        <p:spPr>
          <a:xfrm>
            <a:off x="2233641" y="3607313"/>
            <a:ext cx="1297317" cy="354219"/>
          </a:xfrm>
          <a:custGeom>
            <a:avLst/>
            <a:gdLst/>
            <a:ahLst/>
            <a:cxnLst/>
            <a:rect l="l" t="t" r="r" b="b"/>
            <a:pathLst>
              <a:path w="1109345" h="302894">
                <a:moveTo>
                  <a:pt x="1058947" y="302449"/>
                </a:moveTo>
                <a:lnTo>
                  <a:pt x="50424" y="302449"/>
                </a:lnTo>
                <a:lnTo>
                  <a:pt x="30796" y="298488"/>
                </a:lnTo>
                <a:lnTo>
                  <a:pt x="14768" y="287685"/>
                </a:lnTo>
                <a:lnTo>
                  <a:pt x="3962" y="271663"/>
                </a:lnTo>
                <a:lnTo>
                  <a:pt x="0" y="252041"/>
                </a:lnTo>
                <a:lnTo>
                  <a:pt x="0" y="50409"/>
                </a:lnTo>
                <a:lnTo>
                  <a:pt x="3962" y="30788"/>
                </a:lnTo>
                <a:lnTo>
                  <a:pt x="14768" y="14764"/>
                </a:lnTo>
                <a:lnTo>
                  <a:pt x="30796" y="3961"/>
                </a:lnTo>
                <a:lnTo>
                  <a:pt x="50424" y="0"/>
                </a:lnTo>
                <a:lnTo>
                  <a:pt x="1058947" y="0"/>
                </a:lnTo>
                <a:lnTo>
                  <a:pt x="1094597" y="14764"/>
                </a:lnTo>
                <a:lnTo>
                  <a:pt x="1109347" y="50409"/>
                </a:lnTo>
                <a:lnTo>
                  <a:pt x="1109347" y="252041"/>
                </a:lnTo>
                <a:lnTo>
                  <a:pt x="1105385" y="271663"/>
                </a:lnTo>
                <a:lnTo>
                  <a:pt x="1094582" y="287685"/>
                </a:lnTo>
                <a:lnTo>
                  <a:pt x="1078561" y="298488"/>
                </a:lnTo>
                <a:lnTo>
                  <a:pt x="1058947" y="302449"/>
                </a:lnTo>
                <a:close/>
              </a:path>
            </a:pathLst>
          </a:custGeom>
          <a:solidFill>
            <a:srgbClr val="F6CAAC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7" name="object 75">
            <a:extLst>
              <a:ext uri="{FF2B5EF4-FFF2-40B4-BE49-F238E27FC236}">
                <a16:creationId xmlns:a16="http://schemas.microsoft.com/office/drawing/2014/main" id="{9C21B854-2B33-98DE-1144-2CCC22F4A535}"/>
              </a:ext>
            </a:extLst>
          </p:cNvPr>
          <p:cNvSpPr/>
          <p:nvPr/>
        </p:nvSpPr>
        <p:spPr>
          <a:xfrm>
            <a:off x="2233640" y="3607313"/>
            <a:ext cx="1297317" cy="354219"/>
          </a:xfrm>
          <a:custGeom>
            <a:avLst/>
            <a:gdLst/>
            <a:ahLst/>
            <a:cxnLst/>
            <a:rect l="l" t="t" r="r" b="b"/>
            <a:pathLst>
              <a:path w="1109345" h="302894">
                <a:moveTo>
                  <a:pt x="0" y="50409"/>
                </a:moveTo>
                <a:lnTo>
                  <a:pt x="3962" y="30788"/>
                </a:lnTo>
                <a:lnTo>
                  <a:pt x="14768" y="14764"/>
                </a:lnTo>
                <a:lnTo>
                  <a:pt x="30796" y="3961"/>
                </a:lnTo>
                <a:lnTo>
                  <a:pt x="50424" y="0"/>
                </a:lnTo>
                <a:lnTo>
                  <a:pt x="1058947" y="0"/>
                </a:lnTo>
                <a:lnTo>
                  <a:pt x="1094597" y="14764"/>
                </a:lnTo>
                <a:lnTo>
                  <a:pt x="1109347" y="50409"/>
                </a:lnTo>
                <a:lnTo>
                  <a:pt x="1109347" y="252041"/>
                </a:lnTo>
                <a:lnTo>
                  <a:pt x="1105385" y="271663"/>
                </a:lnTo>
                <a:lnTo>
                  <a:pt x="1094582" y="287685"/>
                </a:lnTo>
                <a:lnTo>
                  <a:pt x="1078561" y="298488"/>
                </a:lnTo>
                <a:lnTo>
                  <a:pt x="1058947" y="302449"/>
                </a:lnTo>
                <a:lnTo>
                  <a:pt x="50424" y="302449"/>
                </a:lnTo>
                <a:lnTo>
                  <a:pt x="30796" y="298488"/>
                </a:lnTo>
                <a:lnTo>
                  <a:pt x="14768" y="287685"/>
                </a:lnTo>
                <a:lnTo>
                  <a:pt x="3962" y="271663"/>
                </a:lnTo>
                <a:lnTo>
                  <a:pt x="0" y="252041"/>
                </a:lnTo>
                <a:lnTo>
                  <a:pt x="0" y="50409"/>
                </a:lnTo>
                <a:close/>
              </a:path>
            </a:pathLst>
          </a:custGeom>
          <a:ln w="25399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8" name="object 76">
            <a:extLst>
              <a:ext uri="{FF2B5EF4-FFF2-40B4-BE49-F238E27FC236}">
                <a16:creationId xmlns:a16="http://schemas.microsoft.com/office/drawing/2014/main" id="{9C80CF42-82BC-4EBC-E225-04FDF6694672}"/>
              </a:ext>
            </a:extLst>
          </p:cNvPr>
          <p:cNvSpPr/>
          <p:nvPr/>
        </p:nvSpPr>
        <p:spPr>
          <a:xfrm>
            <a:off x="3961696" y="3607313"/>
            <a:ext cx="1297317" cy="354219"/>
          </a:xfrm>
          <a:custGeom>
            <a:avLst/>
            <a:gdLst/>
            <a:ahLst/>
            <a:cxnLst/>
            <a:rect l="l" t="t" r="r" b="b"/>
            <a:pathLst>
              <a:path w="1109345" h="302894">
                <a:moveTo>
                  <a:pt x="1058947" y="302449"/>
                </a:moveTo>
                <a:lnTo>
                  <a:pt x="50399" y="302449"/>
                </a:lnTo>
                <a:lnTo>
                  <a:pt x="30786" y="298488"/>
                </a:lnTo>
                <a:lnTo>
                  <a:pt x="14765" y="287685"/>
                </a:lnTo>
                <a:lnTo>
                  <a:pt x="3962" y="271663"/>
                </a:lnTo>
                <a:lnTo>
                  <a:pt x="0" y="252041"/>
                </a:lnTo>
                <a:lnTo>
                  <a:pt x="0" y="50409"/>
                </a:lnTo>
                <a:lnTo>
                  <a:pt x="3962" y="30788"/>
                </a:lnTo>
                <a:lnTo>
                  <a:pt x="14765" y="14764"/>
                </a:lnTo>
                <a:lnTo>
                  <a:pt x="30786" y="3961"/>
                </a:lnTo>
                <a:lnTo>
                  <a:pt x="50399" y="0"/>
                </a:lnTo>
                <a:lnTo>
                  <a:pt x="1058947" y="0"/>
                </a:lnTo>
                <a:lnTo>
                  <a:pt x="1094572" y="14764"/>
                </a:lnTo>
                <a:lnTo>
                  <a:pt x="1109347" y="50409"/>
                </a:lnTo>
                <a:lnTo>
                  <a:pt x="1109347" y="252041"/>
                </a:lnTo>
                <a:lnTo>
                  <a:pt x="1105385" y="271663"/>
                </a:lnTo>
                <a:lnTo>
                  <a:pt x="1094582" y="287685"/>
                </a:lnTo>
                <a:lnTo>
                  <a:pt x="1078561" y="298488"/>
                </a:lnTo>
                <a:lnTo>
                  <a:pt x="1058947" y="302449"/>
                </a:lnTo>
                <a:close/>
              </a:path>
            </a:pathLst>
          </a:custGeom>
          <a:solidFill>
            <a:srgbClr val="F6CAAC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9" name="object 77">
            <a:extLst>
              <a:ext uri="{FF2B5EF4-FFF2-40B4-BE49-F238E27FC236}">
                <a16:creationId xmlns:a16="http://schemas.microsoft.com/office/drawing/2014/main" id="{72F089F7-B19D-E19A-5949-443538869453}"/>
              </a:ext>
            </a:extLst>
          </p:cNvPr>
          <p:cNvSpPr/>
          <p:nvPr/>
        </p:nvSpPr>
        <p:spPr>
          <a:xfrm>
            <a:off x="3961696" y="3607313"/>
            <a:ext cx="1297317" cy="354219"/>
          </a:xfrm>
          <a:custGeom>
            <a:avLst/>
            <a:gdLst/>
            <a:ahLst/>
            <a:cxnLst/>
            <a:rect l="l" t="t" r="r" b="b"/>
            <a:pathLst>
              <a:path w="1109345" h="302894">
                <a:moveTo>
                  <a:pt x="0" y="50409"/>
                </a:moveTo>
                <a:lnTo>
                  <a:pt x="3962" y="30788"/>
                </a:lnTo>
                <a:lnTo>
                  <a:pt x="14765" y="14764"/>
                </a:lnTo>
                <a:lnTo>
                  <a:pt x="30786" y="3961"/>
                </a:lnTo>
                <a:lnTo>
                  <a:pt x="50399" y="0"/>
                </a:lnTo>
                <a:lnTo>
                  <a:pt x="1058947" y="0"/>
                </a:lnTo>
                <a:lnTo>
                  <a:pt x="1094572" y="14764"/>
                </a:lnTo>
                <a:lnTo>
                  <a:pt x="1109347" y="50409"/>
                </a:lnTo>
                <a:lnTo>
                  <a:pt x="1109347" y="252041"/>
                </a:lnTo>
                <a:lnTo>
                  <a:pt x="1105385" y="271663"/>
                </a:lnTo>
                <a:lnTo>
                  <a:pt x="1094582" y="287685"/>
                </a:lnTo>
                <a:lnTo>
                  <a:pt x="1078561" y="298488"/>
                </a:lnTo>
                <a:lnTo>
                  <a:pt x="1058947" y="302449"/>
                </a:lnTo>
                <a:lnTo>
                  <a:pt x="50399" y="302449"/>
                </a:lnTo>
                <a:lnTo>
                  <a:pt x="30786" y="298488"/>
                </a:lnTo>
                <a:lnTo>
                  <a:pt x="14765" y="287685"/>
                </a:lnTo>
                <a:lnTo>
                  <a:pt x="3962" y="271663"/>
                </a:lnTo>
                <a:lnTo>
                  <a:pt x="0" y="252041"/>
                </a:lnTo>
                <a:lnTo>
                  <a:pt x="0" y="50409"/>
                </a:lnTo>
                <a:close/>
              </a:path>
            </a:pathLst>
          </a:custGeom>
          <a:ln w="25399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0" name="object 78">
            <a:extLst>
              <a:ext uri="{FF2B5EF4-FFF2-40B4-BE49-F238E27FC236}">
                <a16:creationId xmlns:a16="http://schemas.microsoft.com/office/drawing/2014/main" id="{DB405F0D-8C21-5730-4191-D11AD9493711}"/>
              </a:ext>
            </a:extLst>
          </p:cNvPr>
          <p:cNvSpPr/>
          <p:nvPr/>
        </p:nvSpPr>
        <p:spPr>
          <a:xfrm>
            <a:off x="3503390" y="3697545"/>
            <a:ext cx="525759" cy="173768"/>
          </a:xfrm>
          <a:custGeom>
            <a:avLst/>
            <a:gdLst/>
            <a:ahLst/>
            <a:cxnLst/>
            <a:rect l="l" t="t" r="r" b="b"/>
            <a:pathLst>
              <a:path w="449579" h="148589">
                <a:moveTo>
                  <a:pt x="374974" y="148134"/>
                </a:moveTo>
                <a:lnTo>
                  <a:pt x="374974" y="111099"/>
                </a:lnTo>
                <a:lnTo>
                  <a:pt x="0" y="111099"/>
                </a:lnTo>
                <a:lnTo>
                  <a:pt x="0" y="37034"/>
                </a:lnTo>
                <a:lnTo>
                  <a:pt x="374974" y="37034"/>
                </a:lnTo>
                <a:lnTo>
                  <a:pt x="374974" y="0"/>
                </a:lnTo>
                <a:lnTo>
                  <a:pt x="449049" y="74067"/>
                </a:lnTo>
                <a:lnTo>
                  <a:pt x="374974" y="148134"/>
                </a:lnTo>
                <a:close/>
              </a:path>
            </a:pathLst>
          </a:custGeom>
          <a:solidFill>
            <a:srgbClr val="3A80BA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1" name="object 79">
            <a:extLst>
              <a:ext uri="{FF2B5EF4-FFF2-40B4-BE49-F238E27FC236}">
                <a16:creationId xmlns:a16="http://schemas.microsoft.com/office/drawing/2014/main" id="{0F1A7910-AA11-AD24-481F-0606CCFE7D77}"/>
              </a:ext>
            </a:extLst>
          </p:cNvPr>
          <p:cNvSpPr/>
          <p:nvPr/>
        </p:nvSpPr>
        <p:spPr>
          <a:xfrm>
            <a:off x="3503390" y="3697545"/>
            <a:ext cx="525759" cy="173768"/>
          </a:xfrm>
          <a:custGeom>
            <a:avLst/>
            <a:gdLst/>
            <a:ahLst/>
            <a:cxnLst/>
            <a:rect l="l" t="t" r="r" b="b"/>
            <a:pathLst>
              <a:path w="449579" h="148589">
                <a:moveTo>
                  <a:pt x="0" y="37034"/>
                </a:moveTo>
                <a:lnTo>
                  <a:pt x="374974" y="37034"/>
                </a:lnTo>
                <a:lnTo>
                  <a:pt x="374974" y="0"/>
                </a:lnTo>
                <a:lnTo>
                  <a:pt x="449049" y="74067"/>
                </a:lnTo>
                <a:lnTo>
                  <a:pt x="374974" y="148134"/>
                </a:lnTo>
                <a:lnTo>
                  <a:pt x="374974" y="111099"/>
                </a:lnTo>
                <a:lnTo>
                  <a:pt x="0" y="111099"/>
                </a:lnTo>
                <a:lnTo>
                  <a:pt x="0" y="37034"/>
                </a:lnTo>
                <a:close/>
              </a:path>
            </a:pathLst>
          </a:custGeom>
          <a:ln w="25399">
            <a:solidFill>
              <a:srgbClr val="2A5D87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4" name="Title 1">
            <a:extLst>
              <a:ext uri="{FF2B5EF4-FFF2-40B4-BE49-F238E27FC236}">
                <a16:creationId xmlns:a16="http://schemas.microsoft.com/office/drawing/2014/main" id="{CBA46ACB-172F-BEDD-ECC2-A519F1DFE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540000"/>
          </a:xfrm>
        </p:spPr>
        <p:txBody>
          <a:bodyPr/>
          <a:lstStyle/>
          <a:p>
            <a:r>
              <a:rPr lang="en-US" dirty="0" err="1"/>
              <a:t>Anschauliche</a:t>
            </a:r>
            <a:r>
              <a:rPr lang="en-US" dirty="0"/>
              <a:t> </a:t>
            </a:r>
            <a:r>
              <a:rPr lang="en-US" dirty="0" err="1"/>
              <a:t>Darstellung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2455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456CF09-8CA6-D10D-0BB5-F7E296E9A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540000"/>
          </a:xfrm>
        </p:spPr>
        <p:txBody>
          <a:bodyPr/>
          <a:lstStyle/>
          <a:p>
            <a:r>
              <a:rPr lang="en-US" dirty="0" err="1"/>
              <a:t>Anschauliche</a:t>
            </a:r>
            <a:r>
              <a:rPr lang="en-US" dirty="0"/>
              <a:t> </a:t>
            </a:r>
            <a:r>
              <a:rPr lang="en-US" dirty="0" err="1"/>
              <a:t>Darstellung</a:t>
            </a:r>
            <a:endParaRPr lang="en-US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932C6456-ED19-529B-BAC5-52AFF463AD9C}"/>
              </a:ext>
            </a:extLst>
          </p:cNvPr>
          <p:cNvSpPr txBox="1"/>
          <p:nvPr/>
        </p:nvSpPr>
        <p:spPr>
          <a:xfrm>
            <a:off x="6012996" y="2867310"/>
            <a:ext cx="2991924" cy="2191159"/>
          </a:xfrm>
          <a:prstGeom prst="rect">
            <a:avLst/>
          </a:prstGeom>
          <a:solidFill>
            <a:srgbClr val="D4E4F2"/>
          </a:solidFill>
        </p:spPr>
        <p:txBody>
          <a:bodyPr vert="horz" wrap="square" lIns="0" tIns="37130" rIns="0" bIns="0" rtlCol="0">
            <a:spAutoFit/>
          </a:bodyPr>
          <a:lstStyle/>
          <a:p>
            <a:pPr marL="99504">
              <a:lnSpc>
                <a:spcPts val="1672"/>
              </a:lnSpc>
              <a:spcBef>
                <a:spcPts val="292"/>
              </a:spcBef>
            </a:pPr>
            <a:r>
              <a:rPr lang="en-GB" sz="1403" u="heavy" spc="-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Definition</a:t>
            </a:r>
            <a:r>
              <a:rPr lang="en-GB" sz="1403" u="heavy" spc="-12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(</a:t>
            </a:r>
            <a:r>
              <a:rPr lang="en-GB" sz="1403" u="heavy" spc="-12" dirty="0" err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s.o</a:t>
            </a:r>
            <a:r>
              <a:rPr lang="en-GB" sz="1403" u="heavy" spc="-12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.</a:t>
            </a:r>
            <a:r>
              <a:rPr lang="en-GB" sz="1403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):</a:t>
            </a:r>
            <a:endParaRPr lang="en-GB" sz="1403" dirty="0">
              <a:latin typeface="Arial"/>
              <a:cs typeface="Arial"/>
            </a:endParaRPr>
          </a:p>
          <a:p>
            <a:pPr marL="99504">
              <a:lnSpc>
                <a:spcPts val="1666"/>
              </a:lnSpc>
            </a:pPr>
            <a:r>
              <a:rPr lang="en-GB" sz="1403" spc="-6" dirty="0" err="1">
                <a:latin typeface="Arial"/>
                <a:cs typeface="Arial"/>
              </a:rPr>
              <a:t>Gegeben</a:t>
            </a:r>
            <a:r>
              <a:rPr lang="en-GB" sz="1403" spc="-6" dirty="0">
                <a:latin typeface="Arial"/>
                <a:cs typeface="Arial"/>
              </a:rPr>
              <a:t> </a:t>
            </a:r>
            <a:r>
              <a:rPr lang="en-GB" sz="1403" spc="-6" dirty="0" err="1">
                <a:latin typeface="Arial"/>
                <a:cs typeface="Arial"/>
              </a:rPr>
              <a:t>seien</a:t>
            </a:r>
            <a:r>
              <a:rPr lang="en-GB" sz="1403" spc="-6" dirty="0">
                <a:latin typeface="Arial"/>
                <a:cs typeface="Arial"/>
              </a:rPr>
              <a:t> die </a:t>
            </a:r>
            <a:r>
              <a:rPr lang="en-GB" sz="1403" spc="-6" dirty="0" err="1">
                <a:latin typeface="Arial"/>
                <a:cs typeface="Arial"/>
              </a:rPr>
              <a:t>Attributmengen</a:t>
            </a:r>
            <a:r>
              <a:rPr lang="en-GB" sz="1403" spc="-12" dirty="0">
                <a:latin typeface="Arial"/>
                <a:cs typeface="Arial"/>
              </a:rPr>
              <a:t> </a:t>
            </a:r>
            <a:r>
              <a:rPr lang="en-GB" sz="1403" b="1" spc="-6" dirty="0">
                <a:latin typeface="Arial"/>
                <a:cs typeface="Arial"/>
              </a:rPr>
              <a:t>A={A</a:t>
            </a:r>
            <a:r>
              <a:rPr lang="en-GB" sz="1403" b="1" spc="-8" baseline="-31250" dirty="0">
                <a:latin typeface="Arial"/>
                <a:cs typeface="Arial"/>
              </a:rPr>
              <a:t>1</a:t>
            </a:r>
            <a:r>
              <a:rPr lang="en-GB" sz="1403" b="1" spc="-6" dirty="0">
                <a:latin typeface="Arial"/>
                <a:cs typeface="Arial"/>
              </a:rPr>
              <a:t>,…,A</a:t>
            </a:r>
            <a:r>
              <a:rPr lang="en-GB" sz="1403" b="1" spc="-8" baseline="-31250" dirty="0">
                <a:latin typeface="Arial"/>
                <a:cs typeface="Arial"/>
              </a:rPr>
              <a:t>m</a:t>
            </a:r>
            <a:r>
              <a:rPr lang="en-GB" sz="1403" b="1" spc="-6" dirty="0">
                <a:latin typeface="Arial"/>
                <a:cs typeface="Arial"/>
              </a:rPr>
              <a:t>}</a:t>
            </a:r>
            <a:endParaRPr lang="en-GB" sz="1403" dirty="0">
              <a:latin typeface="Arial"/>
              <a:cs typeface="Arial"/>
            </a:endParaRPr>
          </a:p>
          <a:p>
            <a:pPr marL="99504">
              <a:lnSpc>
                <a:spcPts val="1672"/>
              </a:lnSpc>
            </a:pPr>
            <a:r>
              <a:rPr lang="en-GB" sz="1403" spc="-6" dirty="0">
                <a:latin typeface="Arial"/>
                <a:cs typeface="Arial"/>
              </a:rPr>
              <a:t>und </a:t>
            </a:r>
            <a:r>
              <a:rPr lang="en-GB" sz="1403" b="1" dirty="0">
                <a:latin typeface="Arial"/>
                <a:cs typeface="Arial"/>
              </a:rPr>
              <a:t>B = </a:t>
            </a:r>
            <a:r>
              <a:rPr lang="en-GB" sz="1403" b="1" spc="-6" dirty="0">
                <a:latin typeface="Arial"/>
                <a:cs typeface="Arial"/>
              </a:rPr>
              <a:t>{B</a:t>
            </a:r>
            <a:r>
              <a:rPr lang="en-GB" sz="1403" b="1" spc="-8" baseline="-31250" dirty="0">
                <a:latin typeface="Arial"/>
                <a:cs typeface="Arial"/>
              </a:rPr>
              <a:t>1</a:t>
            </a:r>
            <a:r>
              <a:rPr lang="en-GB" sz="1403" b="1" spc="-6" dirty="0">
                <a:latin typeface="Arial"/>
                <a:cs typeface="Arial"/>
              </a:rPr>
              <a:t>,…B</a:t>
            </a:r>
            <a:r>
              <a:rPr lang="en-GB" sz="1403" b="1" spc="-8" baseline="-31250" dirty="0">
                <a:latin typeface="Arial"/>
                <a:cs typeface="Arial"/>
              </a:rPr>
              <a:t>n</a:t>
            </a:r>
            <a:r>
              <a:rPr lang="en-GB" sz="1403" b="1" spc="-6" dirty="0">
                <a:latin typeface="Arial"/>
                <a:cs typeface="Arial"/>
              </a:rPr>
              <a:t>} </a:t>
            </a:r>
            <a:r>
              <a:rPr lang="en-GB" sz="1403" spc="-6" dirty="0">
                <a:latin typeface="Arial"/>
                <a:cs typeface="Arial"/>
              </a:rPr>
              <a:t>in</a:t>
            </a:r>
            <a:r>
              <a:rPr lang="en-GB" sz="1403" spc="-18" dirty="0">
                <a:latin typeface="Arial"/>
                <a:cs typeface="Arial"/>
              </a:rPr>
              <a:t> </a:t>
            </a:r>
            <a:r>
              <a:rPr lang="en-GB" sz="1403" b="1" spc="-6" dirty="0">
                <a:latin typeface="Arial"/>
                <a:cs typeface="Arial"/>
              </a:rPr>
              <a:t>R,</a:t>
            </a:r>
            <a:endParaRPr lang="en-GB" sz="1403" dirty="0">
              <a:latin typeface="Arial"/>
              <a:cs typeface="Arial"/>
            </a:endParaRPr>
          </a:p>
          <a:p>
            <a:pPr marL="100247" marR="253959">
              <a:lnSpc>
                <a:spcPts val="1661"/>
              </a:lnSpc>
              <a:spcBef>
                <a:spcPts val="1725"/>
              </a:spcBef>
            </a:pPr>
            <a:r>
              <a:rPr lang="en-GB" sz="1403" spc="-6" dirty="0">
                <a:latin typeface="Arial"/>
                <a:cs typeface="Arial"/>
              </a:rPr>
              <a:t>Die </a:t>
            </a:r>
            <a:r>
              <a:rPr lang="en-GB" sz="1403" b="1" i="1" dirty="0" err="1">
                <a:latin typeface="Arial"/>
                <a:cs typeface="Arial"/>
              </a:rPr>
              <a:t>funktionale</a:t>
            </a:r>
            <a:r>
              <a:rPr lang="en-GB" sz="1403" b="1" i="1" dirty="0">
                <a:latin typeface="Arial"/>
                <a:cs typeface="Arial"/>
              </a:rPr>
              <a:t> </a:t>
            </a:r>
            <a:r>
              <a:rPr lang="en-GB" sz="1403" b="1" i="1" spc="-6" dirty="0" err="1">
                <a:latin typeface="Arial"/>
                <a:cs typeface="Arial"/>
              </a:rPr>
              <a:t>Abhängigkeit</a:t>
            </a:r>
            <a:r>
              <a:rPr lang="en-GB" sz="1403" b="1" i="1" spc="-88" dirty="0">
                <a:latin typeface="Arial"/>
                <a:cs typeface="Arial"/>
              </a:rPr>
              <a:t>  </a:t>
            </a:r>
            <a:r>
              <a:rPr lang="en-GB" sz="1403" b="1" spc="-6" dirty="0">
                <a:latin typeface="Arial"/>
                <a:cs typeface="Arial"/>
              </a:rPr>
              <a:t>A →  </a:t>
            </a:r>
            <a:r>
              <a:rPr lang="en-GB" sz="1403" b="1" dirty="0">
                <a:latin typeface="Arial"/>
                <a:cs typeface="Arial"/>
              </a:rPr>
              <a:t>B </a:t>
            </a:r>
            <a:r>
              <a:rPr lang="en-GB" sz="1403" b="1" spc="-6" dirty="0">
                <a:latin typeface="Arial"/>
                <a:cs typeface="Arial"/>
              </a:rPr>
              <a:t>in </a:t>
            </a:r>
            <a:r>
              <a:rPr lang="en-GB" sz="1403" b="1" dirty="0">
                <a:latin typeface="Arial"/>
                <a:cs typeface="Arial"/>
              </a:rPr>
              <a:t>R </a:t>
            </a:r>
            <a:r>
              <a:rPr lang="en-GB" sz="1403" spc="-6" dirty="0" err="1">
                <a:latin typeface="Arial"/>
                <a:cs typeface="Arial"/>
              </a:rPr>
              <a:t>wenn</a:t>
            </a:r>
            <a:r>
              <a:rPr lang="en-GB" sz="1403" spc="-6" dirty="0">
                <a:latin typeface="Arial"/>
                <a:cs typeface="Arial"/>
              </a:rPr>
              <a:t> für </a:t>
            </a:r>
            <a:r>
              <a:rPr lang="en-GB" sz="1403" b="1" i="1" spc="-6" dirty="0">
                <a:latin typeface="Arial"/>
                <a:cs typeface="Arial"/>
              </a:rPr>
              <a:t>alle </a:t>
            </a:r>
            <a:r>
              <a:rPr lang="en-GB" sz="1403" spc="-6" dirty="0" err="1">
                <a:latin typeface="Arial"/>
                <a:cs typeface="Arial"/>
              </a:rPr>
              <a:t>t</a:t>
            </a:r>
            <a:r>
              <a:rPr lang="en-GB" sz="1403" spc="-8" baseline="-31250" dirty="0" err="1">
                <a:latin typeface="Arial"/>
                <a:cs typeface="Arial"/>
              </a:rPr>
              <a:t>i</a:t>
            </a:r>
            <a:r>
              <a:rPr lang="en-GB" sz="1403" spc="-6" dirty="0" err="1">
                <a:latin typeface="Arial"/>
                <a:cs typeface="Arial"/>
              </a:rPr>
              <a:t>,t</a:t>
            </a:r>
            <a:r>
              <a:rPr lang="en-GB" sz="1403" spc="-8" baseline="-31250" dirty="0" err="1">
                <a:latin typeface="Arial"/>
                <a:cs typeface="Arial"/>
              </a:rPr>
              <a:t>j</a:t>
            </a:r>
            <a:r>
              <a:rPr lang="en-GB" sz="1403" spc="-8" baseline="-31250" dirty="0">
                <a:latin typeface="Arial"/>
                <a:cs typeface="Arial"/>
              </a:rPr>
              <a:t> </a:t>
            </a:r>
            <a:r>
              <a:rPr lang="en-GB" sz="1403" spc="-6" dirty="0">
                <a:latin typeface="Arial"/>
                <a:cs typeface="Arial"/>
              </a:rPr>
              <a:t>in</a:t>
            </a:r>
            <a:r>
              <a:rPr lang="en-GB" sz="1403" spc="-35" dirty="0">
                <a:latin typeface="Arial"/>
                <a:cs typeface="Arial"/>
              </a:rPr>
              <a:t> </a:t>
            </a:r>
            <a:r>
              <a:rPr lang="en-GB" sz="1403" spc="-6" dirty="0">
                <a:latin typeface="Arial"/>
                <a:cs typeface="Arial"/>
              </a:rPr>
              <a:t>R:</a:t>
            </a:r>
            <a:endParaRPr lang="en-GB" sz="1403" dirty="0">
              <a:latin typeface="Arial"/>
              <a:cs typeface="Arial"/>
            </a:endParaRPr>
          </a:p>
          <a:p>
            <a:pPr marL="100247">
              <a:lnSpc>
                <a:spcPts val="1672"/>
              </a:lnSpc>
              <a:spcBef>
                <a:spcPts val="1602"/>
              </a:spcBef>
            </a:pPr>
            <a:r>
              <a:rPr sz="1403" spc="-6" dirty="0" err="1">
                <a:latin typeface="Arial"/>
                <a:cs typeface="Arial"/>
              </a:rPr>
              <a:t>t</a:t>
            </a:r>
            <a:r>
              <a:rPr sz="1403" spc="-8" baseline="-31250" dirty="0" err="1">
                <a:latin typeface="Arial"/>
                <a:cs typeface="Arial"/>
              </a:rPr>
              <a:t>i</a:t>
            </a:r>
            <a:r>
              <a:rPr sz="1403" spc="-6" dirty="0">
                <a:latin typeface="Arial"/>
                <a:cs typeface="Arial"/>
              </a:rPr>
              <a:t>[A</a:t>
            </a:r>
            <a:r>
              <a:rPr sz="1403" spc="-8" baseline="-31250" dirty="0">
                <a:latin typeface="Arial"/>
                <a:cs typeface="Arial"/>
              </a:rPr>
              <a:t>1</a:t>
            </a:r>
            <a:r>
              <a:rPr sz="1403" spc="-6" dirty="0">
                <a:latin typeface="Arial"/>
                <a:cs typeface="Arial"/>
              </a:rPr>
              <a:t>] </a:t>
            </a:r>
            <a:r>
              <a:rPr sz="1403" dirty="0">
                <a:latin typeface="Arial"/>
                <a:cs typeface="Arial"/>
              </a:rPr>
              <a:t>= </a:t>
            </a:r>
            <a:r>
              <a:rPr sz="1403" spc="-6" dirty="0">
                <a:latin typeface="Arial"/>
                <a:cs typeface="Arial"/>
              </a:rPr>
              <a:t>t</a:t>
            </a:r>
            <a:r>
              <a:rPr sz="1403" spc="-8" baseline="-31250" dirty="0">
                <a:latin typeface="Arial"/>
                <a:cs typeface="Arial"/>
              </a:rPr>
              <a:t>j</a:t>
            </a:r>
            <a:r>
              <a:rPr sz="1403" spc="-6" dirty="0">
                <a:latin typeface="Arial"/>
                <a:cs typeface="Arial"/>
              </a:rPr>
              <a:t>[A</a:t>
            </a:r>
            <a:r>
              <a:rPr sz="1403" spc="-8" baseline="-31250" dirty="0">
                <a:latin typeface="Arial"/>
                <a:cs typeface="Arial"/>
              </a:rPr>
              <a:t>1</a:t>
            </a:r>
            <a:r>
              <a:rPr sz="1403" spc="-6" dirty="0">
                <a:latin typeface="Arial"/>
                <a:cs typeface="Arial"/>
              </a:rPr>
              <a:t>] </a:t>
            </a:r>
            <a:r>
              <a:rPr lang="de-DE" sz="1403" spc="-6" dirty="0">
                <a:latin typeface="Arial"/>
                <a:cs typeface="Arial"/>
              </a:rPr>
              <a:t>U</a:t>
            </a:r>
            <a:r>
              <a:rPr sz="1403" spc="-6" dirty="0">
                <a:latin typeface="Arial"/>
                <a:cs typeface="Arial"/>
              </a:rPr>
              <a:t>ND t</a:t>
            </a:r>
            <a:r>
              <a:rPr sz="1403" spc="-8" baseline="-31250" dirty="0">
                <a:latin typeface="Arial"/>
                <a:cs typeface="Arial"/>
              </a:rPr>
              <a:t>i</a:t>
            </a:r>
            <a:r>
              <a:rPr sz="1403" spc="-6" dirty="0">
                <a:latin typeface="Arial"/>
                <a:cs typeface="Arial"/>
              </a:rPr>
              <a:t>[A</a:t>
            </a:r>
            <a:r>
              <a:rPr sz="1403" spc="-8" baseline="-31250" dirty="0">
                <a:latin typeface="Arial"/>
                <a:cs typeface="Arial"/>
              </a:rPr>
              <a:t>2</a:t>
            </a:r>
            <a:r>
              <a:rPr sz="1403" spc="-6" dirty="0">
                <a:latin typeface="Arial"/>
                <a:cs typeface="Arial"/>
              </a:rPr>
              <a:t>]=t</a:t>
            </a:r>
            <a:r>
              <a:rPr sz="1403" spc="-8" baseline="-31250" dirty="0">
                <a:latin typeface="Arial"/>
                <a:cs typeface="Arial"/>
              </a:rPr>
              <a:t>j</a:t>
            </a:r>
            <a:r>
              <a:rPr sz="1403" spc="-6" dirty="0">
                <a:latin typeface="Arial"/>
                <a:cs typeface="Arial"/>
              </a:rPr>
              <a:t>[A</a:t>
            </a:r>
            <a:r>
              <a:rPr sz="1403" spc="-8" baseline="-31250" dirty="0">
                <a:latin typeface="Arial"/>
                <a:cs typeface="Arial"/>
              </a:rPr>
              <a:t>2</a:t>
            </a:r>
            <a:r>
              <a:rPr sz="1403" spc="-6" dirty="0">
                <a:latin typeface="Arial"/>
                <a:cs typeface="Arial"/>
              </a:rPr>
              <a:t>]</a:t>
            </a:r>
            <a:r>
              <a:rPr sz="1403" spc="-29" dirty="0">
                <a:latin typeface="Arial"/>
                <a:cs typeface="Arial"/>
              </a:rPr>
              <a:t> </a:t>
            </a:r>
            <a:r>
              <a:rPr lang="de-DE" sz="1403" spc="-6" dirty="0">
                <a:latin typeface="Arial"/>
                <a:cs typeface="Arial"/>
              </a:rPr>
              <a:t>U</a:t>
            </a:r>
            <a:r>
              <a:rPr sz="1403" spc="-6" dirty="0">
                <a:latin typeface="Arial"/>
                <a:cs typeface="Arial"/>
              </a:rPr>
              <a:t>ND</a:t>
            </a:r>
            <a:endParaRPr sz="1403" dirty="0">
              <a:latin typeface="Arial"/>
              <a:cs typeface="Arial"/>
            </a:endParaRPr>
          </a:p>
          <a:p>
            <a:pPr marL="100247">
              <a:lnSpc>
                <a:spcPts val="1672"/>
              </a:lnSpc>
            </a:pPr>
            <a:r>
              <a:rPr sz="1403" dirty="0">
                <a:latin typeface="Arial"/>
                <a:cs typeface="Arial"/>
              </a:rPr>
              <a:t>… </a:t>
            </a:r>
            <a:r>
              <a:rPr lang="de-DE" sz="1403" spc="-6" dirty="0">
                <a:latin typeface="Arial"/>
                <a:cs typeface="Arial"/>
              </a:rPr>
              <a:t>U</a:t>
            </a:r>
            <a:r>
              <a:rPr sz="1403" spc="-6" dirty="0">
                <a:latin typeface="Arial"/>
                <a:cs typeface="Arial"/>
              </a:rPr>
              <a:t>ND t</a:t>
            </a:r>
            <a:r>
              <a:rPr sz="1403" spc="-8" baseline="-31250" dirty="0">
                <a:latin typeface="Arial"/>
                <a:cs typeface="Arial"/>
              </a:rPr>
              <a:t>i</a:t>
            </a:r>
            <a:r>
              <a:rPr sz="1403" spc="-6" dirty="0">
                <a:latin typeface="Arial"/>
                <a:cs typeface="Arial"/>
              </a:rPr>
              <a:t>[A</a:t>
            </a:r>
            <a:r>
              <a:rPr sz="1403" spc="-8" baseline="-31250" dirty="0">
                <a:latin typeface="Arial"/>
                <a:cs typeface="Arial"/>
              </a:rPr>
              <a:t>m</a:t>
            </a:r>
            <a:r>
              <a:rPr sz="1403" spc="-6" dirty="0">
                <a:latin typeface="Arial"/>
                <a:cs typeface="Arial"/>
              </a:rPr>
              <a:t>] </a:t>
            </a:r>
            <a:r>
              <a:rPr sz="1403" dirty="0">
                <a:latin typeface="Arial"/>
                <a:cs typeface="Arial"/>
              </a:rPr>
              <a:t>=</a:t>
            </a:r>
            <a:r>
              <a:rPr sz="1403" spc="-23" dirty="0">
                <a:latin typeface="Arial"/>
                <a:cs typeface="Arial"/>
              </a:rPr>
              <a:t> </a:t>
            </a:r>
            <a:r>
              <a:rPr sz="1403" spc="-6" dirty="0">
                <a:latin typeface="Arial"/>
                <a:cs typeface="Arial"/>
              </a:rPr>
              <a:t>t</a:t>
            </a:r>
            <a:r>
              <a:rPr sz="1403" spc="-8" baseline="-31250" dirty="0">
                <a:latin typeface="Arial"/>
                <a:cs typeface="Arial"/>
              </a:rPr>
              <a:t>j</a:t>
            </a:r>
            <a:r>
              <a:rPr sz="1403" spc="-6" dirty="0">
                <a:latin typeface="Arial"/>
                <a:cs typeface="Arial"/>
              </a:rPr>
              <a:t>[A</a:t>
            </a:r>
            <a:r>
              <a:rPr sz="1403" spc="-8" baseline="-31250" dirty="0">
                <a:latin typeface="Arial"/>
                <a:cs typeface="Arial"/>
              </a:rPr>
              <a:t>m</a:t>
            </a:r>
            <a:r>
              <a:rPr sz="1403" spc="-6" dirty="0">
                <a:latin typeface="Arial"/>
                <a:cs typeface="Arial"/>
              </a:rPr>
              <a:t>]</a:t>
            </a:r>
            <a:endParaRPr sz="1403" dirty="0">
              <a:latin typeface="Arial"/>
              <a:cs typeface="Arial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80830E0E-46B9-923E-6FD5-CA0FD5180702}"/>
              </a:ext>
            </a:extLst>
          </p:cNvPr>
          <p:cNvSpPr/>
          <p:nvPr/>
        </p:nvSpPr>
        <p:spPr>
          <a:xfrm>
            <a:off x="1916322" y="398168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17CB08D9-5D92-8A21-7070-0D499A2FDCA7}"/>
              </a:ext>
            </a:extLst>
          </p:cNvPr>
          <p:cNvSpPr/>
          <p:nvPr/>
        </p:nvSpPr>
        <p:spPr>
          <a:xfrm>
            <a:off x="2344045" y="398168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BCD1A045-B738-F24C-2F21-CE5C4E6B45AE}"/>
              </a:ext>
            </a:extLst>
          </p:cNvPr>
          <p:cNvSpPr/>
          <p:nvPr/>
        </p:nvSpPr>
        <p:spPr>
          <a:xfrm>
            <a:off x="2771770" y="398168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86921D1F-94E2-CA57-9313-67F398EF9BF6}"/>
              </a:ext>
            </a:extLst>
          </p:cNvPr>
          <p:cNvSpPr/>
          <p:nvPr/>
        </p:nvSpPr>
        <p:spPr>
          <a:xfrm>
            <a:off x="3199493" y="398168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CA6D10F6-DB5B-1C9E-8942-FA065C01D259}"/>
              </a:ext>
            </a:extLst>
          </p:cNvPr>
          <p:cNvSpPr/>
          <p:nvPr/>
        </p:nvSpPr>
        <p:spPr>
          <a:xfrm>
            <a:off x="3627216" y="398168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E0C93046-76E8-83A0-9219-B9337BF374FF}"/>
              </a:ext>
            </a:extLst>
          </p:cNvPr>
          <p:cNvSpPr/>
          <p:nvPr/>
        </p:nvSpPr>
        <p:spPr>
          <a:xfrm>
            <a:off x="4054940" y="398168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F6DC1C2B-1297-6EC9-4A79-7584D97E1EA8}"/>
              </a:ext>
            </a:extLst>
          </p:cNvPr>
          <p:cNvSpPr/>
          <p:nvPr/>
        </p:nvSpPr>
        <p:spPr>
          <a:xfrm>
            <a:off x="4482663" y="398168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2AAA6D8-279D-99F9-B527-D853212F3FC9}"/>
              </a:ext>
            </a:extLst>
          </p:cNvPr>
          <p:cNvSpPr/>
          <p:nvPr/>
        </p:nvSpPr>
        <p:spPr>
          <a:xfrm>
            <a:off x="4910387" y="398168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5AAC306D-C3FF-E6BD-7C86-F751D0DA17DF}"/>
              </a:ext>
            </a:extLst>
          </p:cNvPr>
          <p:cNvSpPr/>
          <p:nvPr/>
        </p:nvSpPr>
        <p:spPr>
          <a:xfrm>
            <a:off x="5338110" y="398168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167B2807-9B26-9ED0-8545-2C496103B5ED}"/>
              </a:ext>
            </a:extLst>
          </p:cNvPr>
          <p:cNvSpPr/>
          <p:nvPr/>
        </p:nvSpPr>
        <p:spPr>
          <a:xfrm>
            <a:off x="1916322" y="424188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15199BDB-4DDB-23D4-F85A-8347C2DC910C}"/>
              </a:ext>
            </a:extLst>
          </p:cNvPr>
          <p:cNvSpPr/>
          <p:nvPr/>
        </p:nvSpPr>
        <p:spPr>
          <a:xfrm>
            <a:off x="2344045" y="424188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6FA9A1ED-2E4E-2B07-D54A-05BAF00CAA31}"/>
              </a:ext>
            </a:extLst>
          </p:cNvPr>
          <p:cNvSpPr/>
          <p:nvPr/>
        </p:nvSpPr>
        <p:spPr>
          <a:xfrm>
            <a:off x="2771770" y="424188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9" name="object 16">
            <a:extLst>
              <a:ext uri="{FF2B5EF4-FFF2-40B4-BE49-F238E27FC236}">
                <a16:creationId xmlns:a16="http://schemas.microsoft.com/office/drawing/2014/main" id="{F3B616C0-0555-8DE2-6BAB-CC76C0A30C4E}"/>
              </a:ext>
            </a:extLst>
          </p:cNvPr>
          <p:cNvSpPr/>
          <p:nvPr/>
        </p:nvSpPr>
        <p:spPr>
          <a:xfrm>
            <a:off x="3199493" y="424188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0" name="object 17">
            <a:extLst>
              <a:ext uri="{FF2B5EF4-FFF2-40B4-BE49-F238E27FC236}">
                <a16:creationId xmlns:a16="http://schemas.microsoft.com/office/drawing/2014/main" id="{97A5F120-1583-6BB3-E90D-4EAB2BB2535F}"/>
              </a:ext>
            </a:extLst>
          </p:cNvPr>
          <p:cNvSpPr/>
          <p:nvPr/>
        </p:nvSpPr>
        <p:spPr>
          <a:xfrm>
            <a:off x="3627216" y="424188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1" name="object 18">
            <a:extLst>
              <a:ext uri="{FF2B5EF4-FFF2-40B4-BE49-F238E27FC236}">
                <a16:creationId xmlns:a16="http://schemas.microsoft.com/office/drawing/2014/main" id="{C7E1BC0B-5083-4D1D-805A-D3923475D5C4}"/>
              </a:ext>
            </a:extLst>
          </p:cNvPr>
          <p:cNvSpPr/>
          <p:nvPr/>
        </p:nvSpPr>
        <p:spPr>
          <a:xfrm>
            <a:off x="4054940" y="424188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2" name="object 19">
            <a:extLst>
              <a:ext uri="{FF2B5EF4-FFF2-40B4-BE49-F238E27FC236}">
                <a16:creationId xmlns:a16="http://schemas.microsoft.com/office/drawing/2014/main" id="{A6A739DA-2A1E-8108-A431-DC3B21F333A9}"/>
              </a:ext>
            </a:extLst>
          </p:cNvPr>
          <p:cNvSpPr/>
          <p:nvPr/>
        </p:nvSpPr>
        <p:spPr>
          <a:xfrm>
            <a:off x="4482663" y="424188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3" name="object 20">
            <a:extLst>
              <a:ext uri="{FF2B5EF4-FFF2-40B4-BE49-F238E27FC236}">
                <a16:creationId xmlns:a16="http://schemas.microsoft.com/office/drawing/2014/main" id="{104AA059-69D8-6F09-4C71-A6EFFEB66D0F}"/>
              </a:ext>
            </a:extLst>
          </p:cNvPr>
          <p:cNvSpPr/>
          <p:nvPr/>
        </p:nvSpPr>
        <p:spPr>
          <a:xfrm>
            <a:off x="4910387" y="424188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4" name="object 21">
            <a:extLst>
              <a:ext uri="{FF2B5EF4-FFF2-40B4-BE49-F238E27FC236}">
                <a16:creationId xmlns:a16="http://schemas.microsoft.com/office/drawing/2014/main" id="{0FC73B92-0DDA-1F1E-1727-C4E8F2E5B85D}"/>
              </a:ext>
            </a:extLst>
          </p:cNvPr>
          <p:cNvSpPr/>
          <p:nvPr/>
        </p:nvSpPr>
        <p:spPr>
          <a:xfrm>
            <a:off x="5338110" y="424188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5" name="object 22">
            <a:extLst>
              <a:ext uri="{FF2B5EF4-FFF2-40B4-BE49-F238E27FC236}">
                <a16:creationId xmlns:a16="http://schemas.microsoft.com/office/drawing/2014/main" id="{21DE90B8-A972-0A03-1901-3C8846F9F60F}"/>
              </a:ext>
            </a:extLst>
          </p:cNvPr>
          <p:cNvSpPr/>
          <p:nvPr/>
        </p:nvSpPr>
        <p:spPr>
          <a:xfrm>
            <a:off x="1916322" y="450207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6" name="object 23">
            <a:extLst>
              <a:ext uri="{FF2B5EF4-FFF2-40B4-BE49-F238E27FC236}">
                <a16:creationId xmlns:a16="http://schemas.microsoft.com/office/drawing/2014/main" id="{1D8F830C-D022-9E7D-4F26-A0841230C555}"/>
              </a:ext>
            </a:extLst>
          </p:cNvPr>
          <p:cNvSpPr/>
          <p:nvPr/>
        </p:nvSpPr>
        <p:spPr>
          <a:xfrm>
            <a:off x="2344045" y="450207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7" name="object 24">
            <a:extLst>
              <a:ext uri="{FF2B5EF4-FFF2-40B4-BE49-F238E27FC236}">
                <a16:creationId xmlns:a16="http://schemas.microsoft.com/office/drawing/2014/main" id="{40E50F2A-CF32-AB82-7DAF-52B385DB6D57}"/>
              </a:ext>
            </a:extLst>
          </p:cNvPr>
          <p:cNvSpPr/>
          <p:nvPr/>
        </p:nvSpPr>
        <p:spPr>
          <a:xfrm>
            <a:off x="2771770" y="450207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8" name="object 25">
            <a:extLst>
              <a:ext uri="{FF2B5EF4-FFF2-40B4-BE49-F238E27FC236}">
                <a16:creationId xmlns:a16="http://schemas.microsoft.com/office/drawing/2014/main" id="{B2EB2D85-E236-8BD5-BDB1-8B6430E8D1E2}"/>
              </a:ext>
            </a:extLst>
          </p:cNvPr>
          <p:cNvSpPr/>
          <p:nvPr/>
        </p:nvSpPr>
        <p:spPr>
          <a:xfrm>
            <a:off x="3199493" y="450207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9" name="object 26">
            <a:extLst>
              <a:ext uri="{FF2B5EF4-FFF2-40B4-BE49-F238E27FC236}">
                <a16:creationId xmlns:a16="http://schemas.microsoft.com/office/drawing/2014/main" id="{B9F58E97-9F29-A542-1E23-CFBEAC957147}"/>
              </a:ext>
            </a:extLst>
          </p:cNvPr>
          <p:cNvSpPr/>
          <p:nvPr/>
        </p:nvSpPr>
        <p:spPr>
          <a:xfrm>
            <a:off x="3627216" y="450207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0" name="object 27">
            <a:extLst>
              <a:ext uri="{FF2B5EF4-FFF2-40B4-BE49-F238E27FC236}">
                <a16:creationId xmlns:a16="http://schemas.microsoft.com/office/drawing/2014/main" id="{FF22336F-EF77-33D4-A98F-35367B24C9CE}"/>
              </a:ext>
            </a:extLst>
          </p:cNvPr>
          <p:cNvSpPr/>
          <p:nvPr/>
        </p:nvSpPr>
        <p:spPr>
          <a:xfrm>
            <a:off x="4054940" y="450207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1" name="object 28">
            <a:extLst>
              <a:ext uri="{FF2B5EF4-FFF2-40B4-BE49-F238E27FC236}">
                <a16:creationId xmlns:a16="http://schemas.microsoft.com/office/drawing/2014/main" id="{221DB3F9-D97A-2725-1C49-E3513397036D}"/>
              </a:ext>
            </a:extLst>
          </p:cNvPr>
          <p:cNvSpPr/>
          <p:nvPr/>
        </p:nvSpPr>
        <p:spPr>
          <a:xfrm>
            <a:off x="4482663" y="450207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2" name="object 29">
            <a:extLst>
              <a:ext uri="{FF2B5EF4-FFF2-40B4-BE49-F238E27FC236}">
                <a16:creationId xmlns:a16="http://schemas.microsoft.com/office/drawing/2014/main" id="{3CCA2372-49B9-D5D0-8B0C-97C29B25BBC4}"/>
              </a:ext>
            </a:extLst>
          </p:cNvPr>
          <p:cNvSpPr/>
          <p:nvPr/>
        </p:nvSpPr>
        <p:spPr>
          <a:xfrm>
            <a:off x="4910387" y="450207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3" name="object 30">
            <a:extLst>
              <a:ext uri="{FF2B5EF4-FFF2-40B4-BE49-F238E27FC236}">
                <a16:creationId xmlns:a16="http://schemas.microsoft.com/office/drawing/2014/main" id="{4751634F-CF73-4607-0E58-1D368DAED0C0}"/>
              </a:ext>
            </a:extLst>
          </p:cNvPr>
          <p:cNvSpPr/>
          <p:nvPr/>
        </p:nvSpPr>
        <p:spPr>
          <a:xfrm>
            <a:off x="5338110" y="450207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4" name="object 31">
            <a:extLst>
              <a:ext uri="{FF2B5EF4-FFF2-40B4-BE49-F238E27FC236}">
                <a16:creationId xmlns:a16="http://schemas.microsoft.com/office/drawing/2014/main" id="{A91DFD31-A977-6A5A-7A92-4D055D1569A0}"/>
              </a:ext>
            </a:extLst>
          </p:cNvPr>
          <p:cNvSpPr/>
          <p:nvPr/>
        </p:nvSpPr>
        <p:spPr>
          <a:xfrm>
            <a:off x="1916322" y="476227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5" name="object 32">
            <a:extLst>
              <a:ext uri="{FF2B5EF4-FFF2-40B4-BE49-F238E27FC236}">
                <a16:creationId xmlns:a16="http://schemas.microsoft.com/office/drawing/2014/main" id="{7CBCF032-D047-1A4A-185B-F7FAC0A7D6BF}"/>
              </a:ext>
            </a:extLst>
          </p:cNvPr>
          <p:cNvSpPr/>
          <p:nvPr/>
        </p:nvSpPr>
        <p:spPr>
          <a:xfrm>
            <a:off x="2344045" y="476227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6" name="object 33">
            <a:extLst>
              <a:ext uri="{FF2B5EF4-FFF2-40B4-BE49-F238E27FC236}">
                <a16:creationId xmlns:a16="http://schemas.microsoft.com/office/drawing/2014/main" id="{60C005E4-75EF-F75B-27CA-087D9D72AD99}"/>
              </a:ext>
            </a:extLst>
          </p:cNvPr>
          <p:cNvSpPr/>
          <p:nvPr/>
        </p:nvSpPr>
        <p:spPr>
          <a:xfrm>
            <a:off x="2771770" y="476227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7" name="object 34">
            <a:extLst>
              <a:ext uri="{FF2B5EF4-FFF2-40B4-BE49-F238E27FC236}">
                <a16:creationId xmlns:a16="http://schemas.microsoft.com/office/drawing/2014/main" id="{DDCACC6B-088C-BCA5-153D-53B1E8A1528C}"/>
              </a:ext>
            </a:extLst>
          </p:cNvPr>
          <p:cNvSpPr/>
          <p:nvPr/>
        </p:nvSpPr>
        <p:spPr>
          <a:xfrm>
            <a:off x="3199493" y="476227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8" name="object 35">
            <a:extLst>
              <a:ext uri="{FF2B5EF4-FFF2-40B4-BE49-F238E27FC236}">
                <a16:creationId xmlns:a16="http://schemas.microsoft.com/office/drawing/2014/main" id="{75F68527-4786-1D10-3AE2-DA57703A50E7}"/>
              </a:ext>
            </a:extLst>
          </p:cNvPr>
          <p:cNvSpPr/>
          <p:nvPr/>
        </p:nvSpPr>
        <p:spPr>
          <a:xfrm>
            <a:off x="3627216" y="476227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9" name="object 36">
            <a:extLst>
              <a:ext uri="{FF2B5EF4-FFF2-40B4-BE49-F238E27FC236}">
                <a16:creationId xmlns:a16="http://schemas.microsoft.com/office/drawing/2014/main" id="{325EC32F-E287-993F-AE62-930456F86E17}"/>
              </a:ext>
            </a:extLst>
          </p:cNvPr>
          <p:cNvSpPr/>
          <p:nvPr/>
        </p:nvSpPr>
        <p:spPr>
          <a:xfrm>
            <a:off x="4054940" y="476227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0" name="object 37">
            <a:extLst>
              <a:ext uri="{FF2B5EF4-FFF2-40B4-BE49-F238E27FC236}">
                <a16:creationId xmlns:a16="http://schemas.microsoft.com/office/drawing/2014/main" id="{01C21237-44D3-6532-345E-2E0A73692FFA}"/>
              </a:ext>
            </a:extLst>
          </p:cNvPr>
          <p:cNvSpPr/>
          <p:nvPr/>
        </p:nvSpPr>
        <p:spPr>
          <a:xfrm>
            <a:off x="4482663" y="476227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1" name="object 38">
            <a:extLst>
              <a:ext uri="{FF2B5EF4-FFF2-40B4-BE49-F238E27FC236}">
                <a16:creationId xmlns:a16="http://schemas.microsoft.com/office/drawing/2014/main" id="{BE22C8BF-410C-D8A9-A179-437E09DC18DC}"/>
              </a:ext>
            </a:extLst>
          </p:cNvPr>
          <p:cNvSpPr/>
          <p:nvPr/>
        </p:nvSpPr>
        <p:spPr>
          <a:xfrm>
            <a:off x="4910387" y="476227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2" name="object 39">
            <a:extLst>
              <a:ext uri="{FF2B5EF4-FFF2-40B4-BE49-F238E27FC236}">
                <a16:creationId xmlns:a16="http://schemas.microsoft.com/office/drawing/2014/main" id="{B02A7FCE-A8A6-75B7-27F9-08CB494C6EDE}"/>
              </a:ext>
            </a:extLst>
          </p:cNvPr>
          <p:cNvSpPr/>
          <p:nvPr/>
        </p:nvSpPr>
        <p:spPr>
          <a:xfrm>
            <a:off x="5338110" y="4762274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3" name="object 40">
            <a:extLst>
              <a:ext uri="{FF2B5EF4-FFF2-40B4-BE49-F238E27FC236}">
                <a16:creationId xmlns:a16="http://schemas.microsoft.com/office/drawing/2014/main" id="{4130426A-D213-9DC2-24B7-8417C7E6E11D}"/>
              </a:ext>
            </a:extLst>
          </p:cNvPr>
          <p:cNvSpPr/>
          <p:nvPr/>
        </p:nvSpPr>
        <p:spPr>
          <a:xfrm>
            <a:off x="1916322" y="502247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4" name="object 41">
            <a:extLst>
              <a:ext uri="{FF2B5EF4-FFF2-40B4-BE49-F238E27FC236}">
                <a16:creationId xmlns:a16="http://schemas.microsoft.com/office/drawing/2014/main" id="{50218BA5-D2D4-EB82-1F4C-320598D35DDA}"/>
              </a:ext>
            </a:extLst>
          </p:cNvPr>
          <p:cNvSpPr/>
          <p:nvPr/>
        </p:nvSpPr>
        <p:spPr>
          <a:xfrm>
            <a:off x="2344045" y="502247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5" name="object 42">
            <a:extLst>
              <a:ext uri="{FF2B5EF4-FFF2-40B4-BE49-F238E27FC236}">
                <a16:creationId xmlns:a16="http://schemas.microsoft.com/office/drawing/2014/main" id="{BF9263C4-F510-721B-7D13-48DE249596C6}"/>
              </a:ext>
            </a:extLst>
          </p:cNvPr>
          <p:cNvSpPr/>
          <p:nvPr/>
        </p:nvSpPr>
        <p:spPr>
          <a:xfrm>
            <a:off x="2771770" y="502247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6" name="object 43">
            <a:extLst>
              <a:ext uri="{FF2B5EF4-FFF2-40B4-BE49-F238E27FC236}">
                <a16:creationId xmlns:a16="http://schemas.microsoft.com/office/drawing/2014/main" id="{61D0BE63-6652-08A2-B174-D1A5BD59D98C}"/>
              </a:ext>
            </a:extLst>
          </p:cNvPr>
          <p:cNvSpPr/>
          <p:nvPr/>
        </p:nvSpPr>
        <p:spPr>
          <a:xfrm>
            <a:off x="3199493" y="502247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7" name="object 44">
            <a:extLst>
              <a:ext uri="{FF2B5EF4-FFF2-40B4-BE49-F238E27FC236}">
                <a16:creationId xmlns:a16="http://schemas.microsoft.com/office/drawing/2014/main" id="{D14F92A9-DB78-662C-DD7E-837FB708CF51}"/>
              </a:ext>
            </a:extLst>
          </p:cNvPr>
          <p:cNvSpPr/>
          <p:nvPr/>
        </p:nvSpPr>
        <p:spPr>
          <a:xfrm>
            <a:off x="3627216" y="502247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8" name="object 45">
            <a:extLst>
              <a:ext uri="{FF2B5EF4-FFF2-40B4-BE49-F238E27FC236}">
                <a16:creationId xmlns:a16="http://schemas.microsoft.com/office/drawing/2014/main" id="{464BFED7-3D4B-6A5C-17BD-DADEBFD035B8}"/>
              </a:ext>
            </a:extLst>
          </p:cNvPr>
          <p:cNvSpPr/>
          <p:nvPr/>
        </p:nvSpPr>
        <p:spPr>
          <a:xfrm>
            <a:off x="4054940" y="502247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9" name="object 46">
            <a:extLst>
              <a:ext uri="{FF2B5EF4-FFF2-40B4-BE49-F238E27FC236}">
                <a16:creationId xmlns:a16="http://schemas.microsoft.com/office/drawing/2014/main" id="{FEAE240E-7939-F89D-49BE-8CB75318D75D}"/>
              </a:ext>
            </a:extLst>
          </p:cNvPr>
          <p:cNvSpPr/>
          <p:nvPr/>
        </p:nvSpPr>
        <p:spPr>
          <a:xfrm>
            <a:off x="4482663" y="502247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0" name="object 47">
            <a:extLst>
              <a:ext uri="{FF2B5EF4-FFF2-40B4-BE49-F238E27FC236}">
                <a16:creationId xmlns:a16="http://schemas.microsoft.com/office/drawing/2014/main" id="{7EB3AAB4-9C16-5FA2-6272-AE07DABC300E}"/>
              </a:ext>
            </a:extLst>
          </p:cNvPr>
          <p:cNvSpPr/>
          <p:nvPr/>
        </p:nvSpPr>
        <p:spPr>
          <a:xfrm>
            <a:off x="4910387" y="502247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1" name="object 48">
            <a:extLst>
              <a:ext uri="{FF2B5EF4-FFF2-40B4-BE49-F238E27FC236}">
                <a16:creationId xmlns:a16="http://schemas.microsoft.com/office/drawing/2014/main" id="{B8AF58B8-54EB-65AD-63C5-D9A27AE5ED05}"/>
              </a:ext>
            </a:extLst>
          </p:cNvPr>
          <p:cNvSpPr/>
          <p:nvPr/>
        </p:nvSpPr>
        <p:spPr>
          <a:xfrm>
            <a:off x="5338110" y="5022475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2" name="object 49">
            <a:extLst>
              <a:ext uri="{FF2B5EF4-FFF2-40B4-BE49-F238E27FC236}">
                <a16:creationId xmlns:a16="http://schemas.microsoft.com/office/drawing/2014/main" id="{4B547938-9E30-5AF0-8222-2443620FC971}"/>
              </a:ext>
            </a:extLst>
          </p:cNvPr>
          <p:cNvSpPr/>
          <p:nvPr/>
        </p:nvSpPr>
        <p:spPr>
          <a:xfrm>
            <a:off x="1916322" y="371405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3" name="object 50">
            <a:extLst>
              <a:ext uri="{FF2B5EF4-FFF2-40B4-BE49-F238E27FC236}">
                <a16:creationId xmlns:a16="http://schemas.microsoft.com/office/drawing/2014/main" id="{82F0481B-32F7-1D51-A174-B8FDF8869F6F}"/>
              </a:ext>
            </a:extLst>
          </p:cNvPr>
          <p:cNvSpPr/>
          <p:nvPr/>
        </p:nvSpPr>
        <p:spPr>
          <a:xfrm>
            <a:off x="2344045" y="371405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4" name="object 51">
            <a:extLst>
              <a:ext uri="{FF2B5EF4-FFF2-40B4-BE49-F238E27FC236}">
                <a16:creationId xmlns:a16="http://schemas.microsoft.com/office/drawing/2014/main" id="{AF567FD0-E0E4-9F90-87C6-AAA01A0A8D16}"/>
              </a:ext>
            </a:extLst>
          </p:cNvPr>
          <p:cNvSpPr/>
          <p:nvPr/>
        </p:nvSpPr>
        <p:spPr>
          <a:xfrm>
            <a:off x="2771768" y="371405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5" name="object 52">
            <a:extLst>
              <a:ext uri="{FF2B5EF4-FFF2-40B4-BE49-F238E27FC236}">
                <a16:creationId xmlns:a16="http://schemas.microsoft.com/office/drawing/2014/main" id="{D543BACA-8DF2-B769-60CC-9527E093246D}"/>
              </a:ext>
            </a:extLst>
          </p:cNvPr>
          <p:cNvSpPr/>
          <p:nvPr/>
        </p:nvSpPr>
        <p:spPr>
          <a:xfrm>
            <a:off x="3199493" y="371405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6" name="object 53">
            <a:extLst>
              <a:ext uri="{FF2B5EF4-FFF2-40B4-BE49-F238E27FC236}">
                <a16:creationId xmlns:a16="http://schemas.microsoft.com/office/drawing/2014/main" id="{85AA2CCA-9155-1E3F-6DD0-4447458CFDCA}"/>
              </a:ext>
            </a:extLst>
          </p:cNvPr>
          <p:cNvSpPr/>
          <p:nvPr/>
        </p:nvSpPr>
        <p:spPr>
          <a:xfrm>
            <a:off x="3627216" y="371405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7" name="object 54">
            <a:extLst>
              <a:ext uri="{FF2B5EF4-FFF2-40B4-BE49-F238E27FC236}">
                <a16:creationId xmlns:a16="http://schemas.microsoft.com/office/drawing/2014/main" id="{4DA367B1-BDB4-6CE4-E407-3D8A7E8F3F62}"/>
              </a:ext>
            </a:extLst>
          </p:cNvPr>
          <p:cNvSpPr/>
          <p:nvPr/>
        </p:nvSpPr>
        <p:spPr>
          <a:xfrm>
            <a:off x="4054939" y="371405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8" name="object 55">
            <a:extLst>
              <a:ext uri="{FF2B5EF4-FFF2-40B4-BE49-F238E27FC236}">
                <a16:creationId xmlns:a16="http://schemas.microsoft.com/office/drawing/2014/main" id="{B1A6E1C0-EE4E-A3C9-7FC4-6F5BC53F75FC}"/>
              </a:ext>
            </a:extLst>
          </p:cNvPr>
          <p:cNvSpPr/>
          <p:nvPr/>
        </p:nvSpPr>
        <p:spPr>
          <a:xfrm>
            <a:off x="4482663" y="371405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9" name="object 56">
            <a:extLst>
              <a:ext uri="{FF2B5EF4-FFF2-40B4-BE49-F238E27FC236}">
                <a16:creationId xmlns:a16="http://schemas.microsoft.com/office/drawing/2014/main" id="{7EFBC77E-BD34-BB83-1F78-C6DF6702B228}"/>
              </a:ext>
            </a:extLst>
          </p:cNvPr>
          <p:cNvSpPr/>
          <p:nvPr/>
        </p:nvSpPr>
        <p:spPr>
          <a:xfrm>
            <a:off x="4910387" y="371405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0" name="object 57">
            <a:extLst>
              <a:ext uri="{FF2B5EF4-FFF2-40B4-BE49-F238E27FC236}">
                <a16:creationId xmlns:a16="http://schemas.microsoft.com/office/drawing/2014/main" id="{B10EC1EA-9D64-7BFB-C1E9-F0DCFBDA71D8}"/>
              </a:ext>
            </a:extLst>
          </p:cNvPr>
          <p:cNvSpPr/>
          <p:nvPr/>
        </p:nvSpPr>
        <p:spPr>
          <a:xfrm>
            <a:off x="5338110" y="371405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1" name="object 58">
            <a:extLst>
              <a:ext uri="{FF2B5EF4-FFF2-40B4-BE49-F238E27FC236}">
                <a16:creationId xmlns:a16="http://schemas.microsoft.com/office/drawing/2014/main" id="{695AF27E-144F-20CF-3645-55F473635BB1}"/>
              </a:ext>
            </a:extLst>
          </p:cNvPr>
          <p:cNvSpPr/>
          <p:nvPr/>
        </p:nvSpPr>
        <p:spPr>
          <a:xfrm>
            <a:off x="5765833" y="3714056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2" name="object 59">
            <a:extLst>
              <a:ext uri="{FF2B5EF4-FFF2-40B4-BE49-F238E27FC236}">
                <a16:creationId xmlns:a16="http://schemas.microsoft.com/office/drawing/2014/main" id="{2DE848EB-AC9F-74B5-7D69-F268249B6383}"/>
              </a:ext>
            </a:extLst>
          </p:cNvPr>
          <p:cNvSpPr/>
          <p:nvPr/>
        </p:nvSpPr>
        <p:spPr>
          <a:xfrm>
            <a:off x="1908896" y="3721482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3" name="object 60">
            <a:extLst>
              <a:ext uri="{FF2B5EF4-FFF2-40B4-BE49-F238E27FC236}">
                <a16:creationId xmlns:a16="http://schemas.microsoft.com/office/drawing/2014/main" id="{215C96F0-7B30-29B6-662B-EE0B2AB9E614}"/>
              </a:ext>
            </a:extLst>
          </p:cNvPr>
          <p:cNvSpPr/>
          <p:nvPr/>
        </p:nvSpPr>
        <p:spPr>
          <a:xfrm>
            <a:off x="1908896" y="3981682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4" name="object 61">
            <a:extLst>
              <a:ext uri="{FF2B5EF4-FFF2-40B4-BE49-F238E27FC236}">
                <a16:creationId xmlns:a16="http://schemas.microsoft.com/office/drawing/2014/main" id="{9927FDE5-B73B-7A17-0E6E-5CBBE78F62ED}"/>
              </a:ext>
            </a:extLst>
          </p:cNvPr>
          <p:cNvSpPr/>
          <p:nvPr/>
        </p:nvSpPr>
        <p:spPr>
          <a:xfrm>
            <a:off x="1908896" y="4241883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5" name="object 62">
            <a:extLst>
              <a:ext uri="{FF2B5EF4-FFF2-40B4-BE49-F238E27FC236}">
                <a16:creationId xmlns:a16="http://schemas.microsoft.com/office/drawing/2014/main" id="{61A72ED5-AEF8-7D26-ADD8-D27064CD9268}"/>
              </a:ext>
            </a:extLst>
          </p:cNvPr>
          <p:cNvSpPr/>
          <p:nvPr/>
        </p:nvSpPr>
        <p:spPr>
          <a:xfrm>
            <a:off x="1908896" y="4502072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6" name="object 63">
            <a:extLst>
              <a:ext uri="{FF2B5EF4-FFF2-40B4-BE49-F238E27FC236}">
                <a16:creationId xmlns:a16="http://schemas.microsoft.com/office/drawing/2014/main" id="{421C6B76-8671-972B-FD8D-4C41BE369DEC}"/>
              </a:ext>
            </a:extLst>
          </p:cNvPr>
          <p:cNvSpPr/>
          <p:nvPr/>
        </p:nvSpPr>
        <p:spPr>
          <a:xfrm>
            <a:off x="1908896" y="4762273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7" name="object 64">
            <a:extLst>
              <a:ext uri="{FF2B5EF4-FFF2-40B4-BE49-F238E27FC236}">
                <a16:creationId xmlns:a16="http://schemas.microsoft.com/office/drawing/2014/main" id="{6959B4A2-0AB4-D238-A40E-581B59A565B8}"/>
              </a:ext>
            </a:extLst>
          </p:cNvPr>
          <p:cNvSpPr/>
          <p:nvPr/>
        </p:nvSpPr>
        <p:spPr>
          <a:xfrm>
            <a:off x="1908896" y="5022475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8" name="object 65">
            <a:extLst>
              <a:ext uri="{FF2B5EF4-FFF2-40B4-BE49-F238E27FC236}">
                <a16:creationId xmlns:a16="http://schemas.microsoft.com/office/drawing/2014/main" id="{4350D995-0261-3902-7926-079D09AD46FB}"/>
              </a:ext>
            </a:extLst>
          </p:cNvPr>
          <p:cNvSpPr/>
          <p:nvPr/>
        </p:nvSpPr>
        <p:spPr>
          <a:xfrm>
            <a:off x="1908896" y="5282675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9" name="object 66">
            <a:extLst>
              <a:ext uri="{FF2B5EF4-FFF2-40B4-BE49-F238E27FC236}">
                <a16:creationId xmlns:a16="http://schemas.microsoft.com/office/drawing/2014/main" id="{ECB0324C-DCB4-0C9E-F818-1A6BD4480121}"/>
              </a:ext>
            </a:extLst>
          </p:cNvPr>
          <p:cNvSpPr txBox="1"/>
          <p:nvPr/>
        </p:nvSpPr>
        <p:spPr>
          <a:xfrm>
            <a:off x="2344045" y="3721482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2177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A</a:t>
            </a:r>
            <a:r>
              <a:rPr sz="1140" b="1" baseline="-29914" dirty="0">
                <a:latin typeface="Arial"/>
                <a:cs typeface="Arial"/>
              </a:rPr>
              <a:t>1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70" name="object 67">
            <a:extLst>
              <a:ext uri="{FF2B5EF4-FFF2-40B4-BE49-F238E27FC236}">
                <a16:creationId xmlns:a16="http://schemas.microsoft.com/office/drawing/2014/main" id="{750DBE3A-57BC-19BD-04F6-5184E7B7C02A}"/>
              </a:ext>
            </a:extLst>
          </p:cNvPr>
          <p:cNvSpPr txBox="1"/>
          <p:nvPr/>
        </p:nvSpPr>
        <p:spPr>
          <a:xfrm>
            <a:off x="2771768" y="3721482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9603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…</a:t>
            </a:r>
            <a:endParaRPr sz="1169">
              <a:latin typeface="Arial"/>
              <a:cs typeface="Arial"/>
            </a:endParaRPr>
          </a:p>
        </p:txBody>
      </p:sp>
      <p:sp>
        <p:nvSpPr>
          <p:cNvPr id="71" name="object 68">
            <a:extLst>
              <a:ext uri="{FF2B5EF4-FFF2-40B4-BE49-F238E27FC236}">
                <a16:creationId xmlns:a16="http://schemas.microsoft.com/office/drawing/2014/main" id="{FF414E1E-6A53-3CA0-CB33-66C264E39051}"/>
              </a:ext>
            </a:extLst>
          </p:cNvPr>
          <p:cNvSpPr txBox="1"/>
          <p:nvPr/>
        </p:nvSpPr>
        <p:spPr>
          <a:xfrm>
            <a:off x="3199493" y="3721482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15841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A</a:t>
            </a:r>
            <a:r>
              <a:rPr sz="1140" b="1" baseline="-29914" dirty="0">
                <a:latin typeface="Arial"/>
                <a:cs typeface="Arial"/>
              </a:rPr>
              <a:t>m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72" name="object 69">
            <a:extLst>
              <a:ext uri="{FF2B5EF4-FFF2-40B4-BE49-F238E27FC236}">
                <a16:creationId xmlns:a16="http://schemas.microsoft.com/office/drawing/2014/main" id="{0387CB86-2825-36F8-4C0D-87E814D3F1C6}"/>
              </a:ext>
            </a:extLst>
          </p:cNvPr>
          <p:cNvSpPr txBox="1"/>
          <p:nvPr/>
        </p:nvSpPr>
        <p:spPr>
          <a:xfrm>
            <a:off x="4054939" y="3721482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2177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B</a:t>
            </a:r>
            <a:r>
              <a:rPr sz="1140" b="1" baseline="-29914" dirty="0">
                <a:latin typeface="Arial"/>
                <a:cs typeface="Arial"/>
              </a:rPr>
              <a:t>1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73" name="object 70">
            <a:extLst>
              <a:ext uri="{FF2B5EF4-FFF2-40B4-BE49-F238E27FC236}">
                <a16:creationId xmlns:a16="http://schemas.microsoft.com/office/drawing/2014/main" id="{F62F38ED-55C0-5AB2-186E-887C1550AF3E}"/>
              </a:ext>
            </a:extLst>
          </p:cNvPr>
          <p:cNvSpPr txBox="1"/>
          <p:nvPr/>
        </p:nvSpPr>
        <p:spPr>
          <a:xfrm>
            <a:off x="4482663" y="3721482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9603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…</a:t>
            </a:r>
            <a:endParaRPr sz="1169">
              <a:latin typeface="Arial"/>
              <a:cs typeface="Arial"/>
            </a:endParaRPr>
          </a:p>
        </p:txBody>
      </p:sp>
      <p:sp>
        <p:nvSpPr>
          <p:cNvPr id="74" name="object 71">
            <a:extLst>
              <a:ext uri="{FF2B5EF4-FFF2-40B4-BE49-F238E27FC236}">
                <a16:creationId xmlns:a16="http://schemas.microsoft.com/office/drawing/2014/main" id="{9D1EA006-B305-E69D-8A2A-3126E2C9694A}"/>
              </a:ext>
            </a:extLst>
          </p:cNvPr>
          <p:cNvSpPr txBox="1"/>
          <p:nvPr/>
        </p:nvSpPr>
        <p:spPr>
          <a:xfrm>
            <a:off x="4910387" y="3721482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29950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B</a:t>
            </a:r>
            <a:r>
              <a:rPr sz="1140" b="1" baseline="-29914" dirty="0">
                <a:latin typeface="Arial"/>
                <a:cs typeface="Arial"/>
              </a:rPr>
              <a:t>n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75" name="object 72">
            <a:extLst>
              <a:ext uri="{FF2B5EF4-FFF2-40B4-BE49-F238E27FC236}">
                <a16:creationId xmlns:a16="http://schemas.microsoft.com/office/drawing/2014/main" id="{AF8911F1-E405-BAA7-11FA-E8D43A8A04D8}"/>
              </a:ext>
            </a:extLst>
          </p:cNvPr>
          <p:cNvSpPr txBox="1"/>
          <p:nvPr/>
        </p:nvSpPr>
        <p:spPr>
          <a:xfrm>
            <a:off x="1659659" y="4254990"/>
            <a:ext cx="93567" cy="194918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4851">
              <a:spcBef>
                <a:spcPts val="117"/>
              </a:spcBef>
            </a:pPr>
            <a:r>
              <a:rPr sz="1169" spc="-6" dirty="0">
                <a:latin typeface="Arial"/>
                <a:cs typeface="Arial"/>
              </a:rPr>
              <a:t>t</a:t>
            </a:r>
            <a:r>
              <a:rPr sz="1140" baseline="-29914" dirty="0">
                <a:latin typeface="Arial"/>
                <a:cs typeface="Arial"/>
              </a:rPr>
              <a:t>i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76" name="object 73">
            <a:extLst>
              <a:ext uri="{FF2B5EF4-FFF2-40B4-BE49-F238E27FC236}">
                <a16:creationId xmlns:a16="http://schemas.microsoft.com/office/drawing/2014/main" id="{D04A2A77-46E3-FC56-F87B-030138149061}"/>
              </a:ext>
            </a:extLst>
          </p:cNvPr>
          <p:cNvSpPr txBox="1"/>
          <p:nvPr/>
        </p:nvSpPr>
        <p:spPr>
          <a:xfrm>
            <a:off x="1659659" y="4791485"/>
            <a:ext cx="93567" cy="194918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4851">
              <a:spcBef>
                <a:spcPts val="117"/>
              </a:spcBef>
            </a:pPr>
            <a:r>
              <a:rPr sz="1169" spc="-6" dirty="0">
                <a:latin typeface="Arial"/>
                <a:cs typeface="Arial"/>
              </a:rPr>
              <a:t>t</a:t>
            </a:r>
            <a:r>
              <a:rPr sz="1140" baseline="-29914" dirty="0">
                <a:latin typeface="Arial"/>
                <a:cs typeface="Arial"/>
              </a:rPr>
              <a:t>j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77" name="object 74">
            <a:extLst>
              <a:ext uri="{FF2B5EF4-FFF2-40B4-BE49-F238E27FC236}">
                <a16:creationId xmlns:a16="http://schemas.microsoft.com/office/drawing/2014/main" id="{8E578639-80A3-D5A4-7059-799CEEDD59A9}"/>
              </a:ext>
            </a:extLst>
          </p:cNvPr>
          <p:cNvSpPr/>
          <p:nvPr/>
        </p:nvSpPr>
        <p:spPr>
          <a:xfrm>
            <a:off x="2366908" y="5321647"/>
            <a:ext cx="1234197" cy="274761"/>
          </a:xfrm>
          <a:custGeom>
            <a:avLst/>
            <a:gdLst/>
            <a:ahLst/>
            <a:cxnLst/>
            <a:rect l="l" t="t" r="r" b="b"/>
            <a:pathLst>
              <a:path w="1055370" h="234950">
                <a:moveTo>
                  <a:pt x="1055072" y="0"/>
                </a:moveTo>
                <a:lnTo>
                  <a:pt x="1054076" y="74101"/>
                </a:lnTo>
                <a:lnTo>
                  <a:pt x="1051301" y="138459"/>
                </a:lnTo>
                <a:lnTo>
                  <a:pt x="1047070" y="189212"/>
                </a:lnTo>
                <a:lnTo>
                  <a:pt x="1041703" y="222496"/>
                </a:lnTo>
                <a:lnTo>
                  <a:pt x="1035522" y="234449"/>
                </a:lnTo>
                <a:lnTo>
                  <a:pt x="19524" y="234449"/>
                </a:lnTo>
                <a:lnTo>
                  <a:pt x="8693" y="195057"/>
                </a:lnTo>
                <a:lnTo>
                  <a:pt x="3280" y="130063"/>
                </a:lnTo>
                <a:lnTo>
                  <a:pt x="1484" y="89712"/>
                </a:lnTo>
                <a:lnTo>
                  <a:pt x="377" y="45948"/>
                </a:lnTo>
                <a:lnTo>
                  <a:pt x="0" y="0"/>
                </a:lnTo>
              </a:path>
            </a:pathLst>
          </a:custGeom>
          <a:ln w="25399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8" name="object 75">
            <a:extLst>
              <a:ext uri="{FF2B5EF4-FFF2-40B4-BE49-F238E27FC236}">
                <a16:creationId xmlns:a16="http://schemas.microsoft.com/office/drawing/2014/main" id="{79717A98-6EC4-C0A8-0CAA-C36E6768947C}"/>
              </a:ext>
            </a:extLst>
          </p:cNvPr>
          <p:cNvSpPr txBox="1"/>
          <p:nvPr/>
        </p:nvSpPr>
        <p:spPr>
          <a:xfrm>
            <a:off x="2517910" y="5724694"/>
            <a:ext cx="1304788" cy="374839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241335" marR="5941" indent="-227226">
              <a:spcBef>
                <a:spcPts val="117"/>
              </a:spcBef>
            </a:pPr>
            <a:r>
              <a:rPr sz="1169" spc="-6" dirty="0">
                <a:latin typeface="Arial"/>
                <a:cs typeface="Arial"/>
              </a:rPr>
              <a:t>t1,t2</a:t>
            </a:r>
            <a:r>
              <a:rPr sz="1169" spc="-105" dirty="0">
                <a:latin typeface="Arial"/>
                <a:cs typeface="Arial"/>
              </a:rPr>
              <a:t> </a:t>
            </a:r>
            <a:r>
              <a:rPr lang="de-DE" sz="1169" spc="-6" dirty="0">
                <a:latin typeface="Arial"/>
                <a:cs typeface="Arial"/>
              </a:rPr>
              <a:t>stimmen hier</a:t>
            </a:r>
            <a:r>
              <a:rPr sz="1169" spc="-6" dirty="0">
                <a:latin typeface="Arial"/>
                <a:cs typeface="Arial"/>
              </a:rPr>
              <a:t>  </a:t>
            </a:r>
            <a:r>
              <a:rPr lang="de-DE" sz="1169" spc="-6" dirty="0">
                <a:latin typeface="Arial"/>
                <a:cs typeface="Arial"/>
              </a:rPr>
              <a:t>überein</a:t>
            </a:r>
            <a:r>
              <a:rPr sz="1169" spc="-6" dirty="0">
                <a:latin typeface="Arial"/>
                <a:cs typeface="Arial"/>
              </a:rPr>
              <a:t>..</a:t>
            </a:r>
            <a:endParaRPr sz="1169" dirty="0">
              <a:latin typeface="Arial"/>
              <a:cs typeface="Arial"/>
            </a:endParaRPr>
          </a:p>
        </p:txBody>
      </p:sp>
      <p:sp>
        <p:nvSpPr>
          <p:cNvPr id="79" name="object 76">
            <a:extLst>
              <a:ext uri="{FF2B5EF4-FFF2-40B4-BE49-F238E27FC236}">
                <a16:creationId xmlns:a16="http://schemas.microsoft.com/office/drawing/2014/main" id="{0C6DDEDA-4340-2A51-9BF2-947327DE7365}"/>
              </a:ext>
            </a:extLst>
          </p:cNvPr>
          <p:cNvSpPr/>
          <p:nvPr/>
        </p:nvSpPr>
        <p:spPr>
          <a:xfrm>
            <a:off x="2303437" y="4176681"/>
            <a:ext cx="1361923" cy="895572"/>
          </a:xfrm>
          <a:custGeom>
            <a:avLst/>
            <a:gdLst/>
            <a:ahLst/>
            <a:cxnLst/>
            <a:rect l="l" t="t" r="r" b="b"/>
            <a:pathLst>
              <a:path w="1164589" h="765810">
                <a:moveTo>
                  <a:pt x="1036472" y="765418"/>
                </a:moveTo>
                <a:lnTo>
                  <a:pt x="127574" y="765418"/>
                </a:lnTo>
                <a:lnTo>
                  <a:pt x="77909" y="755391"/>
                </a:lnTo>
                <a:lnTo>
                  <a:pt x="37359" y="728049"/>
                </a:lnTo>
                <a:lnTo>
                  <a:pt x="10023" y="687498"/>
                </a:lnTo>
                <a:lnTo>
                  <a:pt x="0" y="637843"/>
                </a:lnTo>
                <a:lnTo>
                  <a:pt x="0" y="127569"/>
                </a:lnTo>
                <a:lnTo>
                  <a:pt x="10023" y="77913"/>
                </a:lnTo>
                <a:lnTo>
                  <a:pt x="37362" y="37362"/>
                </a:lnTo>
                <a:lnTo>
                  <a:pt x="77909" y="10025"/>
                </a:lnTo>
                <a:lnTo>
                  <a:pt x="127574" y="0"/>
                </a:lnTo>
                <a:lnTo>
                  <a:pt x="1036472" y="0"/>
                </a:lnTo>
                <a:lnTo>
                  <a:pt x="1085307" y="9710"/>
                </a:lnTo>
                <a:lnTo>
                  <a:pt x="1126699" y="37364"/>
                </a:lnTo>
                <a:lnTo>
                  <a:pt x="1154344" y="78749"/>
                </a:lnTo>
                <a:lnTo>
                  <a:pt x="1164047" y="127569"/>
                </a:lnTo>
                <a:lnTo>
                  <a:pt x="1164047" y="637843"/>
                </a:lnTo>
                <a:lnTo>
                  <a:pt x="1154024" y="687498"/>
                </a:lnTo>
                <a:lnTo>
                  <a:pt x="1126688" y="728049"/>
                </a:lnTo>
                <a:lnTo>
                  <a:pt x="1086138" y="755391"/>
                </a:lnTo>
                <a:lnTo>
                  <a:pt x="1036472" y="765418"/>
                </a:lnTo>
                <a:close/>
              </a:path>
            </a:pathLst>
          </a:custGeom>
          <a:solidFill>
            <a:srgbClr val="F6CAAC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0" name="object 77">
            <a:extLst>
              <a:ext uri="{FF2B5EF4-FFF2-40B4-BE49-F238E27FC236}">
                <a16:creationId xmlns:a16="http://schemas.microsoft.com/office/drawing/2014/main" id="{F3CAB505-8118-DC27-A10C-BCC63290781B}"/>
              </a:ext>
            </a:extLst>
          </p:cNvPr>
          <p:cNvSpPr/>
          <p:nvPr/>
        </p:nvSpPr>
        <p:spPr>
          <a:xfrm>
            <a:off x="2303437" y="4176681"/>
            <a:ext cx="1361923" cy="895572"/>
          </a:xfrm>
          <a:custGeom>
            <a:avLst/>
            <a:gdLst/>
            <a:ahLst/>
            <a:cxnLst/>
            <a:rect l="l" t="t" r="r" b="b"/>
            <a:pathLst>
              <a:path w="1164589" h="765810">
                <a:moveTo>
                  <a:pt x="0" y="127569"/>
                </a:moveTo>
                <a:lnTo>
                  <a:pt x="10023" y="77913"/>
                </a:lnTo>
                <a:lnTo>
                  <a:pt x="37359" y="37364"/>
                </a:lnTo>
                <a:lnTo>
                  <a:pt x="77909" y="10025"/>
                </a:lnTo>
                <a:lnTo>
                  <a:pt x="127574" y="0"/>
                </a:lnTo>
                <a:lnTo>
                  <a:pt x="1036472" y="0"/>
                </a:lnTo>
                <a:lnTo>
                  <a:pt x="1085307" y="9710"/>
                </a:lnTo>
                <a:lnTo>
                  <a:pt x="1126697" y="37362"/>
                </a:lnTo>
                <a:lnTo>
                  <a:pt x="1154344" y="78749"/>
                </a:lnTo>
                <a:lnTo>
                  <a:pt x="1164047" y="127569"/>
                </a:lnTo>
                <a:lnTo>
                  <a:pt x="1164047" y="637843"/>
                </a:lnTo>
                <a:lnTo>
                  <a:pt x="1154024" y="687498"/>
                </a:lnTo>
                <a:lnTo>
                  <a:pt x="1126688" y="728049"/>
                </a:lnTo>
                <a:lnTo>
                  <a:pt x="1086138" y="755391"/>
                </a:lnTo>
                <a:lnTo>
                  <a:pt x="1036472" y="765418"/>
                </a:lnTo>
                <a:lnTo>
                  <a:pt x="127574" y="765418"/>
                </a:lnTo>
                <a:lnTo>
                  <a:pt x="77909" y="755391"/>
                </a:lnTo>
                <a:lnTo>
                  <a:pt x="37359" y="728049"/>
                </a:lnTo>
                <a:lnTo>
                  <a:pt x="10023" y="687498"/>
                </a:lnTo>
                <a:lnTo>
                  <a:pt x="0" y="637843"/>
                </a:lnTo>
                <a:lnTo>
                  <a:pt x="0" y="127569"/>
                </a:lnTo>
                <a:close/>
              </a:path>
            </a:pathLst>
          </a:custGeom>
          <a:ln w="25399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</p:spTree>
    <p:extLst>
      <p:ext uri="{BB962C8B-B14F-4D97-AF65-F5344CB8AC3E}">
        <p14:creationId xmlns:p14="http://schemas.microsoft.com/office/powerpoint/2010/main" val="37347397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2D34F19-23B6-ACD1-101E-98ADD4B8F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540000"/>
          </a:xfrm>
        </p:spPr>
        <p:txBody>
          <a:bodyPr/>
          <a:lstStyle/>
          <a:p>
            <a:r>
              <a:rPr lang="en-US" dirty="0" err="1"/>
              <a:t>Anschauliche</a:t>
            </a:r>
            <a:r>
              <a:rPr lang="en-US" dirty="0"/>
              <a:t> </a:t>
            </a:r>
            <a:r>
              <a:rPr lang="en-US" dirty="0" err="1"/>
              <a:t>Darstellung</a:t>
            </a:r>
            <a:endParaRPr lang="en-US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3A3C6907-90E6-0844-BD5D-08A66E4606F9}"/>
              </a:ext>
            </a:extLst>
          </p:cNvPr>
          <p:cNvSpPr txBox="1"/>
          <p:nvPr/>
        </p:nvSpPr>
        <p:spPr>
          <a:xfrm>
            <a:off x="6063327" y="2679627"/>
            <a:ext cx="3169571" cy="2845184"/>
          </a:xfrm>
          <a:prstGeom prst="rect">
            <a:avLst/>
          </a:prstGeom>
          <a:solidFill>
            <a:srgbClr val="D4E4F2"/>
          </a:solidFill>
        </p:spPr>
        <p:txBody>
          <a:bodyPr vert="horz" wrap="square" lIns="0" tIns="37130" rIns="0" bIns="0" rtlCol="0">
            <a:spAutoFit/>
          </a:bodyPr>
          <a:lstStyle/>
          <a:p>
            <a:pPr marL="99504">
              <a:lnSpc>
                <a:spcPts val="1672"/>
              </a:lnSpc>
              <a:spcBef>
                <a:spcPts val="292"/>
              </a:spcBef>
            </a:pPr>
            <a:r>
              <a:rPr lang="en-GB" sz="1403" u="heavy" spc="-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Definition</a:t>
            </a:r>
            <a:r>
              <a:rPr lang="en-GB" sz="1403" u="heavy" spc="-12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(</a:t>
            </a:r>
            <a:r>
              <a:rPr lang="en-GB" sz="1403" u="heavy" spc="-12" dirty="0" err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s.o</a:t>
            </a:r>
            <a:r>
              <a:rPr lang="en-GB" sz="1403" u="heavy" spc="-12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.</a:t>
            </a:r>
            <a:r>
              <a:rPr lang="en-GB" sz="1403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):</a:t>
            </a:r>
            <a:endParaRPr lang="en-GB" sz="1403" dirty="0">
              <a:latin typeface="Arial"/>
              <a:cs typeface="Arial"/>
            </a:endParaRPr>
          </a:p>
          <a:p>
            <a:pPr marL="99504">
              <a:lnSpc>
                <a:spcPts val="1666"/>
              </a:lnSpc>
            </a:pPr>
            <a:r>
              <a:rPr lang="en-GB" sz="1403" spc="-6" dirty="0" err="1">
                <a:latin typeface="Arial"/>
                <a:cs typeface="Arial"/>
              </a:rPr>
              <a:t>Gegeben</a:t>
            </a:r>
            <a:r>
              <a:rPr lang="en-GB" sz="1403" spc="-6" dirty="0">
                <a:latin typeface="Arial"/>
                <a:cs typeface="Arial"/>
              </a:rPr>
              <a:t> </a:t>
            </a:r>
            <a:r>
              <a:rPr lang="en-GB" sz="1403" spc="-6" dirty="0" err="1">
                <a:latin typeface="Arial"/>
                <a:cs typeface="Arial"/>
              </a:rPr>
              <a:t>seien</a:t>
            </a:r>
            <a:r>
              <a:rPr lang="en-GB" sz="1403" spc="-6" dirty="0">
                <a:latin typeface="Arial"/>
                <a:cs typeface="Arial"/>
              </a:rPr>
              <a:t> die </a:t>
            </a:r>
            <a:r>
              <a:rPr lang="en-GB" sz="1403" spc="-6" dirty="0" err="1">
                <a:latin typeface="Arial"/>
                <a:cs typeface="Arial"/>
              </a:rPr>
              <a:t>Attributmengen</a:t>
            </a:r>
            <a:r>
              <a:rPr lang="en-GB" sz="1403" spc="-12" dirty="0">
                <a:latin typeface="Arial"/>
                <a:cs typeface="Arial"/>
              </a:rPr>
              <a:t> </a:t>
            </a:r>
            <a:r>
              <a:rPr lang="en-GB" sz="1403" b="1" spc="-6" dirty="0">
                <a:latin typeface="Arial"/>
                <a:cs typeface="Arial"/>
              </a:rPr>
              <a:t>A={A</a:t>
            </a:r>
            <a:r>
              <a:rPr lang="en-GB" sz="1403" b="1" spc="-8" baseline="-31250" dirty="0">
                <a:latin typeface="Arial"/>
                <a:cs typeface="Arial"/>
              </a:rPr>
              <a:t>1</a:t>
            </a:r>
            <a:r>
              <a:rPr lang="en-GB" sz="1403" b="1" spc="-6" dirty="0">
                <a:latin typeface="Arial"/>
                <a:cs typeface="Arial"/>
              </a:rPr>
              <a:t>,…,A</a:t>
            </a:r>
            <a:r>
              <a:rPr lang="en-GB" sz="1403" b="1" spc="-8" baseline="-31250" dirty="0">
                <a:latin typeface="Arial"/>
                <a:cs typeface="Arial"/>
              </a:rPr>
              <a:t>m</a:t>
            </a:r>
            <a:r>
              <a:rPr lang="en-GB" sz="1403" b="1" spc="-6" dirty="0">
                <a:latin typeface="Arial"/>
                <a:cs typeface="Arial"/>
              </a:rPr>
              <a:t>}</a:t>
            </a:r>
            <a:endParaRPr lang="en-GB" sz="1403" dirty="0">
              <a:latin typeface="Arial"/>
              <a:cs typeface="Arial"/>
            </a:endParaRPr>
          </a:p>
          <a:p>
            <a:pPr marL="99504">
              <a:lnSpc>
                <a:spcPts val="1672"/>
              </a:lnSpc>
            </a:pPr>
            <a:r>
              <a:rPr lang="en-GB" sz="1403" spc="-6" dirty="0">
                <a:latin typeface="Arial"/>
                <a:cs typeface="Arial"/>
              </a:rPr>
              <a:t>und </a:t>
            </a:r>
            <a:r>
              <a:rPr lang="en-GB" sz="1403" b="1" dirty="0">
                <a:latin typeface="Arial"/>
                <a:cs typeface="Arial"/>
              </a:rPr>
              <a:t>B = </a:t>
            </a:r>
            <a:r>
              <a:rPr lang="en-GB" sz="1403" b="1" spc="-6" dirty="0">
                <a:latin typeface="Arial"/>
                <a:cs typeface="Arial"/>
              </a:rPr>
              <a:t>{B</a:t>
            </a:r>
            <a:r>
              <a:rPr lang="en-GB" sz="1403" b="1" spc="-8" baseline="-31250" dirty="0">
                <a:latin typeface="Arial"/>
                <a:cs typeface="Arial"/>
              </a:rPr>
              <a:t>1</a:t>
            </a:r>
            <a:r>
              <a:rPr lang="en-GB" sz="1403" b="1" spc="-6" dirty="0">
                <a:latin typeface="Arial"/>
                <a:cs typeface="Arial"/>
              </a:rPr>
              <a:t>,…B</a:t>
            </a:r>
            <a:r>
              <a:rPr lang="en-GB" sz="1403" b="1" spc="-8" baseline="-31250" dirty="0">
                <a:latin typeface="Arial"/>
                <a:cs typeface="Arial"/>
              </a:rPr>
              <a:t>n</a:t>
            </a:r>
            <a:r>
              <a:rPr lang="en-GB" sz="1403" b="1" spc="-6" dirty="0">
                <a:latin typeface="Arial"/>
                <a:cs typeface="Arial"/>
              </a:rPr>
              <a:t>} </a:t>
            </a:r>
            <a:r>
              <a:rPr lang="en-GB" sz="1403" spc="-6" dirty="0">
                <a:latin typeface="Arial"/>
                <a:cs typeface="Arial"/>
              </a:rPr>
              <a:t>in</a:t>
            </a:r>
            <a:r>
              <a:rPr lang="en-GB" sz="1403" spc="-18" dirty="0">
                <a:latin typeface="Arial"/>
                <a:cs typeface="Arial"/>
              </a:rPr>
              <a:t> </a:t>
            </a:r>
            <a:r>
              <a:rPr lang="en-GB" sz="1403" b="1" spc="-6" dirty="0">
                <a:latin typeface="Arial"/>
                <a:cs typeface="Arial"/>
              </a:rPr>
              <a:t>R,</a:t>
            </a:r>
            <a:endParaRPr lang="en-GB" sz="1403" dirty="0">
              <a:latin typeface="Arial"/>
              <a:cs typeface="Arial"/>
            </a:endParaRPr>
          </a:p>
          <a:p>
            <a:pPr marL="100247" marR="253959">
              <a:lnSpc>
                <a:spcPts val="1661"/>
              </a:lnSpc>
              <a:spcBef>
                <a:spcPts val="1725"/>
              </a:spcBef>
            </a:pPr>
            <a:r>
              <a:rPr lang="en-GB" sz="1403" spc="-6" dirty="0">
                <a:latin typeface="Arial"/>
                <a:cs typeface="Arial"/>
              </a:rPr>
              <a:t>Die </a:t>
            </a:r>
            <a:r>
              <a:rPr lang="en-GB" sz="1403" b="1" i="1" dirty="0" err="1">
                <a:latin typeface="Arial"/>
                <a:cs typeface="Arial"/>
              </a:rPr>
              <a:t>funktionale</a:t>
            </a:r>
            <a:r>
              <a:rPr lang="en-GB" sz="1403" b="1" i="1" dirty="0">
                <a:latin typeface="Arial"/>
                <a:cs typeface="Arial"/>
              </a:rPr>
              <a:t> </a:t>
            </a:r>
            <a:r>
              <a:rPr lang="en-GB" sz="1403" b="1" i="1" spc="-6" dirty="0" err="1">
                <a:latin typeface="Arial"/>
                <a:cs typeface="Arial"/>
              </a:rPr>
              <a:t>Abhängigkeit</a:t>
            </a:r>
            <a:r>
              <a:rPr lang="en-GB" sz="1403" b="1" i="1" spc="-88" dirty="0">
                <a:latin typeface="Arial"/>
                <a:cs typeface="Arial"/>
              </a:rPr>
              <a:t>  </a:t>
            </a:r>
            <a:r>
              <a:rPr lang="en-GB" sz="1403" b="1" spc="-6" dirty="0">
                <a:latin typeface="Arial"/>
                <a:cs typeface="Arial"/>
              </a:rPr>
              <a:t>A →  </a:t>
            </a:r>
            <a:r>
              <a:rPr lang="en-GB" sz="1403" b="1" dirty="0">
                <a:latin typeface="Arial"/>
                <a:cs typeface="Arial"/>
              </a:rPr>
              <a:t>B </a:t>
            </a:r>
            <a:r>
              <a:rPr lang="en-GB" sz="1403" b="1" spc="-6" dirty="0">
                <a:latin typeface="Arial"/>
                <a:cs typeface="Arial"/>
              </a:rPr>
              <a:t>in </a:t>
            </a:r>
            <a:r>
              <a:rPr lang="en-GB" sz="1403" b="1" dirty="0">
                <a:latin typeface="Arial"/>
                <a:cs typeface="Arial"/>
              </a:rPr>
              <a:t>R </a:t>
            </a:r>
            <a:r>
              <a:rPr lang="en-GB" sz="1403" spc="-6" dirty="0" err="1">
                <a:latin typeface="Arial"/>
                <a:cs typeface="Arial"/>
              </a:rPr>
              <a:t>wenn</a:t>
            </a:r>
            <a:r>
              <a:rPr lang="en-GB" sz="1403" spc="-6" dirty="0">
                <a:latin typeface="Arial"/>
                <a:cs typeface="Arial"/>
              </a:rPr>
              <a:t> für </a:t>
            </a:r>
            <a:r>
              <a:rPr lang="en-GB" sz="1403" b="1" i="1" spc="-6" dirty="0">
                <a:latin typeface="Arial"/>
                <a:cs typeface="Arial"/>
              </a:rPr>
              <a:t>alle </a:t>
            </a:r>
            <a:r>
              <a:rPr lang="en-GB" sz="1403" spc="-6" dirty="0" err="1">
                <a:latin typeface="Arial"/>
                <a:cs typeface="Arial"/>
              </a:rPr>
              <a:t>t</a:t>
            </a:r>
            <a:r>
              <a:rPr lang="en-GB" sz="1403" spc="-8" baseline="-31250" dirty="0" err="1">
                <a:latin typeface="Arial"/>
                <a:cs typeface="Arial"/>
              </a:rPr>
              <a:t>i</a:t>
            </a:r>
            <a:r>
              <a:rPr lang="en-GB" sz="1403" spc="-6" dirty="0" err="1">
                <a:latin typeface="Arial"/>
                <a:cs typeface="Arial"/>
              </a:rPr>
              <a:t>,t</a:t>
            </a:r>
            <a:r>
              <a:rPr lang="en-GB" sz="1403" spc="-8" baseline="-31250" dirty="0" err="1">
                <a:latin typeface="Arial"/>
                <a:cs typeface="Arial"/>
              </a:rPr>
              <a:t>j</a:t>
            </a:r>
            <a:r>
              <a:rPr lang="en-GB" sz="1403" spc="-8" baseline="-31250" dirty="0">
                <a:latin typeface="Arial"/>
                <a:cs typeface="Arial"/>
              </a:rPr>
              <a:t> </a:t>
            </a:r>
            <a:r>
              <a:rPr lang="en-GB" sz="1403" spc="-6" dirty="0">
                <a:latin typeface="Arial"/>
                <a:cs typeface="Arial"/>
              </a:rPr>
              <a:t>in</a:t>
            </a:r>
            <a:r>
              <a:rPr lang="en-GB" sz="1403" spc="-35" dirty="0">
                <a:latin typeface="Arial"/>
                <a:cs typeface="Arial"/>
              </a:rPr>
              <a:t> </a:t>
            </a:r>
            <a:r>
              <a:rPr lang="en-GB" sz="1403" spc="-6" dirty="0">
                <a:latin typeface="Arial"/>
                <a:cs typeface="Arial"/>
              </a:rPr>
              <a:t>R:</a:t>
            </a:r>
            <a:endParaRPr lang="en-GB" sz="1403" dirty="0">
              <a:latin typeface="Arial"/>
              <a:cs typeface="Arial"/>
            </a:endParaRPr>
          </a:p>
          <a:p>
            <a:pPr marL="100247">
              <a:lnSpc>
                <a:spcPts val="1672"/>
              </a:lnSpc>
              <a:spcBef>
                <a:spcPts val="1602"/>
              </a:spcBef>
            </a:pPr>
            <a:r>
              <a:rPr lang="en-GB" sz="1403" spc="-6" dirty="0" err="1">
                <a:latin typeface="Arial"/>
                <a:cs typeface="Arial"/>
              </a:rPr>
              <a:t>t</a:t>
            </a:r>
            <a:r>
              <a:rPr lang="en-GB" sz="1403" spc="-8" baseline="-31250" dirty="0" err="1">
                <a:latin typeface="Arial"/>
                <a:cs typeface="Arial"/>
              </a:rPr>
              <a:t>i</a:t>
            </a:r>
            <a:r>
              <a:rPr lang="en-GB" sz="1403" spc="-6" dirty="0">
                <a:latin typeface="Arial"/>
                <a:cs typeface="Arial"/>
              </a:rPr>
              <a:t>[A</a:t>
            </a:r>
            <a:r>
              <a:rPr lang="en-GB" sz="1403" spc="-8" baseline="-31250" dirty="0">
                <a:latin typeface="Arial"/>
                <a:cs typeface="Arial"/>
              </a:rPr>
              <a:t>1</a:t>
            </a:r>
            <a:r>
              <a:rPr lang="en-GB" sz="1403" spc="-6" dirty="0">
                <a:latin typeface="Arial"/>
                <a:cs typeface="Arial"/>
              </a:rPr>
              <a:t>] </a:t>
            </a:r>
            <a:r>
              <a:rPr lang="en-GB" sz="1403" dirty="0">
                <a:latin typeface="Arial"/>
                <a:cs typeface="Arial"/>
              </a:rPr>
              <a:t>= </a:t>
            </a:r>
            <a:r>
              <a:rPr lang="en-GB" sz="1403" spc="-6" dirty="0" err="1">
                <a:latin typeface="Arial"/>
                <a:cs typeface="Arial"/>
              </a:rPr>
              <a:t>t</a:t>
            </a:r>
            <a:r>
              <a:rPr lang="en-GB" sz="1403" spc="-8" baseline="-31250" dirty="0" err="1">
                <a:latin typeface="Arial"/>
                <a:cs typeface="Arial"/>
              </a:rPr>
              <a:t>j</a:t>
            </a:r>
            <a:r>
              <a:rPr lang="en-GB" sz="1403" spc="-6" dirty="0">
                <a:latin typeface="Arial"/>
                <a:cs typeface="Arial"/>
              </a:rPr>
              <a:t>[A</a:t>
            </a:r>
            <a:r>
              <a:rPr lang="en-GB" sz="1403" spc="-8" baseline="-31250" dirty="0">
                <a:latin typeface="Arial"/>
                <a:cs typeface="Arial"/>
              </a:rPr>
              <a:t>1</a:t>
            </a:r>
            <a:r>
              <a:rPr lang="en-GB" sz="1403" spc="-6" dirty="0">
                <a:latin typeface="Arial"/>
                <a:cs typeface="Arial"/>
              </a:rPr>
              <a:t>] UND </a:t>
            </a:r>
            <a:r>
              <a:rPr lang="en-GB" sz="1403" spc="-6" dirty="0" err="1">
                <a:latin typeface="Arial"/>
                <a:cs typeface="Arial"/>
              </a:rPr>
              <a:t>t</a:t>
            </a:r>
            <a:r>
              <a:rPr lang="en-GB" sz="1403" spc="-8" baseline="-31250" dirty="0" err="1">
                <a:latin typeface="Arial"/>
                <a:cs typeface="Arial"/>
              </a:rPr>
              <a:t>i</a:t>
            </a:r>
            <a:r>
              <a:rPr lang="en-GB" sz="1403" spc="-6" dirty="0">
                <a:latin typeface="Arial"/>
                <a:cs typeface="Arial"/>
              </a:rPr>
              <a:t>[A</a:t>
            </a:r>
            <a:r>
              <a:rPr lang="en-GB" sz="1403" spc="-8" baseline="-31250" dirty="0">
                <a:latin typeface="Arial"/>
                <a:cs typeface="Arial"/>
              </a:rPr>
              <a:t>2</a:t>
            </a:r>
            <a:r>
              <a:rPr lang="en-GB" sz="1403" spc="-6" dirty="0">
                <a:latin typeface="Arial"/>
                <a:cs typeface="Arial"/>
              </a:rPr>
              <a:t>]=</a:t>
            </a:r>
            <a:r>
              <a:rPr lang="en-GB" sz="1403" spc="-6" dirty="0" err="1">
                <a:latin typeface="Arial"/>
                <a:cs typeface="Arial"/>
              </a:rPr>
              <a:t>t</a:t>
            </a:r>
            <a:r>
              <a:rPr lang="en-GB" sz="1403" spc="-8" baseline="-31250" dirty="0" err="1">
                <a:latin typeface="Arial"/>
                <a:cs typeface="Arial"/>
              </a:rPr>
              <a:t>j</a:t>
            </a:r>
            <a:r>
              <a:rPr lang="en-GB" sz="1403" spc="-6" dirty="0">
                <a:latin typeface="Arial"/>
                <a:cs typeface="Arial"/>
              </a:rPr>
              <a:t>[A</a:t>
            </a:r>
            <a:r>
              <a:rPr lang="en-GB" sz="1403" spc="-8" baseline="-31250" dirty="0">
                <a:latin typeface="Arial"/>
                <a:cs typeface="Arial"/>
              </a:rPr>
              <a:t>2</a:t>
            </a:r>
            <a:r>
              <a:rPr lang="en-GB" sz="1403" spc="-6" dirty="0">
                <a:latin typeface="Arial"/>
                <a:cs typeface="Arial"/>
              </a:rPr>
              <a:t>]</a:t>
            </a:r>
            <a:r>
              <a:rPr lang="en-GB" sz="1403" spc="-29" dirty="0">
                <a:latin typeface="Arial"/>
                <a:cs typeface="Arial"/>
              </a:rPr>
              <a:t> </a:t>
            </a:r>
            <a:r>
              <a:rPr lang="en-GB" sz="1403" spc="-6" dirty="0">
                <a:latin typeface="Arial"/>
                <a:cs typeface="Arial"/>
              </a:rPr>
              <a:t>UND</a:t>
            </a:r>
            <a:endParaRPr lang="en-GB" sz="1403" dirty="0">
              <a:latin typeface="Arial"/>
              <a:cs typeface="Arial"/>
            </a:endParaRPr>
          </a:p>
          <a:p>
            <a:pPr marL="100247">
              <a:lnSpc>
                <a:spcPts val="1672"/>
              </a:lnSpc>
            </a:pPr>
            <a:r>
              <a:rPr lang="en-GB" sz="1403" dirty="0">
                <a:latin typeface="Arial"/>
                <a:cs typeface="Arial"/>
              </a:rPr>
              <a:t>… </a:t>
            </a:r>
            <a:r>
              <a:rPr lang="en-GB" sz="1403" spc="-6" dirty="0">
                <a:latin typeface="Arial"/>
                <a:cs typeface="Arial"/>
              </a:rPr>
              <a:t>UND </a:t>
            </a:r>
            <a:r>
              <a:rPr lang="en-GB" sz="1403" spc="-6" dirty="0" err="1">
                <a:latin typeface="Arial"/>
                <a:cs typeface="Arial"/>
              </a:rPr>
              <a:t>t</a:t>
            </a:r>
            <a:r>
              <a:rPr lang="en-GB" sz="1403" spc="-8" baseline="-31250" dirty="0" err="1">
                <a:latin typeface="Arial"/>
                <a:cs typeface="Arial"/>
              </a:rPr>
              <a:t>i</a:t>
            </a:r>
            <a:r>
              <a:rPr lang="en-GB" sz="1403" spc="-6" dirty="0">
                <a:latin typeface="Arial"/>
                <a:cs typeface="Arial"/>
              </a:rPr>
              <a:t>[A</a:t>
            </a:r>
            <a:r>
              <a:rPr lang="en-GB" sz="1403" spc="-8" baseline="-31250" dirty="0">
                <a:latin typeface="Arial"/>
                <a:cs typeface="Arial"/>
              </a:rPr>
              <a:t>m</a:t>
            </a:r>
            <a:r>
              <a:rPr lang="en-GB" sz="1403" spc="-6" dirty="0">
                <a:latin typeface="Arial"/>
                <a:cs typeface="Arial"/>
              </a:rPr>
              <a:t>] </a:t>
            </a:r>
            <a:r>
              <a:rPr lang="en-GB" sz="1403" dirty="0">
                <a:latin typeface="Arial"/>
                <a:cs typeface="Arial"/>
              </a:rPr>
              <a:t>=</a:t>
            </a:r>
            <a:r>
              <a:rPr lang="en-GB" sz="1403" spc="-23" dirty="0">
                <a:latin typeface="Arial"/>
                <a:cs typeface="Arial"/>
              </a:rPr>
              <a:t> </a:t>
            </a:r>
            <a:r>
              <a:rPr lang="en-GB" sz="1403" spc="-6" dirty="0" err="1">
                <a:latin typeface="Arial"/>
                <a:cs typeface="Arial"/>
              </a:rPr>
              <a:t>t</a:t>
            </a:r>
            <a:r>
              <a:rPr lang="en-GB" sz="1403" spc="-8" baseline="-31250" dirty="0" err="1">
                <a:latin typeface="Arial"/>
                <a:cs typeface="Arial"/>
              </a:rPr>
              <a:t>j</a:t>
            </a:r>
            <a:r>
              <a:rPr lang="en-GB" sz="1403" spc="-6" dirty="0">
                <a:latin typeface="Arial"/>
                <a:cs typeface="Arial"/>
              </a:rPr>
              <a:t>[A</a:t>
            </a:r>
            <a:r>
              <a:rPr lang="en-GB" sz="1403" spc="-8" baseline="-31250" dirty="0">
                <a:latin typeface="Arial"/>
                <a:cs typeface="Arial"/>
              </a:rPr>
              <a:t>m</a:t>
            </a:r>
            <a:r>
              <a:rPr lang="en-GB" sz="1403" spc="-6" dirty="0">
                <a:latin typeface="Arial"/>
                <a:cs typeface="Arial"/>
              </a:rPr>
              <a:t>]</a:t>
            </a:r>
            <a:endParaRPr lang="en-GB" sz="1403" dirty="0">
              <a:latin typeface="Arial"/>
              <a:cs typeface="Arial"/>
            </a:endParaRPr>
          </a:p>
          <a:p>
            <a:pPr marL="100247" marR="259899">
              <a:lnSpc>
                <a:spcPts val="1661"/>
              </a:lnSpc>
              <a:spcBef>
                <a:spcPts val="1725"/>
              </a:spcBef>
            </a:pPr>
            <a:r>
              <a:rPr lang="de-DE" sz="1403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dann</a:t>
            </a:r>
            <a:r>
              <a:rPr sz="1403" b="1" dirty="0">
                <a:latin typeface="Arial"/>
                <a:cs typeface="Arial"/>
              </a:rPr>
              <a:t> </a:t>
            </a:r>
            <a:r>
              <a:rPr sz="1403" spc="-6" dirty="0">
                <a:latin typeface="Arial"/>
                <a:cs typeface="Arial"/>
              </a:rPr>
              <a:t>t</a:t>
            </a:r>
            <a:r>
              <a:rPr sz="1403" spc="-8" baseline="-31250" dirty="0">
                <a:latin typeface="Arial"/>
                <a:cs typeface="Arial"/>
              </a:rPr>
              <a:t>i</a:t>
            </a:r>
            <a:r>
              <a:rPr sz="1403" spc="-6" dirty="0">
                <a:latin typeface="Arial"/>
                <a:cs typeface="Arial"/>
              </a:rPr>
              <a:t>[B</a:t>
            </a:r>
            <a:r>
              <a:rPr sz="1403" spc="-8" baseline="-31250" dirty="0">
                <a:latin typeface="Arial"/>
                <a:cs typeface="Arial"/>
              </a:rPr>
              <a:t>1</a:t>
            </a:r>
            <a:r>
              <a:rPr sz="1403" spc="-6" dirty="0">
                <a:latin typeface="Arial"/>
                <a:cs typeface="Arial"/>
              </a:rPr>
              <a:t>] </a:t>
            </a:r>
            <a:r>
              <a:rPr sz="1403" dirty="0">
                <a:latin typeface="Arial"/>
                <a:cs typeface="Arial"/>
              </a:rPr>
              <a:t>= </a:t>
            </a:r>
            <a:r>
              <a:rPr sz="1403" spc="-6" dirty="0">
                <a:latin typeface="Arial"/>
                <a:cs typeface="Arial"/>
              </a:rPr>
              <a:t>t</a:t>
            </a:r>
            <a:r>
              <a:rPr sz="1403" spc="-8" baseline="-31250" dirty="0">
                <a:latin typeface="Arial"/>
                <a:cs typeface="Arial"/>
              </a:rPr>
              <a:t>j</a:t>
            </a:r>
            <a:r>
              <a:rPr sz="1403" spc="-6" dirty="0">
                <a:latin typeface="Arial"/>
                <a:cs typeface="Arial"/>
              </a:rPr>
              <a:t>[B</a:t>
            </a:r>
            <a:r>
              <a:rPr sz="1403" spc="-8" baseline="-31250" dirty="0">
                <a:latin typeface="Arial"/>
                <a:cs typeface="Arial"/>
              </a:rPr>
              <a:t>1</a:t>
            </a:r>
            <a:r>
              <a:rPr sz="1403" spc="-6" dirty="0">
                <a:latin typeface="Arial"/>
                <a:cs typeface="Arial"/>
              </a:rPr>
              <a:t>] </a:t>
            </a:r>
            <a:r>
              <a:rPr lang="de-DE" sz="1403" spc="-6" dirty="0">
                <a:latin typeface="Arial"/>
                <a:cs typeface="Arial"/>
              </a:rPr>
              <a:t>U</a:t>
            </a:r>
            <a:r>
              <a:rPr sz="1403" spc="-6" dirty="0">
                <a:latin typeface="Arial"/>
                <a:cs typeface="Arial"/>
              </a:rPr>
              <a:t>ND t</a:t>
            </a:r>
            <a:r>
              <a:rPr sz="1403" spc="-8" baseline="-31250" dirty="0">
                <a:latin typeface="Arial"/>
                <a:cs typeface="Arial"/>
              </a:rPr>
              <a:t>i</a:t>
            </a:r>
            <a:r>
              <a:rPr sz="1403" spc="-6" dirty="0">
                <a:latin typeface="Arial"/>
                <a:cs typeface="Arial"/>
              </a:rPr>
              <a:t>[B</a:t>
            </a:r>
            <a:r>
              <a:rPr sz="1403" spc="-8" baseline="-31250" dirty="0">
                <a:latin typeface="Arial"/>
                <a:cs typeface="Arial"/>
              </a:rPr>
              <a:t>2</a:t>
            </a:r>
            <a:r>
              <a:rPr sz="1403" spc="-6" dirty="0">
                <a:latin typeface="Arial"/>
                <a:cs typeface="Arial"/>
              </a:rPr>
              <a:t>]=t</a:t>
            </a:r>
            <a:r>
              <a:rPr sz="1403" spc="-8" baseline="-31250" dirty="0">
                <a:latin typeface="Arial"/>
                <a:cs typeface="Arial"/>
              </a:rPr>
              <a:t>j</a:t>
            </a:r>
            <a:r>
              <a:rPr sz="1403" spc="-6" dirty="0">
                <a:latin typeface="Arial"/>
                <a:cs typeface="Arial"/>
              </a:rPr>
              <a:t>[B</a:t>
            </a:r>
            <a:r>
              <a:rPr sz="1403" spc="-8" baseline="-31250" dirty="0">
                <a:latin typeface="Arial"/>
                <a:cs typeface="Arial"/>
              </a:rPr>
              <a:t>2</a:t>
            </a:r>
            <a:r>
              <a:rPr sz="1403" spc="-6" dirty="0">
                <a:latin typeface="Arial"/>
                <a:cs typeface="Arial"/>
              </a:rPr>
              <a:t>]  </a:t>
            </a:r>
            <a:r>
              <a:rPr lang="de-DE" sz="1403" spc="-6" dirty="0">
                <a:latin typeface="Arial"/>
                <a:cs typeface="Arial"/>
              </a:rPr>
              <a:t>U</a:t>
            </a:r>
            <a:r>
              <a:rPr sz="1403" spc="-6" dirty="0">
                <a:latin typeface="Arial"/>
                <a:cs typeface="Arial"/>
              </a:rPr>
              <a:t>ND </a:t>
            </a:r>
            <a:r>
              <a:rPr sz="1403" dirty="0">
                <a:latin typeface="Arial"/>
                <a:cs typeface="Arial"/>
              </a:rPr>
              <a:t>… </a:t>
            </a:r>
            <a:r>
              <a:rPr lang="de-DE" sz="1403" spc="-6" dirty="0">
                <a:latin typeface="Arial"/>
                <a:cs typeface="Arial"/>
              </a:rPr>
              <a:t>U</a:t>
            </a:r>
            <a:r>
              <a:rPr sz="1403" spc="-6" dirty="0">
                <a:latin typeface="Arial"/>
                <a:cs typeface="Arial"/>
              </a:rPr>
              <a:t>ND </a:t>
            </a:r>
            <a:r>
              <a:rPr sz="1403" dirty="0">
                <a:latin typeface="Arial"/>
                <a:cs typeface="Arial"/>
              </a:rPr>
              <a:t>t</a:t>
            </a:r>
            <a:r>
              <a:rPr sz="1403" baseline="-31250" dirty="0">
                <a:latin typeface="Arial"/>
                <a:cs typeface="Arial"/>
              </a:rPr>
              <a:t>i</a:t>
            </a:r>
            <a:r>
              <a:rPr sz="1403" dirty="0">
                <a:latin typeface="Arial"/>
                <a:cs typeface="Arial"/>
              </a:rPr>
              <a:t>[B</a:t>
            </a:r>
            <a:r>
              <a:rPr sz="1403" baseline="-31250" dirty="0">
                <a:latin typeface="Arial"/>
                <a:cs typeface="Arial"/>
              </a:rPr>
              <a:t>n</a:t>
            </a:r>
            <a:r>
              <a:rPr sz="1403" dirty="0">
                <a:latin typeface="Arial"/>
                <a:cs typeface="Arial"/>
              </a:rPr>
              <a:t>] =</a:t>
            </a:r>
            <a:r>
              <a:rPr sz="1403" spc="-41" dirty="0">
                <a:latin typeface="Arial"/>
                <a:cs typeface="Arial"/>
              </a:rPr>
              <a:t> </a:t>
            </a:r>
            <a:r>
              <a:rPr sz="1403" spc="-6" dirty="0">
                <a:latin typeface="Arial"/>
                <a:cs typeface="Arial"/>
              </a:rPr>
              <a:t>t</a:t>
            </a:r>
            <a:r>
              <a:rPr sz="1403" spc="-8" baseline="-31250" dirty="0">
                <a:latin typeface="Arial"/>
                <a:cs typeface="Arial"/>
              </a:rPr>
              <a:t>j</a:t>
            </a:r>
            <a:r>
              <a:rPr sz="1403" spc="-6" dirty="0">
                <a:latin typeface="Arial"/>
                <a:cs typeface="Arial"/>
              </a:rPr>
              <a:t>[B</a:t>
            </a:r>
            <a:r>
              <a:rPr sz="1403" spc="-8" baseline="-31250" dirty="0">
                <a:latin typeface="Arial"/>
                <a:cs typeface="Arial"/>
              </a:rPr>
              <a:t>n</a:t>
            </a:r>
            <a:r>
              <a:rPr sz="1403" spc="-6" dirty="0">
                <a:latin typeface="Arial"/>
                <a:cs typeface="Arial"/>
              </a:rPr>
              <a:t>]</a:t>
            </a:r>
            <a:endParaRPr sz="1403" dirty="0">
              <a:latin typeface="Arial"/>
              <a:cs typeface="Arial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A11C7C03-484D-497D-75B3-0CA16330AC50}"/>
              </a:ext>
            </a:extLst>
          </p:cNvPr>
          <p:cNvSpPr/>
          <p:nvPr/>
        </p:nvSpPr>
        <p:spPr>
          <a:xfrm>
            <a:off x="1966654" y="3793999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1DBF88C5-5AAA-B35A-B40D-F40DEE414EE8}"/>
              </a:ext>
            </a:extLst>
          </p:cNvPr>
          <p:cNvSpPr/>
          <p:nvPr/>
        </p:nvSpPr>
        <p:spPr>
          <a:xfrm>
            <a:off x="2394377" y="3793999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2DA786F2-C851-B63D-EFCB-CD722834F5AA}"/>
              </a:ext>
            </a:extLst>
          </p:cNvPr>
          <p:cNvSpPr/>
          <p:nvPr/>
        </p:nvSpPr>
        <p:spPr>
          <a:xfrm>
            <a:off x="2822102" y="3793999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73083173-8BBB-0E50-EA79-BA2EE18AC66A}"/>
              </a:ext>
            </a:extLst>
          </p:cNvPr>
          <p:cNvSpPr/>
          <p:nvPr/>
        </p:nvSpPr>
        <p:spPr>
          <a:xfrm>
            <a:off x="3249825" y="3793999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D92D66B7-E837-F66C-72D9-1953EB88B68F}"/>
              </a:ext>
            </a:extLst>
          </p:cNvPr>
          <p:cNvSpPr/>
          <p:nvPr/>
        </p:nvSpPr>
        <p:spPr>
          <a:xfrm>
            <a:off x="3677548" y="3793999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A922F30B-DCDB-5578-D452-6049CDF65904}"/>
              </a:ext>
            </a:extLst>
          </p:cNvPr>
          <p:cNvSpPr/>
          <p:nvPr/>
        </p:nvSpPr>
        <p:spPr>
          <a:xfrm>
            <a:off x="4105272" y="3793999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1D73E315-8AEA-673E-4DC1-A75E7CA2FAFD}"/>
              </a:ext>
            </a:extLst>
          </p:cNvPr>
          <p:cNvSpPr/>
          <p:nvPr/>
        </p:nvSpPr>
        <p:spPr>
          <a:xfrm>
            <a:off x="4532995" y="3793999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060A60FE-F5A0-E55E-AA72-E9147853E2EE}"/>
              </a:ext>
            </a:extLst>
          </p:cNvPr>
          <p:cNvSpPr/>
          <p:nvPr/>
        </p:nvSpPr>
        <p:spPr>
          <a:xfrm>
            <a:off x="4960719" y="3793999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03E187FA-1751-BDD2-E8A0-CAFEE3F88B76}"/>
              </a:ext>
            </a:extLst>
          </p:cNvPr>
          <p:cNvSpPr/>
          <p:nvPr/>
        </p:nvSpPr>
        <p:spPr>
          <a:xfrm>
            <a:off x="5388442" y="3793999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6ED12E52-39E1-EEBF-F313-760644A8EB68}"/>
              </a:ext>
            </a:extLst>
          </p:cNvPr>
          <p:cNvSpPr/>
          <p:nvPr/>
        </p:nvSpPr>
        <p:spPr>
          <a:xfrm>
            <a:off x="1966654" y="405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EBD17192-1CA2-8E52-448C-BE1DB126034E}"/>
              </a:ext>
            </a:extLst>
          </p:cNvPr>
          <p:cNvSpPr/>
          <p:nvPr/>
        </p:nvSpPr>
        <p:spPr>
          <a:xfrm>
            <a:off x="2394377" y="405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DDF7518E-34C3-D14D-819C-D3607267CF24}"/>
              </a:ext>
            </a:extLst>
          </p:cNvPr>
          <p:cNvSpPr/>
          <p:nvPr/>
        </p:nvSpPr>
        <p:spPr>
          <a:xfrm>
            <a:off x="2822102" y="405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781B942D-098E-B7F9-1F16-E002357ABF4E}"/>
              </a:ext>
            </a:extLst>
          </p:cNvPr>
          <p:cNvSpPr/>
          <p:nvPr/>
        </p:nvSpPr>
        <p:spPr>
          <a:xfrm>
            <a:off x="3249825" y="405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2D0B26B2-808A-2468-AC6E-95387F4C6603}"/>
              </a:ext>
            </a:extLst>
          </p:cNvPr>
          <p:cNvSpPr/>
          <p:nvPr/>
        </p:nvSpPr>
        <p:spPr>
          <a:xfrm>
            <a:off x="3677548" y="405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3786FA3B-3002-2D65-75DC-40BB2A4C2C21}"/>
              </a:ext>
            </a:extLst>
          </p:cNvPr>
          <p:cNvSpPr/>
          <p:nvPr/>
        </p:nvSpPr>
        <p:spPr>
          <a:xfrm>
            <a:off x="4105272" y="405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00EADBB6-0EAF-E3E5-077A-78E3A9BE6CCA}"/>
              </a:ext>
            </a:extLst>
          </p:cNvPr>
          <p:cNvSpPr/>
          <p:nvPr/>
        </p:nvSpPr>
        <p:spPr>
          <a:xfrm>
            <a:off x="4532995" y="405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7DFFDE61-A5EA-5EDA-8A9B-356E830F8C72}"/>
              </a:ext>
            </a:extLst>
          </p:cNvPr>
          <p:cNvSpPr/>
          <p:nvPr/>
        </p:nvSpPr>
        <p:spPr>
          <a:xfrm>
            <a:off x="4960719" y="405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44D7D253-159D-6574-9048-C87E2DB2F68B}"/>
              </a:ext>
            </a:extLst>
          </p:cNvPr>
          <p:cNvSpPr/>
          <p:nvPr/>
        </p:nvSpPr>
        <p:spPr>
          <a:xfrm>
            <a:off x="5388442" y="405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89"/>
                </a:lnTo>
                <a:lnTo>
                  <a:pt x="0" y="22248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1F7DAD3F-789D-519C-61A0-541AA7DA368A}"/>
              </a:ext>
            </a:extLst>
          </p:cNvPr>
          <p:cNvSpPr/>
          <p:nvPr/>
        </p:nvSpPr>
        <p:spPr>
          <a:xfrm>
            <a:off x="1966654" y="4314389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5" name="object 24">
            <a:extLst>
              <a:ext uri="{FF2B5EF4-FFF2-40B4-BE49-F238E27FC236}">
                <a16:creationId xmlns:a16="http://schemas.microsoft.com/office/drawing/2014/main" id="{89F995BF-04CE-EA9E-283A-EC874E22C261}"/>
              </a:ext>
            </a:extLst>
          </p:cNvPr>
          <p:cNvSpPr/>
          <p:nvPr/>
        </p:nvSpPr>
        <p:spPr>
          <a:xfrm>
            <a:off x="2394377" y="4314389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7E20E48A-2FE3-1B01-14AB-16060E317E59}"/>
              </a:ext>
            </a:extLst>
          </p:cNvPr>
          <p:cNvSpPr/>
          <p:nvPr/>
        </p:nvSpPr>
        <p:spPr>
          <a:xfrm>
            <a:off x="2822102" y="4314389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0E69B786-FEDF-16D9-6C0F-FC52AD5C582C}"/>
              </a:ext>
            </a:extLst>
          </p:cNvPr>
          <p:cNvSpPr/>
          <p:nvPr/>
        </p:nvSpPr>
        <p:spPr>
          <a:xfrm>
            <a:off x="3249825" y="4314389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945DFEAB-D2F7-7084-51E6-3537648D5B0B}"/>
              </a:ext>
            </a:extLst>
          </p:cNvPr>
          <p:cNvSpPr/>
          <p:nvPr/>
        </p:nvSpPr>
        <p:spPr>
          <a:xfrm>
            <a:off x="3677548" y="4314389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9" name="object 28">
            <a:extLst>
              <a:ext uri="{FF2B5EF4-FFF2-40B4-BE49-F238E27FC236}">
                <a16:creationId xmlns:a16="http://schemas.microsoft.com/office/drawing/2014/main" id="{943D374D-6586-5258-3929-D64F10E369E5}"/>
              </a:ext>
            </a:extLst>
          </p:cNvPr>
          <p:cNvSpPr/>
          <p:nvPr/>
        </p:nvSpPr>
        <p:spPr>
          <a:xfrm>
            <a:off x="4105272" y="4314389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0" name="object 29">
            <a:extLst>
              <a:ext uri="{FF2B5EF4-FFF2-40B4-BE49-F238E27FC236}">
                <a16:creationId xmlns:a16="http://schemas.microsoft.com/office/drawing/2014/main" id="{C670B605-E189-3480-9692-D46F293A260D}"/>
              </a:ext>
            </a:extLst>
          </p:cNvPr>
          <p:cNvSpPr/>
          <p:nvPr/>
        </p:nvSpPr>
        <p:spPr>
          <a:xfrm>
            <a:off x="4532995" y="4314389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1" name="object 30">
            <a:extLst>
              <a:ext uri="{FF2B5EF4-FFF2-40B4-BE49-F238E27FC236}">
                <a16:creationId xmlns:a16="http://schemas.microsoft.com/office/drawing/2014/main" id="{BD8E7717-9749-3DA3-4071-E3C5FC0F9803}"/>
              </a:ext>
            </a:extLst>
          </p:cNvPr>
          <p:cNvSpPr/>
          <p:nvPr/>
        </p:nvSpPr>
        <p:spPr>
          <a:xfrm>
            <a:off x="4960719" y="4314389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2" name="object 31">
            <a:extLst>
              <a:ext uri="{FF2B5EF4-FFF2-40B4-BE49-F238E27FC236}">
                <a16:creationId xmlns:a16="http://schemas.microsoft.com/office/drawing/2014/main" id="{5B395DB1-BCF2-39C3-D0EF-B78A4830B7A5}"/>
              </a:ext>
            </a:extLst>
          </p:cNvPr>
          <p:cNvSpPr/>
          <p:nvPr/>
        </p:nvSpPr>
        <p:spPr>
          <a:xfrm>
            <a:off x="5388442" y="4314389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3" name="object 32">
            <a:extLst>
              <a:ext uri="{FF2B5EF4-FFF2-40B4-BE49-F238E27FC236}">
                <a16:creationId xmlns:a16="http://schemas.microsoft.com/office/drawing/2014/main" id="{73A53B33-C9C1-DF58-7F22-7A62041B7FD9}"/>
              </a:ext>
            </a:extLst>
          </p:cNvPr>
          <p:cNvSpPr/>
          <p:nvPr/>
        </p:nvSpPr>
        <p:spPr>
          <a:xfrm>
            <a:off x="1966654" y="457459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4" name="object 33">
            <a:extLst>
              <a:ext uri="{FF2B5EF4-FFF2-40B4-BE49-F238E27FC236}">
                <a16:creationId xmlns:a16="http://schemas.microsoft.com/office/drawing/2014/main" id="{915D8FD1-492E-0CC3-B6C5-D02CF478D49D}"/>
              </a:ext>
            </a:extLst>
          </p:cNvPr>
          <p:cNvSpPr/>
          <p:nvPr/>
        </p:nvSpPr>
        <p:spPr>
          <a:xfrm>
            <a:off x="2394377" y="457459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5" name="object 34">
            <a:extLst>
              <a:ext uri="{FF2B5EF4-FFF2-40B4-BE49-F238E27FC236}">
                <a16:creationId xmlns:a16="http://schemas.microsoft.com/office/drawing/2014/main" id="{AA59E4DE-E957-3CC5-008F-AC745E0A40D1}"/>
              </a:ext>
            </a:extLst>
          </p:cNvPr>
          <p:cNvSpPr/>
          <p:nvPr/>
        </p:nvSpPr>
        <p:spPr>
          <a:xfrm>
            <a:off x="2822102" y="457459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6" name="object 35">
            <a:extLst>
              <a:ext uri="{FF2B5EF4-FFF2-40B4-BE49-F238E27FC236}">
                <a16:creationId xmlns:a16="http://schemas.microsoft.com/office/drawing/2014/main" id="{C44451D1-F49F-77C3-5F84-30A58521307D}"/>
              </a:ext>
            </a:extLst>
          </p:cNvPr>
          <p:cNvSpPr/>
          <p:nvPr/>
        </p:nvSpPr>
        <p:spPr>
          <a:xfrm>
            <a:off x="3249825" y="457459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7" name="object 36">
            <a:extLst>
              <a:ext uri="{FF2B5EF4-FFF2-40B4-BE49-F238E27FC236}">
                <a16:creationId xmlns:a16="http://schemas.microsoft.com/office/drawing/2014/main" id="{338D68AA-2274-68F5-D426-B3834B4EAB6A}"/>
              </a:ext>
            </a:extLst>
          </p:cNvPr>
          <p:cNvSpPr/>
          <p:nvPr/>
        </p:nvSpPr>
        <p:spPr>
          <a:xfrm>
            <a:off x="3677548" y="457459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8" name="object 37">
            <a:extLst>
              <a:ext uri="{FF2B5EF4-FFF2-40B4-BE49-F238E27FC236}">
                <a16:creationId xmlns:a16="http://schemas.microsoft.com/office/drawing/2014/main" id="{71B02AB2-6192-CE8E-EA11-E04EB300CE29}"/>
              </a:ext>
            </a:extLst>
          </p:cNvPr>
          <p:cNvSpPr/>
          <p:nvPr/>
        </p:nvSpPr>
        <p:spPr>
          <a:xfrm>
            <a:off x="4105272" y="457459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9" name="object 38">
            <a:extLst>
              <a:ext uri="{FF2B5EF4-FFF2-40B4-BE49-F238E27FC236}">
                <a16:creationId xmlns:a16="http://schemas.microsoft.com/office/drawing/2014/main" id="{CC5DD75C-D304-B073-94DA-20EAFEF8B3EA}"/>
              </a:ext>
            </a:extLst>
          </p:cNvPr>
          <p:cNvSpPr/>
          <p:nvPr/>
        </p:nvSpPr>
        <p:spPr>
          <a:xfrm>
            <a:off x="4532995" y="457459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0" name="object 39">
            <a:extLst>
              <a:ext uri="{FF2B5EF4-FFF2-40B4-BE49-F238E27FC236}">
                <a16:creationId xmlns:a16="http://schemas.microsoft.com/office/drawing/2014/main" id="{3082BE5D-EF94-21B9-36C8-BE64AD0088DD}"/>
              </a:ext>
            </a:extLst>
          </p:cNvPr>
          <p:cNvSpPr/>
          <p:nvPr/>
        </p:nvSpPr>
        <p:spPr>
          <a:xfrm>
            <a:off x="4960719" y="457459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1" name="object 40">
            <a:extLst>
              <a:ext uri="{FF2B5EF4-FFF2-40B4-BE49-F238E27FC236}">
                <a16:creationId xmlns:a16="http://schemas.microsoft.com/office/drawing/2014/main" id="{040C2185-7EE7-AEF4-5E86-34BA531BF24B}"/>
              </a:ext>
            </a:extLst>
          </p:cNvPr>
          <p:cNvSpPr/>
          <p:nvPr/>
        </p:nvSpPr>
        <p:spPr>
          <a:xfrm>
            <a:off x="5388442" y="457459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2" name="object 41">
            <a:extLst>
              <a:ext uri="{FF2B5EF4-FFF2-40B4-BE49-F238E27FC236}">
                <a16:creationId xmlns:a16="http://schemas.microsoft.com/office/drawing/2014/main" id="{B9E3CE10-77F7-BFEF-E6FC-58B2B4C8AB36}"/>
              </a:ext>
            </a:extLst>
          </p:cNvPr>
          <p:cNvSpPr/>
          <p:nvPr/>
        </p:nvSpPr>
        <p:spPr>
          <a:xfrm>
            <a:off x="1966654" y="483479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3" name="object 42">
            <a:extLst>
              <a:ext uri="{FF2B5EF4-FFF2-40B4-BE49-F238E27FC236}">
                <a16:creationId xmlns:a16="http://schemas.microsoft.com/office/drawing/2014/main" id="{A52FA6ED-672E-F442-FC2D-1BF0C9F59FBA}"/>
              </a:ext>
            </a:extLst>
          </p:cNvPr>
          <p:cNvSpPr/>
          <p:nvPr/>
        </p:nvSpPr>
        <p:spPr>
          <a:xfrm>
            <a:off x="2394377" y="483479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4" name="object 43">
            <a:extLst>
              <a:ext uri="{FF2B5EF4-FFF2-40B4-BE49-F238E27FC236}">
                <a16:creationId xmlns:a16="http://schemas.microsoft.com/office/drawing/2014/main" id="{CF4659C9-C0C0-4406-8D0D-A0A64B51075E}"/>
              </a:ext>
            </a:extLst>
          </p:cNvPr>
          <p:cNvSpPr/>
          <p:nvPr/>
        </p:nvSpPr>
        <p:spPr>
          <a:xfrm>
            <a:off x="2822102" y="483479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5" name="object 44">
            <a:extLst>
              <a:ext uri="{FF2B5EF4-FFF2-40B4-BE49-F238E27FC236}">
                <a16:creationId xmlns:a16="http://schemas.microsoft.com/office/drawing/2014/main" id="{7A595043-712B-C8A4-0E1E-BF1771F6BE85}"/>
              </a:ext>
            </a:extLst>
          </p:cNvPr>
          <p:cNvSpPr/>
          <p:nvPr/>
        </p:nvSpPr>
        <p:spPr>
          <a:xfrm>
            <a:off x="3249825" y="483479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6" name="object 45">
            <a:extLst>
              <a:ext uri="{FF2B5EF4-FFF2-40B4-BE49-F238E27FC236}">
                <a16:creationId xmlns:a16="http://schemas.microsoft.com/office/drawing/2014/main" id="{A19CE594-1740-BDF4-8BA7-A660118C812F}"/>
              </a:ext>
            </a:extLst>
          </p:cNvPr>
          <p:cNvSpPr/>
          <p:nvPr/>
        </p:nvSpPr>
        <p:spPr>
          <a:xfrm>
            <a:off x="3677548" y="483479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7" name="object 46">
            <a:extLst>
              <a:ext uri="{FF2B5EF4-FFF2-40B4-BE49-F238E27FC236}">
                <a16:creationId xmlns:a16="http://schemas.microsoft.com/office/drawing/2014/main" id="{0CB7845A-09EC-8A22-669A-98388269E7D4}"/>
              </a:ext>
            </a:extLst>
          </p:cNvPr>
          <p:cNvSpPr/>
          <p:nvPr/>
        </p:nvSpPr>
        <p:spPr>
          <a:xfrm>
            <a:off x="4105272" y="483479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8" name="object 47">
            <a:extLst>
              <a:ext uri="{FF2B5EF4-FFF2-40B4-BE49-F238E27FC236}">
                <a16:creationId xmlns:a16="http://schemas.microsoft.com/office/drawing/2014/main" id="{FF8E8AA1-1F95-88D4-4D7E-F09EF434CAE6}"/>
              </a:ext>
            </a:extLst>
          </p:cNvPr>
          <p:cNvSpPr/>
          <p:nvPr/>
        </p:nvSpPr>
        <p:spPr>
          <a:xfrm>
            <a:off x="4532995" y="483479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9" name="object 48">
            <a:extLst>
              <a:ext uri="{FF2B5EF4-FFF2-40B4-BE49-F238E27FC236}">
                <a16:creationId xmlns:a16="http://schemas.microsoft.com/office/drawing/2014/main" id="{70BF997F-A5F3-A8BD-5DDB-C58E88169083}"/>
              </a:ext>
            </a:extLst>
          </p:cNvPr>
          <p:cNvSpPr/>
          <p:nvPr/>
        </p:nvSpPr>
        <p:spPr>
          <a:xfrm>
            <a:off x="4960719" y="483479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0" name="object 49">
            <a:extLst>
              <a:ext uri="{FF2B5EF4-FFF2-40B4-BE49-F238E27FC236}">
                <a16:creationId xmlns:a16="http://schemas.microsoft.com/office/drawing/2014/main" id="{7040DD77-04F4-4A62-AEF1-8D8B89573C59}"/>
              </a:ext>
            </a:extLst>
          </p:cNvPr>
          <p:cNvSpPr/>
          <p:nvPr/>
        </p:nvSpPr>
        <p:spPr>
          <a:xfrm>
            <a:off x="5388442" y="4834792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1" name="object 50">
            <a:extLst>
              <a:ext uri="{FF2B5EF4-FFF2-40B4-BE49-F238E27FC236}">
                <a16:creationId xmlns:a16="http://schemas.microsoft.com/office/drawing/2014/main" id="{3AE91701-15F6-7C76-ADDA-B6103D772159}"/>
              </a:ext>
            </a:extLst>
          </p:cNvPr>
          <p:cNvSpPr/>
          <p:nvPr/>
        </p:nvSpPr>
        <p:spPr>
          <a:xfrm>
            <a:off x="1966654" y="3526373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2" name="object 51">
            <a:extLst>
              <a:ext uri="{FF2B5EF4-FFF2-40B4-BE49-F238E27FC236}">
                <a16:creationId xmlns:a16="http://schemas.microsoft.com/office/drawing/2014/main" id="{8E0D30ED-47F0-E14A-D953-52910FEECA81}"/>
              </a:ext>
            </a:extLst>
          </p:cNvPr>
          <p:cNvSpPr/>
          <p:nvPr/>
        </p:nvSpPr>
        <p:spPr>
          <a:xfrm>
            <a:off x="2394377" y="3526373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3" name="object 52">
            <a:extLst>
              <a:ext uri="{FF2B5EF4-FFF2-40B4-BE49-F238E27FC236}">
                <a16:creationId xmlns:a16="http://schemas.microsoft.com/office/drawing/2014/main" id="{900A0987-7BA9-F874-65B0-AF8D75617414}"/>
              </a:ext>
            </a:extLst>
          </p:cNvPr>
          <p:cNvSpPr/>
          <p:nvPr/>
        </p:nvSpPr>
        <p:spPr>
          <a:xfrm>
            <a:off x="2822100" y="3526373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4" name="object 53">
            <a:extLst>
              <a:ext uri="{FF2B5EF4-FFF2-40B4-BE49-F238E27FC236}">
                <a16:creationId xmlns:a16="http://schemas.microsoft.com/office/drawing/2014/main" id="{8B200610-A46B-E05E-5E68-8DCF6958EEEE}"/>
              </a:ext>
            </a:extLst>
          </p:cNvPr>
          <p:cNvSpPr/>
          <p:nvPr/>
        </p:nvSpPr>
        <p:spPr>
          <a:xfrm>
            <a:off x="3249825" y="3526373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5" name="object 54">
            <a:extLst>
              <a:ext uri="{FF2B5EF4-FFF2-40B4-BE49-F238E27FC236}">
                <a16:creationId xmlns:a16="http://schemas.microsoft.com/office/drawing/2014/main" id="{0E7EDC63-5383-9791-15DA-20CC3A38D76E}"/>
              </a:ext>
            </a:extLst>
          </p:cNvPr>
          <p:cNvSpPr/>
          <p:nvPr/>
        </p:nvSpPr>
        <p:spPr>
          <a:xfrm>
            <a:off x="3677548" y="3526373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6" name="object 55">
            <a:extLst>
              <a:ext uri="{FF2B5EF4-FFF2-40B4-BE49-F238E27FC236}">
                <a16:creationId xmlns:a16="http://schemas.microsoft.com/office/drawing/2014/main" id="{274CBC56-3ABC-A9B3-E8ED-808338805701}"/>
              </a:ext>
            </a:extLst>
          </p:cNvPr>
          <p:cNvSpPr/>
          <p:nvPr/>
        </p:nvSpPr>
        <p:spPr>
          <a:xfrm>
            <a:off x="4105271" y="3526373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7" name="object 56">
            <a:extLst>
              <a:ext uri="{FF2B5EF4-FFF2-40B4-BE49-F238E27FC236}">
                <a16:creationId xmlns:a16="http://schemas.microsoft.com/office/drawing/2014/main" id="{50770FC5-51EA-876F-38EB-BDAEEC78CF93}"/>
              </a:ext>
            </a:extLst>
          </p:cNvPr>
          <p:cNvSpPr/>
          <p:nvPr/>
        </p:nvSpPr>
        <p:spPr>
          <a:xfrm>
            <a:off x="4532995" y="3526373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8" name="object 57">
            <a:extLst>
              <a:ext uri="{FF2B5EF4-FFF2-40B4-BE49-F238E27FC236}">
                <a16:creationId xmlns:a16="http://schemas.microsoft.com/office/drawing/2014/main" id="{10AF5384-9A05-9C5C-A0F5-94DCE1E90319}"/>
              </a:ext>
            </a:extLst>
          </p:cNvPr>
          <p:cNvSpPr/>
          <p:nvPr/>
        </p:nvSpPr>
        <p:spPr>
          <a:xfrm>
            <a:off x="4960719" y="3526373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9" name="object 58">
            <a:extLst>
              <a:ext uri="{FF2B5EF4-FFF2-40B4-BE49-F238E27FC236}">
                <a16:creationId xmlns:a16="http://schemas.microsoft.com/office/drawing/2014/main" id="{6616167E-C829-2A8E-518D-556B655133D9}"/>
              </a:ext>
            </a:extLst>
          </p:cNvPr>
          <p:cNvSpPr/>
          <p:nvPr/>
        </p:nvSpPr>
        <p:spPr>
          <a:xfrm>
            <a:off x="5388442" y="3526373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0" name="object 59">
            <a:extLst>
              <a:ext uri="{FF2B5EF4-FFF2-40B4-BE49-F238E27FC236}">
                <a16:creationId xmlns:a16="http://schemas.microsoft.com/office/drawing/2014/main" id="{7D2A0EB0-89EC-1867-806A-2EDDDD4B8D6A}"/>
              </a:ext>
            </a:extLst>
          </p:cNvPr>
          <p:cNvSpPr/>
          <p:nvPr/>
        </p:nvSpPr>
        <p:spPr>
          <a:xfrm>
            <a:off x="5816165" y="3526373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87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1" name="object 60">
            <a:extLst>
              <a:ext uri="{FF2B5EF4-FFF2-40B4-BE49-F238E27FC236}">
                <a16:creationId xmlns:a16="http://schemas.microsoft.com/office/drawing/2014/main" id="{8CC56D48-4293-2F7C-5F63-06BB2ADC4CA7}"/>
              </a:ext>
            </a:extLst>
          </p:cNvPr>
          <p:cNvSpPr/>
          <p:nvPr/>
        </p:nvSpPr>
        <p:spPr>
          <a:xfrm>
            <a:off x="1959228" y="3533799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2" name="object 61">
            <a:extLst>
              <a:ext uri="{FF2B5EF4-FFF2-40B4-BE49-F238E27FC236}">
                <a16:creationId xmlns:a16="http://schemas.microsoft.com/office/drawing/2014/main" id="{BB0A3AC0-BF29-FD66-5E4B-3E54AD4B06BA}"/>
              </a:ext>
            </a:extLst>
          </p:cNvPr>
          <p:cNvSpPr/>
          <p:nvPr/>
        </p:nvSpPr>
        <p:spPr>
          <a:xfrm>
            <a:off x="1959228" y="3793999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3" name="object 62">
            <a:extLst>
              <a:ext uri="{FF2B5EF4-FFF2-40B4-BE49-F238E27FC236}">
                <a16:creationId xmlns:a16="http://schemas.microsoft.com/office/drawing/2014/main" id="{209D75A9-9812-9169-D1A7-7A5D3EAF99B3}"/>
              </a:ext>
            </a:extLst>
          </p:cNvPr>
          <p:cNvSpPr/>
          <p:nvPr/>
        </p:nvSpPr>
        <p:spPr>
          <a:xfrm>
            <a:off x="1959228" y="4054200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4" name="object 63">
            <a:extLst>
              <a:ext uri="{FF2B5EF4-FFF2-40B4-BE49-F238E27FC236}">
                <a16:creationId xmlns:a16="http://schemas.microsoft.com/office/drawing/2014/main" id="{2C6A2E8F-BB08-0C6C-FB82-D01966491CBA}"/>
              </a:ext>
            </a:extLst>
          </p:cNvPr>
          <p:cNvSpPr/>
          <p:nvPr/>
        </p:nvSpPr>
        <p:spPr>
          <a:xfrm>
            <a:off x="1959228" y="4314389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5" name="object 64">
            <a:extLst>
              <a:ext uri="{FF2B5EF4-FFF2-40B4-BE49-F238E27FC236}">
                <a16:creationId xmlns:a16="http://schemas.microsoft.com/office/drawing/2014/main" id="{325A8AB1-3AD8-8FEA-88C5-EE647ED0AB18}"/>
              </a:ext>
            </a:extLst>
          </p:cNvPr>
          <p:cNvSpPr/>
          <p:nvPr/>
        </p:nvSpPr>
        <p:spPr>
          <a:xfrm>
            <a:off x="1959228" y="4574590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6" name="object 65">
            <a:extLst>
              <a:ext uri="{FF2B5EF4-FFF2-40B4-BE49-F238E27FC236}">
                <a16:creationId xmlns:a16="http://schemas.microsoft.com/office/drawing/2014/main" id="{454DFAE1-8A82-16A9-83A9-7C5163F83D78}"/>
              </a:ext>
            </a:extLst>
          </p:cNvPr>
          <p:cNvSpPr/>
          <p:nvPr/>
        </p:nvSpPr>
        <p:spPr>
          <a:xfrm>
            <a:off x="1959228" y="4834792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7" name="object 66">
            <a:extLst>
              <a:ext uri="{FF2B5EF4-FFF2-40B4-BE49-F238E27FC236}">
                <a16:creationId xmlns:a16="http://schemas.microsoft.com/office/drawing/2014/main" id="{47796F50-DF2C-9C11-59EB-48A98D4B9D38}"/>
              </a:ext>
            </a:extLst>
          </p:cNvPr>
          <p:cNvSpPr/>
          <p:nvPr/>
        </p:nvSpPr>
        <p:spPr>
          <a:xfrm>
            <a:off x="1959228" y="5094992"/>
            <a:ext cx="3864476" cy="0"/>
          </a:xfrm>
          <a:custGeom>
            <a:avLst/>
            <a:gdLst/>
            <a:ahLst/>
            <a:cxnLst/>
            <a:rect l="l" t="t" r="r" b="b"/>
            <a:pathLst>
              <a:path w="3304540">
                <a:moveTo>
                  <a:pt x="0" y="0"/>
                </a:moveTo>
                <a:lnTo>
                  <a:pt x="3304443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8" name="object 67">
            <a:extLst>
              <a:ext uri="{FF2B5EF4-FFF2-40B4-BE49-F238E27FC236}">
                <a16:creationId xmlns:a16="http://schemas.microsoft.com/office/drawing/2014/main" id="{BB610528-978A-C9A8-4F17-D74CB99D1C48}"/>
              </a:ext>
            </a:extLst>
          </p:cNvPr>
          <p:cNvSpPr txBox="1"/>
          <p:nvPr/>
        </p:nvSpPr>
        <p:spPr>
          <a:xfrm>
            <a:off x="2394377" y="3533799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2177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A</a:t>
            </a:r>
            <a:r>
              <a:rPr sz="1140" b="1" baseline="-29914" dirty="0">
                <a:latin typeface="Arial"/>
                <a:cs typeface="Arial"/>
              </a:rPr>
              <a:t>1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69" name="object 68">
            <a:extLst>
              <a:ext uri="{FF2B5EF4-FFF2-40B4-BE49-F238E27FC236}">
                <a16:creationId xmlns:a16="http://schemas.microsoft.com/office/drawing/2014/main" id="{FF868D8F-1358-1AE9-CD5F-B9382CCEE1EA}"/>
              </a:ext>
            </a:extLst>
          </p:cNvPr>
          <p:cNvSpPr txBox="1"/>
          <p:nvPr/>
        </p:nvSpPr>
        <p:spPr>
          <a:xfrm>
            <a:off x="2822100" y="3533799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9603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…</a:t>
            </a:r>
            <a:endParaRPr sz="1169">
              <a:latin typeface="Arial"/>
              <a:cs typeface="Arial"/>
            </a:endParaRPr>
          </a:p>
        </p:txBody>
      </p:sp>
      <p:sp>
        <p:nvSpPr>
          <p:cNvPr id="70" name="object 69">
            <a:extLst>
              <a:ext uri="{FF2B5EF4-FFF2-40B4-BE49-F238E27FC236}">
                <a16:creationId xmlns:a16="http://schemas.microsoft.com/office/drawing/2014/main" id="{2703F746-C294-56A3-7FA6-1357008119EC}"/>
              </a:ext>
            </a:extLst>
          </p:cNvPr>
          <p:cNvSpPr txBox="1"/>
          <p:nvPr/>
        </p:nvSpPr>
        <p:spPr>
          <a:xfrm>
            <a:off x="3249825" y="3533799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15841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A</a:t>
            </a:r>
            <a:r>
              <a:rPr sz="1140" b="1" baseline="-29914" dirty="0">
                <a:latin typeface="Arial"/>
                <a:cs typeface="Arial"/>
              </a:rPr>
              <a:t>m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71" name="object 70">
            <a:extLst>
              <a:ext uri="{FF2B5EF4-FFF2-40B4-BE49-F238E27FC236}">
                <a16:creationId xmlns:a16="http://schemas.microsoft.com/office/drawing/2014/main" id="{47D3680D-7E20-EF8E-6167-8A5616578639}"/>
              </a:ext>
            </a:extLst>
          </p:cNvPr>
          <p:cNvSpPr txBox="1"/>
          <p:nvPr/>
        </p:nvSpPr>
        <p:spPr>
          <a:xfrm>
            <a:off x="4105271" y="3533799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2177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B</a:t>
            </a:r>
            <a:r>
              <a:rPr sz="1140" b="1" baseline="-29914" dirty="0">
                <a:latin typeface="Arial"/>
                <a:cs typeface="Arial"/>
              </a:rPr>
              <a:t>1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72" name="object 71">
            <a:extLst>
              <a:ext uri="{FF2B5EF4-FFF2-40B4-BE49-F238E27FC236}">
                <a16:creationId xmlns:a16="http://schemas.microsoft.com/office/drawing/2014/main" id="{B35A181C-BD81-C214-15B1-57FA96A8BCBA}"/>
              </a:ext>
            </a:extLst>
          </p:cNvPr>
          <p:cNvSpPr txBox="1"/>
          <p:nvPr/>
        </p:nvSpPr>
        <p:spPr>
          <a:xfrm>
            <a:off x="4532995" y="3533799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9603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…</a:t>
            </a:r>
            <a:endParaRPr sz="1169">
              <a:latin typeface="Arial"/>
              <a:cs typeface="Arial"/>
            </a:endParaRPr>
          </a:p>
        </p:txBody>
      </p:sp>
      <p:sp>
        <p:nvSpPr>
          <p:cNvPr id="73" name="object 72">
            <a:extLst>
              <a:ext uri="{FF2B5EF4-FFF2-40B4-BE49-F238E27FC236}">
                <a16:creationId xmlns:a16="http://schemas.microsoft.com/office/drawing/2014/main" id="{EF087A9C-A54F-7DFB-12D8-00B303C63BA3}"/>
              </a:ext>
            </a:extLst>
          </p:cNvPr>
          <p:cNvSpPr txBox="1"/>
          <p:nvPr/>
        </p:nvSpPr>
        <p:spPr>
          <a:xfrm>
            <a:off x="4960719" y="3533799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29950">
              <a:spcBef>
                <a:spcPts val="129"/>
              </a:spcBef>
            </a:pPr>
            <a:r>
              <a:rPr sz="1169" b="1" dirty="0">
                <a:latin typeface="Arial"/>
                <a:cs typeface="Arial"/>
              </a:rPr>
              <a:t>B</a:t>
            </a:r>
            <a:r>
              <a:rPr sz="1140" b="1" baseline="-29914" dirty="0">
                <a:latin typeface="Arial"/>
                <a:cs typeface="Arial"/>
              </a:rPr>
              <a:t>n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74" name="object 73">
            <a:extLst>
              <a:ext uri="{FF2B5EF4-FFF2-40B4-BE49-F238E27FC236}">
                <a16:creationId xmlns:a16="http://schemas.microsoft.com/office/drawing/2014/main" id="{F6526ABF-DA51-8361-AE1E-B0B3E05E64DB}"/>
              </a:ext>
            </a:extLst>
          </p:cNvPr>
          <p:cNvSpPr txBox="1"/>
          <p:nvPr/>
        </p:nvSpPr>
        <p:spPr>
          <a:xfrm>
            <a:off x="1709991" y="4067307"/>
            <a:ext cx="93567" cy="194918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4851">
              <a:spcBef>
                <a:spcPts val="117"/>
              </a:spcBef>
            </a:pPr>
            <a:r>
              <a:rPr sz="1169" spc="-6" dirty="0">
                <a:latin typeface="Arial"/>
                <a:cs typeface="Arial"/>
              </a:rPr>
              <a:t>t</a:t>
            </a:r>
            <a:r>
              <a:rPr sz="1140" baseline="-29914" dirty="0">
                <a:latin typeface="Arial"/>
                <a:cs typeface="Arial"/>
              </a:rPr>
              <a:t>i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75" name="object 74">
            <a:extLst>
              <a:ext uri="{FF2B5EF4-FFF2-40B4-BE49-F238E27FC236}">
                <a16:creationId xmlns:a16="http://schemas.microsoft.com/office/drawing/2014/main" id="{0CA00B89-72BD-CD24-5DDA-855EC6870CC1}"/>
              </a:ext>
            </a:extLst>
          </p:cNvPr>
          <p:cNvSpPr txBox="1"/>
          <p:nvPr/>
        </p:nvSpPr>
        <p:spPr>
          <a:xfrm>
            <a:off x="1709991" y="4603802"/>
            <a:ext cx="93567" cy="194918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4851">
              <a:spcBef>
                <a:spcPts val="117"/>
              </a:spcBef>
            </a:pPr>
            <a:r>
              <a:rPr sz="1169" spc="-6" dirty="0">
                <a:latin typeface="Arial"/>
                <a:cs typeface="Arial"/>
              </a:rPr>
              <a:t>t</a:t>
            </a:r>
            <a:r>
              <a:rPr sz="1140" baseline="-29914" dirty="0">
                <a:latin typeface="Arial"/>
                <a:cs typeface="Arial"/>
              </a:rPr>
              <a:t>j</a:t>
            </a:r>
            <a:endParaRPr sz="1140" baseline="-29914">
              <a:latin typeface="Arial"/>
              <a:cs typeface="Arial"/>
            </a:endParaRPr>
          </a:p>
        </p:txBody>
      </p:sp>
      <p:sp>
        <p:nvSpPr>
          <p:cNvPr id="76" name="object 75">
            <a:extLst>
              <a:ext uri="{FF2B5EF4-FFF2-40B4-BE49-F238E27FC236}">
                <a16:creationId xmlns:a16="http://schemas.microsoft.com/office/drawing/2014/main" id="{01E82F67-D4AE-CCD6-498D-0BF275E49505}"/>
              </a:ext>
            </a:extLst>
          </p:cNvPr>
          <p:cNvSpPr/>
          <p:nvPr/>
        </p:nvSpPr>
        <p:spPr>
          <a:xfrm>
            <a:off x="2417240" y="5133964"/>
            <a:ext cx="1234197" cy="274761"/>
          </a:xfrm>
          <a:custGeom>
            <a:avLst/>
            <a:gdLst/>
            <a:ahLst/>
            <a:cxnLst/>
            <a:rect l="l" t="t" r="r" b="b"/>
            <a:pathLst>
              <a:path w="1055370" h="234950">
                <a:moveTo>
                  <a:pt x="1055072" y="0"/>
                </a:moveTo>
                <a:lnTo>
                  <a:pt x="1054076" y="74101"/>
                </a:lnTo>
                <a:lnTo>
                  <a:pt x="1051301" y="138459"/>
                </a:lnTo>
                <a:lnTo>
                  <a:pt x="1047070" y="189212"/>
                </a:lnTo>
                <a:lnTo>
                  <a:pt x="1041703" y="222496"/>
                </a:lnTo>
                <a:lnTo>
                  <a:pt x="1035522" y="234449"/>
                </a:lnTo>
                <a:lnTo>
                  <a:pt x="19524" y="234449"/>
                </a:lnTo>
                <a:lnTo>
                  <a:pt x="8693" y="195057"/>
                </a:lnTo>
                <a:lnTo>
                  <a:pt x="3280" y="130063"/>
                </a:lnTo>
                <a:lnTo>
                  <a:pt x="1484" y="89712"/>
                </a:lnTo>
                <a:lnTo>
                  <a:pt x="377" y="45948"/>
                </a:lnTo>
                <a:lnTo>
                  <a:pt x="0" y="0"/>
                </a:lnTo>
              </a:path>
            </a:pathLst>
          </a:custGeom>
          <a:ln w="25399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7" name="object 76">
            <a:extLst>
              <a:ext uri="{FF2B5EF4-FFF2-40B4-BE49-F238E27FC236}">
                <a16:creationId xmlns:a16="http://schemas.microsoft.com/office/drawing/2014/main" id="{6566C67D-1B70-7F33-C7E4-B22C622D4066}"/>
              </a:ext>
            </a:extLst>
          </p:cNvPr>
          <p:cNvSpPr txBox="1"/>
          <p:nvPr/>
        </p:nvSpPr>
        <p:spPr>
          <a:xfrm>
            <a:off x="2568242" y="5537011"/>
            <a:ext cx="1234192" cy="374839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241335" marR="5941" indent="-227226">
              <a:spcBef>
                <a:spcPts val="117"/>
              </a:spcBef>
            </a:pPr>
            <a:r>
              <a:rPr sz="1169" spc="-6" dirty="0">
                <a:latin typeface="Arial"/>
                <a:cs typeface="Arial"/>
              </a:rPr>
              <a:t>If t1,t2</a:t>
            </a:r>
            <a:r>
              <a:rPr sz="1169" spc="-105" dirty="0">
                <a:latin typeface="Arial"/>
                <a:cs typeface="Arial"/>
              </a:rPr>
              <a:t> </a:t>
            </a:r>
            <a:r>
              <a:rPr lang="de-DE" sz="1169" spc="-6" dirty="0">
                <a:latin typeface="Arial"/>
                <a:cs typeface="Arial"/>
              </a:rPr>
              <a:t>stimmen hier überein</a:t>
            </a:r>
            <a:r>
              <a:rPr sz="1169" spc="-6" dirty="0">
                <a:latin typeface="Arial"/>
                <a:cs typeface="Arial"/>
              </a:rPr>
              <a:t>..</a:t>
            </a:r>
            <a:endParaRPr sz="1169" dirty="0">
              <a:latin typeface="Arial"/>
              <a:cs typeface="Arial"/>
            </a:endParaRPr>
          </a:p>
        </p:txBody>
      </p:sp>
      <p:sp>
        <p:nvSpPr>
          <p:cNvPr id="78" name="object 77">
            <a:extLst>
              <a:ext uri="{FF2B5EF4-FFF2-40B4-BE49-F238E27FC236}">
                <a16:creationId xmlns:a16="http://schemas.microsoft.com/office/drawing/2014/main" id="{951EDC23-6D89-B8F4-AB01-C1F1B7230C46}"/>
              </a:ext>
            </a:extLst>
          </p:cNvPr>
          <p:cNvSpPr/>
          <p:nvPr/>
        </p:nvSpPr>
        <p:spPr>
          <a:xfrm>
            <a:off x="2353769" y="3988998"/>
            <a:ext cx="1361923" cy="895572"/>
          </a:xfrm>
          <a:custGeom>
            <a:avLst/>
            <a:gdLst/>
            <a:ahLst/>
            <a:cxnLst/>
            <a:rect l="l" t="t" r="r" b="b"/>
            <a:pathLst>
              <a:path w="1164589" h="765810">
                <a:moveTo>
                  <a:pt x="1036472" y="765418"/>
                </a:moveTo>
                <a:lnTo>
                  <a:pt x="127574" y="765418"/>
                </a:lnTo>
                <a:lnTo>
                  <a:pt x="77909" y="755391"/>
                </a:lnTo>
                <a:lnTo>
                  <a:pt x="37359" y="728049"/>
                </a:lnTo>
                <a:lnTo>
                  <a:pt x="10023" y="687498"/>
                </a:lnTo>
                <a:lnTo>
                  <a:pt x="0" y="637843"/>
                </a:lnTo>
                <a:lnTo>
                  <a:pt x="0" y="127569"/>
                </a:lnTo>
                <a:lnTo>
                  <a:pt x="10023" y="77913"/>
                </a:lnTo>
                <a:lnTo>
                  <a:pt x="37362" y="37362"/>
                </a:lnTo>
                <a:lnTo>
                  <a:pt x="77909" y="10025"/>
                </a:lnTo>
                <a:lnTo>
                  <a:pt x="127574" y="0"/>
                </a:lnTo>
                <a:lnTo>
                  <a:pt x="1036472" y="0"/>
                </a:lnTo>
                <a:lnTo>
                  <a:pt x="1085307" y="9710"/>
                </a:lnTo>
                <a:lnTo>
                  <a:pt x="1126699" y="37364"/>
                </a:lnTo>
                <a:lnTo>
                  <a:pt x="1154344" y="78749"/>
                </a:lnTo>
                <a:lnTo>
                  <a:pt x="1164047" y="127569"/>
                </a:lnTo>
                <a:lnTo>
                  <a:pt x="1164047" y="637843"/>
                </a:lnTo>
                <a:lnTo>
                  <a:pt x="1154024" y="687498"/>
                </a:lnTo>
                <a:lnTo>
                  <a:pt x="1126688" y="728049"/>
                </a:lnTo>
                <a:lnTo>
                  <a:pt x="1086138" y="755391"/>
                </a:lnTo>
                <a:lnTo>
                  <a:pt x="1036472" y="765418"/>
                </a:lnTo>
                <a:close/>
              </a:path>
            </a:pathLst>
          </a:custGeom>
          <a:solidFill>
            <a:srgbClr val="F6CAAC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9" name="object 78">
            <a:extLst>
              <a:ext uri="{FF2B5EF4-FFF2-40B4-BE49-F238E27FC236}">
                <a16:creationId xmlns:a16="http://schemas.microsoft.com/office/drawing/2014/main" id="{D73D5553-9375-9222-C65D-29A17ADFD3DD}"/>
              </a:ext>
            </a:extLst>
          </p:cNvPr>
          <p:cNvSpPr/>
          <p:nvPr/>
        </p:nvSpPr>
        <p:spPr>
          <a:xfrm>
            <a:off x="2353769" y="3988998"/>
            <a:ext cx="1361923" cy="895572"/>
          </a:xfrm>
          <a:custGeom>
            <a:avLst/>
            <a:gdLst/>
            <a:ahLst/>
            <a:cxnLst/>
            <a:rect l="l" t="t" r="r" b="b"/>
            <a:pathLst>
              <a:path w="1164589" h="765810">
                <a:moveTo>
                  <a:pt x="0" y="127569"/>
                </a:moveTo>
                <a:lnTo>
                  <a:pt x="10023" y="77913"/>
                </a:lnTo>
                <a:lnTo>
                  <a:pt x="37359" y="37364"/>
                </a:lnTo>
                <a:lnTo>
                  <a:pt x="77909" y="10025"/>
                </a:lnTo>
                <a:lnTo>
                  <a:pt x="127574" y="0"/>
                </a:lnTo>
                <a:lnTo>
                  <a:pt x="1036472" y="0"/>
                </a:lnTo>
                <a:lnTo>
                  <a:pt x="1085307" y="9710"/>
                </a:lnTo>
                <a:lnTo>
                  <a:pt x="1126697" y="37362"/>
                </a:lnTo>
                <a:lnTo>
                  <a:pt x="1154344" y="78749"/>
                </a:lnTo>
                <a:lnTo>
                  <a:pt x="1164047" y="127569"/>
                </a:lnTo>
                <a:lnTo>
                  <a:pt x="1164047" y="637843"/>
                </a:lnTo>
                <a:lnTo>
                  <a:pt x="1154024" y="687498"/>
                </a:lnTo>
                <a:lnTo>
                  <a:pt x="1126688" y="728049"/>
                </a:lnTo>
                <a:lnTo>
                  <a:pt x="1086138" y="755391"/>
                </a:lnTo>
                <a:lnTo>
                  <a:pt x="1036472" y="765418"/>
                </a:lnTo>
                <a:lnTo>
                  <a:pt x="127574" y="765418"/>
                </a:lnTo>
                <a:lnTo>
                  <a:pt x="77909" y="755391"/>
                </a:lnTo>
                <a:lnTo>
                  <a:pt x="37359" y="728049"/>
                </a:lnTo>
                <a:lnTo>
                  <a:pt x="10023" y="687498"/>
                </a:lnTo>
                <a:lnTo>
                  <a:pt x="0" y="637843"/>
                </a:lnTo>
                <a:lnTo>
                  <a:pt x="0" y="127569"/>
                </a:lnTo>
                <a:close/>
              </a:path>
            </a:pathLst>
          </a:custGeom>
          <a:ln w="25399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0" name="object 79">
            <a:extLst>
              <a:ext uri="{FF2B5EF4-FFF2-40B4-BE49-F238E27FC236}">
                <a16:creationId xmlns:a16="http://schemas.microsoft.com/office/drawing/2014/main" id="{43D979A9-68E1-9132-044D-6AA9419FF4B4}"/>
              </a:ext>
            </a:extLst>
          </p:cNvPr>
          <p:cNvSpPr txBox="1"/>
          <p:nvPr/>
        </p:nvSpPr>
        <p:spPr>
          <a:xfrm>
            <a:off x="3965276" y="5546133"/>
            <a:ext cx="1572821" cy="194918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4851">
              <a:spcBef>
                <a:spcPts val="117"/>
              </a:spcBef>
            </a:pPr>
            <a:r>
              <a:rPr sz="1169" dirty="0">
                <a:latin typeface="Arial"/>
                <a:cs typeface="Arial"/>
              </a:rPr>
              <a:t>…</a:t>
            </a:r>
            <a:r>
              <a:rPr lang="de-DE" sz="1169" dirty="0">
                <a:latin typeface="Arial"/>
                <a:cs typeface="Arial"/>
              </a:rPr>
              <a:t>dann auch hier</a:t>
            </a:r>
            <a:r>
              <a:rPr sz="1169" spc="-6" dirty="0">
                <a:latin typeface="Arial"/>
                <a:cs typeface="Arial"/>
              </a:rPr>
              <a:t>!</a:t>
            </a:r>
            <a:endParaRPr sz="1169" dirty="0">
              <a:latin typeface="Arial"/>
              <a:cs typeface="Arial"/>
            </a:endParaRPr>
          </a:p>
        </p:txBody>
      </p:sp>
      <p:sp>
        <p:nvSpPr>
          <p:cNvPr id="81" name="object 80">
            <a:extLst>
              <a:ext uri="{FF2B5EF4-FFF2-40B4-BE49-F238E27FC236}">
                <a16:creationId xmlns:a16="http://schemas.microsoft.com/office/drawing/2014/main" id="{2BEDED08-57A9-623D-0FE0-1E3805C65701}"/>
              </a:ext>
            </a:extLst>
          </p:cNvPr>
          <p:cNvSpPr/>
          <p:nvPr/>
        </p:nvSpPr>
        <p:spPr>
          <a:xfrm>
            <a:off x="4134975" y="5178724"/>
            <a:ext cx="1234197" cy="274761"/>
          </a:xfrm>
          <a:custGeom>
            <a:avLst/>
            <a:gdLst/>
            <a:ahLst/>
            <a:cxnLst/>
            <a:rect l="l" t="t" r="r" b="b"/>
            <a:pathLst>
              <a:path w="1055370" h="234950">
                <a:moveTo>
                  <a:pt x="1055072" y="0"/>
                </a:moveTo>
                <a:lnTo>
                  <a:pt x="1054076" y="74113"/>
                </a:lnTo>
                <a:lnTo>
                  <a:pt x="1051303" y="138478"/>
                </a:lnTo>
                <a:lnTo>
                  <a:pt x="1047075" y="189235"/>
                </a:lnTo>
                <a:lnTo>
                  <a:pt x="1041716" y="222521"/>
                </a:lnTo>
                <a:lnTo>
                  <a:pt x="1035547" y="234474"/>
                </a:lnTo>
                <a:lnTo>
                  <a:pt x="19549" y="234474"/>
                </a:lnTo>
                <a:lnTo>
                  <a:pt x="8704" y="195082"/>
                </a:lnTo>
                <a:lnTo>
                  <a:pt x="3280" y="130088"/>
                </a:lnTo>
                <a:lnTo>
                  <a:pt x="1484" y="89734"/>
                </a:lnTo>
                <a:lnTo>
                  <a:pt x="377" y="45962"/>
                </a:lnTo>
                <a:lnTo>
                  <a:pt x="0" y="0"/>
                </a:lnTo>
              </a:path>
            </a:pathLst>
          </a:custGeom>
          <a:ln w="25399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2" name="object 81">
            <a:extLst>
              <a:ext uri="{FF2B5EF4-FFF2-40B4-BE49-F238E27FC236}">
                <a16:creationId xmlns:a16="http://schemas.microsoft.com/office/drawing/2014/main" id="{715DFFC4-999A-FDDF-9AC9-30B20965C883}"/>
              </a:ext>
            </a:extLst>
          </p:cNvPr>
          <p:cNvSpPr/>
          <p:nvPr/>
        </p:nvSpPr>
        <p:spPr>
          <a:xfrm>
            <a:off x="4071505" y="3988999"/>
            <a:ext cx="1361181" cy="903741"/>
          </a:xfrm>
          <a:custGeom>
            <a:avLst/>
            <a:gdLst/>
            <a:ahLst/>
            <a:cxnLst/>
            <a:rect l="l" t="t" r="r" b="b"/>
            <a:pathLst>
              <a:path w="1163954" h="772794">
                <a:moveTo>
                  <a:pt x="1034622" y="772443"/>
                </a:moveTo>
                <a:lnTo>
                  <a:pt x="128749" y="772443"/>
                </a:lnTo>
                <a:lnTo>
                  <a:pt x="78637" y="762324"/>
                </a:lnTo>
                <a:lnTo>
                  <a:pt x="37712" y="734731"/>
                </a:lnTo>
                <a:lnTo>
                  <a:pt x="10118" y="693806"/>
                </a:lnTo>
                <a:lnTo>
                  <a:pt x="0" y="643693"/>
                </a:lnTo>
                <a:lnTo>
                  <a:pt x="0" y="128742"/>
                </a:lnTo>
                <a:lnTo>
                  <a:pt x="10118" y="78629"/>
                </a:lnTo>
                <a:lnTo>
                  <a:pt x="37712" y="37707"/>
                </a:lnTo>
                <a:lnTo>
                  <a:pt x="78637" y="10117"/>
                </a:lnTo>
                <a:lnTo>
                  <a:pt x="128749" y="0"/>
                </a:lnTo>
                <a:lnTo>
                  <a:pt x="1034622" y="0"/>
                </a:lnTo>
                <a:lnTo>
                  <a:pt x="1083897" y="9799"/>
                </a:lnTo>
                <a:lnTo>
                  <a:pt x="1125673" y="37707"/>
                </a:lnTo>
                <a:lnTo>
                  <a:pt x="1153569" y="79473"/>
                </a:lnTo>
                <a:lnTo>
                  <a:pt x="1163372" y="128742"/>
                </a:lnTo>
                <a:lnTo>
                  <a:pt x="1163372" y="643693"/>
                </a:lnTo>
                <a:lnTo>
                  <a:pt x="1153253" y="693806"/>
                </a:lnTo>
                <a:lnTo>
                  <a:pt x="1125660" y="734731"/>
                </a:lnTo>
                <a:lnTo>
                  <a:pt x="1084735" y="762324"/>
                </a:lnTo>
                <a:lnTo>
                  <a:pt x="1034622" y="772443"/>
                </a:lnTo>
                <a:close/>
              </a:path>
            </a:pathLst>
          </a:custGeom>
          <a:solidFill>
            <a:srgbClr val="F6CAAC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3" name="object 82">
            <a:extLst>
              <a:ext uri="{FF2B5EF4-FFF2-40B4-BE49-F238E27FC236}">
                <a16:creationId xmlns:a16="http://schemas.microsoft.com/office/drawing/2014/main" id="{49A6FB0E-2406-91F9-4793-595EC67DFC78}"/>
              </a:ext>
            </a:extLst>
          </p:cNvPr>
          <p:cNvSpPr/>
          <p:nvPr/>
        </p:nvSpPr>
        <p:spPr>
          <a:xfrm>
            <a:off x="4071505" y="3988999"/>
            <a:ext cx="1361181" cy="903741"/>
          </a:xfrm>
          <a:custGeom>
            <a:avLst/>
            <a:gdLst/>
            <a:ahLst/>
            <a:cxnLst/>
            <a:rect l="l" t="t" r="r" b="b"/>
            <a:pathLst>
              <a:path w="1163954" h="772794">
                <a:moveTo>
                  <a:pt x="0" y="128742"/>
                </a:moveTo>
                <a:lnTo>
                  <a:pt x="10118" y="78629"/>
                </a:lnTo>
                <a:lnTo>
                  <a:pt x="37712" y="37707"/>
                </a:lnTo>
                <a:lnTo>
                  <a:pt x="78637" y="10117"/>
                </a:lnTo>
                <a:lnTo>
                  <a:pt x="128749" y="0"/>
                </a:lnTo>
                <a:lnTo>
                  <a:pt x="1034622" y="0"/>
                </a:lnTo>
                <a:lnTo>
                  <a:pt x="1083897" y="9799"/>
                </a:lnTo>
                <a:lnTo>
                  <a:pt x="1125672" y="37707"/>
                </a:lnTo>
                <a:lnTo>
                  <a:pt x="1153569" y="79473"/>
                </a:lnTo>
                <a:lnTo>
                  <a:pt x="1163372" y="128742"/>
                </a:lnTo>
                <a:lnTo>
                  <a:pt x="1163372" y="643693"/>
                </a:lnTo>
                <a:lnTo>
                  <a:pt x="1153253" y="693806"/>
                </a:lnTo>
                <a:lnTo>
                  <a:pt x="1125660" y="734731"/>
                </a:lnTo>
                <a:lnTo>
                  <a:pt x="1084735" y="762324"/>
                </a:lnTo>
                <a:lnTo>
                  <a:pt x="1034622" y="772443"/>
                </a:lnTo>
                <a:lnTo>
                  <a:pt x="128749" y="772443"/>
                </a:lnTo>
                <a:lnTo>
                  <a:pt x="78637" y="762324"/>
                </a:lnTo>
                <a:lnTo>
                  <a:pt x="37712" y="734731"/>
                </a:lnTo>
                <a:lnTo>
                  <a:pt x="10118" y="693806"/>
                </a:lnTo>
                <a:lnTo>
                  <a:pt x="0" y="643693"/>
                </a:lnTo>
                <a:lnTo>
                  <a:pt x="0" y="128742"/>
                </a:lnTo>
                <a:close/>
              </a:path>
            </a:pathLst>
          </a:custGeom>
          <a:ln w="25399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4" name="object 83">
            <a:extLst>
              <a:ext uri="{FF2B5EF4-FFF2-40B4-BE49-F238E27FC236}">
                <a16:creationId xmlns:a16="http://schemas.microsoft.com/office/drawing/2014/main" id="{4702E12B-CB6E-DC98-C272-83A439352F3C}"/>
              </a:ext>
            </a:extLst>
          </p:cNvPr>
          <p:cNvSpPr/>
          <p:nvPr/>
        </p:nvSpPr>
        <p:spPr>
          <a:xfrm>
            <a:off x="3640711" y="4277383"/>
            <a:ext cx="576998" cy="326743"/>
          </a:xfrm>
          <a:custGeom>
            <a:avLst/>
            <a:gdLst/>
            <a:ahLst/>
            <a:cxnLst/>
            <a:rect l="l" t="t" r="r" b="b"/>
            <a:pathLst>
              <a:path w="493395" h="279400">
                <a:moveTo>
                  <a:pt x="353399" y="279244"/>
                </a:moveTo>
                <a:lnTo>
                  <a:pt x="353399" y="209419"/>
                </a:lnTo>
                <a:lnTo>
                  <a:pt x="0" y="209419"/>
                </a:lnTo>
                <a:lnTo>
                  <a:pt x="0" y="69819"/>
                </a:lnTo>
                <a:lnTo>
                  <a:pt x="353399" y="69819"/>
                </a:lnTo>
                <a:lnTo>
                  <a:pt x="353399" y="0"/>
                </a:lnTo>
                <a:lnTo>
                  <a:pt x="492999" y="139619"/>
                </a:lnTo>
                <a:lnTo>
                  <a:pt x="353399" y="279244"/>
                </a:lnTo>
                <a:close/>
              </a:path>
            </a:pathLst>
          </a:custGeom>
          <a:solidFill>
            <a:srgbClr val="3A80BA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5" name="object 84">
            <a:extLst>
              <a:ext uri="{FF2B5EF4-FFF2-40B4-BE49-F238E27FC236}">
                <a16:creationId xmlns:a16="http://schemas.microsoft.com/office/drawing/2014/main" id="{1408B962-3305-2AAD-B6BA-1378F78C3320}"/>
              </a:ext>
            </a:extLst>
          </p:cNvPr>
          <p:cNvSpPr/>
          <p:nvPr/>
        </p:nvSpPr>
        <p:spPr>
          <a:xfrm>
            <a:off x="3640711" y="4277382"/>
            <a:ext cx="576998" cy="326743"/>
          </a:xfrm>
          <a:custGeom>
            <a:avLst/>
            <a:gdLst/>
            <a:ahLst/>
            <a:cxnLst/>
            <a:rect l="l" t="t" r="r" b="b"/>
            <a:pathLst>
              <a:path w="493395" h="279400">
                <a:moveTo>
                  <a:pt x="0" y="69819"/>
                </a:moveTo>
                <a:lnTo>
                  <a:pt x="353399" y="69819"/>
                </a:lnTo>
                <a:lnTo>
                  <a:pt x="353399" y="0"/>
                </a:lnTo>
                <a:lnTo>
                  <a:pt x="492999" y="139619"/>
                </a:lnTo>
                <a:lnTo>
                  <a:pt x="353399" y="279244"/>
                </a:lnTo>
                <a:lnTo>
                  <a:pt x="353399" y="209419"/>
                </a:lnTo>
                <a:lnTo>
                  <a:pt x="0" y="209419"/>
                </a:lnTo>
                <a:lnTo>
                  <a:pt x="0" y="69819"/>
                </a:lnTo>
                <a:close/>
              </a:path>
            </a:pathLst>
          </a:custGeom>
          <a:ln w="25399">
            <a:solidFill>
              <a:srgbClr val="2A5D87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</p:spTree>
    <p:extLst>
      <p:ext uri="{BB962C8B-B14F-4D97-AF65-F5344CB8AC3E}">
        <p14:creationId xmlns:p14="http://schemas.microsoft.com/office/powerpoint/2010/main" val="11098099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3971E70-978B-79F2-6B2E-758208ED5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2" y="614832"/>
            <a:ext cx="7192858" cy="792000"/>
          </a:xfrm>
        </p:spPr>
        <p:txBody>
          <a:bodyPr/>
          <a:lstStyle/>
          <a:p>
            <a:r>
              <a:rPr lang="en-US" dirty="0" err="1"/>
              <a:t>Funktionale</a:t>
            </a:r>
            <a:r>
              <a:rPr lang="en-US" dirty="0"/>
              <a:t> </a:t>
            </a:r>
            <a:r>
              <a:rPr lang="en-US" dirty="0" err="1"/>
              <a:t>Abhängigkeiten</a:t>
            </a:r>
            <a:r>
              <a:rPr lang="en-US" dirty="0"/>
              <a:t>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Bestimmung</a:t>
            </a:r>
            <a:r>
              <a:rPr lang="en-US" dirty="0"/>
              <a:t> von </a:t>
            </a:r>
            <a:r>
              <a:rPr lang="en-US" dirty="0" err="1"/>
              <a:t>relationalen</a:t>
            </a:r>
            <a:r>
              <a:rPr lang="en-US" dirty="0"/>
              <a:t> Schemata 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AFC2B2FA-6F54-118D-E2D0-3D56F7717D82}"/>
              </a:ext>
            </a:extLst>
          </p:cNvPr>
          <p:cNvSpPr txBox="1"/>
          <p:nvPr/>
        </p:nvSpPr>
        <p:spPr>
          <a:xfrm>
            <a:off x="698500" y="2254250"/>
            <a:ext cx="8508365" cy="3296608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Start mit gegebenen relationalem Schema</a:t>
            </a:r>
            <a:endParaRPr sz="2400" dirty="0">
              <a:latin typeface="Tahoma"/>
              <a:cs typeface="Tahoma"/>
            </a:endParaRPr>
          </a:p>
          <a:p>
            <a:pPr marL="12700" marR="175895">
              <a:lnSpc>
                <a:spcPct val="102800"/>
              </a:lnSpc>
              <a:spcBef>
                <a:spcPts val="128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Bestimmung der </a:t>
            </a:r>
            <a:r>
              <a:rPr lang="de-DE" sz="2400" b="1" spc="-5" dirty="0">
                <a:latin typeface="Tahoma"/>
                <a:cs typeface="Tahoma"/>
              </a:rPr>
              <a:t>funktionalen Abhängigkeiten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Nutze diese zur </a:t>
            </a:r>
            <a:r>
              <a:rPr lang="de-DE" sz="2400" b="1" spc="-5" dirty="0">
                <a:latin typeface="Tahoma"/>
                <a:cs typeface="Tahoma"/>
              </a:rPr>
              <a:t>Bestimmung </a:t>
            </a:r>
            <a:r>
              <a:rPr lang="de-DE" sz="2400" spc="-5" dirty="0">
                <a:latin typeface="Tahoma"/>
                <a:cs typeface="Tahoma"/>
              </a:rPr>
              <a:t>eines verbesserten Schemas mit </a:t>
            </a:r>
            <a:r>
              <a:rPr lang="de-DE" sz="2400" b="1" spc="-5" dirty="0">
                <a:latin typeface="Tahoma"/>
                <a:cs typeface="Tahoma"/>
              </a:rPr>
              <a:t>weniger Anomalien</a:t>
            </a:r>
            <a:endParaRPr lang="de-DE" sz="2400" spc="-5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endParaRPr lang="de-DE" sz="2400" spc="-5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  <a:buClr>
                <a:schemeClr val="accent1"/>
              </a:buClr>
              <a:buSzPct val="170000"/>
              <a:tabLst>
                <a:tab pos="152400" algn="l"/>
              </a:tabLst>
            </a:pPr>
            <a:r>
              <a:rPr lang="de-DE" sz="2400" spc="-5" dirty="0">
                <a:latin typeface="Tahoma"/>
                <a:cs typeface="Tahoma"/>
              </a:rPr>
              <a:t>Genau so wie wir das im </a:t>
            </a:r>
            <a:r>
              <a:rPr lang="de-DE" sz="2400" spc="-5" dirty="0" err="1">
                <a:latin typeface="Tahoma"/>
                <a:cs typeface="Tahoma"/>
              </a:rPr>
              <a:t>Beipiel</a:t>
            </a:r>
            <a:r>
              <a:rPr lang="de-DE" sz="2400" spc="-5" dirty="0">
                <a:latin typeface="Tahoma"/>
                <a:cs typeface="Tahoma"/>
              </a:rPr>
              <a:t> der </a:t>
            </a:r>
            <a:r>
              <a:rPr lang="de-DE" sz="2400" spc="-5" dirty="0" err="1">
                <a:latin typeface="Tahoma"/>
                <a:cs typeface="Tahoma"/>
              </a:rPr>
              <a:t>student</a:t>
            </a:r>
            <a:r>
              <a:rPr lang="de-DE" sz="2400" spc="-5" dirty="0">
                <a:latin typeface="Tahoma"/>
                <a:cs typeface="Tahoma"/>
              </a:rPr>
              <a:t>, </a:t>
            </a:r>
            <a:r>
              <a:rPr lang="de-DE" sz="2400" spc="-5" dirty="0" err="1">
                <a:latin typeface="Tahoma"/>
                <a:cs typeface="Tahoma"/>
              </a:rPr>
              <a:t>course</a:t>
            </a:r>
            <a:r>
              <a:rPr lang="de-DE" sz="2400" spc="-5" dirty="0">
                <a:latin typeface="Tahoma"/>
                <a:cs typeface="Tahoma"/>
              </a:rPr>
              <a:t> und </a:t>
            </a:r>
            <a:r>
              <a:rPr lang="de-DE" sz="2400" spc="-5" dirty="0" err="1">
                <a:latin typeface="Tahoma"/>
                <a:cs typeface="Tahoma"/>
              </a:rPr>
              <a:t>course</a:t>
            </a:r>
            <a:r>
              <a:rPr lang="de-DE" sz="2400" spc="-5" dirty="0">
                <a:latin typeface="Tahoma"/>
                <a:cs typeface="Tahoma"/>
              </a:rPr>
              <a:t>, </a:t>
            </a:r>
            <a:r>
              <a:rPr lang="de-DE" sz="2400" spc="-5" dirty="0" err="1">
                <a:latin typeface="Tahoma"/>
                <a:cs typeface="Tahoma"/>
              </a:rPr>
              <a:t>room</a:t>
            </a:r>
            <a:r>
              <a:rPr lang="de-DE" sz="2400" spc="-5" dirty="0">
                <a:latin typeface="Tahoma"/>
                <a:cs typeface="Tahoma"/>
              </a:rPr>
              <a:t> Relationen schon durchgeführt haben.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25F0CD-D74E-1FF5-6962-4D1CDE5D3946}"/>
              </a:ext>
            </a:extLst>
          </p:cNvPr>
          <p:cNvSpPr txBox="1"/>
          <p:nvPr/>
        </p:nvSpPr>
        <p:spPr>
          <a:xfrm>
            <a:off x="2451100" y="5911850"/>
            <a:ext cx="579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Bestimmung</a:t>
            </a:r>
            <a:r>
              <a:rPr lang="en-US" dirty="0">
                <a:solidFill>
                  <a:srgbClr val="FF0000"/>
                </a:solidFill>
              </a:rPr>
              <a:t> von </a:t>
            </a:r>
            <a:r>
              <a:rPr lang="en-US" dirty="0" err="1">
                <a:solidFill>
                  <a:srgbClr val="FF0000"/>
                </a:solidFill>
              </a:rPr>
              <a:t>funktionalen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Abhängigkeiten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ist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aber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nicht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immer</a:t>
            </a:r>
            <a:r>
              <a:rPr lang="en-US" dirty="0">
                <a:solidFill>
                  <a:srgbClr val="FF0000"/>
                </a:solidFill>
              </a:rPr>
              <a:t> so </a:t>
            </a:r>
            <a:r>
              <a:rPr lang="en-US" dirty="0" err="1">
                <a:solidFill>
                  <a:srgbClr val="FF0000"/>
                </a:solidFill>
              </a:rPr>
              <a:t>einfach</a:t>
            </a:r>
            <a:r>
              <a:rPr lang="en-US" dirty="0">
                <a:solidFill>
                  <a:srgbClr val="FF0000"/>
                </a:solidFill>
              </a:rPr>
              <a:t> … (</a:t>
            </a:r>
            <a:r>
              <a:rPr lang="en-US" dirty="0" err="1">
                <a:solidFill>
                  <a:srgbClr val="FF0000"/>
                </a:solidFill>
              </a:rPr>
              <a:t>siehe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nächste</a:t>
            </a:r>
            <a:r>
              <a:rPr lang="en-US" dirty="0">
                <a:solidFill>
                  <a:srgbClr val="FF0000"/>
                </a:solidFill>
              </a:rPr>
              <a:t> Seiten)</a:t>
            </a:r>
          </a:p>
        </p:txBody>
      </p:sp>
    </p:spTree>
    <p:extLst>
      <p:ext uri="{BB962C8B-B14F-4D97-AF65-F5344CB8AC3E}">
        <p14:creationId xmlns:p14="http://schemas.microsoft.com/office/powerpoint/2010/main" val="30956532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74D99-95D1-2AEB-14F6-7CCB64D40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Funktionale</a:t>
            </a:r>
            <a:r>
              <a:rPr lang="en-US" dirty="0"/>
              <a:t> </a:t>
            </a:r>
            <a:r>
              <a:rPr lang="en-US" dirty="0" err="1"/>
              <a:t>Abhängigkeiten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Constraints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8810497-B9F4-521D-E26E-B0AAA5BC1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968154"/>
              </p:ext>
            </p:extLst>
          </p:nvPr>
        </p:nvGraphicFramePr>
        <p:xfrm>
          <a:off x="2927113" y="1949450"/>
          <a:ext cx="3020143" cy="1815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0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13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b="1" spc="-5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Student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b="1" spc="-5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b="1" spc="-5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Room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Mary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CS145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B01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Joe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CS145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B01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Sam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CS145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B01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..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..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..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4">
            <a:extLst>
              <a:ext uri="{FF2B5EF4-FFF2-40B4-BE49-F238E27FC236}">
                <a16:creationId xmlns:a16="http://schemas.microsoft.com/office/drawing/2014/main" id="{9A85F6A3-C3FA-30A2-13D7-FC1E30AC0ACF}"/>
              </a:ext>
            </a:extLst>
          </p:cNvPr>
          <p:cNvSpPr txBox="1"/>
          <p:nvPr/>
        </p:nvSpPr>
        <p:spPr>
          <a:xfrm>
            <a:off x="2277339" y="4259694"/>
            <a:ext cx="2304279" cy="908757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37130" rIns="0" bIns="0" rtlCol="0">
            <a:spAutoFit/>
          </a:bodyPr>
          <a:lstStyle/>
          <a:p>
            <a:pPr marL="99504">
              <a:lnSpc>
                <a:spcPts val="1672"/>
              </a:lnSpc>
              <a:spcBef>
                <a:spcPts val="292"/>
              </a:spcBef>
            </a:pPr>
            <a:r>
              <a:rPr lang="de-DE" sz="1403" spc="-6" dirty="0">
                <a:latin typeface="Arial"/>
                <a:cs typeface="Arial"/>
              </a:rPr>
              <a:t>Die</a:t>
            </a:r>
            <a:r>
              <a:rPr sz="1403" spc="-6" dirty="0">
                <a:latin typeface="Arial"/>
                <a:cs typeface="Arial"/>
              </a:rPr>
              <a:t> FD {Course}</a:t>
            </a:r>
            <a:r>
              <a:rPr sz="1403" spc="-58" dirty="0">
                <a:latin typeface="Arial"/>
                <a:cs typeface="Arial"/>
              </a:rPr>
              <a:t> </a:t>
            </a:r>
            <a:r>
              <a:rPr sz="1403" dirty="0">
                <a:latin typeface="Arial"/>
                <a:cs typeface="Arial"/>
              </a:rPr>
              <a:t>-&gt;</a:t>
            </a:r>
          </a:p>
          <a:p>
            <a:pPr marL="99504" marR="443314">
              <a:lnSpc>
                <a:spcPts val="1661"/>
              </a:lnSpc>
              <a:spcBef>
                <a:spcPts val="64"/>
              </a:spcBef>
            </a:pPr>
            <a:r>
              <a:rPr sz="1403" spc="-6" dirty="0">
                <a:latin typeface="Arial"/>
                <a:cs typeface="Arial"/>
              </a:rPr>
              <a:t>{Room} </a:t>
            </a:r>
            <a:r>
              <a:rPr lang="de-DE" sz="1403" b="1" i="1" spc="-6" dirty="0">
                <a:latin typeface="Arial"/>
                <a:cs typeface="Arial"/>
              </a:rPr>
              <a:t>gilt auf dieser Ausprägung (Instanz)</a:t>
            </a:r>
            <a:endParaRPr sz="1403" dirty="0">
              <a:latin typeface="Arial"/>
              <a:cs typeface="Arial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C8730B8B-8F6A-DDDE-2414-E0173A752DA0}"/>
              </a:ext>
            </a:extLst>
          </p:cNvPr>
          <p:cNvSpPr/>
          <p:nvPr/>
        </p:nvSpPr>
        <p:spPr>
          <a:xfrm>
            <a:off x="2819317" y="5451724"/>
            <a:ext cx="4256567" cy="651995"/>
          </a:xfrm>
          <a:custGeom>
            <a:avLst/>
            <a:gdLst/>
            <a:ahLst/>
            <a:cxnLst/>
            <a:rect l="l" t="t" r="r" b="b"/>
            <a:pathLst>
              <a:path w="3639820" h="448945">
                <a:moveTo>
                  <a:pt x="0" y="0"/>
                </a:moveTo>
                <a:lnTo>
                  <a:pt x="3639292" y="0"/>
                </a:lnTo>
                <a:lnTo>
                  <a:pt x="3639292" y="448598"/>
                </a:lnTo>
                <a:lnTo>
                  <a:pt x="0" y="448598"/>
                </a:lnTo>
                <a:lnTo>
                  <a:pt x="0" y="0"/>
                </a:lnTo>
                <a:close/>
              </a:path>
            </a:pathLst>
          </a:custGeom>
          <a:solidFill>
            <a:srgbClr val="CFE1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D4D035F-FD60-03AC-F6A8-BD1F594F9B5B}"/>
              </a:ext>
            </a:extLst>
          </p:cNvPr>
          <p:cNvSpPr txBox="1"/>
          <p:nvPr/>
        </p:nvSpPr>
        <p:spPr>
          <a:xfrm>
            <a:off x="2819317" y="5451724"/>
            <a:ext cx="3802840" cy="664427"/>
          </a:xfrm>
          <a:prstGeom prst="rect">
            <a:avLst/>
          </a:prstGeom>
        </p:spPr>
        <p:txBody>
          <a:bodyPr vert="horz" wrap="square" lIns="0" tIns="23763" rIns="0" bIns="0" rtlCol="0">
            <a:spAutoFit/>
          </a:bodyPr>
          <a:lstStyle/>
          <a:p>
            <a:pPr marL="14851" marR="5941">
              <a:lnSpc>
                <a:spcPts val="1661"/>
              </a:lnSpc>
              <a:spcBef>
                <a:spcPts val="187"/>
              </a:spcBef>
            </a:pPr>
            <a:r>
              <a:rPr lang="de-DE" sz="1403" i="1" spc="-6" dirty="0">
                <a:latin typeface="Arial"/>
                <a:cs typeface="Arial"/>
              </a:rPr>
              <a:t>Bemerkung</a:t>
            </a:r>
            <a:r>
              <a:rPr sz="1403" i="1" spc="-6" dirty="0">
                <a:latin typeface="Arial"/>
                <a:cs typeface="Arial"/>
              </a:rPr>
              <a:t>: </a:t>
            </a:r>
            <a:r>
              <a:rPr lang="de-DE" sz="1403" i="1" spc="-6" dirty="0">
                <a:latin typeface="Arial"/>
                <a:cs typeface="Arial"/>
              </a:rPr>
              <a:t>eine Ausprägung</a:t>
            </a:r>
            <a:r>
              <a:rPr sz="1403" i="1" spc="-6" dirty="0">
                <a:latin typeface="Arial"/>
                <a:cs typeface="Arial"/>
              </a:rPr>
              <a:t> </a:t>
            </a:r>
            <a:r>
              <a:rPr lang="de-DE" sz="1403" b="1" i="1" u="heavy" spc="-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(I</a:t>
            </a:r>
            <a:r>
              <a:rPr sz="1403" b="1" i="1" u="heavy" spc="-6" dirty="0" err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nstan</a:t>
            </a:r>
            <a:r>
              <a:rPr lang="de-DE" sz="1403" b="1" i="1" u="heavy" spc="-6" dirty="0" err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z</a:t>
            </a:r>
            <a:r>
              <a:rPr lang="de-DE" sz="1403" b="1" i="1" u="heavy" spc="-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)</a:t>
            </a:r>
            <a:r>
              <a:rPr sz="1403" b="1" i="1" spc="-6" dirty="0">
                <a:latin typeface="Arial"/>
                <a:cs typeface="Arial"/>
              </a:rPr>
              <a:t> </a:t>
            </a:r>
            <a:r>
              <a:rPr lang="de-DE" sz="1403" i="1" spc="-6" dirty="0">
                <a:latin typeface="Arial"/>
                <a:cs typeface="Arial"/>
              </a:rPr>
              <a:t>eines</a:t>
            </a:r>
            <a:r>
              <a:rPr sz="1403" i="1" dirty="0">
                <a:latin typeface="Arial"/>
                <a:cs typeface="Arial"/>
              </a:rPr>
              <a:t> </a:t>
            </a:r>
            <a:r>
              <a:rPr lang="de-DE" sz="1403" i="1" dirty="0">
                <a:latin typeface="Arial"/>
                <a:cs typeface="Arial"/>
              </a:rPr>
              <a:t>S</a:t>
            </a:r>
            <a:r>
              <a:rPr sz="1403" i="1" dirty="0" err="1">
                <a:latin typeface="Arial"/>
                <a:cs typeface="Arial"/>
              </a:rPr>
              <a:t>chema</a:t>
            </a:r>
            <a:r>
              <a:rPr lang="de-DE" sz="1403" i="1" dirty="0">
                <a:latin typeface="Arial"/>
                <a:cs typeface="Arial"/>
              </a:rPr>
              <a:t>s</a:t>
            </a:r>
            <a:r>
              <a:rPr sz="1403" i="1" dirty="0">
                <a:latin typeface="Arial"/>
                <a:cs typeface="Arial"/>
              </a:rPr>
              <a:t> </a:t>
            </a:r>
            <a:r>
              <a:rPr sz="1403" i="1" spc="-6" dirty="0">
                <a:latin typeface="Arial"/>
                <a:cs typeface="Arial"/>
              </a:rPr>
              <a:t>is</a:t>
            </a:r>
            <a:r>
              <a:rPr lang="de-DE" sz="1403" i="1" spc="-6" dirty="0">
                <a:latin typeface="Arial"/>
                <a:cs typeface="Arial"/>
              </a:rPr>
              <a:t>t</a:t>
            </a:r>
            <a:r>
              <a:rPr sz="1403" i="1" spc="-6" dirty="0">
                <a:latin typeface="Arial"/>
                <a:cs typeface="Arial"/>
              </a:rPr>
              <a:t> </a:t>
            </a:r>
            <a:r>
              <a:rPr lang="de-DE" sz="1403" i="1" spc="-6" dirty="0">
                <a:latin typeface="Arial"/>
                <a:cs typeface="Arial"/>
              </a:rPr>
              <a:t>ein</a:t>
            </a:r>
            <a:r>
              <a:rPr sz="1403" i="1" dirty="0">
                <a:latin typeface="Arial"/>
                <a:cs typeface="Arial"/>
              </a:rPr>
              <a:t> </a:t>
            </a:r>
            <a:r>
              <a:rPr lang="de-DE" sz="1403" i="1" dirty="0">
                <a:latin typeface="Arial"/>
                <a:cs typeface="Arial"/>
              </a:rPr>
              <a:t>M</a:t>
            </a:r>
            <a:r>
              <a:rPr sz="1403" i="1" dirty="0" err="1">
                <a:latin typeface="Arial"/>
                <a:cs typeface="Arial"/>
              </a:rPr>
              <a:t>ultiset</a:t>
            </a:r>
            <a:r>
              <a:rPr sz="1403" i="1" dirty="0">
                <a:latin typeface="Arial"/>
                <a:cs typeface="Arial"/>
              </a:rPr>
              <a:t> </a:t>
            </a:r>
            <a:r>
              <a:rPr lang="de-DE" sz="1403" i="1" spc="-6" dirty="0">
                <a:latin typeface="Arial"/>
                <a:cs typeface="Arial"/>
              </a:rPr>
              <a:t>von</a:t>
            </a:r>
            <a:r>
              <a:rPr sz="1403" i="1" spc="-6" dirty="0">
                <a:latin typeface="Arial"/>
                <a:cs typeface="Arial"/>
              </a:rPr>
              <a:t> </a:t>
            </a:r>
            <a:r>
              <a:rPr lang="de-DE" sz="1403" i="1" spc="-6" dirty="0">
                <a:latin typeface="Arial"/>
                <a:cs typeface="Arial"/>
              </a:rPr>
              <a:t>T</a:t>
            </a:r>
            <a:r>
              <a:rPr sz="1403" i="1" spc="-6" dirty="0">
                <a:latin typeface="Arial"/>
                <a:cs typeface="Arial"/>
              </a:rPr>
              <a:t>up</a:t>
            </a:r>
            <a:r>
              <a:rPr lang="de-DE" sz="1403" i="1" spc="-6" dirty="0" err="1">
                <a:latin typeface="Arial"/>
                <a:cs typeface="Arial"/>
              </a:rPr>
              <a:t>eln</a:t>
            </a:r>
            <a:r>
              <a:rPr lang="de-DE" sz="1403" i="1" spc="-6" dirty="0">
                <a:latin typeface="Arial"/>
                <a:cs typeface="Arial"/>
              </a:rPr>
              <a:t> die dem Schema entsprechen</a:t>
            </a:r>
            <a:r>
              <a:rPr sz="1403" i="1" dirty="0">
                <a:latin typeface="Arial"/>
                <a:cs typeface="Arial"/>
              </a:rPr>
              <a:t>, </a:t>
            </a:r>
            <a:r>
              <a:rPr lang="de-DE" sz="1403" b="1" i="1" spc="-6" dirty="0">
                <a:latin typeface="Arial"/>
                <a:cs typeface="Arial"/>
              </a:rPr>
              <a:t>d</a:t>
            </a:r>
            <a:r>
              <a:rPr sz="1403" b="1" i="1" spc="-6" dirty="0">
                <a:latin typeface="Arial"/>
                <a:cs typeface="Arial"/>
              </a:rPr>
              <a:t>.</a:t>
            </a:r>
            <a:r>
              <a:rPr lang="de-DE" sz="1403" b="1" i="1" spc="-6" dirty="0">
                <a:latin typeface="Arial"/>
                <a:cs typeface="Arial"/>
              </a:rPr>
              <a:t>h</a:t>
            </a:r>
            <a:r>
              <a:rPr sz="1403" b="1" i="1" spc="-6" dirty="0">
                <a:latin typeface="Arial"/>
                <a:cs typeface="Arial"/>
              </a:rPr>
              <a:t>. </a:t>
            </a:r>
            <a:r>
              <a:rPr lang="de-DE" sz="1403" b="1" i="1" spc="-6" dirty="0">
                <a:latin typeface="Arial"/>
                <a:cs typeface="Arial"/>
              </a:rPr>
              <a:t>eine </a:t>
            </a:r>
            <a:r>
              <a:rPr lang="de-DE" sz="1403" b="1" i="1" spc="-47" dirty="0">
                <a:latin typeface="Arial"/>
                <a:cs typeface="Arial"/>
              </a:rPr>
              <a:t>Tabelle</a:t>
            </a:r>
            <a:endParaRPr sz="1403" dirty="0">
              <a:latin typeface="Arial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311FD5F5-45C3-F04B-8629-4D28DC1EB945}"/>
              </a:ext>
            </a:extLst>
          </p:cNvPr>
          <p:cNvSpPr txBox="1"/>
          <p:nvPr/>
        </p:nvSpPr>
        <p:spPr>
          <a:xfrm>
            <a:off x="5370780" y="4272441"/>
            <a:ext cx="2519632" cy="687673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46784" rIns="0" bIns="0" rtlCol="0">
            <a:spAutoFit/>
          </a:bodyPr>
          <a:lstStyle/>
          <a:p>
            <a:pPr marL="100247" marR="103960">
              <a:lnSpc>
                <a:spcPts val="1661"/>
              </a:lnSpc>
              <a:spcBef>
                <a:spcPts val="368"/>
              </a:spcBef>
            </a:pPr>
            <a:r>
              <a:rPr lang="de-DE" sz="1403" spc="-6" dirty="0">
                <a:latin typeface="Arial"/>
                <a:cs typeface="Arial"/>
              </a:rPr>
              <a:t>Kann aber nicht beweisen, </a:t>
            </a:r>
            <a:r>
              <a:rPr lang="de-DE" sz="1403" spc="-6" dirty="0" err="1">
                <a:latin typeface="Arial"/>
                <a:cs typeface="Arial"/>
              </a:rPr>
              <a:t>daß</a:t>
            </a:r>
            <a:r>
              <a:rPr sz="1403" spc="-6" dirty="0">
                <a:latin typeface="Arial"/>
                <a:cs typeface="Arial"/>
              </a:rPr>
              <a:t> FD {Course} </a:t>
            </a:r>
            <a:r>
              <a:rPr sz="1403" dirty="0">
                <a:latin typeface="Arial"/>
                <a:cs typeface="Arial"/>
              </a:rPr>
              <a:t>-&gt; </a:t>
            </a:r>
            <a:r>
              <a:rPr sz="1403" spc="-6" dirty="0">
                <a:latin typeface="Arial"/>
                <a:cs typeface="Arial"/>
              </a:rPr>
              <a:t>{Room}</a:t>
            </a:r>
            <a:r>
              <a:rPr sz="1403" spc="-105" dirty="0">
                <a:latin typeface="Arial"/>
                <a:cs typeface="Arial"/>
              </a:rPr>
              <a:t> </a:t>
            </a:r>
            <a:r>
              <a:rPr lang="de-DE" sz="1403" spc="-6" dirty="0">
                <a:latin typeface="Arial"/>
                <a:cs typeface="Arial"/>
              </a:rPr>
              <a:t>ein </a:t>
            </a:r>
            <a:r>
              <a:rPr lang="de-DE" sz="1403" b="1" spc="-6" dirty="0">
                <a:latin typeface="Arial"/>
                <a:cs typeface="Arial"/>
              </a:rPr>
              <a:t>Teil des Schemas </a:t>
            </a:r>
            <a:r>
              <a:rPr lang="de-DE" sz="1403" spc="-6" dirty="0">
                <a:latin typeface="Arial"/>
                <a:cs typeface="Arial"/>
              </a:rPr>
              <a:t>ist</a:t>
            </a:r>
            <a:endParaRPr sz="1403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00146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1AC558B-CA1E-F184-32AA-D3D1528A3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634667"/>
          </a:xfrm>
        </p:spPr>
        <p:txBody>
          <a:bodyPr/>
          <a:lstStyle/>
          <a:p>
            <a:r>
              <a:rPr lang="en-US" dirty="0" err="1"/>
              <a:t>Funktionale</a:t>
            </a:r>
            <a:r>
              <a:rPr lang="en-US" dirty="0"/>
              <a:t> </a:t>
            </a:r>
            <a:r>
              <a:rPr lang="en-US" dirty="0" err="1"/>
              <a:t>Abhängigkeiten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Constraints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DE7E80DE-E6EB-9BD3-2CD1-BFF087F63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191431"/>
              </p:ext>
            </p:extLst>
          </p:nvPr>
        </p:nvGraphicFramePr>
        <p:xfrm>
          <a:off x="5541414" y="3267126"/>
          <a:ext cx="3020143" cy="1815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0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13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b="1" spc="-5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Student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b="1" spc="-5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b="1" spc="-5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Room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Mary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CS145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B01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Joe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CS145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B01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Sam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CS145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B01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..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..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..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831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4">
            <a:extLst>
              <a:ext uri="{FF2B5EF4-FFF2-40B4-BE49-F238E27FC236}">
                <a16:creationId xmlns:a16="http://schemas.microsoft.com/office/drawing/2014/main" id="{6176864D-F621-2D89-6D8F-67D42072D4F7}"/>
              </a:ext>
            </a:extLst>
          </p:cNvPr>
          <p:cNvSpPr txBox="1"/>
          <p:nvPr/>
        </p:nvSpPr>
        <p:spPr>
          <a:xfrm>
            <a:off x="1231900" y="2889155"/>
            <a:ext cx="4190475" cy="3369894"/>
          </a:xfrm>
          <a:prstGeom prst="rect">
            <a:avLst/>
          </a:prstGeom>
        </p:spPr>
        <p:txBody>
          <a:bodyPr vert="horz" wrap="square" lIns="0" tIns="167827" rIns="0" bIns="0" rtlCol="0">
            <a:spAutoFit/>
          </a:bodyPr>
          <a:lstStyle/>
          <a:p>
            <a:pPr marL="14851">
              <a:spcBef>
                <a:spcPts val="1321"/>
              </a:spcBef>
            </a:pPr>
            <a:r>
              <a:rPr lang="de-DE" sz="1871" spc="-6" dirty="0">
                <a:solidFill>
                  <a:srgbClr val="666666"/>
                </a:solidFill>
                <a:latin typeface="Arial"/>
                <a:cs typeface="Arial"/>
              </a:rPr>
              <a:t>Zusammenfassend</a:t>
            </a:r>
            <a:r>
              <a:rPr sz="1871" spc="-6" dirty="0">
                <a:solidFill>
                  <a:srgbClr val="666666"/>
                </a:solidFill>
                <a:latin typeface="Arial"/>
                <a:cs typeface="Arial"/>
              </a:rPr>
              <a:t>:</a:t>
            </a:r>
            <a:endParaRPr sz="1871" dirty="0">
              <a:latin typeface="Arial"/>
              <a:cs typeface="Arial"/>
            </a:endParaRPr>
          </a:p>
          <a:p>
            <a:pPr marL="282176" indent="-231682">
              <a:spcBef>
                <a:spcPts val="1204"/>
              </a:spcBef>
              <a:buChar char="•"/>
              <a:tabLst>
                <a:tab pos="282176" algn="l"/>
              </a:tabLst>
            </a:pPr>
            <a:r>
              <a:rPr lang="de-DE" sz="1871" spc="-6" dirty="0">
                <a:solidFill>
                  <a:srgbClr val="666666"/>
                </a:solidFill>
                <a:latin typeface="Arial"/>
                <a:cs typeface="Arial"/>
              </a:rPr>
              <a:t>Wir können auf einer einzelnen Instanz überprüfen, ob eine </a:t>
            </a:r>
            <a:r>
              <a:rPr sz="1871" spc="-6" dirty="0">
                <a:solidFill>
                  <a:srgbClr val="666666"/>
                </a:solidFill>
                <a:latin typeface="Arial"/>
                <a:cs typeface="Arial"/>
              </a:rPr>
              <a:t>FD </a:t>
            </a:r>
            <a:r>
              <a:rPr lang="de-DE" sz="1871" b="1" spc="-6" dirty="0">
                <a:solidFill>
                  <a:srgbClr val="666666"/>
                </a:solidFill>
                <a:latin typeface="Arial"/>
                <a:cs typeface="Arial"/>
              </a:rPr>
              <a:t>verletzt </a:t>
            </a:r>
            <a:r>
              <a:rPr lang="de-DE" sz="1871" spc="-6" dirty="0">
                <a:solidFill>
                  <a:srgbClr val="666666"/>
                </a:solidFill>
                <a:latin typeface="Arial"/>
                <a:cs typeface="Arial"/>
              </a:rPr>
              <a:t>wird</a:t>
            </a:r>
            <a:endParaRPr sz="1871" dirty="0">
              <a:latin typeface="Arial"/>
              <a:cs typeface="Arial"/>
            </a:endParaRPr>
          </a:p>
          <a:p>
            <a:pPr marL="281434">
              <a:spcBef>
                <a:spcPts val="6"/>
              </a:spcBef>
            </a:pPr>
            <a:r>
              <a:rPr sz="1871" spc="-6" dirty="0">
                <a:solidFill>
                  <a:srgbClr val="666666"/>
                </a:solidFill>
                <a:latin typeface="Arial"/>
                <a:cs typeface="Arial"/>
              </a:rPr>
              <a:t>by examining </a:t>
            </a:r>
            <a:r>
              <a:rPr sz="1871" dirty="0">
                <a:solidFill>
                  <a:srgbClr val="666666"/>
                </a:solidFill>
                <a:latin typeface="Arial"/>
                <a:cs typeface="Arial"/>
              </a:rPr>
              <a:t>a single</a:t>
            </a:r>
            <a:r>
              <a:rPr sz="1871" spc="-47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871" spc="-6" dirty="0">
                <a:solidFill>
                  <a:srgbClr val="666666"/>
                </a:solidFill>
                <a:latin typeface="Arial"/>
                <a:cs typeface="Arial"/>
              </a:rPr>
              <a:t>instance;</a:t>
            </a:r>
            <a:endParaRPr sz="1871" dirty="0">
              <a:latin typeface="Arial"/>
              <a:cs typeface="Arial"/>
            </a:endParaRPr>
          </a:p>
          <a:p>
            <a:pPr marL="282176" marR="98019" indent="-231682">
              <a:lnSpc>
                <a:spcPct val="100899"/>
              </a:lnSpc>
              <a:spcBef>
                <a:spcPts val="1181"/>
              </a:spcBef>
              <a:buChar char="•"/>
              <a:tabLst>
                <a:tab pos="282176" algn="l"/>
              </a:tabLst>
            </a:pPr>
            <a:r>
              <a:rPr lang="de-DE" sz="1871" dirty="0">
                <a:solidFill>
                  <a:srgbClr val="666666"/>
                </a:solidFill>
                <a:latin typeface="Arial"/>
                <a:cs typeface="Arial"/>
              </a:rPr>
              <a:t>Wir können aber </a:t>
            </a:r>
            <a:r>
              <a:rPr lang="de-DE" sz="1871" b="1" dirty="0">
                <a:solidFill>
                  <a:srgbClr val="666666"/>
                </a:solidFill>
                <a:latin typeface="Arial"/>
                <a:cs typeface="Arial"/>
              </a:rPr>
              <a:t>nicht beweisen</a:t>
            </a:r>
            <a:r>
              <a:rPr lang="de-DE" sz="1871" dirty="0">
                <a:solidFill>
                  <a:srgbClr val="666666"/>
                </a:solidFill>
                <a:latin typeface="Arial"/>
                <a:cs typeface="Arial"/>
              </a:rPr>
              <a:t>, </a:t>
            </a:r>
            <a:r>
              <a:rPr lang="de-DE" sz="1871" dirty="0" err="1">
                <a:solidFill>
                  <a:srgbClr val="666666"/>
                </a:solidFill>
                <a:latin typeface="Arial"/>
                <a:cs typeface="Arial"/>
              </a:rPr>
              <a:t>daß</a:t>
            </a:r>
            <a:r>
              <a:rPr lang="de-DE" sz="1871" dirty="0">
                <a:solidFill>
                  <a:srgbClr val="666666"/>
                </a:solidFill>
                <a:latin typeface="Arial"/>
                <a:cs typeface="Arial"/>
              </a:rPr>
              <a:t> eine FD erfüllt ist, wenn wir nur einzelne Instanzen überprüfen</a:t>
            </a:r>
            <a:endParaRPr lang="en-GB" sz="1871" dirty="0">
              <a:latin typeface="Arial"/>
              <a:cs typeface="Arial"/>
            </a:endParaRPr>
          </a:p>
          <a:p>
            <a:pPr marL="549501" marR="5941" lvl="1" indent="-236137">
              <a:spcBef>
                <a:spcPts val="631"/>
              </a:spcBef>
              <a:buChar char="•"/>
              <a:tabLst>
                <a:tab pos="548758" algn="l"/>
                <a:tab pos="549501" algn="l"/>
              </a:tabLst>
            </a:pPr>
            <a:r>
              <a:rPr lang="en-GB" sz="1637" i="1" spc="-6" dirty="0">
                <a:solidFill>
                  <a:srgbClr val="666666"/>
                </a:solidFill>
                <a:latin typeface="Arial"/>
                <a:cs typeface="Arial"/>
              </a:rPr>
              <a:t>In </a:t>
            </a:r>
            <a:r>
              <a:rPr lang="en-GB" sz="1637" i="1" spc="-6" dirty="0" err="1">
                <a:solidFill>
                  <a:srgbClr val="666666"/>
                </a:solidFill>
                <a:latin typeface="Arial"/>
                <a:cs typeface="Arial"/>
              </a:rPr>
              <a:t>diesem</a:t>
            </a:r>
            <a:r>
              <a:rPr lang="en-GB" sz="1637" i="1" spc="-6" dirty="0">
                <a:solidFill>
                  <a:srgbClr val="666666"/>
                </a:solidFill>
                <a:latin typeface="Arial"/>
                <a:cs typeface="Arial"/>
              </a:rPr>
              <a:t> Fall </a:t>
            </a:r>
            <a:r>
              <a:rPr lang="en-GB" sz="1637" i="1" spc="-6" dirty="0" err="1">
                <a:solidFill>
                  <a:srgbClr val="666666"/>
                </a:solidFill>
                <a:latin typeface="Arial"/>
                <a:cs typeface="Arial"/>
              </a:rPr>
              <a:t>müßten</a:t>
            </a:r>
            <a:r>
              <a:rPr lang="en-GB" sz="1637" i="1" spc="-6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GB" sz="1637" i="1" spc="-6" dirty="0" err="1">
                <a:solidFill>
                  <a:srgbClr val="666666"/>
                </a:solidFill>
                <a:latin typeface="Arial"/>
                <a:cs typeface="Arial"/>
              </a:rPr>
              <a:t>wir</a:t>
            </a:r>
            <a:r>
              <a:rPr lang="en-GB" sz="1637" i="1" spc="-6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GB" sz="1637" i="1" spc="-6" dirty="0" err="1">
                <a:solidFill>
                  <a:srgbClr val="666666"/>
                </a:solidFill>
                <a:latin typeface="Arial"/>
                <a:cs typeface="Arial"/>
              </a:rPr>
              <a:t>jede</a:t>
            </a:r>
            <a:r>
              <a:rPr lang="en-GB" sz="1637" i="1" spc="-6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GB" sz="1637" i="1" spc="-6" dirty="0" err="1">
                <a:solidFill>
                  <a:srgbClr val="666666"/>
                </a:solidFill>
                <a:latin typeface="Arial"/>
                <a:cs typeface="Arial"/>
              </a:rPr>
              <a:t>mögliche</a:t>
            </a:r>
            <a:r>
              <a:rPr lang="en-GB" sz="1637" i="1" spc="-6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GB" sz="1637" i="1" spc="-6" dirty="0" err="1">
                <a:solidFill>
                  <a:srgbClr val="666666"/>
                </a:solidFill>
                <a:latin typeface="Arial"/>
                <a:cs typeface="Arial"/>
              </a:rPr>
              <a:t>Instanz</a:t>
            </a:r>
            <a:r>
              <a:rPr lang="en-GB" sz="1637" i="1" spc="-6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GB" sz="1637" i="1" spc="-6" dirty="0" err="1">
                <a:solidFill>
                  <a:srgbClr val="666666"/>
                </a:solidFill>
                <a:latin typeface="Arial"/>
                <a:cs typeface="Arial"/>
              </a:rPr>
              <a:t>überprüfen</a:t>
            </a:r>
            <a:endParaRPr lang="en-GB" sz="163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18439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9CB5CB50-8875-5100-D694-C29DBFC6E60F}"/>
              </a:ext>
            </a:extLst>
          </p:cNvPr>
          <p:cNvSpPr txBox="1"/>
          <p:nvPr/>
        </p:nvSpPr>
        <p:spPr>
          <a:xfrm>
            <a:off x="1308100" y="2406650"/>
            <a:ext cx="7050218" cy="302896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4851">
              <a:spcBef>
                <a:spcPts val="117"/>
              </a:spcBef>
            </a:pPr>
            <a:r>
              <a:rPr lang="de-DE" sz="1871" spc="-6" dirty="0">
                <a:solidFill>
                  <a:srgbClr val="666666"/>
                </a:solidFill>
                <a:latin typeface="Arial"/>
                <a:cs typeface="Arial"/>
              </a:rPr>
              <a:t>Eine</a:t>
            </a:r>
            <a:r>
              <a:rPr sz="1871" spc="-6" dirty="0">
                <a:solidFill>
                  <a:srgbClr val="666666"/>
                </a:solidFill>
                <a:latin typeface="Arial"/>
                <a:cs typeface="Arial"/>
              </a:rPr>
              <a:t> FD is</a:t>
            </a:r>
            <a:r>
              <a:rPr lang="de-DE" sz="1871" spc="-6" dirty="0">
                <a:solidFill>
                  <a:srgbClr val="666666"/>
                </a:solidFill>
                <a:latin typeface="Arial"/>
                <a:cs typeface="Arial"/>
              </a:rPr>
              <a:t>t</a:t>
            </a:r>
            <a:r>
              <a:rPr sz="1871" spc="-6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de-DE" sz="1871" spc="-6" dirty="0">
                <a:solidFill>
                  <a:srgbClr val="666666"/>
                </a:solidFill>
                <a:latin typeface="Arial"/>
                <a:cs typeface="Arial"/>
              </a:rPr>
              <a:t>ein</a:t>
            </a:r>
            <a:r>
              <a:rPr sz="1871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de-DE" sz="1871" dirty="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sz="1871" dirty="0" err="1">
                <a:solidFill>
                  <a:srgbClr val="666666"/>
                </a:solidFill>
                <a:latin typeface="Arial"/>
                <a:cs typeface="Arial"/>
              </a:rPr>
              <a:t>onstraint</a:t>
            </a:r>
            <a:r>
              <a:rPr sz="1871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de-DE" sz="1871" spc="-6" dirty="0">
                <a:solidFill>
                  <a:srgbClr val="666666"/>
                </a:solidFill>
                <a:latin typeface="Arial"/>
                <a:cs typeface="Arial"/>
              </a:rPr>
              <a:t>der auf einer Instanz</a:t>
            </a:r>
            <a:r>
              <a:rPr sz="1871" spc="-6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de-DE" sz="1871" u="heavy" spc="-6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Arial"/>
                <a:cs typeface="Arial"/>
              </a:rPr>
              <a:t>gilt</a:t>
            </a:r>
            <a:r>
              <a:rPr sz="1871" spc="-6" dirty="0">
                <a:solidFill>
                  <a:srgbClr val="666666"/>
                </a:solidFill>
                <a:latin typeface="Arial"/>
                <a:cs typeface="Arial"/>
              </a:rPr>
              <a:t> o</a:t>
            </a:r>
            <a:r>
              <a:rPr lang="de-DE" sz="1871" spc="-6" dirty="0">
                <a:solidFill>
                  <a:srgbClr val="666666"/>
                </a:solidFill>
                <a:latin typeface="Arial"/>
                <a:cs typeface="Arial"/>
              </a:rPr>
              <a:t>der</a:t>
            </a:r>
            <a:r>
              <a:rPr sz="1871" spc="-6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871" u="heavy" spc="-6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Arial"/>
                <a:cs typeface="Arial"/>
              </a:rPr>
              <a:t>n</a:t>
            </a:r>
            <a:r>
              <a:rPr lang="de-DE" sz="1871" u="heavy" spc="-6" dirty="0" err="1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Arial"/>
                <a:cs typeface="Arial"/>
              </a:rPr>
              <a:t>icht</a:t>
            </a:r>
            <a:r>
              <a:rPr lang="de-DE" sz="1871" u="heavy" spc="-6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Arial"/>
                <a:cs typeface="Arial"/>
              </a:rPr>
              <a:t> gilt</a:t>
            </a:r>
            <a:r>
              <a:rPr sz="1871" spc="-6" dirty="0">
                <a:solidFill>
                  <a:srgbClr val="666666"/>
                </a:solidFill>
                <a:latin typeface="Arial"/>
                <a:cs typeface="Arial"/>
              </a:rPr>
              <a:t>:</a:t>
            </a:r>
            <a:endParaRPr sz="1871" dirty="0">
              <a:latin typeface="Arial"/>
              <a:cs typeface="Arial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9F71BC6-2583-B37C-8C7D-EEB019CB73D2}"/>
              </a:ext>
            </a:extLst>
          </p:cNvPr>
          <p:cNvGraphicFramePr>
            <a:graphicFrameLocks noGrp="1"/>
          </p:cNvGraphicFramePr>
          <p:nvPr/>
        </p:nvGraphicFramePr>
        <p:xfrm>
          <a:off x="3242220" y="3378669"/>
          <a:ext cx="4651627" cy="1815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2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9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b="1" spc="-5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EmpID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b="1" spc="-5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b="1" spc="-5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Phone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b="1" spc="-5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Position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E0045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6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Smith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6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1234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6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Clerk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6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E3542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6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Mike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6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9876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6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Salesrep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6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E1111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6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Smith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6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9876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6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Salesrep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6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5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E9999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Mary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5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1234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5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Lawyer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D9E863D3-4ED5-C2FB-3068-36F303AA0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634667"/>
          </a:xfrm>
        </p:spPr>
        <p:txBody>
          <a:bodyPr/>
          <a:lstStyle/>
          <a:p>
            <a:r>
              <a:rPr lang="en-US" dirty="0" err="1"/>
              <a:t>Funktionale</a:t>
            </a:r>
            <a:r>
              <a:rPr lang="en-US" dirty="0"/>
              <a:t> </a:t>
            </a:r>
            <a:r>
              <a:rPr lang="en-US" dirty="0" err="1"/>
              <a:t>Abhängigkeiten</a:t>
            </a:r>
            <a:r>
              <a:rPr lang="en-US" dirty="0"/>
              <a:t> - </a:t>
            </a:r>
            <a:r>
              <a:rPr lang="en-US" dirty="0" err="1"/>
              <a:t>Beispiele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9746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681449" y="3197664"/>
            <a:ext cx="8347" cy="2086"/>
          </a:xfrm>
          <a:custGeom>
            <a:avLst/>
            <a:gdLst/>
            <a:ahLst/>
            <a:cxnLst/>
            <a:rect l="l" t="t" r="r" b="b"/>
            <a:pathLst>
              <a:path w="5079" h="1269">
                <a:moveTo>
                  <a:pt x="0" y="0"/>
                </a:moveTo>
                <a:lnTo>
                  <a:pt x="4799" y="0"/>
                </a:lnTo>
                <a:lnTo>
                  <a:pt x="4799" y="899"/>
                </a:lnTo>
                <a:lnTo>
                  <a:pt x="0" y="8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" name="object 4"/>
          <p:cNvSpPr/>
          <p:nvPr/>
        </p:nvSpPr>
        <p:spPr>
          <a:xfrm>
            <a:off x="5844787" y="3473449"/>
            <a:ext cx="45719" cy="45719"/>
          </a:xfrm>
          <a:custGeom>
            <a:avLst/>
            <a:gdLst/>
            <a:ahLst/>
            <a:cxnLst/>
            <a:rect l="l" t="t" r="r" b="b"/>
            <a:pathLst>
              <a:path w="5079" h="1269">
                <a:moveTo>
                  <a:pt x="0" y="0"/>
                </a:moveTo>
                <a:lnTo>
                  <a:pt x="4799" y="0"/>
                </a:lnTo>
                <a:lnTo>
                  <a:pt x="4799" y="899"/>
                </a:lnTo>
                <a:lnTo>
                  <a:pt x="0" y="8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" name="object 5"/>
          <p:cNvSpPr txBox="1"/>
          <p:nvPr/>
        </p:nvSpPr>
        <p:spPr>
          <a:xfrm>
            <a:off x="5634751" y="6064250"/>
            <a:ext cx="2844036" cy="375012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20791" defTabSz="1279921">
              <a:spcBef>
                <a:spcPts val="164"/>
              </a:spcBef>
            </a:pPr>
            <a:r>
              <a:rPr lang="en-GB" sz="2292" kern="1200" spc="-8">
                <a:solidFill>
                  <a:schemeClr val="tx1"/>
                </a:solidFill>
                <a:latin typeface="Arial"/>
                <a:ea typeface="+mn-ea"/>
                <a:cs typeface="Arial"/>
              </a:rPr>
              <a:t>{Position} </a:t>
            </a:r>
            <a:r>
              <a:rPr lang="en-GB" sz="229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292" kern="1200" spc="-147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92" kern="1200" spc="-8">
                <a:solidFill>
                  <a:schemeClr val="tx1"/>
                </a:solidFill>
                <a:latin typeface="Arial"/>
                <a:ea typeface="+mn-ea"/>
                <a:cs typeface="Arial"/>
              </a:rPr>
              <a:t>{Phone}</a:t>
            </a:r>
            <a:endParaRPr lang="en-GB" sz="1637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412320"/>
              </p:ext>
            </p:extLst>
          </p:nvPr>
        </p:nvGraphicFramePr>
        <p:xfrm>
          <a:off x="2056372" y="2886819"/>
          <a:ext cx="4651627" cy="18149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2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0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9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3868">
                <a:tc>
                  <a:txBody>
                    <a:bodyPr/>
                    <a:lstStyle/>
                    <a:p>
                      <a:pPr marL="12065" algn="ctr">
                        <a:lnSpc>
                          <a:spcPts val="1250"/>
                        </a:lnSpc>
                        <a:spcBef>
                          <a:spcPts val="95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EmpID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3175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250"/>
                        </a:lnSpc>
                        <a:spcBef>
                          <a:spcPts val="95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3175">
                      <a:solidFill>
                        <a:srgbClr val="D8D8D8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Phone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Position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5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3175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9050">
                      <a:solidFill>
                        <a:srgbClr val="A5A5A5"/>
                      </a:solidFill>
                      <a:prstDash val="solid"/>
                    </a:lnR>
                    <a:lnT w="3175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905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590">
                <a:tc>
                  <a:txBody>
                    <a:bodyPr/>
                    <a:lstStyle/>
                    <a:p>
                      <a:pPr marL="12065" algn="ctr">
                        <a:lnSpc>
                          <a:spcPts val="1095"/>
                        </a:lnSpc>
                        <a:spcBef>
                          <a:spcPts val="9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E0045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6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3175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095"/>
                        </a:lnSpc>
                        <a:spcBef>
                          <a:spcPts val="9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Smith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6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905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3175">
                      <a:solidFill>
                        <a:srgbClr val="D8D8D8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035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1234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67" marB="0">
                    <a:lnL w="1905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959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Clerk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6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3175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9050">
                      <a:solidFill>
                        <a:srgbClr val="A5A5A5"/>
                      </a:solidFill>
                      <a:prstDash val="solid"/>
                    </a:lnR>
                    <a:lnT w="3175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430" marB="0">
                    <a:lnL w="1905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430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E3542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Mike</a:t>
                      </a: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905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602615" algn="l"/>
                        </a:tabLst>
                      </a:pPr>
                      <a:r>
                        <a:rPr sz="1600" spc="-5">
                          <a:latin typeface="Arial"/>
                          <a:cs typeface="Arial"/>
                        </a:rPr>
                        <a:t>9876	</a:t>
                      </a:r>
                      <a:r>
                        <a:rPr sz="1600">
                          <a:latin typeface="Arial"/>
                          <a:cs typeface="Arial"/>
                        </a:rPr>
                        <a:t>←</a:t>
                      </a:r>
                    </a:p>
                  </a:txBody>
                  <a:tcPr marL="0" marR="0" marT="14109" marB="0">
                    <a:lnL w="1905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Salesrep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E1111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Smith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905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602615" algn="l"/>
                        </a:tabLst>
                      </a:pPr>
                      <a:r>
                        <a:rPr sz="1600" spc="-5">
                          <a:latin typeface="Arial"/>
                          <a:cs typeface="Arial"/>
                        </a:rPr>
                        <a:t>9876	</a:t>
                      </a:r>
                      <a:r>
                        <a:rPr sz="1600">
                          <a:latin typeface="Arial"/>
                          <a:cs typeface="Arial"/>
                        </a:rPr>
                        <a:t>←</a:t>
                      </a:r>
                    </a:p>
                  </a:txBody>
                  <a:tcPr marL="0" marR="0" marT="14109" marB="0">
                    <a:lnL w="1905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Salesrep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E9999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Mary</a:t>
                      </a: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905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1234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905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Lawyer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109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4372506" y="3597735"/>
            <a:ext cx="2335494" cy="748587"/>
          </a:xfrm>
          <a:custGeom>
            <a:avLst/>
            <a:gdLst/>
            <a:ahLst/>
            <a:cxnLst/>
            <a:rect l="l" t="t" r="r" b="b"/>
            <a:pathLst>
              <a:path w="2123440" h="765810">
                <a:moveTo>
                  <a:pt x="1995546" y="765308"/>
                </a:moveTo>
                <a:lnTo>
                  <a:pt x="127549" y="765308"/>
                </a:lnTo>
                <a:lnTo>
                  <a:pt x="77899" y="755282"/>
                </a:lnTo>
                <a:lnTo>
                  <a:pt x="37356" y="727942"/>
                </a:lnTo>
                <a:lnTo>
                  <a:pt x="10022" y="687398"/>
                </a:lnTo>
                <a:lnTo>
                  <a:pt x="0" y="637758"/>
                </a:lnTo>
                <a:lnTo>
                  <a:pt x="0" y="127552"/>
                </a:lnTo>
                <a:lnTo>
                  <a:pt x="10022" y="77903"/>
                </a:lnTo>
                <a:lnTo>
                  <a:pt x="37356" y="37359"/>
                </a:lnTo>
                <a:lnTo>
                  <a:pt x="77899" y="10023"/>
                </a:lnTo>
                <a:lnTo>
                  <a:pt x="127549" y="0"/>
                </a:lnTo>
                <a:lnTo>
                  <a:pt x="1995546" y="0"/>
                </a:lnTo>
                <a:lnTo>
                  <a:pt x="2044345" y="9709"/>
                </a:lnTo>
                <a:lnTo>
                  <a:pt x="2085720" y="37359"/>
                </a:lnTo>
                <a:lnTo>
                  <a:pt x="2113380" y="78740"/>
                </a:lnTo>
                <a:lnTo>
                  <a:pt x="2123095" y="127552"/>
                </a:lnTo>
                <a:lnTo>
                  <a:pt x="2123095" y="637758"/>
                </a:lnTo>
                <a:lnTo>
                  <a:pt x="2113069" y="687398"/>
                </a:lnTo>
                <a:lnTo>
                  <a:pt x="2085730" y="727942"/>
                </a:lnTo>
                <a:lnTo>
                  <a:pt x="2045186" y="755282"/>
                </a:lnTo>
                <a:lnTo>
                  <a:pt x="1995546" y="765308"/>
                </a:lnTo>
                <a:close/>
              </a:path>
            </a:pathLst>
          </a:custGeom>
          <a:solidFill>
            <a:srgbClr val="FBE4D4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" name="object 8"/>
          <p:cNvSpPr/>
          <p:nvPr/>
        </p:nvSpPr>
        <p:spPr>
          <a:xfrm>
            <a:off x="4372506" y="3597735"/>
            <a:ext cx="2335494" cy="748587"/>
          </a:xfrm>
          <a:custGeom>
            <a:avLst/>
            <a:gdLst/>
            <a:ahLst/>
            <a:cxnLst/>
            <a:rect l="l" t="t" r="r" b="b"/>
            <a:pathLst>
              <a:path w="2123440" h="765810">
                <a:moveTo>
                  <a:pt x="0" y="127552"/>
                </a:moveTo>
                <a:lnTo>
                  <a:pt x="10022" y="77903"/>
                </a:lnTo>
                <a:lnTo>
                  <a:pt x="37356" y="37359"/>
                </a:lnTo>
                <a:lnTo>
                  <a:pt x="77899" y="10023"/>
                </a:lnTo>
                <a:lnTo>
                  <a:pt x="127549" y="0"/>
                </a:lnTo>
                <a:lnTo>
                  <a:pt x="1995545" y="0"/>
                </a:lnTo>
                <a:lnTo>
                  <a:pt x="2044345" y="9709"/>
                </a:lnTo>
                <a:lnTo>
                  <a:pt x="2085720" y="37359"/>
                </a:lnTo>
                <a:lnTo>
                  <a:pt x="2113380" y="78740"/>
                </a:lnTo>
                <a:lnTo>
                  <a:pt x="2123095" y="127552"/>
                </a:lnTo>
                <a:lnTo>
                  <a:pt x="2123095" y="637758"/>
                </a:lnTo>
                <a:lnTo>
                  <a:pt x="2113069" y="687398"/>
                </a:lnTo>
                <a:lnTo>
                  <a:pt x="2085730" y="727942"/>
                </a:lnTo>
                <a:lnTo>
                  <a:pt x="2045186" y="755282"/>
                </a:lnTo>
                <a:lnTo>
                  <a:pt x="1995545" y="765308"/>
                </a:lnTo>
                <a:lnTo>
                  <a:pt x="127549" y="765308"/>
                </a:lnTo>
                <a:lnTo>
                  <a:pt x="77899" y="755282"/>
                </a:lnTo>
                <a:lnTo>
                  <a:pt x="37356" y="727942"/>
                </a:lnTo>
                <a:lnTo>
                  <a:pt x="10022" y="687398"/>
                </a:lnTo>
                <a:lnTo>
                  <a:pt x="0" y="637758"/>
                </a:lnTo>
                <a:lnTo>
                  <a:pt x="0" y="127552"/>
                </a:lnTo>
                <a:close/>
              </a:path>
            </a:pathLst>
          </a:custGeom>
          <a:ln w="25399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830A597-EDE7-BE5D-3060-D85343B77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634667"/>
          </a:xfrm>
        </p:spPr>
        <p:txBody>
          <a:bodyPr/>
          <a:lstStyle/>
          <a:p>
            <a:r>
              <a:rPr lang="en-US" dirty="0" err="1"/>
              <a:t>Funktionale</a:t>
            </a:r>
            <a:r>
              <a:rPr lang="en-US" dirty="0"/>
              <a:t> </a:t>
            </a:r>
            <a:r>
              <a:rPr lang="en-US" dirty="0" err="1"/>
              <a:t>Abhängigkeiten</a:t>
            </a:r>
            <a:r>
              <a:rPr lang="en-US" dirty="0"/>
              <a:t> - </a:t>
            </a:r>
            <a:r>
              <a:rPr lang="en-US" dirty="0" err="1"/>
              <a:t>Beispiele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5008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390AEA-B258-F294-7B30-85F900F6E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634667"/>
          </a:xfrm>
        </p:spPr>
        <p:txBody>
          <a:bodyPr/>
          <a:lstStyle/>
          <a:p>
            <a:r>
              <a:rPr lang="en-US" dirty="0" err="1"/>
              <a:t>Funktionale</a:t>
            </a:r>
            <a:r>
              <a:rPr lang="en-US" dirty="0"/>
              <a:t> </a:t>
            </a:r>
            <a:r>
              <a:rPr lang="en-US" dirty="0" err="1"/>
              <a:t>Abhängigkeiten</a:t>
            </a:r>
            <a:r>
              <a:rPr lang="en-US" dirty="0"/>
              <a:t> - </a:t>
            </a:r>
            <a:r>
              <a:rPr lang="en-US" dirty="0" err="1"/>
              <a:t>Beispiele</a:t>
            </a:r>
            <a:endParaRPr lang="en-US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D68B92E4-678E-566D-B106-1DF86F53229B}"/>
              </a:ext>
            </a:extLst>
          </p:cNvPr>
          <p:cNvSpPr/>
          <p:nvPr/>
        </p:nvSpPr>
        <p:spPr>
          <a:xfrm>
            <a:off x="2657007" y="3168835"/>
            <a:ext cx="4666481" cy="0"/>
          </a:xfrm>
          <a:custGeom>
            <a:avLst/>
            <a:gdLst/>
            <a:ahLst/>
            <a:cxnLst/>
            <a:rect l="l" t="t" r="r" b="b"/>
            <a:pathLst>
              <a:path w="3990340">
                <a:moveTo>
                  <a:pt x="0" y="0"/>
                </a:moveTo>
                <a:lnTo>
                  <a:pt x="3990286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2A9BB143-FC17-C965-0F5F-D2F71276D517}"/>
              </a:ext>
            </a:extLst>
          </p:cNvPr>
          <p:cNvGraphicFramePr>
            <a:graphicFrameLocks noGrp="1"/>
          </p:cNvGraphicFramePr>
          <p:nvPr/>
        </p:nvGraphicFramePr>
        <p:xfrm>
          <a:off x="2657007" y="2805257"/>
          <a:ext cx="4651626" cy="1815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2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3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2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3677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EmpID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4066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Phone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Position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583">
                <a:tc>
                  <a:txBody>
                    <a:bodyPr/>
                    <a:lstStyle/>
                    <a:p>
                      <a:pPr marL="12065" algn="ctr">
                        <a:lnSpc>
                          <a:spcPts val="1545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E0045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6540" algn="r">
                        <a:lnSpc>
                          <a:spcPts val="1545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Smith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ts val="1545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1234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A5A5A5"/>
                      </a:solidFill>
                      <a:prstDash val="solid"/>
                    </a:lnL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545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→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A5A5A5"/>
                      </a:solidFill>
                      <a:prstDash val="solid"/>
                    </a:lnR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545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Clerk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E3542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527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Mike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9876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Salesrep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E1111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6540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Smith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9876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Salesrep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E9999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511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Mary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1234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→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Lawyer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5">
            <a:extLst>
              <a:ext uri="{FF2B5EF4-FFF2-40B4-BE49-F238E27FC236}">
                <a16:creationId xmlns:a16="http://schemas.microsoft.com/office/drawing/2014/main" id="{DB988708-6B78-99CE-C8FB-BCC02C76DBFE}"/>
              </a:ext>
            </a:extLst>
          </p:cNvPr>
          <p:cNvSpPr txBox="1"/>
          <p:nvPr/>
        </p:nvSpPr>
        <p:spPr>
          <a:xfrm>
            <a:off x="4819716" y="5082835"/>
            <a:ext cx="3117783" cy="266925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4851">
              <a:spcBef>
                <a:spcPts val="117"/>
              </a:spcBef>
            </a:pPr>
            <a:r>
              <a:rPr lang="de-DE" sz="1637" spc="-6" dirty="0">
                <a:latin typeface="Arial"/>
                <a:cs typeface="Arial"/>
              </a:rPr>
              <a:t>aber</a:t>
            </a:r>
            <a:r>
              <a:rPr sz="1637" spc="-6" dirty="0">
                <a:latin typeface="Arial"/>
                <a:cs typeface="Arial"/>
              </a:rPr>
              <a:t> </a:t>
            </a:r>
            <a:r>
              <a:rPr sz="1637" i="1" spc="-6" dirty="0">
                <a:latin typeface="Arial"/>
                <a:cs typeface="Arial"/>
              </a:rPr>
              <a:t>n</a:t>
            </a:r>
            <a:r>
              <a:rPr lang="de-DE" sz="1637" i="1" spc="-6" dirty="0" err="1">
                <a:latin typeface="Arial"/>
                <a:cs typeface="Arial"/>
              </a:rPr>
              <a:t>icht</a:t>
            </a:r>
            <a:r>
              <a:rPr sz="1637" i="1" spc="-6" dirty="0">
                <a:latin typeface="Arial"/>
                <a:cs typeface="Arial"/>
              </a:rPr>
              <a:t> </a:t>
            </a:r>
            <a:r>
              <a:rPr sz="1637" spc="-6" dirty="0">
                <a:latin typeface="Arial"/>
                <a:cs typeface="Arial"/>
              </a:rPr>
              <a:t>{Phone} </a:t>
            </a:r>
            <a:r>
              <a:rPr sz="1637" dirty="0">
                <a:latin typeface="Arial"/>
                <a:cs typeface="Arial"/>
              </a:rPr>
              <a:t>→</a:t>
            </a:r>
            <a:r>
              <a:rPr sz="1637" spc="357" dirty="0">
                <a:latin typeface="Arial"/>
                <a:cs typeface="Arial"/>
              </a:rPr>
              <a:t> </a:t>
            </a:r>
            <a:r>
              <a:rPr sz="1637" spc="-6" dirty="0">
                <a:latin typeface="Arial"/>
                <a:cs typeface="Arial"/>
              </a:rPr>
              <a:t>{Position}</a:t>
            </a:r>
            <a:endParaRPr sz="1637" dirty="0">
              <a:latin typeface="Arial"/>
              <a:cs typeface="Arial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197345DA-12DE-E590-F55D-E4D81DE7449F}"/>
              </a:ext>
            </a:extLst>
          </p:cNvPr>
          <p:cNvSpPr/>
          <p:nvPr/>
        </p:nvSpPr>
        <p:spPr>
          <a:xfrm>
            <a:off x="4883297" y="3103404"/>
            <a:ext cx="2521860" cy="463381"/>
          </a:xfrm>
          <a:custGeom>
            <a:avLst/>
            <a:gdLst/>
            <a:ahLst/>
            <a:cxnLst/>
            <a:rect l="l" t="t" r="r" b="b"/>
            <a:pathLst>
              <a:path w="2156460" h="396239">
                <a:moveTo>
                  <a:pt x="2090095" y="395999"/>
                </a:moveTo>
                <a:lnTo>
                  <a:pt x="65999" y="395999"/>
                </a:lnTo>
                <a:lnTo>
                  <a:pt x="40310" y="390812"/>
                </a:lnTo>
                <a:lnTo>
                  <a:pt x="19331" y="376667"/>
                </a:lnTo>
                <a:lnTo>
                  <a:pt x="5186" y="355688"/>
                </a:lnTo>
                <a:lnTo>
                  <a:pt x="0" y="329996"/>
                </a:lnTo>
                <a:lnTo>
                  <a:pt x="0" y="65999"/>
                </a:lnTo>
                <a:lnTo>
                  <a:pt x="5186" y="40310"/>
                </a:lnTo>
                <a:lnTo>
                  <a:pt x="19333" y="19329"/>
                </a:lnTo>
                <a:lnTo>
                  <a:pt x="40310" y="5186"/>
                </a:lnTo>
                <a:lnTo>
                  <a:pt x="65999" y="0"/>
                </a:lnTo>
                <a:lnTo>
                  <a:pt x="2090095" y="0"/>
                </a:lnTo>
                <a:lnTo>
                  <a:pt x="2126718" y="11087"/>
                </a:lnTo>
                <a:lnTo>
                  <a:pt x="2151073" y="40742"/>
                </a:lnTo>
                <a:lnTo>
                  <a:pt x="2156095" y="65999"/>
                </a:lnTo>
                <a:lnTo>
                  <a:pt x="2156095" y="329996"/>
                </a:lnTo>
                <a:lnTo>
                  <a:pt x="2150909" y="355688"/>
                </a:lnTo>
                <a:lnTo>
                  <a:pt x="2136764" y="376667"/>
                </a:lnTo>
                <a:lnTo>
                  <a:pt x="2115785" y="390812"/>
                </a:lnTo>
                <a:lnTo>
                  <a:pt x="2090095" y="395999"/>
                </a:lnTo>
                <a:close/>
              </a:path>
            </a:pathLst>
          </a:custGeom>
          <a:solidFill>
            <a:srgbClr val="FBE4D4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2F0484AE-6557-3AB4-BA60-B6CFBA646817}"/>
              </a:ext>
            </a:extLst>
          </p:cNvPr>
          <p:cNvSpPr/>
          <p:nvPr/>
        </p:nvSpPr>
        <p:spPr>
          <a:xfrm>
            <a:off x="4883297" y="3103404"/>
            <a:ext cx="2521860" cy="463381"/>
          </a:xfrm>
          <a:custGeom>
            <a:avLst/>
            <a:gdLst/>
            <a:ahLst/>
            <a:cxnLst/>
            <a:rect l="l" t="t" r="r" b="b"/>
            <a:pathLst>
              <a:path w="2156460" h="396239">
                <a:moveTo>
                  <a:pt x="0" y="65999"/>
                </a:moveTo>
                <a:lnTo>
                  <a:pt x="5186" y="40310"/>
                </a:lnTo>
                <a:lnTo>
                  <a:pt x="19331" y="19331"/>
                </a:lnTo>
                <a:lnTo>
                  <a:pt x="40310" y="5186"/>
                </a:lnTo>
                <a:lnTo>
                  <a:pt x="65999" y="0"/>
                </a:lnTo>
                <a:lnTo>
                  <a:pt x="2090095" y="0"/>
                </a:lnTo>
                <a:lnTo>
                  <a:pt x="2126717" y="11087"/>
                </a:lnTo>
                <a:lnTo>
                  <a:pt x="2151073" y="40742"/>
                </a:lnTo>
                <a:lnTo>
                  <a:pt x="2156095" y="65999"/>
                </a:lnTo>
                <a:lnTo>
                  <a:pt x="2156095" y="329996"/>
                </a:lnTo>
                <a:lnTo>
                  <a:pt x="2150908" y="355688"/>
                </a:lnTo>
                <a:lnTo>
                  <a:pt x="2136764" y="376667"/>
                </a:lnTo>
                <a:lnTo>
                  <a:pt x="2115785" y="390812"/>
                </a:lnTo>
                <a:lnTo>
                  <a:pt x="2090095" y="395999"/>
                </a:lnTo>
                <a:lnTo>
                  <a:pt x="65999" y="395999"/>
                </a:lnTo>
                <a:lnTo>
                  <a:pt x="40310" y="390812"/>
                </a:lnTo>
                <a:lnTo>
                  <a:pt x="19331" y="376667"/>
                </a:lnTo>
                <a:lnTo>
                  <a:pt x="5186" y="355688"/>
                </a:lnTo>
                <a:lnTo>
                  <a:pt x="0" y="329996"/>
                </a:lnTo>
                <a:lnTo>
                  <a:pt x="0" y="65999"/>
                </a:lnTo>
                <a:close/>
              </a:path>
            </a:pathLst>
          </a:custGeom>
          <a:ln w="25399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E44E42EC-99EA-B639-6F55-C8981ABDD5BC}"/>
              </a:ext>
            </a:extLst>
          </p:cNvPr>
          <p:cNvSpPr/>
          <p:nvPr/>
        </p:nvSpPr>
        <p:spPr>
          <a:xfrm>
            <a:off x="4870463" y="4225321"/>
            <a:ext cx="2521860" cy="463381"/>
          </a:xfrm>
          <a:custGeom>
            <a:avLst/>
            <a:gdLst/>
            <a:ahLst/>
            <a:cxnLst/>
            <a:rect l="l" t="t" r="r" b="b"/>
            <a:pathLst>
              <a:path w="2156460" h="396239">
                <a:moveTo>
                  <a:pt x="2090095" y="395999"/>
                </a:moveTo>
                <a:lnTo>
                  <a:pt x="65999" y="395999"/>
                </a:lnTo>
                <a:lnTo>
                  <a:pt x="40310" y="390812"/>
                </a:lnTo>
                <a:lnTo>
                  <a:pt x="19331" y="376668"/>
                </a:lnTo>
                <a:lnTo>
                  <a:pt x="5186" y="355689"/>
                </a:lnTo>
                <a:lnTo>
                  <a:pt x="0" y="329999"/>
                </a:lnTo>
                <a:lnTo>
                  <a:pt x="0" y="65999"/>
                </a:lnTo>
                <a:lnTo>
                  <a:pt x="5186" y="40310"/>
                </a:lnTo>
                <a:lnTo>
                  <a:pt x="19340" y="19324"/>
                </a:lnTo>
                <a:lnTo>
                  <a:pt x="40310" y="5186"/>
                </a:lnTo>
                <a:lnTo>
                  <a:pt x="65999" y="0"/>
                </a:lnTo>
                <a:lnTo>
                  <a:pt x="2090095" y="0"/>
                </a:lnTo>
                <a:lnTo>
                  <a:pt x="2126721" y="11084"/>
                </a:lnTo>
                <a:lnTo>
                  <a:pt x="2151073" y="40749"/>
                </a:lnTo>
                <a:lnTo>
                  <a:pt x="2156095" y="65999"/>
                </a:lnTo>
                <a:lnTo>
                  <a:pt x="2156095" y="329999"/>
                </a:lnTo>
                <a:lnTo>
                  <a:pt x="2150909" y="355689"/>
                </a:lnTo>
                <a:lnTo>
                  <a:pt x="2136764" y="376668"/>
                </a:lnTo>
                <a:lnTo>
                  <a:pt x="2115785" y="390812"/>
                </a:lnTo>
                <a:lnTo>
                  <a:pt x="2090095" y="395999"/>
                </a:lnTo>
                <a:close/>
              </a:path>
            </a:pathLst>
          </a:custGeom>
          <a:solidFill>
            <a:srgbClr val="FBE4D4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DCA68FBD-EAC4-3409-F054-AC2853BABD82}"/>
              </a:ext>
            </a:extLst>
          </p:cNvPr>
          <p:cNvSpPr/>
          <p:nvPr/>
        </p:nvSpPr>
        <p:spPr>
          <a:xfrm>
            <a:off x="4883297" y="4225321"/>
            <a:ext cx="2509026" cy="463381"/>
          </a:xfrm>
          <a:custGeom>
            <a:avLst/>
            <a:gdLst/>
            <a:ahLst/>
            <a:cxnLst/>
            <a:rect l="l" t="t" r="r" b="b"/>
            <a:pathLst>
              <a:path w="2156460" h="396239">
                <a:moveTo>
                  <a:pt x="0" y="65999"/>
                </a:moveTo>
                <a:lnTo>
                  <a:pt x="5186" y="40310"/>
                </a:lnTo>
                <a:lnTo>
                  <a:pt x="19331" y="19331"/>
                </a:lnTo>
                <a:lnTo>
                  <a:pt x="40310" y="5186"/>
                </a:lnTo>
                <a:lnTo>
                  <a:pt x="65999" y="0"/>
                </a:lnTo>
                <a:lnTo>
                  <a:pt x="2090095" y="0"/>
                </a:lnTo>
                <a:lnTo>
                  <a:pt x="2126721" y="11084"/>
                </a:lnTo>
                <a:lnTo>
                  <a:pt x="2151073" y="40749"/>
                </a:lnTo>
                <a:lnTo>
                  <a:pt x="2156095" y="65999"/>
                </a:lnTo>
                <a:lnTo>
                  <a:pt x="2156095" y="329999"/>
                </a:lnTo>
                <a:lnTo>
                  <a:pt x="2150908" y="355689"/>
                </a:lnTo>
                <a:lnTo>
                  <a:pt x="2136764" y="376667"/>
                </a:lnTo>
                <a:lnTo>
                  <a:pt x="2115785" y="390812"/>
                </a:lnTo>
                <a:lnTo>
                  <a:pt x="2090095" y="395999"/>
                </a:lnTo>
                <a:lnTo>
                  <a:pt x="65999" y="395999"/>
                </a:lnTo>
                <a:lnTo>
                  <a:pt x="40310" y="390812"/>
                </a:lnTo>
                <a:lnTo>
                  <a:pt x="19331" y="376667"/>
                </a:lnTo>
                <a:lnTo>
                  <a:pt x="5186" y="355689"/>
                </a:lnTo>
                <a:lnTo>
                  <a:pt x="0" y="329999"/>
                </a:lnTo>
                <a:lnTo>
                  <a:pt x="0" y="65999"/>
                </a:lnTo>
                <a:close/>
              </a:path>
            </a:pathLst>
          </a:custGeom>
          <a:ln w="25399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</p:spTree>
    <p:extLst>
      <p:ext uri="{BB962C8B-B14F-4D97-AF65-F5344CB8AC3E}">
        <p14:creationId xmlns:p14="http://schemas.microsoft.com/office/powerpoint/2010/main" val="19539096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24131"/>
              </p:ext>
            </p:extLst>
          </p:nvPr>
        </p:nvGraphicFramePr>
        <p:xfrm>
          <a:off x="627255" y="3392864"/>
          <a:ext cx="3961012" cy="21431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1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54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60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656">
                <a:tc>
                  <a:txBody>
                    <a:bodyPr/>
                    <a:lstStyle/>
                    <a:p>
                      <a:pPr marR="247015" algn="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600" b="1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4260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600" b="1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4260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600" b="1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4260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600" b="1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4260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600" b="1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4260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308">
                <a:tc>
                  <a:txBody>
                    <a:bodyPr/>
                    <a:lstStyle/>
                    <a:p>
                      <a:pPr marR="26162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0" marR="0" marT="41585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marL="0" marR="0" marT="41585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marL="0" marR="0" marT="41585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marL="0" marR="0" marT="41585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6</a:t>
                      </a:r>
                    </a:p>
                  </a:txBody>
                  <a:tcPr marL="0" marR="0" marT="41585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793">
                <a:tc>
                  <a:txBody>
                    <a:bodyPr/>
                    <a:lstStyle/>
                    <a:p>
                      <a:pPr marR="26162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marL="0" marR="0" marT="4232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marL="0" marR="0" marT="4232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marL="0" marR="0" marT="4232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0" marR="0" marT="4232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8</a:t>
                      </a:r>
                    </a:p>
                  </a:txBody>
                  <a:tcPr marL="0" marR="0" marT="4232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793">
                <a:tc>
                  <a:txBody>
                    <a:bodyPr/>
                    <a:lstStyle/>
                    <a:p>
                      <a:pPr marR="26162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0" marR="0" marT="4232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marL="0" marR="0" marT="4232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marL="0" marR="0" marT="4232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marL="0" marR="0" marT="4232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7</a:t>
                      </a:r>
                    </a:p>
                  </a:txBody>
                  <a:tcPr marL="0" marR="0" marT="4232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793">
                <a:tc>
                  <a:txBody>
                    <a:bodyPr/>
                    <a:lstStyle/>
                    <a:p>
                      <a:pPr marR="26162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0" marR="0" marT="4232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marL="0" marR="0" marT="4232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marL="0" marR="0" marT="4232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marL="0" marR="0" marT="4232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6</a:t>
                      </a:r>
                    </a:p>
                  </a:txBody>
                  <a:tcPr marL="0" marR="0" marT="4232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793">
                <a:tc>
                  <a:txBody>
                    <a:bodyPr/>
                    <a:lstStyle/>
                    <a:p>
                      <a:pPr marR="26162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marL="0" marR="0" marT="4232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marL="0" marR="0" marT="4232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marL="0" marR="0" marT="4232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0" marR="0" marT="4232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8</a:t>
                      </a:r>
                    </a:p>
                  </a:txBody>
                  <a:tcPr marL="0" marR="0" marT="4232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613107" y="3185880"/>
            <a:ext cx="3515918" cy="664770"/>
          </a:xfrm>
          <a:prstGeom prst="rect">
            <a:avLst/>
          </a:prstGeom>
        </p:spPr>
        <p:txBody>
          <a:bodyPr vert="horz" wrap="square" lIns="0" tIns="26734" rIns="0" bIns="0" rtlCol="0">
            <a:spAutoFit/>
          </a:bodyPr>
          <a:lstStyle/>
          <a:p>
            <a:pPr marL="19158" marR="7664" defTabSz="1179355">
              <a:lnSpc>
                <a:spcPts val="2490"/>
              </a:lnSpc>
              <a:spcBef>
                <a:spcPts val="271"/>
              </a:spcBef>
            </a:pPr>
            <a:r>
              <a:rPr lang="en-GB" sz="2112" kern="1200" spc="-8">
                <a:solidFill>
                  <a:schemeClr val="tx1"/>
                </a:solidFill>
                <a:latin typeface="Arial"/>
                <a:ea typeface="+mn-ea"/>
                <a:cs typeface="Arial"/>
              </a:rPr>
              <a:t>Find at least </a:t>
            </a:r>
            <a:r>
              <a:rPr lang="en-GB" sz="2112" i="1" kern="1200" spc="-8">
                <a:solidFill>
                  <a:schemeClr val="tx1"/>
                </a:solidFill>
                <a:latin typeface="Arial"/>
                <a:ea typeface="+mn-ea"/>
                <a:cs typeface="Arial"/>
              </a:rPr>
              <a:t>three </a:t>
            </a:r>
            <a:r>
              <a:rPr lang="en-GB" sz="2112" kern="1200" spc="-8">
                <a:solidFill>
                  <a:schemeClr val="tx1"/>
                </a:solidFill>
                <a:latin typeface="Arial"/>
                <a:ea typeface="+mn-ea"/>
                <a:cs typeface="Arial"/>
              </a:rPr>
              <a:t>FDs which  are </a:t>
            </a:r>
            <a:r>
              <a:rPr lang="en-GB" sz="21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violated </a:t>
            </a:r>
            <a:r>
              <a:rPr lang="en-GB" sz="2112" kern="1200" spc="-8">
                <a:solidFill>
                  <a:schemeClr val="tx1"/>
                </a:solidFill>
                <a:latin typeface="Arial"/>
                <a:ea typeface="+mn-ea"/>
                <a:cs typeface="Arial"/>
              </a:rPr>
              <a:t>on this</a:t>
            </a:r>
            <a:r>
              <a:rPr lang="en-GB" sz="2112" kern="1200" spc="-114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112" kern="1200" spc="-8">
                <a:solidFill>
                  <a:schemeClr val="tx1"/>
                </a:solidFill>
                <a:latin typeface="Arial"/>
                <a:ea typeface="+mn-ea"/>
                <a:cs typeface="Arial"/>
              </a:rPr>
              <a:t>instance: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02716" y="4217584"/>
            <a:ext cx="2800832" cy="1145096"/>
          </a:xfrm>
          <a:custGeom>
            <a:avLst/>
            <a:gdLst/>
            <a:ahLst/>
            <a:cxnLst/>
            <a:rect l="l" t="t" r="r" b="b"/>
            <a:pathLst>
              <a:path w="1852929" h="757555">
                <a:moveTo>
                  <a:pt x="0" y="0"/>
                </a:moveTo>
                <a:lnTo>
                  <a:pt x="1852546" y="0"/>
                </a:lnTo>
                <a:lnTo>
                  <a:pt x="1852546" y="757128"/>
                </a:lnTo>
                <a:lnTo>
                  <a:pt x="0" y="75712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323136"/>
              </p:ext>
            </p:extLst>
          </p:nvPr>
        </p:nvGraphicFramePr>
        <p:xfrm>
          <a:off x="6495517" y="4217583"/>
          <a:ext cx="1198551" cy="883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515">
                <a:tc>
                  <a:txBody>
                    <a:bodyPr/>
                    <a:lstStyle/>
                    <a:p>
                      <a:pPr algn="ctr">
                        <a:lnSpc>
                          <a:spcPts val="1639"/>
                        </a:lnSpc>
                        <a:spcBef>
                          <a:spcPts val="450"/>
                        </a:spcBef>
                      </a:pPr>
                      <a:r>
                        <a:rPr sz="1600">
                          <a:solidFill>
                            <a:srgbClr val="BF4F4D"/>
                          </a:solidFill>
                          <a:latin typeface="Arial"/>
                          <a:cs typeface="Arial"/>
                        </a:rPr>
                        <a:t>{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66834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639"/>
                        </a:lnSpc>
                        <a:spcBef>
                          <a:spcPts val="450"/>
                        </a:spcBef>
                      </a:pPr>
                      <a:r>
                        <a:rPr sz="1600">
                          <a:solidFill>
                            <a:srgbClr val="BF4F4D"/>
                          </a:solidFill>
                          <a:latin typeface="Arial"/>
                          <a:cs typeface="Arial"/>
                        </a:rPr>
                        <a:t>} </a:t>
                      </a:r>
                      <a:r>
                        <a:rPr sz="1600">
                          <a:latin typeface="Arial"/>
                          <a:cs typeface="Arial"/>
                        </a:rPr>
                        <a:t>→</a:t>
                      </a:r>
                      <a:r>
                        <a:rPr sz="1600" spc="-60">
                          <a:latin typeface="Arial"/>
                          <a:cs typeface="Arial"/>
                        </a:rPr>
                        <a:t> </a:t>
                      </a:r>
                      <a:r>
                        <a:rPr sz="1600">
                          <a:solidFill>
                            <a:srgbClr val="BF4F4D"/>
                          </a:solidFill>
                          <a:latin typeface="Arial"/>
                          <a:cs typeface="Arial"/>
                        </a:rPr>
                        <a:t>{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66834" marB="0"/>
                </a:tc>
                <a:tc>
                  <a:txBody>
                    <a:bodyPr/>
                    <a:lstStyle/>
                    <a:p>
                      <a:pPr marR="18415" algn="r">
                        <a:lnSpc>
                          <a:spcPts val="1639"/>
                        </a:lnSpc>
                        <a:spcBef>
                          <a:spcPts val="450"/>
                        </a:spcBef>
                      </a:pPr>
                      <a:r>
                        <a:rPr sz="1600">
                          <a:solidFill>
                            <a:srgbClr val="BF4F4D"/>
                          </a:solidFill>
                          <a:latin typeface="Arial"/>
                          <a:cs typeface="Arial"/>
                        </a:rPr>
                        <a:t>}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66834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314">
                <a:tc>
                  <a:txBody>
                    <a:bodyPr/>
                    <a:lstStyle/>
                    <a:p>
                      <a:pPr algn="ctr">
                        <a:lnSpc>
                          <a:spcPts val="1550"/>
                        </a:lnSpc>
                      </a:pPr>
                      <a:r>
                        <a:rPr sz="1600">
                          <a:solidFill>
                            <a:srgbClr val="BF4F4D"/>
                          </a:solidFill>
                          <a:latin typeface="Arial"/>
                          <a:cs typeface="Arial"/>
                        </a:rPr>
                        <a:t>{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550"/>
                        </a:lnSpc>
                      </a:pPr>
                      <a:r>
                        <a:rPr sz="1600">
                          <a:solidFill>
                            <a:srgbClr val="BF4F4D"/>
                          </a:solidFill>
                          <a:latin typeface="Arial"/>
                          <a:cs typeface="Arial"/>
                        </a:rPr>
                        <a:t>} </a:t>
                      </a:r>
                      <a:r>
                        <a:rPr sz="1600">
                          <a:latin typeface="Arial"/>
                          <a:cs typeface="Arial"/>
                        </a:rPr>
                        <a:t>→</a:t>
                      </a:r>
                      <a:r>
                        <a:rPr sz="1600" spc="-60">
                          <a:latin typeface="Arial"/>
                          <a:cs typeface="Arial"/>
                        </a:rPr>
                        <a:t> </a:t>
                      </a:r>
                      <a:r>
                        <a:rPr sz="1600">
                          <a:solidFill>
                            <a:srgbClr val="BF4F4D"/>
                          </a:solidFill>
                          <a:latin typeface="Arial"/>
                          <a:cs typeface="Arial"/>
                        </a:rPr>
                        <a:t>{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8415" algn="r">
                        <a:lnSpc>
                          <a:spcPts val="1550"/>
                        </a:lnSpc>
                      </a:pPr>
                      <a:r>
                        <a:rPr sz="1600">
                          <a:solidFill>
                            <a:srgbClr val="BF4F4D"/>
                          </a:solidFill>
                          <a:latin typeface="Arial"/>
                          <a:cs typeface="Arial"/>
                        </a:rPr>
                        <a:t>}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861">
                <a:tc>
                  <a:txBody>
                    <a:bodyPr/>
                    <a:lstStyle/>
                    <a:p>
                      <a:pPr algn="ctr">
                        <a:lnSpc>
                          <a:spcPts val="1590"/>
                        </a:lnSpc>
                      </a:pPr>
                      <a:r>
                        <a:rPr sz="1600">
                          <a:solidFill>
                            <a:srgbClr val="BF4F4D"/>
                          </a:solidFill>
                          <a:latin typeface="Arial"/>
                          <a:cs typeface="Arial"/>
                        </a:rPr>
                        <a:t>{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590"/>
                        </a:lnSpc>
                      </a:pPr>
                      <a:r>
                        <a:rPr sz="1600">
                          <a:solidFill>
                            <a:srgbClr val="BF4F4D"/>
                          </a:solidFill>
                          <a:latin typeface="Arial"/>
                          <a:cs typeface="Arial"/>
                        </a:rPr>
                        <a:t>} </a:t>
                      </a:r>
                      <a:r>
                        <a:rPr sz="1600">
                          <a:latin typeface="Arial"/>
                          <a:cs typeface="Arial"/>
                        </a:rPr>
                        <a:t>→</a:t>
                      </a:r>
                      <a:r>
                        <a:rPr sz="1600" spc="-60">
                          <a:latin typeface="Arial"/>
                          <a:cs typeface="Arial"/>
                        </a:rPr>
                        <a:t> </a:t>
                      </a:r>
                      <a:r>
                        <a:rPr sz="1600">
                          <a:solidFill>
                            <a:srgbClr val="BF4F4D"/>
                          </a:solidFill>
                          <a:latin typeface="Arial"/>
                          <a:cs typeface="Arial"/>
                        </a:rPr>
                        <a:t>{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8415" algn="r">
                        <a:lnSpc>
                          <a:spcPts val="1590"/>
                        </a:lnSpc>
                      </a:pPr>
                      <a:r>
                        <a:rPr sz="1600">
                          <a:solidFill>
                            <a:srgbClr val="BF4F4D"/>
                          </a:solidFill>
                          <a:latin typeface="Arial"/>
                          <a:cs typeface="Arial"/>
                        </a:rPr>
                        <a:t>}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44B4F430-B592-CD46-10D9-AFDAAAB80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634667"/>
          </a:xfrm>
        </p:spPr>
        <p:txBody>
          <a:bodyPr/>
          <a:lstStyle/>
          <a:p>
            <a:r>
              <a:rPr lang="en-US" dirty="0" err="1"/>
              <a:t>Funktionale</a:t>
            </a:r>
            <a:r>
              <a:rPr lang="en-US" dirty="0"/>
              <a:t> </a:t>
            </a:r>
            <a:r>
              <a:rPr lang="en-US" dirty="0" err="1"/>
              <a:t>Abhängigkeiten</a:t>
            </a:r>
            <a:r>
              <a:rPr lang="en-US" dirty="0"/>
              <a:t> - Aufgabe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363660-1763-D92F-4CF9-550E0697A671}"/>
              </a:ext>
            </a:extLst>
          </p:cNvPr>
          <p:cNvSpPr txBox="1"/>
          <p:nvPr/>
        </p:nvSpPr>
        <p:spPr>
          <a:xfrm>
            <a:off x="2070100" y="6064250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Sehr </a:t>
            </a:r>
            <a:r>
              <a:rPr lang="en-US" dirty="0" err="1">
                <a:solidFill>
                  <a:srgbClr val="FF0000"/>
                </a:solidFill>
              </a:rPr>
              <a:t>grosse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Anzahl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möglicher</a:t>
            </a:r>
            <a:r>
              <a:rPr lang="en-US" dirty="0">
                <a:solidFill>
                  <a:srgbClr val="FF0000"/>
                </a:solidFill>
              </a:rPr>
              <a:t> FDs …</a:t>
            </a:r>
          </a:p>
        </p:txBody>
      </p:sp>
    </p:spTree>
    <p:extLst>
      <p:ext uri="{BB962C8B-B14F-4D97-AF65-F5344CB8AC3E}">
        <p14:creationId xmlns:p14="http://schemas.microsoft.com/office/powerpoint/2010/main" val="16568724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BB24B2-4EAF-1FBB-FF94-87D69DFB0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700" y="604827"/>
            <a:ext cx="7315200" cy="634667"/>
          </a:xfrm>
        </p:spPr>
        <p:txBody>
          <a:bodyPr/>
          <a:lstStyle/>
          <a:p>
            <a:r>
              <a:rPr lang="en-US" sz="3200" dirty="0" err="1"/>
              <a:t>Bestimmung</a:t>
            </a:r>
            <a:r>
              <a:rPr lang="en-US" sz="3200" dirty="0"/>
              <a:t> </a:t>
            </a:r>
            <a:r>
              <a:rPr lang="en-US" sz="3200" dirty="0" err="1"/>
              <a:t>funktionaler</a:t>
            </a:r>
            <a:r>
              <a:rPr lang="en-US" sz="3200" dirty="0"/>
              <a:t> </a:t>
            </a:r>
            <a:r>
              <a:rPr lang="en-US" sz="3200" dirty="0" err="1"/>
              <a:t>Abhängigkeiten</a:t>
            </a:r>
            <a:endParaRPr lang="en-US" sz="3200" dirty="0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2119587B-B04B-EA46-2F50-AA604C082B57}"/>
              </a:ext>
            </a:extLst>
          </p:cNvPr>
          <p:cNvSpPr txBox="1"/>
          <p:nvPr/>
        </p:nvSpPr>
        <p:spPr>
          <a:xfrm>
            <a:off x="774700" y="2101850"/>
            <a:ext cx="8508365" cy="2241639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‚Gute und schlechte‘ Abhängigkeiten (‘</a:t>
            </a:r>
            <a:r>
              <a:rPr lang="de-DE" sz="2400" spc="-5" dirty="0" err="1">
                <a:latin typeface="Tahoma"/>
                <a:cs typeface="Tahoma"/>
              </a:rPr>
              <a:t>good</a:t>
            </a:r>
            <a:r>
              <a:rPr lang="de-DE" sz="2400" spc="-5" dirty="0">
                <a:latin typeface="Tahoma"/>
                <a:cs typeface="Tahoma"/>
              </a:rPr>
              <a:t> vs. Bad‘)</a:t>
            </a:r>
          </a:p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spc="-5" dirty="0">
                <a:latin typeface="Tahoma"/>
                <a:cs typeface="Tahoma"/>
              </a:rPr>
              <a:t> Bestimmen von FDs</a:t>
            </a:r>
          </a:p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spc="-5" dirty="0">
                <a:latin typeface="Tahoma"/>
                <a:cs typeface="Tahoma"/>
              </a:rPr>
              <a:t> Transitive Hüllen / </a:t>
            </a:r>
            <a:r>
              <a:rPr lang="de-DE" sz="2400" spc="-5" dirty="0" err="1">
                <a:latin typeface="Tahoma"/>
                <a:cs typeface="Tahoma"/>
              </a:rPr>
              <a:t>Closures</a:t>
            </a:r>
            <a:endParaRPr lang="de-DE" sz="2400" spc="-5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spc="-5" dirty="0">
                <a:latin typeface="Tahoma"/>
                <a:cs typeface="Tahoma"/>
              </a:rPr>
              <a:t> Beispiele</a:t>
            </a:r>
            <a:endParaRPr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0540473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0541" y="654049"/>
            <a:ext cx="5892133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18861" defTabSz="1018470">
              <a:lnSpc>
                <a:spcPct val="100000"/>
              </a:lnSpc>
              <a:spcBef>
                <a:spcPts val="149"/>
              </a:spcBef>
            </a:pPr>
            <a:r>
              <a:rPr lang="en-GB" sz="2785" b="0" i="0" kern="1200" spc="-201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“Good” </a:t>
            </a:r>
            <a:r>
              <a:rPr lang="en-GB" sz="2785" b="0" i="0" kern="1200" spc="-297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vs. </a:t>
            </a:r>
            <a:r>
              <a:rPr lang="en-GB" sz="2785" b="0" i="0" kern="1200" spc="-201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“Bad”</a:t>
            </a:r>
            <a:r>
              <a:rPr lang="en-GB" sz="2785" b="0" i="0" kern="1200" spc="-34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785" b="0" i="0" kern="1200" spc="-112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FDs</a:t>
            </a:r>
            <a:endParaRPr lang="en-GB" spc="-88"/>
          </a:p>
        </p:txBody>
      </p:sp>
      <p:sp>
        <p:nvSpPr>
          <p:cNvPr id="3" name="object 3"/>
          <p:cNvSpPr txBox="1"/>
          <p:nvPr/>
        </p:nvSpPr>
        <p:spPr>
          <a:xfrm>
            <a:off x="733791" y="2254250"/>
            <a:ext cx="7648823" cy="402319"/>
          </a:xfrm>
          <a:prstGeom prst="rect">
            <a:avLst/>
          </a:prstGeom>
        </p:spPr>
        <p:txBody>
          <a:bodyPr vert="horz" wrap="square" lIns="0" tIns="19308" rIns="0" bIns="0" rtlCol="0">
            <a:spAutoFit/>
          </a:bodyPr>
          <a:lstStyle/>
          <a:p>
            <a:pPr marL="18861" defTabSz="1161071">
              <a:spcBef>
                <a:spcPts val="193"/>
              </a:spcBef>
            </a:pPr>
            <a:r>
              <a:rPr lang="en-GB" sz="2451" kern="1200" spc="29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Wir</a:t>
            </a:r>
            <a:r>
              <a:rPr lang="en-GB" sz="2451" kern="1200" spc="2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451" kern="1200" spc="29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entwickeln</a:t>
            </a:r>
            <a:r>
              <a:rPr lang="en-GB" sz="2451" kern="1200" spc="2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451" kern="1200" spc="29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ein</a:t>
            </a:r>
            <a:r>
              <a:rPr lang="en-GB" sz="2451" kern="1200" spc="2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451" kern="1200" spc="29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Verständnis</a:t>
            </a:r>
            <a:r>
              <a:rPr lang="en-GB" sz="2451" kern="1200" spc="2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für</a:t>
            </a:r>
            <a:r>
              <a:rPr lang="en-GB" sz="2451" kern="1200" spc="1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451" b="1" kern="1200" spc="1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good </a:t>
            </a:r>
            <a:r>
              <a:rPr lang="en-GB" sz="2451" kern="1200" spc="1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vs. </a:t>
            </a:r>
            <a:r>
              <a:rPr lang="en-GB" sz="2451" b="1" kern="1200" spc="1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bad</a:t>
            </a:r>
            <a:r>
              <a:rPr lang="en-GB" sz="2451" b="1" kern="1200" spc="-44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451" kern="1200" spc="1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FDs:</a:t>
            </a:r>
            <a:endParaRPr lang="en-GB" sz="193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410926"/>
              </p:ext>
            </p:extLst>
          </p:nvPr>
        </p:nvGraphicFramePr>
        <p:xfrm>
          <a:off x="615794" y="2929838"/>
          <a:ext cx="4072403" cy="1815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8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8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81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13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EmpID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Phone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Position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E0045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Smith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1234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Clerk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E3542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Mike</a:t>
                      </a: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9876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Salesrep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E1111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Smith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9876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Salesrep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E9999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Mary</a:t>
                      </a: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1234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Lawyer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799715" y="2939276"/>
            <a:ext cx="3329310" cy="2226169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37130" rIns="0" bIns="0" rtlCol="0">
            <a:spAutoFit/>
          </a:bodyPr>
          <a:lstStyle/>
          <a:p>
            <a:pPr marL="127314" defTabSz="1161071">
              <a:spcBef>
                <a:spcPts val="371"/>
              </a:spcBef>
            </a:pPr>
            <a:r>
              <a:rPr lang="en-GB" sz="1782" u="heavy" kern="1200" spc="-8" dirty="0" err="1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Intuitiv</a:t>
            </a:r>
            <a:r>
              <a:rPr lang="en-GB" sz="1782" u="heavy" kern="1200" spc="-8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:</a:t>
            </a:r>
            <a:endParaRPr lang="en-GB" sz="1782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61071">
              <a:spcBef>
                <a:spcPts val="52"/>
              </a:spcBef>
            </a:pPr>
            <a:endParaRPr lang="en-GB" sz="1857" kern="1200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127314" marR="720500" defTabSz="1161071">
              <a:lnSpc>
                <a:spcPts val="2109"/>
              </a:lnSpc>
            </a:pPr>
            <a:r>
              <a:rPr lang="en-GB" sz="1782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EmpID</a:t>
            </a:r>
            <a:r>
              <a:rPr lang="en-GB" sz="1782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82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-&gt; </a:t>
            </a:r>
            <a:r>
              <a:rPr lang="en-GB" sz="1782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Name,</a:t>
            </a:r>
            <a:r>
              <a:rPr lang="en-GB" sz="1782" kern="1200" spc="-141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82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Phone,  Position </a:t>
            </a:r>
            <a:r>
              <a:rPr lang="en-GB" sz="1782" kern="1200" spc="1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i</a:t>
            </a:r>
            <a:r>
              <a:rPr lang="en-GB" sz="1782" i="1" kern="1200" spc="1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st</a:t>
            </a:r>
            <a:r>
              <a:rPr lang="en-GB" sz="1782" i="1" kern="1200" spc="1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82" i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“good</a:t>
            </a:r>
            <a:r>
              <a:rPr lang="en-GB" sz="1782" i="1" kern="1200" spc="-81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82" i="1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FD”</a:t>
            </a:r>
            <a:endParaRPr lang="en-GB" sz="1782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534717" marR="529058" indent="-373452" defTabSz="1161071">
              <a:lnSpc>
                <a:spcPts val="2109"/>
              </a:lnSpc>
              <a:spcBef>
                <a:spcPts val="15"/>
              </a:spcBef>
              <a:buChar char="•"/>
              <a:tabLst>
                <a:tab pos="533773" algn="l"/>
                <a:tab pos="535659" algn="l"/>
              </a:tabLst>
            </a:pPr>
            <a:r>
              <a:rPr lang="en-GB" sz="1782" b="1" i="1" kern="1200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Minimale</a:t>
            </a:r>
            <a:r>
              <a:rPr lang="en-GB" sz="1782" b="1" i="1" kern="1200" spc="-133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82" b="1" i="1" spc="-8" dirty="0" err="1">
                <a:latin typeface="Arial"/>
                <a:cs typeface="Arial"/>
              </a:rPr>
              <a:t>R</a:t>
            </a:r>
            <a:r>
              <a:rPr lang="en-GB" sz="1782" b="1" i="1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edundanz</a:t>
            </a:r>
            <a:r>
              <a:rPr lang="en-GB" sz="1782" b="1" i="1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, </a:t>
            </a:r>
            <a:r>
              <a:rPr lang="en-GB" sz="1782" b="1" i="1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verursacht</a:t>
            </a:r>
            <a:r>
              <a:rPr lang="en-GB" sz="1782" b="1" i="1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82" b="1" i="1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keine</a:t>
            </a:r>
            <a:r>
              <a:rPr lang="en-GB" sz="1782" b="1" i="1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82" b="1" i="1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Anomalien</a:t>
            </a:r>
            <a:r>
              <a:rPr lang="en-GB" sz="1782" b="1" i="1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endParaRPr lang="en-GB" sz="1403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4374" y="3337366"/>
            <a:ext cx="4123823" cy="1408122"/>
          </a:xfrm>
          <a:custGeom>
            <a:avLst/>
            <a:gdLst/>
            <a:ahLst/>
            <a:cxnLst/>
            <a:rect l="l" t="t" r="r" b="b"/>
            <a:pathLst>
              <a:path w="3566160" h="1287145">
                <a:moveTo>
                  <a:pt x="3351698" y="1286687"/>
                </a:moveTo>
                <a:lnTo>
                  <a:pt x="214454" y="1286687"/>
                </a:lnTo>
                <a:lnTo>
                  <a:pt x="165282" y="1281023"/>
                </a:lnTo>
                <a:lnTo>
                  <a:pt x="120142" y="1264888"/>
                </a:lnTo>
                <a:lnTo>
                  <a:pt x="80324" y="1239571"/>
                </a:lnTo>
                <a:lnTo>
                  <a:pt x="47113" y="1206359"/>
                </a:lnTo>
                <a:lnTo>
                  <a:pt x="21797" y="1166541"/>
                </a:lnTo>
                <a:lnTo>
                  <a:pt x="5663" y="1121405"/>
                </a:lnTo>
                <a:lnTo>
                  <a:pt x="0" y="1072237"/>
                </a:lnTo>
                <a:lnTo>
                  <a:pt x="0" y="214439"/>
                </a:lnTo>
                <a:lnTo>
                  <a:pt x="5663" y="165271"/>
                </a:lnTo>
                <a:lnTo>
                  <a:pt x="21797" y="120136"/>
                </a:lnTo>
                <a:lnTo>
                  <a:pt x="47113" y="80320"/>
                </a:lnTo>
                <a:lnTo>
                  <a:pt x="80324" y="47111"/>
                </a:lnTo>
                <a:lnTo>
                  <a:pt x="120142" y="21796"/>
                </a:lnTo>
                <a:lnTo>
                  <a:pt x="165282" y="5663"/>
                </a:lnTo>
                <a:lnTo>
                  <a:pt x="214454" y="0"/>
                </a:lnTo>
                <a:lnTo>
                  <a:pt x="3351698" y="0"/>
                </a:lnTo>
                <a:lnTo>
                  <a:pt x="3393731" y="4158"/>
                </a:lnTo>
                <a:lnTo>
                  <a:pt x="3433766" y="16323"/>
                </a:lnTo>
                <a:lnTo>
                  <a:pt x="3470680" y="36029"/>
                </a:lnTo>
                <a:lnTo>
                  <a:pt x="3503348" y="62809"/>
                </a:lnTo>
                <a:lnTo>
                  <a:pt x="3530130" y="95472"/>
                </a:lnTo>
                <a:lnTo>
                  <a:pt x="3549832" y="132381"/>
                </a:lnTo>
                <a:lnTo>
                  <a:pt x="3561992" y="172413"/>
                </a:lnTo>
                <a:lnTo>
                  <a:pt x="3566147" y="214439"/>
                </a:lnTo>
                <a:lnTo>
                  <a:pt x="3566147" y="1072237"/>
                </a:lnTo>
                <a:lnTo>
                  <a:pt x="3560484" y="1121405"/>
                </a:lnTo>
                <a:lnTo>
                  <a:pt x="3544353" y="1166541"/>
                </a:lnTo>
                <a:lnTo>
                  <a:pt x="3519039" y="1206359"/>
                </a:lnTo>
                <a:lnTo>
                  <a:pt x="3485830" y="1239571"/>
                </a:lnTo>
                <a:lnTo>
                  <a:pt x="3446013" y="1264888"/>
                </a:lnTo>
                <a:lnTo>
                  <a:pt x="3400873" y="1281023"/>
                </a:lnTo>
                <a:lnTo>
                  <a:pt x="3351698" y="1286687"/>
                </a:lnTo>
                <a:close/>
              </a:path>
            </a:pathLst>
          </a:custGeom>
          <a:solidFill>
            <a:srgbClr val="FBE4D4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" name="object 7"/>
          <p:cNvSpPr/>
          <p:nvPr/>
        </p:nvSpPr>
        <p:spPr>
          <a:xfrm>
            <a:off x="564375" y="3337366"/>
            <a:ext cx="4123822" cy="1408122"/>
          </a:xfrm>
          <a:custGeom>
            <a:avLst/>
            <a:gdLst/>
            <a:ahLst/>
            <a:cxnLst/>
            <a:rect l="l" t="t" r="r" b="b"/>
            <a:pathLst>
              <a:path w="3566160" h="1287145">
                <a:moveTo>
                  <a:pt x="0" y="214439"/>
                </a:moveTo>
                <a:lnTo>
                  <a:pt x="5663" y="165271"/>
                </a:lnTo>
                <a:lnTo>
                  <a:pt x="21797" y="120136"/>
                </a:lnTo>
                <a:lnTo>
                  <a:pt x="47113" y="80320"/>
                </a:lnTo>
                <a:lnTo>
                  <a:pt x="80324" y="47111"/>
                </a:lnTo>
                <a:lnTo>
                  <a:pt x="120142" y="21796"/>
                </a:lnTo>
                <a:lnTo>
                  <a:pt x="165282" y="5663"/>
                </a:lnTo>
                <a:lnTo>
                  <a:pt x="214454" y="0"/>
                </a:lnTo>
                <a:lnTo>
                  <a:pt x="3351698" y="0"/>
                </a:lnTo>
                <a:lnTo>
                  <a:pt x="3393730" y="4158"/>
                </a:lnTo>
                <a:lnTo>
                  <a:pt x="3433766" y="16323"/>
                </a:lnTo>
                <a:lnTo>
                  <a:pt x="3470680" y="36029"/>
                </a:lnTo>
                <a:lnTo>
                  <a:pt x="3503347" y="62809"/>
                </a:lnTo>
                <a:lnTo>
                  <a:pt x="3530130" y="95472"/>
                </a:lnTo>
                <a:lnTo>
                  <a:pt x="3549832" y="132381"/>
                </a:lnTo>
                <a:lnTo>
                  <a:pt x="3561991" y="172413"/>
                </a:lnTo>
                <a:lnTo>
                  <a:pt x="3566147" y="214439"/>
                </a:lnTo>
                <a:lnTo>
                  <a:pt x="3566147" y="1072237"/>
                </a:lnTo>
                <a:lnTo>
                  <a:pt x="3560484" y="1121405"/>
                </a:lnTo>
                <a:lnTo>
                  <a:pt x="3544353" y="1166541"/>
                </a:lnTo>
                <a:lnTo>
                  <a:pt x="3519039" y="1206359"/>
                </a:lnTo>
                <a:lnTo>
                  <a:pt x="3485830" y="1239571"/>
                </a:lnTo>
                <a:lnTo>
                  <a:pt x="3446013" y="1264888"/>
                </a:lnTo>
                <a:lnTo>
                  <a:pt x="3400873" y="1281022"/>
                </a:lnTo>
                <a:lnTo>
                  <a:pt x="3351698" y="1286687"/>
                </a:lnTo>
                <a:lnTo>
                  <a:pt x="214454" y="1286687"/>
                </a:lnTo>
                <a:lnTo>
                  <a:pt x="165282" y="1281022"/>
                </a:lnTo>
                <a:lnTo>
                  <a:pt x="120142" y="1264888"/>
                </a:lnTo>
                <a:lnTo>
                  <a:pt x="80324" y="1239571"/>
                </a:lnTo>
                <a:lnTo>
                  <a:pt x="47113" y="1206359"/>
                </a:lnTo>
                <a:lnTo>
                  <a:pt x="21797" y="1166541"/>
                </a:lnTo>
                <a:lnTo>
                  <a:pt x="5663" y="1121405"/>
                </a:lnTo>
                <a:lnTo>
                  <a:pt x="0" y="1072237"/>
                </a:lnTo>
                <a:lnTo>
                  <a:pt x="0" y="214439"/>
                </a:lnTo>
                <a:close/>
              </a:path>
            </a:pathLst>
          </a:custGeom>
          <a:ln w="25399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997618-B13F-E778-1FBC-0921499225A9}"/>
              </a:ext>
            </a:extLst>
          </p:cNvPr>
          <p:cNvSpPr txBox="1"/>
          <p:nvPr/>
        </p:nvSpPr>
        <p:spPr>
          <a:xfrm>
            <a:off x="1917700" y="5988050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EmpID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ist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eindeutig</a:t>
            </a:r>
            <a:r>
              <a:rPr lang="en-US" dirty="0">
                <a:solidFill>
                  <a:srgbClr val="FF0000"/>
                </a:solidFill>
              </a:rPr>
              <a:t> / </a:t>
            </a:r>
            <a:r>
              <a:rPr lang="en-US" dirty="0" err="1">
                <a:solidFill>
                  <a:srgbClr val="FF0000"/>
                </a:solidFill>
              </a:rPr>
              <a:t>identifizierend</a:t>
            </a:r>
            <a:r>
              <a:rPr lang="en-US" dirty="0">
                <a:solidFill>
                  <a:srgbClr val="FF0000"/>
                </a:solidFill>
              </a:rPr>
              <a:t> … </a:t>
            </a:r>
            <a:r>
              <a:rPr lang="en-US" dirty="0" err="1">
                <a:solidFill>
                  <a:srgbClr val="FF0000"/>
                </a:solidFill>
              </a:rPr>
              <a:t>Schlüssel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337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533192"/>
              </p:ext>
            </p:extLst>
          </p:nvPr>
        </p:nvGraphicFramePr>
        <p:xfrm>
          <a:off x="589697" y="3584066"/>
          <a:ext cx="4072403" cy="1815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8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8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81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13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EmpID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Phone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Position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E0045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Smith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1234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Clerk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E3542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Mike</a:t>
                      </a: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9876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Salesrep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E1111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Smith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9876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Salesrep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E9999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Mary</a:t>
                      </a: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1234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Lawyer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790582" y="3593533"/>
            <a:ext cx="3338443" cy="3050562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37130" rIns="0" bIns="0" rtlCol="0">
            <a:spAutoFit/>
          </a:bodyPr>
          <a:lstStyle/>
          <a:p>
            <a:pPr marL="127314" defTabSz="1161071">
              <a:spcBef>
                <a:spcPts val="371"/>
              </a:spcBef>
            </a:pPr>
            <a:r>
              <a:rPr lang="en-GB" sz="1782" u="heavy" kern="1200" spc="-8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Intuitively:</a:t>
            </a:r>
            <a:endParaRPr lang="en-GB" sz="1782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61071">
              <a:spcBef>
                <a:spcPts val="52"/>
              </a:spcBef>
            </a:pPr>
            <a:endParaRPr lang="en-GB" sz="1857" kern="1200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127314" marR="720500" defTabSz="1161071">
              <a:lnSpc>
                <a:spcPts val="2109"/>
              </a:lnSpc>
            </a:pPr>
            <a:r>
              <a:rPr lang="en-GB" sz="1782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EmpID</a:t>
            </a:r>
            <a:r>
              <a:rPr lang="en-GB" sz="1782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82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-&gt; </a:t>
            </a:r>
            <a:r>
              <a:rPr lang="en-GB" sz="1782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Name,</a:t>
            </a:r>
            <a:r>
              <a:rPr lang="en-GB" sz="1782" kern="1200" spc="-141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82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Phone,  Position </a:t>
            </a:r>
            <a:r>
              <a:rPr lang="en-GB" sz="1782" kern="1200" spc="1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i</a:t>
            </a:r>
            <a:r>
              <a:rPr lang="en-GB" sz="1782" i="1" kern="1200" spc="1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st</a:t>
            </a:r>
            <a:r>
              <a:rPr lang="en-GB" sz="1782" i="1" kern="1200" spc="1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82" i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“good</a:t>
            </a:r>
            <a:r>
              <a:rPr lang="en-GB" sz="1782" i="1" kern="1200" spc="-81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82" i="1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FD”</a:t>
            </a:r>
            <a:endParaRPr lang="en-GB" sz="1782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61071"/>
            <a:endParaRPr lang="en-GB" sz="1857" kern="1200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127314" marR="576212" defTabSz="1161071">
              <a:lnSpc>
                <a:spcPts val="2109"/>
              </a:lnSpc>
            </a:pPr>
            <a:r>
              <a:rPr lang="en-GB" sz="1782" spc="-8" dirty="0">
                <a:latin typeface="Arial"/>
                <a:cs typeface="Arial"/>
              </a:rPr>
              <a:t>Aber</a:t>
            </a:r>
            <a:r>
              <a:rPr lang="en-GB" sz="1782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Position </a:t>
            </a:r>
            <a:r>
              <a:rPr lang="en-GB" sz="1782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-&gt; </a:t>
            </a:r>
            <a:r>
              <a:rPr lang="en-GB" sz="1782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Phone </a:t>
            </a:r>
            <a:r>
              <a:rPr lang="en-GB" sz="1782" i="1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ist</a:t>
            </a:r>
            <a:r>
              <a:rPr lang="en-GB" sz="1782" i="1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82" i="1" spc="-8" dirty="0" err="1">
                <a:latin typeface="Arial"/>
                <a:cs typeface="Arial"/>
              </a:rPr>
              <a:t>eine</a:t>
            </a:r>
            <a:r>
              <a:rPr lang="en-GB" sz="1782" i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 “bad</a:t>
            </a:r>
            <a:r>
              <a:rPr lang="en-GB" sz="1782" i="1" kern="1200" spc="-1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82" i="1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FD”</a:t>
            </a:r>
            <a:endParaRPr lang="en-GB" sz="1782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534717" marR="849700" indent="-373452" defTabSz="1161071">
              <a:lnSpc>
                <a:spcPts val="2109"/>
              </a:lnSpc>
              <a:spcBef>
                <a:spcPts val="15"/>
              </a:spcBef>
              <a:buChar char="•"/>
              <a:tabLst>
                <a:tab pos="533773" algn="l"/>
                <a:tab pos="535659" algn="l"/>
              </a:tabLst>
            </a:pPr>
            <a:r>
              <a:rPr lang="en-GB" sz="1782" b="1" i="1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Redundanz</a:t>
            </a:r>
            <a:r>
              <a:rPr lang="en-GB" sz="1782" b="1" i="1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!  </a:t>
            </a:r>
            <a:r>
              <a:rPr lang="en-GB" sz="1782" b="1" i="1" spc="-8" dirty="0" err="1">
                <a:latin typeface="Arial"/>
                <a:cs typeface="Arial"/>
              </a:rPr>
              <a:t>Mögliches</a:t>
            </a:r>
            <a:r>
              <a:rPr lang="en-GB" sz="1782" b="1" i="1" spc="-8" dirty="0">
                <a:latin typeface="Arial"/>
                <a:cs typeface="Arial"/>
              </a:rPr>
              <a:t> </a:t>
            </a:r>
            <a:r>
              <a:rPr lang="en-GB" sz="1782" b="1" i="1" spc="-8" dirty="0" err="1">
                <a:latin typeface="Arial"/>
                <a:cs typeface="Arial"/>
              </a:rPr>
              <a:t>Auftreten</a:t>
            </a:r>
            <a:r>
              <a:rPr lang="en-GB" sz="1782" b="1" i="1" spc="-8" dirty="0">
                <a:latin typeface="Arial"/>
                <a:cs typeface="Arial"/>
              </a:rPr>
              <a:t> von</a:t>
            </a:r>
            <a:r>
              <a:rPr lang="en-GB" sz="1782" b="1" i="1" kern="1200" spc="-133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82" b="1" i="1" spc="-8" dirty="0" err="1">
                <a:latin typeface="Arial"/>
                <a:cs typeface="Arial"/>
              </a:rPr>
              <a:t>Daten</a:t>
            </a:r>
            <a:r>
              <a:rPr lang="en-GB" sz="1782" b="1" i="1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anomalien</a:t>
            </a:r>
            <a:endParaRPr lang="en-GB" sz="1403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94100" y="4235450"/>
            <a:ext cx="1068000" cy="751586"/>
          </a:xfrm>
          <a:custGeom>
            <a:avLst/>
            <a:gdLst/>
            <a:ahLst/>
            <a:cxnLst/>
            <a:rect l="l" t="t" r="r" b="b"/>
            <a:pathLst>
              <a:path w="1820545" h="753745">
                <a:moveTo>
                  <a:pt x="1694446" y="753373"/>
                </a:moveTo>
                <a:lnTo>
                  <a:pt x="125574" y="753373"/>
                </a:lnTo>
                <a:lnTo>
                  <a:pt x="76696" y="743504"/>
                </a:lnTo>
                <a:lnTo>
                  <a:pt x="36781" y="716592"/>
                </a:lnTo>
                <a:lnTo>
                  <a:pt x="9868" y="676676"/>
                </a:lnTo>
                <a:lnTo>
                  <a:pt x="0" y="627798"/>
                </a:lnTo>
                <a:lnTo>
                  <a:pt x="0" y="125549"/>
                </a:lnTo>
                <a:lnTo>
                  <a:pt x="9868" y="76675"/>
                </a:lnTo>
                <a:lnTo>
                  <a:pt x="36781" y="36768"/>
                </a:lnTo>
                <a:lnTo>
                  <a:pt x="76696" y="9864"/>
                </a:lnTo>
                <a:lnTo>
                  <a:pt x="125574" y="0"/>
                </a:lnTo>
                <a:lnTo>
                  <a:pt x="1694446" y="0"/>
                </a:lnTo>
                <a:lnTo>
                  <a:pt x="1742502" y="9556"/>
                </a:lnTo>
                <a:lnTo>
                  <a:pt x="1783246" y="36774"/>
                </a:lnTo>
                <a:lnTo>
                  <a:pt x="1810465" y="77506"/>
                </a:lnTo>
                <a:lnTo>
                  <a:pt x="1820021" y="125549"/>
                </a:lnTo>
                <a:lnTo>
                  <a:pt x="1820021" y="627798"/>
                </a:lnTo>
                <a:lnTo>
                  <a:pt x="1810152" y="676676"/>
                </a:lnTo>
                <a:lnTo>
                  <a:pt x="1783240" y="716592"/>
                </a:lnTo>
                <a:lnTo>
                  <a:pt x="1743324" y="743504"/>
                </a:lnTo>
                <a:lnTo>
                  <a:pt x="1694446" y="753373"/>
                </a:lnTo>
                <a:close/>
              </a:path>
            </a:pathLst>
          </a:custGeom>
          <a:solidFill>
            <a:srgbClr val="FBE4D4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" name="object 7"/>
          <p:cNvSpPr/>
          <p:nvPr/>
        </p:nvSpPr>
        <p:spPr>
          <a:xfrm>
            <a:off x="3594100" y="4235450"/>
            <a:ext cx="1068000" cy="751586"/>
          </a:xfrm>
          <a:custGeom>
            <a:avLst/>
            <a:gdLst/>
            <a:ahLst/>
            <a:cxnLst/>
            <a:rect l="l" t="t" r="r" b="b"/>
            <a:pathLst>
              <a:path w="1820545" h="753745">
                <a:moveTo>
                  <a:pt x="0" y="125549"/>
                </a:moveTo>
                <a:lnTo>
                  <a:pt x="9868" y="76675"/>
                </a:lnTo>
                <a:lnTo>
                  <a:pt x="36781" y="36768"/>
                </a:lnTo>
                <a:lnTo>
                  <a:pt x="76696" y="9864"/>
                </a:lnTo>
                <a:lnTo>
                  <a:pt x="125574" y="0"/>
                </a:lnTo>
                <a:lnTo>
                  <a:pt x="1694446" y="0"/>
                </a:lnTo>
                <a:lnTo>
                  <a:pt x="1742502" y="9556"/>
                </a:lnTo>
                <a:lnTo>
                  <a:pt x="1783246" y="36774"/>
                </a:lnTo>
                <a:lnTo>
                  <a:pt x="1810465" y="77506"/>
                </a:lnTo>
                <a:lnTo>
                  <a:pt x="1820021" y="125549"/>
                </a:lnTo>
                <a:lnTo>
                  <a:pt x="1820021" y="627798"/>
                </a:lnTo>
                <a:lnTo>
                  <a:pt x="1810152" y="676676"/>
                </a:lnTo>
                <a:lnTo>
                  <a:pt x="1783240" y="716592"/>
                </a:lnTo>
                <a:lnTo>
                  <a:pt x="1743324" y="743504"/>
                </a:lnTo>
                <a:lnTo>
                  <a:pt x="1694446" y="753373"/>
                </a:lnTo>
                <a:lnTo>
                  <a:pt x="125574" y="753373"/>
                </a:lnTo>
                <a:lnTo>
                  <a:pt x="76696" y="743504"/>
                </a:lnTo>
                <a:lnTo>
                  <a:pt x="36781" y="716592"/>
                </a:lnTo>
                <a:lnTo>
                  <a:pt x="9868" y="676676"/>
                </a:lnTo>
                <a:lnTo>
                  <a:pt x="0" y="627798"/>
                </a:lnTo>
                <a:lnTo>
                  <a:pt x="0" y="125549"/>
                </a:lnTo>
                <a:close/>
              </a:path>
            </a:pathLst>
          </a:custGeom>
          <a:ln w="25399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E5864D3-7EA6-9E30-C558-742D4430BC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0541" y="654049"/>
            <a:ext cx="5892133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18861" defTabSz="1018470">
              <a:lnSpc>
                <a:spcPct val="100000"/>
              </a:lnSpc>
              <a:spcBef>
                <a:spcPts val="149"/>
              </a:spcBef>
            </a:pPr>
            <a:r>
              <a:rPr lang="en-GB" sz="2785" b="0" i="0" kern="1200" spc="-201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“Good” </a:t>
            </a:r>
            <a:r>
              <a:rPr lang="en-GB" sz="2785" b="0" i="0" kern="1200" spc="-297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vs. </a:t>
            </a:r>
            <a:r>
              <a:rPr lang="en-GB" sz="2785" b="0" i="0" kern="1200" spc="-201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“Bad”</a:t>
            </a:r>
            <a:r>
              <a:rPr lang="en-GB" sz="2785" b="0" i="0" kern="1200" spc="-34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785" b="0" i="0" kern="1200" spc="-112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FDs</a:t>
            </a:r>
            <a:endParaRPr lang="en-GB" spc="-88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033B917C-E530-B0EB-ECFA-65A0208907E4}"/>
              </a:ext>
            </a:extLst>
          </p:cNvPr>
          <p:cNvSpPr txBox="1"/>
          <p:nvPr/>
        </p:nvSpPr>
        <p:spPr>
          <a:xfrm>
            <a:off x="733791" y="2254250"/>
            <a:ext cx="7648823" cy="402319"/>
          </a:xfrm>
          <a:prstGeom prst="rect">
            <a:avLst/>
          </a:prstGeom>
        </p:spPr>
        <p:txBody>
          <a:bodyPr vert="horz" wrap="square" lIns="0" tIns="19308" rIns="0" bIns="0" rtlCol="0">
            <a:spAutoFit/>
          </a:bodyPr>
          <a:lstStyle/>
          <a:p>
            <a:pPr marL="18861" defTabSz="1161071">
              <a:spcBef>
                <a:spcPts val="193"/>
              </a:spcBef>
            </a:pPr>
            <a:r>
              <a:rPr lang="en-GB" sz="2451" kern="1200" spc="29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Wir</a:t>
            </a:r>
            <a:r>
              <a:rPr lang="en-GB" sz="2451" kern="1200" spc="2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451" kern="1200" spc="29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entwickeln</a:t>
            </a:r>
            <a:r>
              <a:rPr lang="en-GB" sz="2451" kern="1200" spc="2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451" kern="1200" spc="29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ein</a:t>
            </a:r>
            <a:r>
              <a:rPr lang="en-GB" sz="2451" kern="1200" spc="2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451" kern="1200" spc="29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Verständnis</a:t>
            </a:r>
            <a:r>
              <a:rPr lang="en-GB" sz="2451" kern="1200" spc="2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für</a:t>
            </a:r>
            <a:r>
              <a:rPr lang="en-GB" sz="2451" kern="1200" spc="1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451" b="1" kern="1200" spc="1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good </a:t>
            </a:r>
            <a:r>
              <a:rPr lang="en-GB" sz="2451" kern="1200" spc="1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vs. </a:t>
            </a:r>
            <a:r>
              <a:rPr lang="en-GB" sz="2451" b="1" kern="1200" spc="1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bad</a:t>
            </a:r>
            <a:r>
              <a:rPr lang="en-GB" sz="2451" b="1" kern="1200" spc="-44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451" kern="1200" spc="1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FDs:</a:t>
            </a:r>
            <a:endParaRPr lang="en-GB" sz="193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84205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374" y="737432"/>
            <a:ext cx="6279679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b="0" i="0" kern="1200" spc="-213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“Good” </a:t>
            </a:r>
            <a:r>
              <a:rPr lang="en-GB" sz="2961" b="0" i="0" kern="1200" spc="-316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vs. </a:t>
            </a:r>
            <a:r>
              <a:rPr lang="en-GB" sz="2961" b="0" i="0" kern="1200" spc="-213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“Bad”</a:t>
            </a:r>
            <a:r>
              <a:rPr lang="en-GB" sz="2961" b="0" i="0" kern="1200" spc="-362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961" b="0" i="0" kern="1200" spc="-119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FDs</a:t>
            </a:r>
            <a:endParaRPr lang="en-GB" spc="-88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878550"/>
              </p:ext>
            </p:extLst>
          </p:nvPr>
        </p:nvGraphicFramePr>
        <p:xfrm>
          <a:off x="618174" y="2529558"/>
          <a:ext cx="3020143" cy="1815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0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13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Student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Room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Mary</a:t>
                      </a: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CS145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B01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>
                          <a:latin typeface="Arial"/>
                          <a:cs typeface="Arial"/>
                        </a:rPr>
                        <a:t>Joe</a:t>
                      </a: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CS145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B01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Sam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CS145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B01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..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..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>
                          <a:latin typeface="Arial"/>
                          <a:cs typeface="Arial"/>
                        </a:rPr>
                        <a:t>..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497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523399" y="5780019"/>
            <a:ext cx="7454729" cy="1039045"/>
          </a:xfrm>
          <a:prstGeom prst="rect">
            <a:avLst/>
          </a:prstGeom>
          <a:solidFill>
            <a:srgbClr val="CFE1F2"/>
          </a:solidFill>
        </p:spPr>
        <p:txBody>
          <a:bodyPr vert="horz" wrap="square" lIns="0" tIns="35645" rIns="0" bIns="0" rtlCol="0">
            <a:spAutoFit/>
          </a:bodyPr>
          <a:lstStyle/>
          <a:p>
            <a:pPr marL="134330" defTabSz="1234209">
              <a:lnSpc>
                <a:spcPts val="2627"/>
              </a:lnSpc>
              <a:spcBef>
                <a:spcPts val="379"/>
              </a:spcBef>
            </a:pPr>
            <a:r>
              <a:rPr lang="en-GB" sz="2210" spc="-8" dirty="0" err="1">
                <a:latin typeface="Arial"/>
                <a:cs typeface="Arial"/>
              </a:rPr>
              <a:t>Ziel</a:t>
            </a:r>
            <a:r>
              <a:rPr lang="en-GB" sz="2210" spc="-8" dirty="0">
                <a:latin typeface="Arial"/>
                <a:cs typeface="Arial"/>
              </a:rPr>
              <a:t> </a:t>
            </a:r>
            <a:r>
              <a:rPr lang="en-GB" sz="2210" spc="-8" dirty="0" err="1">
                <a:latin typeface="Arial"/>
                <a:cs typeface="Arial"/>
              </a:rPr>
              <a:t>muß</a:t>
            </a:r>
            <a:r>
              <a:rPr lang="en-GB" sz="2210" spc="-8" dirty="0">
                <a:latin typeface="Arial"/>
                <a:cs typeface="Arial"/>
              </a:rPr>
              <a:t> also sein</a:t>
            </a:r>
            <a:r>
              <a:rPr lang="en-GB" sz="2210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:</a:t>
            </a:r>
            <a:endParaRPr lang="en-GB" sz="221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622532" indent="-581432" defTabSz="1234209">
              <a:lnSpc>
                <a:spcPts val="2606"/>
              </a:lnSpc>
              <a:buAutoNum type="arabicPeriod"/>
              <a:tabLst>
                <a:tab pos="621531" algn="l"/>
                <a:tab pos="622532" algn="l"/>
              </a:tabLst>
            </a:pPr>
            <a:r>
              <a:rPr lang="en-GB" sz="2210" b="1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Finde</a:t>
            </a:r>
            <a:r>
              <a:rPr lang="en-GB" sz="2210" b="1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all FDs,</a:t>
            </a:r>
            <a:r>
              <a:rPr lang="en-GB" sz="2210" b="1" kern="1200" spc="-1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10" b="1" spc="-8" dirty="0">
                <a:latin typeface="Arial"/>
                <a:cs typeface="Arial"/>
              </a:rPr>
              <a:t>u</a:t>
            </a:r>
            <a:r>
              <a:rPr lang="en-GB" sz="2210" b="1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nd</a:t>
            </a:r>
            <a:endParaRPr lang="en-GB" sz="221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622532" indent="-581432" defTabSz="1234209">
              <a:lnSpc>
                <a:spcPts val="2627"/>
              </a:lnSpc>
              <a:buAutoNum type="arabicPeriod"/>
              <a:tabLst>
                <a:tab pos="621531" algn="l"/>
                <a:tab pos="622532" algn="l"/>
              </a:tabLst>
            </a:pPr>
            <a:r>
              <a:rPr lang="en-GB" sz="2210" b="1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Eliminiere</a:t>
            </a:r>
            <a:r>
              <a:rPr lang="en-GB" sz="2210" b="1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10" b="1" spc="-8" dirty="0">
                <a:latin typeface="Arial"/>
                <a:cs typeface="Arial"/>
              </a:rPr>
              <a:t>die</a:t>
            </a:r>
            <a:r>
              <a:rPr lang="en-GB" sz="2210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“Bad</a:t>
            </a:r>
            <a:r>
              <a:rPr lang="en-GB" sz="2210" b="1" kern="1200" spc="-31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10" b="1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Ones".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02263" y="2446902"/>
            <a:ext cx="4626762" cy="2989344"/>
          </a:xfrm>
          <a:prstGeom prst="rect">
            <a:avLst/>
          </a:prstGeom>
        </p:spPr>
        <p:txBody>
          <a:bodyPr vert="horz" wrap="square" lIns="0" tIns="26734" rIns="0" bIns="0" rtlCol="0">
            <a:spAutoFit/>
          </a:bodyPr>
          <a:lstStyle/>
          <a:p>
            <a:pPr marL="20049" marR="165407" defTabSz="1234209">
              <a:lnSpc>
                <a:spcPts val="2606"/>
              </a:lnSpc>
              <a:spcBef>
                <a:spcPts val="284"/>
              </a:spcBef>
            </a:pPr>
            <a:r>
              <a:rPr lang="en-GB" sz="2210" spc="-8" dirty="0">
                <a:latin typeface="Arial"/>
                <a:cs typeface="Arial"/>
              </a:rPr>
              <a:t>Unser </a:t>
            </a:r>
            <a:r>
              <a:rPr lang="en-GB" sz="2210" spc="-8" dirty="0" err="1">
                <a:latin typeface="Arial"/>
                <a:cs typeface="Arial"/>
              </a:rPr>
              <a:t>ursprüngliches</a:t>
            </a:r>
            <a:r>
              <a:rPr lang="en-GB" sz="2210" spc="-8" dirty="0">
                <a:latin typeface="Arial"/>
                <a:cs typeface="Arial"/>
              </a:rPr>
              <a:t> </a:t>
            </a:r>
            <a:r>
              <a:rPr lang="en-GB" sz="2210" spc="-8" dirty="0" err="1">
                <a:latin typeface="Arial"/>
                <a:cs typeface="Arial"/>
              </a:rPr>
              <a:t>Beispiel</a:t>
            </a:r>
            <a:r>
              <a:rPr lang="en-GB" sz="2210" spc="-8" dirty="0">
                <a:latin typeface="Arial"/>
                <a:cs typeface="Arial"/>
              </a:rPr>
              <a:t> </a:t>
            </a:r>
            <a:r>
              <a:rPr lang="en-GB" sz="2210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…  </a:t>
            </a:r>
            <a:r>
              <a:rPr lang="en-GB" sz="2210" spc="-8" dirty="0" err="1">
                <a:latin typeface="Arial"/>
                <a:cs typeface="Arial"/>
              </a:rPr>
              <a:t>wir</a:t>
            </a:r>
            <a:r>
              <a:rPr lang="en-GB" sz="2210" spc="-8" dirty="0">
                <a:latin typeface="Arial"/>
                <a:cs typeface="Arial"/>
              </a:rPr>
              <a:t> </a:t>
            </a:r>
            <a:r>
              <a:rPr lang="en-GB" sz="2210" spc="-8" dirty="0" err="1">
                <a:latin typeface="Arial"/>
                <a:cs typeface="Arial"/>
              </a:rPr>
              <a:t>sehen</a:t>
            </a:r>
            <a:r>
              <a:rPr lang="en-GB" sz="2210" spc="-8" dirty="0">
                <a:latin typeface="Arial"/>
                <a:cs typeface="Arial"/>
              </a:rPr>
              <a:t>, </a:t>
            </a:r>
            <a:r>
              <a:rPr lang="en-GB" sz="2210" spc="-8" dirty="0" err="1">
                <a:latin typeface="Arial"/>
                <a:cs typeface="Arial"/>
              </a:rPr>
              <a:t>daß</a:t>
            </a:r>
            <a:endParaRPr lang="en-GB" sz="221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0049" defTabSz="1234209">
              <a:lnSpc>
                <a:spcPts val="2502"/>
              </a:lnSpc>
            </a:pPr>
            <a:r>
              <a:rPr lang="en-GB" sz="2210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{Course} </a:t>
            </a:r>
            <a:r>
              <a:rPr lang="en-GB" sz="221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-&gt; </a:t>
            </a:r>
            <a:r>
              <a:rPr lang="en-GB" sz="2210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{Room} </a:t>
            </a:r>
            <a:r>
              <a:rPr lang="en-GB" sz="2210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eine</a:t>
            </a:r>
            <a:r>
              <a:rPr lang="en-GB" sz="2210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1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“bad</a:t>
            </a:r>
            <a:r>
              <a:rPr lang="en-GB" sz="2210" kern="1200" spc="-9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10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FD” </a:t>
            </a:r>
            <a:r>
              <a:rPr lang="en-GB" sz="2210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ist</a:t>
            </a:r>
            <a:r>
              <a:rPr lang="en-GB" sz="2210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und </a:t>
            </a:r>
            <a:r>
              <a:rPr lang="en-GB" sz="2210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dann</a:t>
            </a:r>
            <a:r>
              <a:rPr lang="en-GB" sz="2210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10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natürlich</a:t>
            </a:r>
            <a:r>
              <a:rPr lang="en-GB" sz="2210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10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Probleme</a:t>
            </a:r>
            <a:r>
              <a:rPr lang="en-GB" sz="2210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10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bereitet</a:t>
            </a:r>
            <a:r>
              <a:rPr lang="en-GB" sz="2210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:</a:t>
            </a:r>
            <a:endParaRPr lang="en-GB" sz="221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380938" indent="-318785" defTabSz="1234209">
              <a:lnSpc>
                <a:spcPts val="2606"/>
              </a:lnSpc>
              <a:buChar char="•"/>
              <a:tabLst>
                <a:tab pos="379936" algn="l"/>
                <a:tab pos="380938" algn="l"/>
              </a:tabLst>
            </a:pPr>
            <a:r>
              <a:rPr lang="en-GB" sz="2210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Update</a:t>
            </a:r>
            <a:r>
              <a:rPr lang="en-GB" sz="2210" spc="-16" dirty="0">
                <a:latin typeface="Arial"/>
                <a:cs typeface="Arial"/>
              </a:rPr>
              <a:t>-</a:t>
            </a:r>
            <a:r>
              <a:rPr lang="en-GB" sz="2210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Anomalie</a:t>
            </a:r>
            <a:endParaRPr lang="en-GB" sz="221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380938" indent="-318785" defTabSz="1234209">
              <a:lnSpc>
                <a:spcPts val="2606"/>
              </a:lnSpc>
              <a:buChar char="•"/>
              <a:tabLst>
                <a:tab pos="379936" algn="l"/>
                <a:tab pos="380938" algn="l"/>
              </a:tabLst>
            </a:pPr>
            <a:r>
              <a:rPr lang="en-GB" sz="2210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Insert</a:t>
            </a:r>
            <a:r>
              <a:rPr lang="en-GB" sz="2210" spc="-16" dirty="0">
                <a:latin typeface="Arial"/>
                <a:cs typeface="Arial"/>
              </a:rPr>
              <a:t>-</a:t>
            </a:r>
            <a:r>
              <a:rPr lang="en-GB" sz="2210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Anomalie</a:t>
            </a:r>
            <a:endParaRPr lang="en-GB" sz="221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380938" indent="-318785" defTabSz="1234209">
              <a:lnSpc>
                <a:spcPts val="2606"/>
              </a:lnSpc>
              <a:buChar char="•"/>
              <a:tabLst>
                <a:tab pos="379936" algn="l"/>
                <a:tab pos="380938" algn="l"/>
              </a:tabLst>
            </a:pPr>
            <a:r>
              <a:rPr lang="en-GB" sz="2210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Delete</a:t>
            </a:r>
            <a:r>
              <a:rPr lang="en-GB" sz="2210" spc="-16" dirty="0">
                <a:latin typeface="Arial"/>
                <a:cs typeface="Arial"/>
              </a:rPr>
              <a:t>-</a:t>
            </a:r>
            <a:r>
              <a:rPr lang="en-GB" sz="2210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Anomalie</a:t>
            </a:r>
            <a:endParaRPr lang="en-GB" sz="221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380938" indent="-318785" defTabSz="1234209">
              <a:lnSpc>
                <a:spcPts val="2627"/>
              </a:lnSpc>
              <a:buChar char="•"/>
              <a:tabLst>
                <a:tab pos="379936" algn="l"/>
                <a:tab pos="380938" algn="l"/>
              </a:tabLst>
            </a:pPr>
            <a:r>
              <a:rPr lang="en-GB" sz="221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…</a:t>
            </a:r>
            <a:endParaRPr lang="en-GB" sz="163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99068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61357BC-736A-D9AE-AD11-BE7FA3EBD8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4374" y="772114"/>
            <a:ext cx="6279679" cy="470635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/>
              <a:t>(</a:t>
            </a:r>
            <a:r>
              <a:rPr lang="en-GB" sz="2961" spc="-213" dirty="0" err="1"/>
              <a:t>Systematisches</a:t>
            </a:r>
            <a:r>
              <a:rPr lang="en-GB" sz="2961" spc="-213" dirty="0"/>
              <a:t>) </a:t>
            </a:r>
            <a:r>
              <a:rPr lang="en-GB" sz="2961" spc="-213" dirty="0" err="1"/>
              <a:t>Bestimmen</a:t>
            </a:r>
            <a:r>
              <a:rPr lang="en-GB" sz="2961" spc="-213" dirty="0"/>
              <a:t> von</a:t>
            </a:r>
            <a:r>
              <a:rPr lang="en-GB" sz="2961" b="0" i="0" kern="1200" spc="-362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961" b="0" i="0" kern="1200" spc="-119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FDs</a:t>
            </a:r>
            <a:endParaRPr lang="en-GB" spc="-88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5E97758A-ADCE-C7C9-F65A-20763D974BCB}"/>
              </a:ext>
            </a:extLst>
          </p:cNvPr>
          <p:cNvSpPr txBox="1"/>
          <p:nvPr/>
        </p:nvSpPr>
        <p:spPr>
          <a:xfrm>
            <a:off x="774700" y="2101850"/>
            <a:ext cx="8508365" cy="3911327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Möglicherweise große Anzahl von FDs</a:t>
            </a:r>
          </a:p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Gibt es vielleicht eine ‚Basis‘ (so wie in einem Vektorraum)?</a:t>
            </a:r>
          </a:p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Gegeben eine Menge von FDs F = {f</a:t>
            </a:r>
            <a:r>
              <a:rPr lang="de-DE" sz="2400" spc="-5" baseline="-25000" dirty="0">
                <a:latin typeface="Tahoma"/>
                <a:cs typeface="Tahoma"/>
              </a:rPr>
              <a:t>1</a:t>
            </a:r>
            <a:r>
              <a:rPr lang="de-DE" sz="2400" spc="-5" dirty="0">
                <a:latin typeface="Tahoma"/>
                <a:cs typeface="Tahoma"/>
              </a:rPr>
              <a:t>, ..., </a:t>
            </a:r>
            <a:r>
              <a:rPr lang="de-DE" sz="2400" spc="-5" dirty="0" err="1">
                <a:latin typeface="Tahoma"/>
                <a:cs typeface="Tahoma"/>
              </a:rPr>
              <a:t>f</a:t>
            </a:r>
            <a:r>
              <a:rPr lang="de-DE" sz="2400" spc="-5" baseline="-25000" dirty="0" err="1">
                <a:latin typeface="Tahoma"/>
                <a:cs typeface="Tahoma"/>
              </a:rPr>
              <a:t>n</a:t>
            </a:r>
            <a:r>
              <a:rPr lang="de-DE" sz="2400" spc="-5" dirty="0">
                <a:latin typeface="Tahoma"/>
                <a:cs typeface="Tahoma"/>
              </a:rPr>
              <a:t>}, gibt es dann Verknüpfungen etc. um weitere FDs </a:t>
            </a:r>
            <a:r>
              <a:rPr lang="de-DE" sz="2400" spc="-5" dirty="0" err="1">
                <a:latin typeface="Tahoma"/>
                <a:cs typeface="Tahoma"/>
              </a:rPr>
              <a:t>g</a:t>
            </a:r>
            <a:r>
              <a:rPr lang="de-DE" sz="2400" spc="-5" dirty="0">
                <a:latin typeface="Tahoma"/>
                <a:cs typeface="Tahoma"/>
              </a:rPr>
              <a:t> abzuleiten?</a:t>
            </a:r>
          </a:p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Idealerweise</a:t>
            </a:r>
            <a:r>
              <a:rPr lang="de-DE" sz="2400" spc="-5" dirty="0">
                <a:latin typeface="Tahoma"/>
                <a:cs typeface="Tahoma"/>
              </a:rPr>
              <a:t> gibt es dann eine einfach Basis aus der alles abgeleitet werden kann </a:t>
            </a:r>
          </a:p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und die dann Ausgangspunkt für die </a:t>
            </a:r>
            <a:r>
              <a:rPr lang="de-DE" sz="2400" spc="-5" dirty="0" err="1">
                <a:latin typeface="Tahoma"/>
                <a:cs typeface="Tahoma"/>
              </a:rPr>
              <a:t>anomalievermeidenden</a:t>
            </a:r>
            <a:r>
              <a:rPr lang="de-DE" sz="2400" spc="-5" dirty="0">
                <a:latin typeface="Tahoma"/>
                <a:cs typeface="Tahoma"/>
              </a:rPr>
              <a:t> Zerlegungen sein kann</a:t>
            </a:r>
            <a:endParaRPr sz="2400" b="1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9828281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437" y="654050"/>
            <a:ext cx="6529864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18118" defTabSz="978373">
              <a:lnSpc>
                <a:spcPct val="100000"/>
              </a:lnSpc>
              <a:spcBef>
                <a:spcPts val="143"/>
              </a:spcBef>
            </a:pPr>
            <a:r>
              <a:rPr lang="en-GB" sz="2675" b="0" i="0" kern="1200" spc="-85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Motivation </a:t>
            </a:r>
            <a:r>
              <a:rPr lang="en-GB" sz="2675" spc="-85" dirty="0"/>
              <a:t>- </a:t>
            </a:r>
            <a:r>
              <a:rPr lang="en-GB" sz="2675" b="0" i="0" kern="1200" spc="-85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Beispiel</a:t>
            </a:r>
            <a:endParaRPr lang="en-GB" spc="-82" dirty="0"/>
          </a:p>
        </p:txBody>
      </p:sp>
      <p:sp>
        <p:nvSpPr>
          <p:cNvPr id="3" name="object 3"/>
          <p:cNvSpPr txBox="1"/>
          <p:nvPr/>
        </p:nvSpPr>
        <p:spPr>
          <a:xfrm>
            <a:off x="6151619" y="2900075"/>
            <a:ext cx="3977406" cy="942236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36386" rIns="0" bIns="0" rtlCol="0">
            <a:spAutoFit/>
          </a:bodyPr>
          <a:lstStyle/>
          <a:p>
            <a:pPr marL="403140" indent="-280839" defTabSz="1115359">
              <a:lnSpc>
                <a:spcPts val="2374"/>
              </a:lnSpc>
              <a:spcBef>
                <a:spcPts val="348"/>
              </a:spcBef>
              <a:buAutoNum type="arabicPeriod"/>
              <a:tabLst>
                <a:tab pos="404047" algn="l"/>
              </a:tabLst>
            </a:pPr>
            <a:r>
              <a:rPr lang="en-GB" sz="1997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{Name}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997" kern="1200" spc="-22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{Color}</a:t>
            </a:r>
            <a:endParaRPr lang="en-GB" sz="1997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403140" indent="-280839" defTabSz="1115359">
              <a:lnSpc>
                <a:spcPts val="2355"/>
              </a:lnSpc>
              <a:buAutoNum type="arabicPeriod"/>
              <a:tabLst>
                <a:tab pos="404047" algn="l"/>
              </a:tabLst>
            </a:pPr>
            <a:r>
              <a:rPr lang="en-GB" sz="1997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{Category}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997" kern="1200" spc="-143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{Department}</a:t>
            </a:r>
            <a:endParaRPr lang="en-GB" sz="1997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403140" indent="-280839" defTabSz="1115359">
              <a:lnSpc>
                <a:spcPts val="2374"/>
              </a:lnSpc>
              <a:buAutoNum type="arabicPeriod"/>
              <a:tabLst>
                <a:tab pos="404047" algn="l"/>
              </a:tabLst>
            </a:pPr>
            <a:r>
              <a:rPr lang="en-GB" sz="1997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{Color, Category}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997" kern="1200" spc="-135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{Price}</a:t>
            </a:r>
            <a:endParaRPr lang="en-GB" sz="1637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936712"/>
              </p:ext>
            </p:extLst>
          </p:nvPr>
        </p:nvGraphicFramePr>
        <p:xfrm>
          <a:off x="619804" y="2996534"/>
          <a:ext cx="4276617" cy="12832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5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802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Color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Category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Dep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Price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02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Gizmo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Green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Gadget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Toys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49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02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Widget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Black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Gadget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Toys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59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02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Gizmo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Green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Whatsit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Garden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99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993900" y="6369050"/>
            <a:ext cx="6324600" cy="344070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36386" rIns="0" bIns="0" rtlCol="0">
            <a:spAutoFit/>
          </a:bodyPr>
          <a:lstStyle/>
          <a:p>
            <a:pPr marL="274498" defTabSz="1115359">
              <a:spcBef>
                <a:spcPts val="348"/>
              </a:spcBef>
            </a:pPr>
            <a:r>
              <a:rPr lang="en-GB" sz="1997" kern="1200" spc="-7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Welche</a:t>
            </a:r>
            <a:r>
              <a:rPr lang="en-GB" sz="1997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und </a:t>
            </a:r>
            <a:r>
              <a:rPr lang="en-GB" sz="1997" kern="1200" spc="-7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wieviele</a:t>
            </a:r>
            <a:r>
              <a:rPr lang="en-GB" sz="1997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 spc="-7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andere</a:t>
            </a:r>
            <a:r>
              <a:rPr lang="en-GB" sz="1997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FDs</a:t>
            </a:r>
            <a:r>
              <a:rPr lang="en-GB" sz="1997" kern="1200" spc="-93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spc="-7" dirty="0" err="1">
                <a:latin typeface="Arial"/>
                <a:cs typeface="Arial"/>
              </a:rPr>
              <a:t>gibt</a:t>
            </a:r>
            <a:r>
              <a:rPr lang="en-GB" sz="1997" spc="-7" dirty="0">
                <a:latin typeface="Arial"/>
                <a:cs typeface="Arial"/>
              </a:rPr>
              <a:t> es </a:t>
            </a:r>
            <a:r>
              <a:rPr lang="en-GB" sz="1997" spc="-7" dirty="0" err="1">
                <a:latin typeface="Arial"/>
                <a:cs typeface="Arial"/>
              </a:rPr>
              <a:t>jetzt</a:t>
            </a:r>
            <a:r>
              <a:rPr lang="en-GB" sz="1997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?!?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0171" y="2502247"/>
            <a:ext cx="2078329" cy="322325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8118" defTabSz="1115359">
              <a:spcBef>
                <a:spcPts val="143"/>
              </a:spcBef>
            </a:pPr>
            <a:r>
              <a:rPr lang="en-GB" sz="1997" b="1" spc="-7" dirty="0" err="1">
                <a:latin typeface="Arial"/>
                <a:cs typeface="Arial"/>
              </a:rPr>
              <a:t>Bekannte</a:t>
            </a:r>
            <a:r>
              <a:rPr lang="en-GB" sz="1997" b="1" kern="1200" spc="-11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b="1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FDs: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4374" y="2502247"/>
            <a:ext cx="1141090" cy="327605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8118" defTabSz="1115359">
              <a:spcBef>
                <a:spcPts val="143"/>
              </a:spcBef>
            </a:pPr>
            <a:r>
              <a:rPr lang="en-GB" sz="1997" b="1" kern="1200" spc="-7">
                <a:solidFill>
                  <a:srgbClr val="ED7C31"/>
                </a:solidFill>
                <a:latin typeface="Arial"/>
                <a:ea typeface="+mn-ea"/>
                <a:cs typeface="Arial"/>
              </a:rPr>
              <a:t>Products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3722" y="4725139"/>
            <a:ext cx="7737178" cy="1229753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8118" defTabSz="1115359">
              <a:lnSpc>
                <a:spcPts val="2374"/>
              </a:lnSpc>
              <a:spcBef>
                <a:spcPts val="143"/>
              </a:spcBef>
            </a:pPr>
            <a:r>
              <a:rPr lang="en-GB" sz="1997" spc="-7" dirty="0" err="1">
                <a:latin typeface="Arial"/>
                <a:cs typeface="Arial"/>
              </a:rPr>
              <a:t>Mit</a:t>
            </a:r>
            <a:r>
              <a:rPr lang="en-GB" sz="1997" spc="-7" dirty="0">
                <a:latin typeface="Arial"/>
                <a:cs typeface="Arial"/>
              </a:rPr>
              <a:t> den </a:t>
            </a:r>
            <a:r>
              <a:rPr lang="en-GB" sz="1997" spc="-7" dirty="0" err="1">
                <a:latin typeface="Arial"/>
                <a:cs typeface="Arial"/>
              </a:rPr>
              <a:t>gegebenen</a:t>
            </a:r>
            <a:r>
              <a:rPr lang="en-GB" sz="1997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FDs, </a:t>
            </a:r>
            <a:r>
              <a:rPr lang="en-GB" sz="1997" spc="-7" dirty="0" err="1">
                <a:latin typeface="Arial"/>
                <a:cs typeface="Arial"/>
              </a:rPr>
              <a:t>kann</a:t>
            </a:r>
            <a:r>
              <a:rPr lang="en-GB" sz="1997" spc="-7" dirty="0">
                <a:latin typeface="Arial"/>
                <a:cs typeface="Arial"/>
              </a:rPr>
              <a:t> man </a:t>
            </a:r>
            <a:r>
              <a:rPr lang="en-GB" sz="1997" spc="-7" dirty="0" err="1">
                <a:latin typeface="Arial"/>
                <a:cs typeface="Arial"/>
              </a:rPr>
              <a:t>wegen</a:t>
            </a:r>
            <a:r>
              <a:rPr lang="en-GB" sz="1997" spc="-7" dirty="0">
                <a:latin typeface="Arial"/>
                <a:cs typeface="Arial"/>
              </a:rPr>
              <a:t> der </a:t>
            </a:r>
            <a:r>
              <a:rPr lang="en-GB" sz="1997" spc="-7" dirty="0" err="1">
                <a:latin typeface="Arial"/>
                <a:cs typeface="Arial"/>
              </a:rPr>
              <a:t>eineindeutigen</a:t>
            </a:r>
            <a:r>
              <a:rPr lang="en-GB" sz="1997" spc="-7" dirty="0">
                <a:latin typeface="Arial"/>
                <a:cs typeface="Arial"/>
              </a:rPr>
              <a:t> </a:t>
            </a:r>
            <a:r>
              <a:rPr lang="en-GB" sz="1997" spc="-7" dirty="0" err="1">
                <a:latin typeface="Arial"/>
                <a:cs typeface="Arial"/>
              </a:rPr>
              <a:t>Beziehung</a:t>
            </a:r>
            <a:r>
              <a:rPr lang="en-GB" sz="1997" spc="-7" dirty="0">
                <a:latin typeface="Arial"/>
                <a:cs typeface="Arial"/>
              </a:rPr>
              <a:t> </a:t>
            </a:r>
            <a:r>
              <a:rPr lang="en-GB" sz="1997" spc="-7" dirty="0" err="1">
                <a:latin typeface="Arial"/>
                <a:cs typeface="Arial"/>
              </a:rPr>
              <a:t>zwischen</a:t>
            </a:r>
            <a:r>
              <a:rPr lang="en-GB" sz="1997" spc="-7" dirty="0">
                <a:latin typeface="Arial"/>
                <a:cs typeface="Arial"/>
              </a:rPr>
              <a:t> Name und </a:t>
            </a:r>
            <a:r>
              <a:rPr lang="en-GB" sz="1997" spc="-7" dirty="0" err="1">
                <a:latin typeface="Arial"/>
                <a:cs typeface="Arial"/>
              </a:rPr>
              <a:t>Color</a:t>
            </a:r>
            <a:r>
              <a:rPr lang="en-GB" sz="1997" spc="-7" dirty="0">
                <a:latin typeface="Arial"/>
                <a:cs typeface="Arial"/>
              </a:rPr>
              <a:t> </a:t>
            </a:r>
            <a:r>
              <a:rPr lang="en-GB" sz="1997" spc="-7" dirty="0" err="1">
                <a:latin typeface="Arial"/>
                <a:cs typeface="Arial"/>
              </a:rPr>
              <a:t>ableiten</a:t>
            </a:r>
            <a:r>
              <a:rPr lang="en-GB" sz="1997" spc="-7" dirty="0">
                <a:latin typeface="Arial"/>
                <a:cs typeface="Arial"/>
              </a:rPr>
              <a:t>, </a:t>
            </a:r>
            <a:r>
              <a:rPr lang="en-GB" sz="1997" spc="-7" dirty="0" err="1">
                <a:latin typeface="Arial"/>
                <a:cs typeface="Arial"/>
              </a:rPr>
              <a:t>daß</a:t>
            </a:r>
            <a:r>
              <a:rPr lang="en-GB" sz="1997" spc="-7" dirty="0">
                <a:latin typeface="Arial"/>
                <a:cs typeface="Arial"/>
              </a:rPr>
              <a:t> </a:t>
            </a:r>
            <a:r>
              <a:rPr lang="en-GB" sz="1997" spc="-7" dirty="0" err="1">
                <a:latin typeface="Arial"/>
                <a:cs typeface="Arial"/>
              </a:rPr>
              <a:t>auch</a:t>
            </a:r>
            <a:r>
              <a:rPr lang="en-GB" sz="1997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{Name, Category}</a:t>
            </a:r>
            <a:r>
              <a:rPr lang="en-GB" sz="1997" kern="1200" spc="-10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</a:t>
            </a:r>
            <a:r>
              <a:rPr lang="en-GB" sz="1997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{Price} </a:t>
            </a:r>
            <a:r>
              <a:rPr lang="en-GB" sz="1997" kern="1200" spc="-7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gelten</a:t>
            </a:r>
            <a:r>
              <a:rPr lang="en-GB" sz="1997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 spc="-7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muß</a:t>
            </a:r>
            <a:r>
              <a:rPr lang="en-GB" sz="1997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.</a:t>
            </a:r>
          </a:p>
          <a:p>
            <a:pPr marL="18118" defTabSz="1115359">
              <a:lnSpc>
                <a:spcPts val="2374"/>
              </a:lnSpc>
              <a:spcBef>
                <a:spcPts val="143"/>
              </a:spcBef>
            </a:pPr>
            <a:r>
              <a:rPr lang="en-GB" sz="1997" spc="-7" dirty="0">
                <a:latin typeface="Arial"/>
                <a:cs typeface="Arial"/>
              </a:rPr>
              <a:t>Oder </a:t>
            </a:r>
            <a:r>
              <a:rPr lang="en-GB" sz="1997" spc="-7" dirty="0" err="1">
                <a:latin typeface="Arial"/>
                <a:cs typeface="Arial"/>
              </a:rPr>
              <a:t>direkt</a:t>
            </a:r>
            <a:r>
              <a:rPr lang="en-GB" sz="1997" spc="-7" dirty="0">
                <a:latin typeface="Arial"/>
                <a:cs typeface="Arial"/>
              </a:rPr>
              <a:t> auf der </a:t>
            </a:r>
            <a:r>
              <a:rPr lang="en-GB" sz="1997" spc="-7" dirty="0" err="1">
                <a:latin typeface="Arial"/>
                <a:cs typeface="Arial"/>
              </a:rPr>
              <a:t>Instanz</a:t>
            </a:r>
            <a:r>
              <a:rPr lang="en-GB" sz="1997" spc="-7" dirty="0">
                <a:latin typeface="Arial"/>
                <a:cs typeface="Arial"/>
              </a:rPr>
              <a:t> </a:t>
            </a:r>
            <a:r>
              <a:rPr lang="en-GB" sz="1997" spc="-7" dirty="0" err="1">
                <a:latin typeface="Arial"/>
                <a:cs typeface="Arial"/>
              </a:rPr>
              <a:t>überprüfen</a:t>
            </a:r>
            <a:r>
              <a:rPr lang="en-GB" sz="1997" spc="-7" dirty="0">
                <a:latin typeface="Arial"/>
                <a:cs typeface="Arial"/>
              </a:rPr>
              <a:t>.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3722" y="1873250"/>
            <a:ext cx="1169343" cy="327605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8118" defTabSz="1115359">
              <a:spcBef>
                <a:spcPts val="143"/>
              </a:spcBef>
            </a:pPr>
            <a:r>
              <a:rPr lang="en-GB" sz="1997" b="1" u="heavy" spc="-7" dirty="0" err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Beispiel</a:t>
            </a:r>
            <a:r>
              <a:rPr lang="en-GB" sz="1997" b="1" u="heavy" kern="1200" spc="-7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:</a:t>
            </a:r>
            <a:endParaRPr lang="en-GB" sz="163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09845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63481E1-16A3-5228-0858-A5ECF1E0BA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4374" y="730250"/>
            <a:ext cx="6279679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/>
              <a:t>(</a:t>
            </a:r>
            <a:r>
              <a:rPr lang="en-GB" sz="2961" spc="-213" dirty="0" err="1"/>
              <a:t>Systematisches</a:t>
            </a:r>
            <a:r>
              <a:rPr lang="en-GB" sz="2961" spc="-213" dirty="0"/>
              <a:t>) </a:t>
            </a:r>
            <a:r>
              <a:rPr lang="en-GB" sz="2961" spc="-213" dirty="0" err="1"/>
              <a:t>Bestimmen</a:t>
            </a:r>
            <a:r>
              <a:rPr lang="en-GB" sz="2961" spc="-213" dirty="0"/>
              <a:t> von</a:t>
            </a:r>
            <a:r>
              <a:rPr lang="en-GB" sz="2961" b="0" i="0" kern="1200" spc="-362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961" b="0" i="0" kern="1200" spc="-119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FDs</a:t>
            </a:r>
            <a:endParaRPr lang="en-GB" spc="-88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CE4D681-1012-DDC6-2DFF-BFF90C413289}"/>
              </a:ext>
            </a:extLst>
          </p:cNvPr>
          <p:cNvSpPr txBox="1"/>
          <p:nvPr/>
        </p:nvSpPr>
        <p:spPr>
          <a:xfrm>
            <a:off x="774700" y="2101850"/>
            <a:ext cx="8508365" cy="3718967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Oder äquivalent: Gegeben eine Menge von FDs                      F = {f</a:t>
            </a:r>
            <a:r>
              <a:rPr lang="de-DE" sz="2400" spc="-5" baseline="-25000" dirty="0">
                <a:latin typeface="Tahoma"/>
                <a:cs typeface="Tahoma"/>
              </a:rPr>
              <a:t>1</a:t>
            </a:r>
            <a:r>
              <a:rPr lang="de-DE" sz="2400" spc="-5" dirty="0">
                <a:latin typeface="Tahoma"/>
                <a:cs typeface="Tahoma"/>
              </a:rPr>
              <a:t>, ..., </a:t>
            </a:r>
            <a:r>
              <a:rPr lang="de-DE" sz="2400" spc="-5" dirty="0" err="1">
                <a:latin typeface="Tahoma"/>
                <a:cs typeface="Tahoma"/>
              </a:rPr>
              <a:t>f</a:t>
            </a:r>
            <a:r>
              <a:rPr lang="de-DE" sz="2400" spc="-5" baseline="-25000" dirty="0" err="1">
                <a:latin typeface="Tahoma"/>
                <a:cs typeface="Tahoma"/>
              </a:rPr>
              <a:t>n</a:t>
            </a:r>
            <a:r>
              <a:rPr lang="de-DE" sz="2400" spc="-5" dirty="0">
                <a:latin typeface="Tahoma"/>
                <a:cs typeface="Tahoma"/>
              </a:rPr>
              <a:t>}, welche weiteren FDs gibt es?</a:t>
            </a:r>
          </a:p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Antwort: </a:t>
            </a:r>
            <a:r>
              <a:rPr lang="de-DE" sz="2400" b="1" spc="-5" dirty="0" err="1">
                <a:latin typeface="Tahoma"/>
                <a:cs typeface="Tahoma"/>
              </a:rPr>
              <a:t>Amstrong</a:t>
            </a:r>
            <a:r>
              <a:rPr lang="de-DE" sz="2400" b="1" spc="-5" dirty="0">
                <a:latin typeface="Tahoma"/>
                <a:cs typeface="Tahoma"/>
              </a:rPr>
              <a:t> Regeln</a:t>
            </a:r>
          </a:p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tabLst>
                <a:tab pos="152400" algn="l"/>
              </a:tabLst>
            </a:pPr>
            <a:endParaRPr lang="de-DE" sz="2400" b="1" spc="-5" dirty="0">
              <a:latin typeface="Tahoma"/>
              <a:cs typeface="Tahoma"/>
            </a:endParaRPr>
          </a:p>
          <a:p>
            <a:pPr marL="3470768" indent="-439601">
              <a:spcBef>
                <a:spcPts val="35"/>
              </a:spcBef>
              <a:buAutoNum type="arabicPeriod"/>
              <a:tabLst>
                <a:tab pos="3470768" algn="l"/>
                <a:tab pos="3471510" algn="l"/>
              </a:tabLst>
            </a:pPr>
            <a:r>
              <a:rPr lang="en-GB" sz="2400" b="1" spc="-6" dirty="0">
                <a:latin typeface="Arial"/>
                <a:cs typeface="Arial"/>
              </a:rPr>
              <a:t>Split/Combine</a:t>
            </a:r>
            <a:endParaRPr lang="en-GB" sz="2400" dirty="0">
              <a:latin typeface="Arial"/>
              <a:cs typeface="Arial"/>
            </a:endParaRPr>
          </a:p>
          <a:p>
            <a:pPr marL="3470768" indent="-439601">
              <a:spcBef>
                <a:spcPts val="35"/>
              </a:spcBef>
              <a:buAutoNum type="arabicPeriod"/>
              <a:tabLst>
                <a:tab pos="3470768" algn="l"/>
                <a:tab pos="3471510" algn="l"/>
              </a:tabLst>
            </a:pPr>
            <a:r>
              <a:rPr lang="en-GB" sz="2400" b="1" spc="-6" dirty="0">
                <a:latin typeface="Arial"/>
                <a:cs typeface="Arial"/>
              </a:rPr>
              <a:t>Reduction</a:t>
            </a:r>
            <a:endParaRPr lang="en-GB" sz="2400" dirty="0">
              <a:latin typeface="Arial"/>
              <a:cs typeface="Arial"/>
            </a:endParaRPr>
          </a:p>
          <a:p>
            <a:pPr marL="3470768" indent="-439601">
              <a:spcBef>
                <a:spcPts val="35"/>
              </a:spcBef>
              <a:buAutoNum type="arabicPeriod"/>
              <a:tabLst>
                <a:tab pos="3470768" algn="l"/>
                <a:tab pos="3471510" algn="l"/>
              </a:tabLst>
            </a:pPr>
            <a:r>
              <a:rPr lang="en-GB" sz="2400" b="1" spc="-6" dirty="0">
                <a:latin typeface="Arial"/>
                <a:cs typeface="Arial"/>
              </a:rPr>
              <a:t>Transitivity</a:t>
            </a:r>
            <a:endParaRPr lang="en-GB"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endParaRPr lang="de-DE" sz="2400" b="1" spc="-5" dirty="0">
              <a:latin typeface="Tahoma"/>
              <a:cs typeface="Tahom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C9DCB35-FBC6-DF8D-27DD-724100A5F959}"/>
              </a:ext>
            </a:extLst>
          </p:cNvPr>
          <p:cNvSpPr/>
          <p:nvPr/>
        </p:nvSpPr>
        <p:spPr>
          <a:xfrm>
            <a:off x="7861300" y="5119240"/>
            <a:ext cx="2606452" cy="14031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</p:spTree>
    <p:extLst>
      <p:ext uri="{BB962C8B-B14F-4D97-AF65-F5344CB8AC3E}">
        <p14:creationId xmlns:p14="http://schemas.microsoft.com/office/powerpoint/2010/main" val="15467529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CC4812BA-BB40-D7D8-112A-D507B6104E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4374" y="764931"/>
            <a:ext cx="6279679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/>
              <a:t>1. Split / Combine</a:t>
            </a:r>
            <a:endParaRPr lang="en-GB" spc="-88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60F6125-8D28-DF0D-0141-D56305302DEE}"/>
              </a:ext>
            </a:extLst>
          </p:cNvPr>
          <p:cNvSpPr/>
          <p:nvPr/>
        </p:nvSpPr>
        <p:spPr>
          <a:xfrm>
            <a:off x="3271660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2E3EC7-D886-1106-B7E3-B3C60903D609}"/>
              </a:ext>
            </a:extLst>
          </p:cNvPr>
          <p:cNvSpPr/>
          <p:nvPr/>
        </p:nvSpPr>
        <p:spPr>
          <a:xfrm>
            <a:off x="3699383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3C3156B-AD9E-7092-7582-5C856D74FA9D}"/>
              </a:ext>
            </a:extLst>
          </p:cNvPr>
          <p:cNvSpPr/>
          <p:nvPr/>
        </p:nvSpPr>
        <p:spPr>
          <a:xfrm>
            <a:off x="4127106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A3A7925D-6002-8343-9765-87933A063C31}"/>
              </a:ext>
            </a:extLst>
          </p:cNvPr>
          <p:cNvSpPr/>
          <p:nvPr/>
        </p:nvSpPr>
        <p:spPr>
          <a:xfrm>
            <a:off x="4554831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A4D77B18-EC61-99AA-80EE-CCDB89D0FD53}"/>
              </a:ext>
            </a:extLst>
          </p:cNvPr>
          <p:cNvSpPr/>
          <p:nvPr/>
        </p:nvSpPr>
        <p:spPr>
          <a:xfrm>
            <a:off x="4982554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84AA71E7-CAA3-039E-0F50-F9D70409D170}"/>
              </a:ext>
            </a:extLst>
          </p:cNvPr>
          <p:cNvSpPr/>
          <p:nvPr/>
        </p:nvSpPr>
        <p:spPr>
          <a:xfrm>
            <a:off x="5410277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0BF7DD27-4ECE-B842-B1EC-184DBCB2C61F}"/>
              </a:ext>
            </a:extLst>
          </p:cNvPr>
          <p:cNvSpPr/>
          <p:nvPr/>
        </p:nvSpPr>
        <p:spPr>
          <a:xfrm>
            <a:off x="5838001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15FD1C3C-A18A-A639-D657-1F75C74929F6}"/>
              </a:ext>
            </a:extLst>
          </p:cNvPr>
          <p:cNvSpPr/>
          <p:nvPr/>
        </p:nvSpPr>
        <p:spPr>
          <a:xfrm>
            <a:off x="6265724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048C6110-4ED7-F92A-8D4F-FED6B67FC514}"/>
              </a:ext>
            </a:extLst>
          </p:cNvPr>
          <p:cNvSpPr/>
          <p:nvPr/>
        </p:nvSpPr>
        <p:spPr>
          <a:xfrm>
            <a:off x="6693447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56BC09A-5602-6027-71A9-68A91BA99660}"/>
              </a:ext>
            </a:extLst>
          </p:cNvPr>
          <p:cNvSpPr/>
          <p:nvPr/>
        </p:nvSpPr>
        <p:spPr>
          <a:xfrm>
            <a:off x="7121171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E8946558-6B00-C04C-1F71-E329F7429411}"/>
              </a:ext>
            </a:extLst>
          </p:cNvPr>
          <p:cNvSpPr/>
          <p:nvPr/>
        </p:nvSpPr>
        <p:spPr>
          <a:xfrm>
            <a:off x="3271660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D86288AF-6EA6-E286-0559-22AE5AD12518}"/>
              </a:ext>
            </a:extLst>
          </p:cNvPr>
          <p:cNvSpPr/>
          <p:nvPr/>
        </p:nvSpPr>
        <p:spPr>
          <a:xfrm>
            <a:off x="3699383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E8DC4AD4-24B5-2D62-F33D-652C5BFCA176}"/>
              </a:ext>
            </a:extLst>
          </p:cNvPr>
          <p:cNvSpPr/>
          <p:nvPr/>
        </p:nvSpPr>
        <p:spPr>
          <a:xfrm>
            <a:off x="4127106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F4BB442F-768C-5A4D-628B-29AAB6AA4D26}"/>
              </a:ext>
            </a:extLst>
          </p:cNvPr>
          <p:cNvSpPr/>
          <p:nvPr/>
        </p:nvSpPr>
        <p:spPr>
          <a:xfrm>
            <a:off x="4554831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1754E383-C391-5FF2-46E9-2E3EA1124072}"/>
              </a:ext>
            </a:extLst>
          </p:cNvPr>
          <p:cNvSpPr/>
          <p:nvPr/>
        </p:nvSpPr>
        <p:spPr>
          <a:xfrm>
            <a:off x="4982554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D7CA0243-6C31-AC85-F469-5E03BE958269}"/>
              </a:ext>
            </a:extLst>
          </p:cNvPr>
          <p:cNvSpPr/>
          <p:nvPr/>
        </p:nvSpPr>
        <p:spPr>
          <a:xfrm>
            <a:off x="5410277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2738BB96-435C-F941-A00D-9A8BE0704BA4}"/>
              </a:ext>
            </a:extLst>
          </p:cNvPr>
          <p:cNvSpPr/>
          <p:nvPr/>
        </p:nvSpPr>
        <p:spPr>
          <a:xfrm>
            <a:off x="5838001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F1F6E22A-7343-47C7-C9BA-D016CBC64FD1}"/>
              </a:ext>
            </a:extLst>
          </p:cNvPr>
          <p:cNvSpPr/>
          <p:nvPr/>
        </p:nvSpPr>
        <p:spPr>
          <a:xfrm>
            <a:off x="6265724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D83601B9-97EF-D1A1-7B0E-925C39CFEE0D}"/>
              </a:ext>
            </a:extLst>
          </p:cNvPr>
          <p:cNvSpPr/>
          <p:nvPr/>
        </p:nvSpPr>
        <p:spPr>
          <a:xfrm>
            <a:off x="6693447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B8576627-4BFB-B728-9847-403ACB551952}"/>
              </a:ext>
            </a:extLst>
          </p:cNvPr>
          <p:cNvSpPr/>
          <p:nvPr/>
        </p:nvSpPr>
        <p:spPr>
          <a:xfrm>
            <a:off x="7121171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5" name="object 24">
            <a:extLst>
              <a:ext uri="{FF2B5EF4-FFF2-40B4-BE49-F238E27FC236}">
                <a16:creationId xmlns:a16="http://schemas.microsoft.com/office/drawing/2014/main" id="{C7324626-A462-ED0B-D7E2-22E1DF538A1B}"/>
              </a:ext>
            </a:extLst>
          </p:cNvPr>
          <p:cNvSpPr/>
          <p:nvPr/>
        </p:nvSpPr>
        <p:spPr>
          <a:xfrm>
            <a:off x="3271660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1B28A76C-D144-3FC0-0A85-3971BADB6DE8}"/>
              </a:ext>
            </a:extLst>
          </p:cNvPr>
          <p:cNvSpPr/>
          <p:nvPr/>
        </p:nvSpPr>
        <p:spPr>
          <a:xfrm>
            <a:off x="3699383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7EE625CC-5E90-2B52-FB6E-BA522713060B}"/>
              </a:ext>
            </a:extLst>
          </p:cNvPr>
          <p:cNvSpPr/>
          <p:nvPr/>
        </p:nvSpPr>
        <p:spPr>
          <a:xfrm>
            <a:off x="4127106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BE200459-7822-58A0-4B11-4D86E1A55F18}"/>
              </a:ext>
            </a:extLst>
          </p:cNvPr>
          <p:cNvSpPr/>
          <p:nvPr/>
        </p:nvSpPr>
        <p:spPr>
          <a:xfrm>
            <a:off x="4554831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9" name="object 28">
            <a:extLst>
              <a:ext uri="{FF2B5EF4-FFF2-40B4-BE49-F238E27FC236}">
                <a16:creationId xmlns:a16="http://schemas.microsoft.com/office/drawing/2014/main" id="{029E10BD-7DB9-8237-D3AA-7245AA61EE7B}"/>
              </a:ext>
            </a:extLst>
          </p:cNvPr>
          <p:cNvSpPr/>
          <p:nvPr/>
        </p:nvSpPr>
        <p:spPr>
          <a:xfrm>
            <a:off x="4982554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0" name="object 29">
            <a:extLst>
              <a:ext uri="{FF2B5EF4-FFF2-40B4-BE49-F238E27FC236}">
                <a16:creationId xmlns:a16="http://schemas.microsoft.com/office/drawing/2014/main" id="{0F7D7FED-B1FD-01F9-E392-3D89C9071953}"/>
              </a:ext>
            </a:extLst>
          </p:cNvPr>
          <p:cNvSpPr/>
          <p:nvPr/>
        </p:nvSpPr>
        <p:spPr>
          <a:xfrm>
            <a:off x="5410277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1" name="object 30">
            <a:extLst>
              <a:ext uri="{FF2B5EF4-FFF2-40B4-BE49-F238E27FC236}">
                <a16:creationId xmlns:a16="http://schemas.microsoft.com/office/drawing/2014/main" id="{60592588-7D49-3863-F7CC-42C00AE7E181}"/>
              </a:ext>
            </a:extLst>
          </p:cNvPr>
          <p:cNvSpPr/>
          <p:nvPr/>
        </p:nvSpPr>
        <p:spPr>
          <a:xfrm>
            <a:off x="5838001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2" name="object 31">
            <a:extLst>
              <a:ext uri="{FF2B5EF4-FFF2-40B4-BE49-F238E27FC236}">
                <a16:creationId xmlns:a16="http://schemas.microsoft.com/office/drawing/2014/main" id="{2FF7F5DA-0734-9260-5504-7C9F5713D77F}"/>
              </a:ext>
            </a:extLst>
          </p:cNvPr>
          <p:cNvSpPr/>
          <p:nvPr/>
        </p:nvSpPr>
        <p:spPr>
          <a:xfrm>
            <a:off x="6265724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3" name="object 32">
            <a:extLst>
              <a:ext uri="{FF2B5EF4-FFF2-40B4-BE49-F238E27FC236}">
                <a16:creationId xmlns:a16="http://schemas.microsoft.com/office/drawing/2014/main" id="{7A41CF8B-61EB-E347-CD39-A870CE0B8E8B}"/>
              </a:ext>
            </a:extLst>
          </p:cNvPr>
          <p:cNvSpPr/>
          <p:nvPr/>
        </p:nvSpPr>
        <p:spPr>
          <a:xfrm>
            <a:off x="6693447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4" name="object 33">
            <a:extLst>
              <a:ext uri="{FF2B5EF4-FFF2-40B4-BE49-F238E27FC236}">
                <a16:creationId xmlns:a16="http://schemas.microsoft.com/office/drawing/2014/main" id="{BBD5681D-7CAB-190E-38C5-B3F60FBE71DF}"/>
              </a:ext>
            </a:extLst>
          </p:cNvPr>
          <p:cNvSpPr/>
          <p:nvPr/>
        </p:nvSpPr>
        <p:spPr>
          <a:xfrm>
            <a:off x="7121171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5" name="object 34">
            <a:extLst>
              <a:ext uri="{FF2B5EF4-FFF2-40B4-BE49-F238E27FC236}">
                <a16:creationId xmlns:a16="http://schemas.microsoft.com/office/drawing/2014/main" id="{7AFD33FE-B717-8F3F-A1FB-8E4DEFE3409B}"/>
              </a:ext>
            </a:extLst>
          </p:cNvPr>
          <p:cNvSpPr/>
          <p:nvPr/>
        </p:nvSpPr>
        <p:spPr>
          <a:xfrm>
            <a:off x="3271660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6" name="object 35">
            <a:extLst>
              <a:ext uri="{FF2B5EF4-FFF2-40B4-BE49-F238E27FC236}">
                <a16:creationId xmlns:a16="http://schemas.microsoft.com/office/drawing/2014/main" id="{4D803DB8-D882-77DA-68CF-AE119DA86BA0}"/>
              </a:ext>
            </a:extLst>
          </p:cNvPr>
          <p:cNvSpPr/>
          <p:nvPr/>
        </p:nvSpPr>
        <p:spPr>
          <a:xfrm>
            <a:off x="3699383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7" name="object 36">
            <a:extLst>
              <a:ext uri="{FF2B5EF4-FFF2-40B4-BE49-F238E27FC236}">
                <a16:creationId xmlns:a16="http://schemas.microsoft.com/office/drawing/2014/main" id="{BF250CA6-758E-5349-10B6-1262CDEA02DD}"/>
              </a:ext>
            </a:extLst>
          </p:cNvPr>
          <p:cNvSpPr/>
          <p:nvPr/>
        </p:nvSpPr>
        <p:spPr>
          <a:xfrm>
            <a:off x="4127106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8" name="object 37">
            <a:extLst>
              <a:ext uri="{FF2B5EF4-FFF2-40B4-BE49-F238E27FC236}">
                <a16:creationId xmlns:a16="http://schemas.microsoft.com/office/drawing/2014/main" id="{2D083CF3-33BD-9301-11C0-6F2CF0E2553A}"/>
              </a:ext>
            </a:extLst>
          </p:cNvPr>
          <p:cNvSpPr/>
          <p:nvPr/>
        </p:nvSpPr>
        <p:spPr>
          <a:xfrm>
            <a:off x="4554831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9" name="object 38">
            <a:extLst>
              <a:ext uri="{FF2B5EF4-FFF2-40B4-BE49-F238E27FC236}">
                <a16:creationId xmlns:a16="http://schemas.microsoft.com/office/drawing/2014/main" id="{7EC3EABB-A50C-3845-8109-72D857C114B0}"/>
              </a:ext>
            </a:extLst>
          </p:cNvPr>
          <p:cNvSpPr/>
          <p:nvPr/>
        </p:nvSpPr>
        <p:spPr>
          <a:xfrm>
            <a:off x="4982554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0" name="object 39">
            <a:extLst>
              <a:ext uri="{FF2B5EF4-FFF2-40B4-BE49-F238E27FC236}">
                <a16:creationId xmlns:a16="http://schemas.microsoft.com/office/drawing/2014/main" id="{6158B6A6-DCB7-8F3F-AFB7-52BDAEE9DB80}"/>
              </a:ext>
            </a:extLst>
          </p:cNvPr>
          <p:cNvSpPr/>
          <p:nvPr/>
        </p:nvSpPr>
        <p:spPr>
          <a:xfrm>
            <a:off x="5410277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1" name="object 40">
            <a:extLst>
              <a:ext uri="{FF2B5EF4-FFF2-40B4-BE49-F238E27FC236}">
                <a16:creationId xmlns:a16="http://schemas.microsoft.com/office/drawing/2014/main" id="{46DF1957-A5D9-ABE5-0F94-910BC15E47FA}"/>
              </a:ext>
            </a:extLst>
          </p:cNvPr>
          <p:cNvSpPr/>
          <p:nvPr/>
        </p:nvSpPr>
        <p:spPr>
          <a:xfrm>
            <a:off x="5838001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2" name="object 41">
            <a:extLst>
              <a:ext uri="{FF2B5EF4-FFF2-40B4-BE49-F238E27FC236}">
                <a16:creationId xmlns:a16="http://schemas.microsoft.com/office/drawing/2014/main" id="{40ABF29C-5DDF-8B6B-9F18-35BE4C465711}"/>
              </a:ext>
            </a:extLst>
          </p:cNvPr>
          <p:cNvSpPr/>
          <p:nvPr/>
        </p:nvSpPr>
        <p:spPr>
          <a:xfrm>
            <a:off x="6265724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3" name="object 42">
            <a:extLst>
              <a:ext uri="{FF2B5EF4-FFF2-40B4-BE49-F238E27FC236}">
                <a16:creationId xmlns:a16="http://schemas.microsoft.com/office/drawing/2014/main" id="{A4D48192-9DEE-2006-FF1B-F1F52D95668B}"/>
              </a:ext>
            </a:extLst>
          </p:cNvPr>
          <p:cNvSpPr/>
          <p:nvPr/>
        </p:nvSpPr>
        <p:spPr>
          <a:xfrm>
            <a:off x="6693447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4" name="object 43">
            <a:extLst>
              <a:ext uri="{FF2B5EF4-FFF2-40B4-BE49-F238E27FC236}">
                <a16:creationId xmlns:a16="http://schemas.microsoft.com/office/drawing/2014/main" id="{BAFA9317-2E43-438B-8893-F64798C5814F}"/>
              </a:ext>
            </a:extLst>
          </p:cNvPr>
          <p:cNvSpPr/>
          <p:nvPr/>
        </p:nvSpPr>
        <p:spPr>
          <a:xfrm>
            <a:off x="7121171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5" name="object 44">
            <a:extLst>
              <a:ext uri="{FF2B5EF4-FFF2-40B4-BE49-F238E27FC236}">
                <a16:creationId xmlns:a16="http://schemas.microsoft.com/office/drawing/2014/main" id="{0048CFC1-B5EF-5C0E-436B-1DE1BCBBBC81}"/>
              </a:ext>
            </a:extLst>
          </p:cNvPr>
          <p:cNvSpPr/>
          <p:nvPr/>
        </p:nvSpPr>
        <p:spPr>
          <a:xfrm>
            <a:off x="3271660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6" name="object 45">
            <a:extLst>
              <a:ext uri="{FF2B5EF4-FFF2-40B4-BE49-F238E27FC236}">
                <a16:creationId xmlns:a16="http://schemas.microsoft.com/office/drawing/2014/main" id="{5F006C5F-0428-6EFA-A820-52A75DF1EA97}"/>
              </a:ext>
            </a:extLst>
          </p:cNvPr>
          <p:cNvSpPr/>
          <p:nvPr/>
        </p:nvSpPr>
        <p:spPr>
          <a:xfrm>
            <a:off x="3699383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7" name="object 46">
            <a:extLst>
              <a:ext uri="{FF2B5EF4-FFF2-40B4-BE49-F238E27FC236}">
                <a16:creationId xmlns:a16="http://schemas.microsoft.com/office/drawing/2014/main" id="{4470B806-E97E-A0CC-0799-FCA64064A393}"/>
              </a:ext>
            </a:extLst>
          </p:cNvPr>
          <p:cNvSpPr/>
          <p:nvPr/>
        </p:nvSpPr>
        <p:spPr>
          <a:xfrm>
            <a:off x="4127106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8" name="object 47">
            <a:extLst>
              <a:ext uri="{FF2B5EF4-FFF2-40B4-BE49-F238E27FC236}">
                <a16:creationId xmlns:a16="http://schemas.microsoft.com/office/drawing/2014/main" id="{846D4759-0C37-6E1A-7B72-1AAF9834E754}"/>
              </a:ext>
            </a:extLst>
          </p:cNvPr>
          <p:cNvSpPr/>
          <p:nvPr/>
        </p:nvSpPr>
        <p:spPr>
          <a:xfrm>
            <a:off x="4554831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9" name="object 48">
            <a:extLst>
              <a:ext uri="{FF2B5EF4-FFF2-40B4-BE49-F238E27FC236}">
                <a16:creationId xmlns:a16="http://schemas.microsoft.com/office/drawing/2014/main" id="{C8EF73D3-D63E-CB80-8242-734C275F090A}"/>
              </a:ext>
            </a:extLst>
          </p:cNvPr>
          <p:cNvSpPr/>
          <p:nvPr/>
        </p:nvSpPr>
        <p:spPr>
          <a:xfrm>
            <a:off x="4982554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0" name="object 49">
            <a:extLst>
              <a:ext uri="{FF2B5EF4-FFF2-40B4-BE49-F238E27FC236}">
                <a16:creationId xmlns:a16="http://schemas.microsoft.com/office/drawing/2014/main" id="{28DAFC28-75D9-F52F-A226-8B99638CFD80}"/>
              </a:ext>
            </a:extLst>
          </p:cNvPr>
          <p:cNvSpPr/>
          <p:nvPr/>
        </p:nvSpPr>
        <p:spPr>
          <a:xfrm>
            <a:off x="5410277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1" name="object 50">
            <a:extLst>
              <a:ext uri="{FF2B5EF4-FFF2-40B4-BE49-F238E27FC236}">
                <a16:creationId xmlns:a16="http://schemas.microsoft.com/office/drawing/2014/main" id="{6589B1ED-FC2C-A3DC-606E-3786ABEF5A83}"/>
              </a:ext>
            </a:extLst>
          </p:cNvPr>
          <p:cNvSpPr/>
          <p:nvPr/>
        </p:nvSpPr>
        <p:spPr>
          <a:xfrm>
            <a:off x="5838001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2" name="object 51">
            <a:extLst>
              <a:ext uri="{FF2B5EF4-FFF2-40B4-BE49-F238E27FC236}">
                <a16:creationId xmlns:a16="http://schemas.microsoft.com/office/drawing/2014/main" id="{5367B4B7-BB4F-B22A-6E89-ABCCAFBD953B}"/>
              </a:ext>
            </a:extLst>
          </p:cNvPr>
          <p:cNvSpPr/>
          <p:nvPr/>
        </p:nvSpPr>
        <p:spPr>
          <a:xfrm>
            <a:off x="6265724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3" name="object 52">
            <a:extLst>
              <a:ext uri="{FF2B5EF4-FFF2-40B4-BE49-F238E27FC236}">
                <a16:creationId xmlns:a16="http://schemas.microsoft.com/office/drawing/2014/main" id="{2EC85EBD-E59E-38F5-EEF3-EF6F9585750D}"/>
              </a:ext>
            </a:extLst>
          </p:cNvPr>
          <p:cNvSpPr/>
          <p:nvPr/>
        </p:nvSpPr>
        <p:spPr>
          <a:xfrm>
            <a:off x="6693447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4" name="object 53">
            <a:extLst>
              <a:ext uri="{FF2B5EF4-FFF2-40B4-BE49-F238E27FC236}">
                <a16:creationId xmlns:a16="http://schemas.microsoft.com/office/drawing/2014/main" id="{0FF6EBF7-1948-E512-21A7-9E286F8D6D40}"/>
              </a:ext>
            </a:extLst>
          </p:cNvPr>
          <p:cNvSpPr/>
          <p:nvPr/>
        </p:nvSpPr>
        <p:spPr>
          <a:xfrm>
            <a:off x="7121171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5" name="object 54">
            <a:extLst>
              <a:ext uri="{FF2B5EF4-FFF2-40B4-BE49-F238E27FC236}">
                <a16:creationId xmlns:a16="http://schemas.microsoft.com/office/drawing/2014/main" id="{EEADAE50-F7B4-A46C-CB36-DAA1C2EC1EAF}"/>
              </a:ext>
            </a:extLst>
          </p:cNvPr>
          <p:cNvSpPr/>
          <p:nvPr/>
        </p:nvSpPr>
        <p:spPr>
          <a:xfrm>
            <a:off x="3271660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6" name="object 55">
            <a:extLst>
              <a:ext uri="{FF2B5EF4-FFF2-40B4-BE49-F238E27FC236}">
                <a16:creationId xmlns:a16="http://schemas.microsoft.com/office/drawing/2014/main" id="{B544617D-3FD0-2BD4-06AE-A0506F005BD8}"/>
              </a:ext>
            </a:extLst>
          </p:cNvPr>
          <p:cNvSpPr/>
          <p:nvPr/>
        </p:nvSpPr>
        <p:spPr>
          <a:xfrm>
            <a:off x="3699383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7" name="object 56">
            <a:extLst>
              <a:ext uri="{FF2B5EF4-FFF2-40B4-BE49-F238E27FC236}">
                <a16:creationId xmlns:a16="http://schemas.microsoft.com/office/drawing/2014/main" id="{77B76131-64A7-0D2C-25A5-F6FC48E1E921}"/>
              </a:ext>
            </a:extLst>
          </p:cNvPr>
          <p:cNvSpPr/>
          <p:nvPr/>
        </p:nvSpPr>
        <p:spPr>
          <a:xfrm>
            <a:off x="4127106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8" name="object 57">
            <a:extLst>
              <a:ext uri="{FF2B5EF4-FFF2-40B4-BE49-F238E27FC236}">
                <a16:creationId xmlns:a16="http://schemas.microsoft.com/office/drawing/2014/main" id="{52AC94EC-D401-C8B5-2868-1FAEF36C9290}"/>
              </a:ext>
            </a:extLst>
          </p:cNvPr>
          <p:cNvSpPr/>
          <p:nvPr/>
        </p:nvSpPr>
        <p:spPr>
          <a:xfrm>
            <a:off x="4554831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9" name="object 58">
            <a:extLst>
              <a:ext uri="{FF2B5EF4-FFF2-40B4-BE49-F238E27FC236}">
                <a16:creationId xmlns:a16="http://schemas.microsoft.com/office/drawing/2014/main" id="{4C762EE3-5327-A5A9-31EF-82136C3A3C47}"/>
              </a:ext>
            </a:extLst>
          </p:cNvPr>
          <p:cNvSpPr/>
          <p:nvPr/>
        </p:nvSpPr>
        <p:spPr>
          <a:xfrm>
            <a:off x="4982554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0" name="object 59">
            <a:extLst>
              <a:ext uri="{FF2B5EF4-FFF2-40B4-BE49-F238E27FC236}">
                <a16:creationId xmlns:a16="http://schemas.microsoft.com/office/drawing/2014/main" id="{9C391D4E-8132-2C2C-8568-8C577F26F925}"/>
              </a:ext>
            </a:extLst>
          </p:cNvPr>
          <p:cNvSpPr/>
          <p:nvPr/>
        </p:nvSpPr>
        <p:spPr>
          <a:xfrm>
            <a:off x="5410277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1" name="object 60">
            <a:extLst>
              <a:ext uri="{FF2B5EF4-FFF2-40B4-BE49-F238E27FC236}">
                <a16:creationId xmlns:a16="http://schemas.microsoft.com/office/drawing/2014/main" id="{B888FC96-E514-A431-1E56-4873DD334FB5}"/>
              </a:ext>
            </a:extLst>
          </p:cNvPr>
          <p:cNvSpPr/>
          <p:nvPr/>
        </p:nvSpPr>
        <p:spPr>
          <a:xfrm>
            <a:off x="5838001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2" name="object 61">
            <a:extLst>
              <a:ext uri="{FF2B5EF4-FFF2-40B4-BE49-F238E27FC236}">
                <a16:creationId xmlns:a16="http://schemas.microsoft.com/office/drawing/2014/main" id="{FB4725EF-1F1F-6EF7-B481-4F11F0A51550}"/>
              </a:ext>
            </a:extLst>
          </p:cNvPr>
          <p:cNvSpPr/>
          <p:nvPr/>
        </p:nvSpPr>
        <p:spPr>
          <a:xfrm>
            <a:off x="6265724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3" name="object 62">
            <a:extLst>
              <a:ext uri="{FF2B5EF4-FFF2-40B4-BE49-F238E27FC236}">
                <a16:creationId xmlns:a16="http://schemas.microsoft.com/office/drawing/2014/main" id="{33876CA3-3C71-08BA-8CF5-04D372A18EB9}"/>
              </a:ext>
            </a:extLst>
          </p:cNvPr>
          <p:cNvSpPr/>
          <p:nvPr/>
        </p:nvSpPr>
        <p:spPr>
          <a:xfrm>
            <a:off x="6693447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4" name="object 63">
            <a:extLst>
              <a:ext uri="{FF2B5EF4-FFF2-40B4-BE49-F238E27FC236}">
                <a16:creationId xmlns:a16="http://schemas.microsoft.com/office/drawing/2014/main" id="{FC723482-E8E3-396F-C530-02926CB6277F}"/>
              </a:ext>
            </a:extLst>
          </p:cNvPr>
          <p:cNvSpPr/>
          <p:nvPr/>
        </p:nvSpPr>
        <p:spPr>
          <a:xfrm>
            <a:off x="7121171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5" name="object 64">
            <a:extLst>
              <a:ext uri="{FF2B5EF4-FFF2-40B4-BE49-F238E27FC236}">
                <a16:creationId xmlns:a16="http://schemas.microsoft.com/office/drawing/2014/main" id="{A5E5BBDC-566C-825E-640C-A0D174C00424}"/>
              </a:ext>
            </a:extLst>
          </p:cNvPr>
          <p:cNvSpPr/>
          <p:nvPr/>
        </p:nvSpPr>
        <p:spPr>
          <a:xfrm>
            <a:off x="7548895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6" name="object 65">
            <a:extLst>
              <a:ext uri="{FF2B5EF4-FFF2-40B4-BE49-F238E27FC236}">
                <a16:creationId xmlns:a16="http://schemas.microsoft.com/office/drawing/2014/main" id="{940D8F1D-2EF7-8721-421B-E0121FD1A35F}"/>
              </a:ext>
            </a:extLst>
          </p:cNvPr>
          <p:cNvSpPr/>
          <p:nvPr/>
        </p:nvSpPr>
        <p:spPr>
          <a:xfrm>
            <a:off x="3264234" y="2603799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1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7" name="object 66">
            <a:extLst>
              <a:ext uri="{FF2B5EF4-FFF2-40B4-BE49-F238E27FC236}">
                <a16:creationId xmlns:a16="http://schemas.microsoft.com/office/drawing/2014/main" id="{12B064BE-62F1-3DEE-7182-917BEB64741B}"/>
              </a:ext>
            </a:extLst>
          </p:cNvPr>
          <p:cNvSpPr/>
          <p:nvPr/>
        </p:nvSpPr>
        <p:spPr>
          <a:xfrm>
            <a:off x="3264234" y="2863999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1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8" name="object 67">
            <a:extLst>
              <a:ext uri="{FF2B5EF4-FFF2-40B4-BE49-F238E27FC236}">
                <a16:creationId xmlns:a16="http://schemas.microsoft.com/office/drawing/2014/main" id="{4E25E827-B789-CD53-DB8D-F4E3A7358F21}"/>
              </a:ext>
            </a:extLst>
          </p:cNvPr>
          <p:cNvSpPr/>
          <p:nvPr/>
        </p:nvSpPr>
        <p:spPr>
          <a:xfrm>
            <a:off x="3264234" y="3124201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1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9" name="object 68">
            <a:extLst>
              <a:ext uri="{FF2B5EF4-FFF2-40B4-BE49-F238E27FC236}">
                <a16:creationId xmlns:a16="http://schemas.microsoft.com/office/drawing/2014/main" id="{CC1B42DC-913C-06AC-63B4-1662CF8900A3}"/>
              </a:ext>
            </a:extLst>
          </p:cNvPr>
          <p:cNvSpPr/>
          <p:nvPr/>
        </p:nvSpPr>
        <p:spPr>
          <a:xfrm>
            <a:off x="3264234" y="3384402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1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0" name="object 69">
            <a:extLst>
              <a:ext uri="{FF2B5EF4-FFF2-40B4-BE49-F238E27FC236}">
                <a16:creationId xmlns:a16="http://schemas.microsoft.com/office/drawing/2014/main" id="{D038B3BF-CA58-3F73-DCE7-BA1C1E0D8227}"/>
              </a:ext>
            </a:extLst>
          </p:cNvPr>
          <p:cNvSpPr/>
          <p:nvPr/>
        </p:nvSpPr>
        <p:spPr>
          <a:xfrm>
            <a:off x="3264234" y="3644602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1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1" name="object 70">
            <a:extLst>
              <a:ext uri="{FF2B5EF4-FFF2-40B4-BE49-F238E27FC236}">
                <a16:creationId xmlns:a16="http://schemas.microsoft.com/office/drawing/2014/main" id="{1F6B44AA-8BA1-63DE-E928-2BD83BF1D709}"/>
              </a:ext>
            </a:extLst>
          </p:cNvPr>
          <p:cNvSpPr/>
          <p:nvPr/>
        </p:nvSpPr>
        <p:spPr>
          <a:xfrm>
            <a:off x="3264234" y="3904806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1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2" name="object 71">
            <a:extLst>
              <a:ext uri="{FF2B5EF4-FFF2-40B4-BE49-F238E27FC236}">
                <a16:creationId xmlns:a16="http://schemas.microsoft.com/office/drawing/2014/main" id="{500BD13A-0ADE-944F-9ECF-ADC15A1038F0}"/>
              </a:ext>
            </a:extLst>
          </p:cNvPr>
          <p:cNvSpPr/>
          <p:nvPr/>
        </p:nvSpPr>
        <p:spPr>
          <a:xfrm>
            <a:off x="3264234" y="4165007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1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3" name="object 72">
            <a:extLst>
              <a:ext uri="{FF2B5EF4-FFF2-40B4-BE49-F238E27FC236}">
                <a16:creationId xmlns:a16="http://schemas.microsoft.com/office/drawing/2014/main" id="{184779F2-A82A-CF6B-E03C-C61C47D1E2D7}"/>
              </a:ext>
            </a:extLst>
          </p:cNvPr>
          <p:cNvSpPr txBox="1"/>
          <p:nvPr/>
        </p:nvSpPr>
        <p:spPr>
          <a:xfrm>
            <a:off x="3699383" y="2603800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2177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A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1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74" name="object 73">
            <a:extLst>
              <a:ext uri="{FF2B5EF4-FFF2-40B4-BE49-F238E27FC236}">
                <a16:creationId xmlns:a16="http://schemas.microsoft.com/office/drawing/2014/main" id="{8C3A61D4-CDD1-74C6-5284-7D844744D850}"/>
              </a:ext>
            </a:extLst>
          </p:cNvPr>
          <p:cNvSpPr txBox="1"/>
          <p:nvPr/>
        </p:nvSpPr>
        <p:spPr>
          <a:xfrm>
            <a:off x="4127106" y="2603800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9603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…</a:t>
            </a:r>
            <a:endParaRPr sz="1169">
              <a:latin typeface="Arial"/>
              <a:cs typeface="Arial"/>
            </a:endParaRPr>
          </a:p>
        </p:txBody>
      </p:sp>
      <p:sp>
        <p:nvSpPr>
          <p:cNvPr id="75" name="object 74">
            <a:extLst>
              <a:ext uri="{FF2B5EF4-FFF2-40B4-BE49-F238E27FC236}">
                <a16:creationId xmlns:a16="http://schemas.microsoft.com/office/drawing/2014/main" id="{5C4FFA61-6472-AB68-BFCD-8ECD7A6D5145}"/>
              </a:ext>
            </a:extLst>
          </p:cNvPr>
          <p:cNvSpPr txBox="1"/>
          <p:nvPr/>
        </p:nvSpPr>
        <p:spPr>
          <a:xfrm>
            <a:off x="4554831" y="2603800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15841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A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m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76" name="object 75">
            <a:extLst>
              <a:ext uri="{FF2B5EF4-FFF2-40B4-BE49-F238E27FC236}">
                <a16:creationId xmlns:a16="http://schemas.microsoft.com/office/drawing/2014/main" id="{EA81AC8A-71B9-1535-7AAC-56AB524BC821}"/>
              </a:ext>
            </a:extLst>
          </p:cNvPr>
          <p:cNvSpPr txBox="1"/>
          <p:nvPr/>
        </p:nvSpPr>
        <p:spPr>
          <a:xfrm>
            <a:off x="5410277" y="2603800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2177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B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1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77" name="object 76">
            <a:extLst>
              <a:ext uri="{FF2B5EF4-FFF2-40B4-BE49-F238E27FC236}">
                <a16:creationId xmlns:a16="http://schemas.microsoft.com/office/drawing/2014/main" id="{845FE84F-9C5F-1A89-2FF7-1A9940E369AB}"/>
              </a:ext>
            </a:extLst>
          </p:cNvPr>
          <p:cNvSpPr txBox="1"/>
          <p:nvPr/>
        </p:nvSpPr>
        <p:spPr>
          <a:xfrm>
            <a:off x="5838001" y="2603800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9603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…</a:t>
            </a:r>
            <a:endParaRPr sz="1169">
              <a:latin typeface="Arial"/>
              <a:cs typeface="Arial"/>
            </a:endParaRPr>
          </a:p>
        </p:txBody>
      </p:sp>
      <p:sp>
        <p:nvSpPr>
          <p:cNvPr id="78" name="object 77">
            <a:extLst>
              <a:ext uri="{FF2B5EF4-FFF2-40B4-BE49-F238E27FC236}">
                <a16:creationId xmlns:a16="http://schemas.microsoft.com/office/drawing/2014/main" id="{CE26EF2E-586A-3919-54DE-C7490A6A8060}"/>
              </a:ext>
            </a:extLst>
          </p:cNvPr>
          <p:cNvSpPr txBox="1"/>
          <p:nvPr/>
        </p:nvSpPr>
        <p:spPr>
          <a:xfrm>
            <a:off x="6265724" y="2603800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29950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B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n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79" name="object 78">
            <a:extLst>
              <a:ext uri="{FF2B5EF4-FFF2-40B4-BE49-F238E27FC236}">
                <a16:creationId xmlns:a16="http://schemas.microsoft.com/office/drawing/2014/main" id="{D1B0FF87-02A9-EB68-41B1-C0FEA880AE96}"/>
              </a:ext>
            </a:extLst>
          </p:cNvPr>
          <p:cNvSpPr txBox="1"/>
          <p:nvPr/>
        </p:nvSpPr>
        <p:spPr>
          <a:xfrm>
            <a:off x="4159063" y="4413089"/>
            <a:ext cx="2300566" cy="302896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4851">
              <a:spcBef>
                <a:spcPts val="117"/>
              </a:spcBef>
            </a:pPr>
            <a:r>
              <a:rPr sz="1871" spc="-6" dirty="0">
                <a:latin typeface="Arial"/>
                <a:cs typeface="Arial"/>
              </a:rPr>
              <a:t>A</a:t>
            </a:r>
            <a:r>
              <a:rPr sz="1842" spc="-8" baseline="-31746" dirty="0">
                <a:latin typeface="Arial"/>
                <a:cs typeface="Arial"/>
              </a:rPr>
              <a:t>1</a:t>
            </a:r>
            <a:r>
              <a:rPr sz="1871" spc="-6" dirty="0">
                <a:latin typeface="Arial"/>
                <a:cs typeface="Arial"/>
              </a:rPr>
              <a:t>, </a:t>
            </a:r>
            <a:r>
              <a:rPr sz="1871" dirty="0">
                <a:latin typeface="Arial"/>
                <a:cs typeface="Arial"/>
              </a:rPr>
              <a:t>…, </a:t>
            </a:r>
            <a:r>
              <a:rPr sz="1871" spc="6" dirty="0">
                <a:latin typeface="Arial"/>
                <a:cs typeface="Arial"/>
              </a:rPr>
              <a:t>A</a:t>
            </a:r>
            <a:r>
              <a:rPr sz="1842" spc="8" baseline="-31746" dirty="0">
                <a:latin typeface="Arial"/>
                <a:cs typeface="Arial"/>
              </a:rPr>
              <a:t>m </a:t>
            </a:r>
            <a:r>
              <a:rPr sz="1871" dirty="0">
                <a:latin typeface="Arial"/>
                <a:cs typeface="Arial"/>
              </a:rPr>
              <a:t>→</a:t>
            </a:r>
            <a:r>
              <a:rPr sz="1871" spc="-70" dirty="0">
                <a:latin typeface="Arial"/>
                <a:cs typeface="Arial"/>
              </a:rPr>
              <a:t> </a:t>
            </a:r>
            <a:r>
              <a:rPr sz="1871" spc="-6" dirty="0">
                <a:latin typeface="Arial"/>
                <a:cs typeface="Arial"/>
              </a:rPr>
              <a:t>B</a:t>
            </a:r>
            <a:r>
              <a:rPr sz="1842" spc="-8" baseline="-31746" dirty="0">
                <a:latin typeface="Arial"/>
                <a:cs typeface="Arial"/>
              </a:rPr>
              <a:t>1</a:t>
            </a:r>
            <a:r>
              <a:rPr sz="1871" spc="-6" dirty="0">
                <a:latin typeface="Arial"/>
                <a:cs typeface="Arial"/>
              </a:rPr>
              <a:t>,…,B</a:t>
            </a:r>
            <a:r>
              <a:rPr sz="1842" spc="-8" baseline="-31746" dirty="0">
                <a:latin typeface="Arial"/>
                <a:cs typeface="Arial"/>
              </a:rPr>
              <a:t>n</a:t>
            </a:r>
            <a:endParaRPr sz="1842" baseline="-31746">
              <a:latin typeface="Arial"/>
              <a:cs typeface="Arial"/>
            </a:endParaRPr>
          </a:p>
        </p:txBody>
      </p:sp>
      <p:sp>
        <p:nvSpPr>
          <p:cNvPr id="80" name="object 79">
            <a:extLst>
              <a:ext uri="{FF2B5EF4-FFF2-40B4-BE49-F238E27FC236}">
                <a16:creationId xmlns:a16="http://schemas.microsoft.com/office/drawing/2014/main" id="{C9F82757-BBFE-BC99-1207-B61FCB74D326}"/>
              </a:ext>
            </a:extLst>
          </p:cNvPr>
          <p:cNvSpPr/>
          <p:nvPr/>
        </p:nvSpPr>
        <p:spPr>
          <a:xfrm>
            <a:off x="3636497" y="3044994"/>
            <a:ext cx="1381973" cy="898543"/>
          </a:xfrm>
          <a:custGeom>
            <a:avLst/>
            <a:gdLst/>
            <a:ahLst/>
            <a:cxnLst/>
            <a:rect l="l" t="t" r="r" b="b"/>
            <a:pathLst>
              <a:path w="1181735" h="768350">
                <a:moveTo>
                  <a:pt x="0" y="128017"/>
                </a:moveTo>
                <a:lnTo>
                  <a:pt x="10061" y="78186"/>
                </a:lnTo>
                <a:lnTo>
                  <a:pt x="37499" y="37495"/>
                </a:lnTo>
                <a:lnTo>
                  <a:pt x="78194" y="10060"/>
                </a:lnTo>
                <a:lnTo>
                  <a:pt x="128024" y="0"/>
                </a:lnTo>
                <a:lnTo>
                  <a:pt x="1053172" y="0"/>
                </a:lnTo>
                <a:lnTo>
                  <a:pt x="1102166" y="9744"/>
                </a:lnTo>
                <a:lnTo>
                  <a:pt x="1143697" y="37494"/>
                </a:lnTo>
                <a:lnTo>
                  <a:pt x="1171447" y="79026"/>
                </a:lnTo>
                <a:lnTo>
                  <a:pt x="1181197" y="128017"/>
                </a:lnTo>
                <a:lnTo>
                  <a:pt x="1181197" y="640081"/>
                </a:lnTo>
                <a:lnTo>
                  <a:pt x="1171135" y="689911"/>
                </a:lnTo>
                <a:lnTo>
                  <a:pt x="1143697" y="730606"/>
                </a:lnTo>
                <a:lnTo>
                  <a:pt x="1103003" y="758044"/>
                </a:lnTo>
                <a:lnTo>
                  <a:pt x="1053172" y="768105"/>
                </a:lnTo>
                <a:lnTo>
                  <a:pt x="128024" y="768105"/>
                </a:lnTo>
                <a:lnTo>
                  <a:pt x="78194" y="758044"/>
                </a:lnTo>
                <a:lnTo>
                  <a:pt x="37499" y="730606"/>
                </a:lnTo>
                <a:lnTo>
                  <a:pt x="10061" y="689911"/>
                </a:lnTo>
                <a:lnTo>
                  <a:pt x="0" y="640081"/>
                </a:lnTo>
                <a:lnTo>
                  <a:pt x="0" y="128017"/>
                </a:lnTo>
                <a:close/>
              </a:path>
            </a:pathLst>
          </a:custGeom>
          <a:ln w="9524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1" name="object 80">
            <a:extLst>
              <a:ext uri="{FF2B5EF4-FFF2-40B4-BE49-F238E27FC236}">
                <a16:creationId xmlns:a16="http://schemas.microsoft.com/office/drawing/2014/main" id="{5B16C3DA-CD26-CFAE-F670-EB73E71F8D9E}"/>
              </a:ext>
            </a:extLst>
          </p:cNvPr>
          <p:cNvSpPr/>
          <p:nvPr/>
        </p:nvSpPr>
        <p:spPr>
          <a:xfrm>
            <a:off x="5365693" y="3044994"/>
            <a:ext cx="1381973" cy="898543"/>
          </a:xfrm>
          <a:custGeom>
            <a:avLst/>
            <a:gdLst/>
            <a:ahLst/>
            <a:cxnLst/>
            <a:rect l="l" t="t" r="r" b="b"/>
            <a:pathLst>
              <a:path w="1181735" h="768350">
                <a:moveTo>
                  <a:pt x="0" y="128017"/>
                </a:moveTo>
                <a:lnTo>
                  <a:pt x="10057" y="78186"/>
                </a:lnTo>
                <a:lnTo>
                  <a:pt x="37487" y="37495"/>
                </a:lnTo>
                <a:lnTo>
                  <a:pt x="78173" y="10060"/>
                </a:lnTo>
                <a:lnTo>
                  <a:pt x="127999" y="0"/>
                </a:lnTo>
                <a:lnTo>
                  <a:pt x="1053147" y="0"/>
                </a:lnTo>
                <a:lnTo>
                  <a:pt x="1102150" y="9744"/>
                </a:lnTo>
                <a:lnTo>
                  <a:pt x="1143672" y="37494"/>
                </a:lnTo>
                <a:lnTo>
                  <a:pt x="1171432" y="79026"/>
                </a:lnTo>
                <a:lnTo>
                  <a:pt x="1181172" y="128017"/>
                </a:lnTo>
                <a:lnTo>
                  <a:pt x="1181172" y="640081"/>
                </a:lnTo>
                <a:lnTo>
                  <a:pt x="1171114" y="689911"/>
                </a:lnTo>
                <a:lnTo>
                  <a:pt x="1143682" y="730606"/>
                </a:lnTo>
                <a:lnTo>
                  <a:pt x="1102988" y="758044"/>
                </a:lnTo>
                <a:lnTo>
                  <a:pt x="1053147" y="768105"/>
                </a:lnTo>
                <a:lnTo>
                  <a:pt x="127999" y="768105"/>
                </a:lnTo>
                <a:lnTo>
                  <a:pt x="78173" y="758044"/>
                </a:lnTo>
                <a:lnTo>
                  <a:pt x="37487" y="730606"/>
                </a:lnTo>
                <a:lnTo>
                  <a:pt x="10057" y="689911"/>
                </a:lnTo>
                <a:lnTo>
                  <a:pt x="0" y="640081"/>
                </a:lnTo>
                <a:lnTo>
                  <a:pt x="0" y="128017"/>
                </a:lnTo>
                <a:close/>
              </a:path>
            </a:pathLst>
          </a:custGeom>
          <a:ln w="9524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2" name="object 81">
            <a:extLst>
              <a:ext uri="{FF2B5EF4-FFF2-40B4-BE49-F238E27FC236}">
                <a16:creationId xmlns:a16="http://schemas.microsoft.com/office/drawing/2014/main" id="{BD81AAF8-07EC-8C5F-5F3B-1C50FD222C39}"/>
              </a:ext>
            </a:extLst>
          </p:cNvPr>
          <p:cNvSpPr/>
          <p:nvPr/>
        </p:nvSpPr>
        <p:spPr>
          <a:xfrm>
            <a:off x="4733813" y="3232772"/>
            <a:ext cx="915889" cy="5764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3" name="object 82">
            <a:extLst>
              <a:ext uri="{FF2B5EF4-FFF2-40B4-BE49-F238E27FC236}">
                <a16:creationId xmlns:a16="http://schemas.microsoft.com/office/drawing/2014/main" id="{E52B9A02-8929-4B11-08E2-19257C54E8EB}"/>
              </a:ext>
            </a:extLst>
          </p:cNvPr>
          <p:cNvSpPr/>
          <p:nvPr/>
        </p:nvSpPr>
        <p:spPr>
          <a:xfrm>
            <a:off x="4786146" y="3258233"/>
            <a:ext cx="811659" cy="472292"/>
          </a:xfrm>
          <a:custGeom>
            <a:avLst/>
            <a:gdLst/>
            <a:ahLst/>
            <a:cxnLst/>
            <a:rect l="l" t="t" r="r" b="b"/>
            <a:pathLst>
              <a:path w="694054" h="403860">
                <a:moveTo>
                  <a:pt x="0" y="100852"/>
                </a:moveTo>
                <a:lnTo>
                  <a:pt x="491974" y="100852"/>
                </a:lnTo>
                <a:lnTo>
                  <a:pt x="491974" y="0"/>
                </a:lnTo>
                <a:lnTo>
                  <a:pt x="693673" y="201704"/>
                </a:lnTo>
                <a:lnTo>
                  <a:pt x="491974" y="403414"/>
                </a:lnTo>
                <a:lnTo>
                  <a:pt x="491974" y="302556"/>
                </a:lnTo>
                <a:lnTo>
                  <a:pt x="0" y="302556"/>
                </a:lnTo>
                <a:lnTo>
                  <a:pt x="0" y="100852"/>
                </a:lnTo>
                <a:close/>
              </a:path>
            </a:pathLst>
          </a:custGeom>
          <a:ln w="9524">
            <a:solidFill>
              <a:srgbClr val="EB792A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</p:spTree>
    <p:extLst>
      <p:ext uri="{BB962C8B-B14F-4D97-AF65-F5344CB8AC3E}">
        <p14:creationId xmlns:p14="http://schemas.microsoft.com/office/powerpoint/2010/main" val="4850857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CC4812BA-BB40-D7D8-112A-D507B6104E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4374" y="764931"/>
            <a:ext cx="6279679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/>
              <a:t>1. Split / Combine</a:t>
            </a:r>
            <a:endParaRPr lang="en-GB" spc="-88" dirty="0"/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4ADD3CC2-3F6E-4335-9D1E-28672DA27796}"/>
              </a:ext>
            </a:extLst>
          </p:cNvPr>
          <p:cNvSpPr/>
          <p:nvPr/>
        </p:nvSpPr>
        <p:spPr>
          <a:xfrm>
            <a:off x="3246195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C5F10415-CD74-DF8A-5DF9-2E4ABFD62B6C}"/>
              </a:ext>
            </a:extLst>
          </p:cNvPr>
          <p:cNvSpPr/>
          <p:nvPr/>
        </p:nvSpPr>
        <p:spPr>
          <a:xfrm>
            <a:off x="3673918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4" name="object 6">
            <a:extLst>
              <a:ext uri="{FF2B5EF4-FFF2-40B4-BE49-F238E27FC236}">
                <a16:creationId xmlns:a16="http://schemas.microsoft.com/office/drawing/2014/main" id="{3746471D-828B-17C6-718D-8B4DB7EFDF64}"/>
              </a:ext>
            </a:extLst>
          </p:cNvPr>
          <p:cNvSpPr/>
          <p:nvPr/>
        </p:nvSpPr>
        <p:spPr>
          <a:xfrm>
            <a:off x="4101642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5" name="object 7">
            <a:extLst>
              <a:ext uri="{FF2B5EF4-FFF2-40B4-BE49-F238E27FC236}">
                <a16:creationId xmlns:a16="http://schemas.microsoft.com/office/drawing/2014/main" id="{8488E268-7226-BF9B-4B00-6A1C83A6F02A}"/>
              </a:ext>
            </a:extLst>
          </p:cNvPr>
          <p:cNvSpPr/>
          <p:nvPr/>
        </p:nvSpPr>
        <p:spPr>
          <a:xfrm>
            <a:off x="4529366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6" name="object 8">
            <a:extLst>
              <a:ext uri="{FF2B5EF4-FFF2-40B4-BE49-F238E27FC236}">
                <a16:creationId xmlns:a16="http://schemas.microsoft.com/office/drawing/2014/main" id="{AC3BA888-C62F-1E65-B75D-1FBB7D270A02}"/>
              </a:ext>
            </a:extLst>
          </p:cNvPr>
          <p:cNvSpPr/>
          <p:nvPr/>
        </p:nvSpPr>
        <p:spPr>
          <a:xfrm>
            <a:off x="4957089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7" name="object 9">
            <a:extLst>
              <a:ext uri="{FF2B5EF4-FFF2-40B4-BE49-F238E27FC236}">
                <a16:creationId xmlns:a16="http://schemas.microsoft.com/office/drawing/2014/main" id="{7B1D9519-3444-9E33-942D-8FE0FDB5EFF1}"/>
              </a:ext>
            </a:extLst>
          </p:cNvPr>
          <p:cNvSpPr/>
          <p:nvPr/>
        </p:nvSpPr>
        <p:spPr>
          <a:xfrm>
            <a:off x="5384813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8" name="object 10">
            <a:extLst>
              <a:ext uri="{FF2B5EF4-FFF2-40B4-BE49-F238E27FC236}">
                <a16:creationId xmlns:a16="http://schemas.microsoft.com/office/drawing/2014/main" id="{5DB7C9FD-17F5-D658-14CA-E660FC65EA27}"/>
              </a:ext>
            </a:extLst>
          </p:cNvPr>
          <p:cNvSpPr/>
          <p:nvPr/>
        </p:nvSpPr>
        <p:spPr>
          <a:xfrm>
            <a:off x="5812537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9" name="object 11">
            <a:extLst>
              <a:ext uri="{FF2B5EF4-FFF2-40B4-BE49-F238E27FC236}">
                <a16:creationId xmlns:a16="http://schemas.microsoft.com/office/drawing/2014/main" id="{46837034-9B04-9DB2-A005-98721B65F6F1}"/>
              </a:ext>
            </a:extLst>
          </p:cNvPr>
          <p:cNvSpPr/>
          <p:nvPr/>
        </p:nvSpPr>
        <p:spPr>
          <a:xfrm>
            <a:off x="6240260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0" name="object 12">
            <a:extLst>
              <a:ext uri="{FF2B5EF4-FFF2-40B4-BE49-F238E27FC236}">
                <a16:creationId xmlns:a16="http://schemas.microsoft.com/office/drawing/2014/main" id="{08595D64-235C-DA67-FF32-45D7210FFD88}"/>
              </a:ext>
            </a:extLst>
          </p:cNvPr>
          <p:cNvSpPr/>
          <p:nvPr/>
        </p:nvSpPr>
        <p:spPr>
          <a:xfrm>
            <a:off x="6667983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1" name="object 13">
            <a:extLst>
              <a:ext uri="{FF2B5EF4-FFF2-40B4-BE49-F238E27FC236}">
                <a16:creationId xmlns:a16="http://schemas.microsoft.com/office/drawing/2014/main" id="{376B85E7-3D18-7301-666B-02CED3120623}"/>
              </a:ext>
            </a:extLst>
          </p:cNvPr>
          <p:cNvSpPr/>
          <p:nvPr/>
        </p:nvSpPr>
        <p:spPr>
          <a:xfrm>
            <a:off x="7095706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2" name="object 14">
            <a:extLst>
              <a:ext uri="{FF2B5EF4-FFF2-40B4-BE49-F238E27FC236}">
                <a16:creationId xmlns:a16="http://schemas.microsoft.com/office/drawing/2014/main" id="{9A90E4A1-B177-7F35-0C45-92EAB618F28C}"/>
              </a:ext>
            </a:extLst>
          </p:cNvPr>
          <p:cNvSpPr/>
          <p:nvPr/>
        </p:nvSpPr>
        <p:spPr>
          <a:xfrm>
            <a:off x="3246195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3" name="object 15">
            <a:extLst>
              <a:ext uri="{FF2B5EF4-FFF2-40B4-BE49-F238E27FC236}">
                <a16:creationId xmlns:a16="http://schemas.microsoft.com/office/drawing/2014/main" id="{ECA993BE-798B-CC75-413D-224926FB9104}"/>
              </a:ext>
            </a:extLst>
          </p:cNvPr>
          <p:cNvSpPr/>
          <p:nvPr/>
        </p:nvSpPr>
        <p:spPr>
          <a:xfrm>
            <a:off x="3673918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4" name="object 16">
            <a:extLst>
              <a:ext uri="{FF2B5EF4-FFF2-40B4-BE49-F238E27FC236}">
                <a16:creationId xmlns:a16="http://schemas.microsoft.com/office/drawing/2014/main" id="{038EDE26-052F-C0A5-0844-152686A9FB44}"/>
              </a:ext>
            </a:extLst>
          </p:cNvPr>
          <p:cNvSpPr/>
          <p:nvPr/>
        </p:nvSpPr>
        <p:spPr>
          <a:xfrm>
            <a:off x="4101642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5" name="object 17">
            <a:extLst>
              <a:ext uri="{FF2B5EF4-FFF2-40B4-BE49-F238E27FC236}">
                <a16:creationId xmlns:a16="http://schemas.microsoft.com/office/drawing/2014/main" id="{DB8213E9-4AEB-699E-4280-87062BE33A8A}"/>
              </a:ext>
            </a:extLst>
          </p:cNvPr>
          <p:cNvSpPr/>
          <p:nvPr/>
        </p:nvSpPr>
        <p:spPr>
          <a:xfrm>
            <a:off x="4529366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6" name="object 18">
            <a:extLst>
              <a:ext uri="{FF2B5EF4-FFF2-40B4-BE49-F238E27FC236}">
                <a16:creationId xmlns:a16="http://schemas.microsoft.com/office/drawing/2014/main" id="{C0E408B6-29A4-3C2F-4F8D-A0A4560011E1}"/>
              </a:ext>
            </a:extLst>
          </p:cNvPr>
          <p:cNvSpPr/>
          <p:nvPr/>
        </p:nvSpPr>
        <p:spPr>
          <a:xfrm>
            <a:off x="4957089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7" name="object 19">
            <a:extLst>
              <a:ext uri="{FF2B5EF4-FFF2-40B4-BE49-F238E27FC236}">
                <a16:creationId xmlns:a16="http://schemas.microsoft.com/office/drawing/2014/main" id="{78097703-B8BD-486A-12D5-6DE5A748A0D2}"/>
              </a:ext>
            </a:extLst>
          </p:cNvPr>
          <p:cNvSpPr/>
          <p:nvPr/>
        </p:nvSpPr>
        <p:spPr>
          <a:xfrm>
            <a:off x="5384813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8" name="object 20">
            <a:extLst>
              <a:ext uri="{FF2B5EF4-FFF2-40B4-BE49-F238E27FC236}">
                <a16:creationId xmlns:a16="http://schemas.microsoft.com/office/drawing/2014/main" id="{2F80E5A2-CF44-9551-B987-F6CDD0C32637}"/>
              </a:ext>
            </a:extLst>
          </p:cNvPr>
          <p:cNvSpPr/>
          <p:nvPr/>
        </p:nvSpPr>
        <p:spPr>
          <a:xfrm>
            <a:off x="5812537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9" name="object 21">
            <a:extLst>
              <a:ext uri="{FF2B5EF4-FFF2-40B4-BE49-F238E27FC236}">
                <a16:creationId xmlns:a16="http://schemas.microsoft.com/office/drawing/2014/main" id="{66C4ADC2-08CE-B7C0-F768-30CFD5050022}"/>
              </a:ext>
            </a:extLst>
          </p:cNvPr>
          <p:cNvSpPr/>
          <p:nvPr/>
        </p:nvSpPr>
        <p:spPr>
          <a:xfrm>
            <a:off x="6240260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0" name="object 22">
            <a:extLst>
              <a:ext uri="{FF2B5EF4-FFF2-40B4-BE49-F238E27FC236}">
                <a16:creationId xmlns:a16="http://schemas.microsoft.com/office/drawing/2014/main" id="{1E5FBB89-EC20-583D-E1D9-B079FE90D788}"/>
              </a:ext>
            </a:extLst>
          </p:cNvPr>
          <p:cNvSpPr/>
          <p:nvPr/>
        </p:nvSpPr>
        <p:spPr>
          <a:xfrm>
            <a:off x="6667983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1" name="object 23">
            <a:extLst>
              <a:ext uri="{FF2B5EF4-FFF2-40B4-BE49-F238E27FC236}">
                <a16:creationId xmlns:a16="http://schemas.microsoft.com/office/drawing/2014/main" id="{2D38598B-6B46-7FD5-79B8-E1BBF6A64006}"/>
              </a:ext>
            </a:extLst>
          </p:cNvPr>
          <p:cNvSpPr/>
          <p:nvPr/>
        </p:nvSpPr>
        <p:spPr>
          <a:xfrm>
            <a:off x="7095706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2" name="object 24">
            <a:extLst>
              <a:ext uri="{FF2B5EF4-FFF2-40B4-BE49-F238E27FC236}">
                <a16:creationId xmlns:a16="http://schemas.microsoft.com/office/drawing/2014/main" id="{C3304F98-733B-1042-763B-9EF4C18C351B}"/>
              </a:ext>
            </a:extLst>
          </p:cNvPr>
          <p:cNvSpPr/>
          <p:nvPr/>
        </p:nvSpPr>
        <p:spPr>
          <a:xfrm>
            <a:off x="3246195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3" name="object 25">
            <a:extLst>
              <a:ext uri="{FF2B5EF4-FFF2-40B4-BE49-F238E27FC236}">
                <a16:creationId xmlns:a16="http://schemas.microsoft.com/office/drawing/2014/main" id="{56B33E6F-81AA-21EF-5B19-461C52CDC557}"/>
              </a:ext>
            </a:extLst>
          </p:cNvPr>
          <p:cNvSpPr/>
          <p:nvPr/>
        </p:nvSpPr>
        <p:spPr>
          <a:xfrm>
            <a:off x="3673918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4" name="object 26">
            <a:extLst>
              <a:ext uri="{FF2B5EF4-FFF2-40B4-BE49-F238E27FC236}">
                <a16:creationId xmlns:a16="http://schemas.microsoft.com/office/drawing/2014/main" id="{E46051C6-6B63-893F-426F-F4DACAB19F6C}"/>
              </a:ext>
            </a:extLst>
          </p:cNvPr>
          <p:cNvSpPr/>
          <p:nvPr/>
        </p:nvSpPr>
        <p:spPr>
          <a:xfrm>
            <a:off x="4101642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5" name="object 27">
            <a:extLst>
              <a:ext uri="{FF2B5EF4-FFF2-40B4-BE49-F238E27FC236}">
                <a16:creationId xmlns:a16="http://schemas.microsoft.com/office/drawing/2014/main" id="{F62DBC6D-B9D5-5BA2-519D-331520CA8A2A}"/>
              </a:ext>
            </a:extLst>
          </p:cNvPr>
          <p:cNvSpPr/>
          <p:nvPr/>
        </p:nvSpPr>
        <p:spPr>
          <a:xfrm>
            <a:off x="4529366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6" name="object 28">
            <a:extLst>
              <a:ext uri="{FF2B5EF4-FFF2-40B4-BE49-F238E27FC236}">
                <a16:creationId xmlns:a16="http://schemas.microsoft.com/office/drawing/2014/main" id="{EACA4702-014C-A64C-B8F6-0707FD24C05D}"/>
              </a:ext>
            </a:extLst>
          </p:cNvPr>
          <p:cNvSpPr/>
          <p:nvPr/>
        </p:nvSpPr>
        <p:spPr>
          <a:xfrm>
            <a:off x="4957089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7" name="object 29">
            <a:extLst>
              <a:ext uri="{FF2B5EF4-FFF2-40B4-BE49-F238E27FC236}">
                <a16:creationId xmlns:a16="http://schemas.microsoft.com/office/drawing/2014/main" id="{3DB63099-8B98-2CBB-2B70-4E4C3D439257}"/>
              </a:ext>
            </a:extLst>
          </p:cNvPr>
          <p:cNvSpPr/>
          <p:nvPr/>
        </p:nvSpPr>
        <p:spPr>
          <a:xfrm>
            <a:off x="5384813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8" name="object 30">
            <a:extLst>
              <a:ext uri="{FF2B5EF4-FFF2-40B4-BE49-F238E27FC236}">
                <a16:creationId xmlns:a16="http://schemas.microsoft.com/office/drawing/2014/main" id="{144383B6-F1F6-C47C-27D7-42113D161528}"/>
              </a:ext>
            </a:extLst>
          </p:cNvPr>
          <p:cNvSpPr/>
          <p:nvPr/>
        </p:nvSpPr>
        <p:spPr>
          <a:xfrm>
            <a:off x="5812537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9" name="object 31">
            <a:extLst>
              <a:ext uri="{FF2B5EF4-FFF2-40B4-BE49-F238E27FC236}">
                <a16:creationId xmlns:a16="http://schemas.microsoft.com/office/drawing/2014/main" id="{A298C1BE-2C87-EF76-4B89-C5ABB026CC7A}"/>
              </a:ext>
            </a:extLst>
          </p:cNvPr>
          <p:cNvSpPr/>
          <p:nvPr/>
        </p:nvSpPr>
        <p:spPr>
          <a:xfrm>
            <a:off x="6240260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0" name="object 32">
            <a:extLst>
              <a:ext uri="{FF2B5EF4-FFF2-40B4-BE49-F238E27FC236}">
                <a16:creationId xmlns:a16="http://schemas.microsoft.com/office/drawing/2014/main" id="{4943D45C-7C88-94D8-8F16-45F040D87A12}"/>
              </a:ext>
            </a:extLst>
          </p:cNvPr>
          <p:cNvSpPr/>
          <p:nvPr/>
        </p:nvSpPr>
        <p:spPr>
          <a:xfrm>
            <a:off x="6667983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1" name="object 33">
            <a:extLst>
              <a:ext uri="{FF2B5EF4-FFF2-40B4-BE49-F238E27FC236}">
                <a16:creationId xmlns:a16="http://schemas.microsoft.com/office/drawing/2014/main" id="{20B9351B-FADF-895F-0B5B-0432CAF099B8}"/>
              </a:ext>
            </a:extLst>
          </p:cNvPr>
          <p:cNvSpPr/>
          <p:nvPr/>
        </p:nvSpPr>
        <p:spPr>
          <a:xfrm>
            <a:off x="7095706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2" name="object 34">
            <a:extLst>
              <a:ext uri="{FF2B5EF4-FFF2-40B4-BE49-F238E27FC236}">
                <a16:creationId xmlns:a16="http://schemas.microsoft.com/office/drawing/2014/main" id="{0D753FAA-51B3-4F88-A7C9-41EC5AC54B92}"/>
              </a:ext>
            </a:extLst>
          </p:cNvPr>
          <p:cNvSpPr/>
          <p:nvPr/>
        </p:nvSpPr>
        <p:spPr>
          <a:xfrm>
            <a:off x="3246195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3" name="object 35">
            <a:extLst>
              <a:ext uri="{FF2B5EF4-FFF2-40B4-BE49-F238E27FC236}">
                <a16:creationId xmlns:a16="http://schemas.microsoft.com/office/drawing/2014/main" id="{10F44DC5-1CDE-77A8-CFD3-505B3DAAA052}"/>
              </a:ext>
            </a:extLst>
          </p:cNvPr>
          <p:cNvSpPr/>
          <p:nvPr/>
        </p:nvSpPr>
        <p:spPr>
          <a:xfrm>
            <a:off x="3673918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4" name="object 36">
            <a:extLst>
              <a:ext uri="{FF2B5EF4-FFF2-40B4-BE49-F238E27FC236}">
                <a16:creationId xmlns:a16="http://schemas.microsoft.com/office/drawing/2014/main" id="{36A6B3E8-CA85-A79E-EE1C-310D319D3548}"/>
              </a:ext>
            </a:extLst>
          </p:cNvPr>
          <p:cNvSpPr/>
          <p:nvPr/>
        </p:nvSpPr>
        <p:spPr>
          <a:xfrm>
            <a:off x="4101642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5" name="object 37">
            <a:extLst>
              <a:ext uri="{FF2B5EF4-FFF2-40B4-BE49-F238E27FC236}">
                <a16:creationId xmlns:a16="http://schemas.microsoft.com/office/drawing/2014/main" id="{04DCFB4D-B162-E67C-6625-F9F35C95F0D6}"/>
              </a:ext>
            </a:extLst>
          </p:cNvPr>
          <p:cNvSpPr/>
          <p:nvPr/>
        </p:nvSpPr>
        <p:spPr>
          <a:xfrm>
            <a:off x="4529366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6" name="object 38">
            <a:extLst>
              <a:ext uri="{FF2B5EF4-FFF2-40B4-BE49-F238E27FC236}">
                <a16:creationId xmlns:a16="http://schemas.microsoft.com/office/drawing/2014/main" id="{F64EE1C5-29CC-D581-23E2-01CDE84F13A9}"/>
              </a:ext>
            </a:extLst>
          </p:cNvPr>
          <p:cNvSpPr/>
          <p:nvPr/>
        </p:nvSpPr>
        <p:spPr>
          <a:xfrm>
            <a:off x="4957089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7" name="object 39">
            <a:extLst>
              <a:ext uri="{FF2B5EF4-FFF2-40B4-BE49-F238E27FC236}">
                <a16:creationId xmlns:a16="http://schemas.microsoft.com/office/drawing/2014/main" id="{967A413D-F3CC-1E63-42A7-8295FD95381B}"/>
              </a:ext>
            </a:extLst>
          </p:cNvPr>
          <p:cNvSpPr/>
          <p:nvPr/>
        </p:nvSpPr>
        <p:spPr>
          <a:xfrm>
            <a:off x="5384813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8" name="object 40">
            <a:extLst>
              <a:ext uri="{FF2B5EF4-FFF2-40B4-BE49-F238E27FC236}">
                <a16:creationId xmlns:a16="http://schemas.microsoft.com/office/drawing/2014/main" id="{AF06E70D-E905-D2D3-CED5-C9DB44F21F12}"/>
              </a:ext>
            </a:extLst>
          </p:cNvPr>
          <p:cNvSpPr/>
          <p:nvPr/>
        </p:nvSpPr>
        <p:spPr>
          <a:xfrm>
            <a:off x="5812537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9" name="object 41">
            <a:extLst>
              <a:ext uri="{FF2B5EF4-FFF2-40B4-BE49-F238E27FC236}">
                <a16:creationId xmlns:a16="http://schemas.microsoft.com/office/drawing/2014/main" id="{886E7064-5A57-EA54-29FE-D0C6249F8A65}"/>
              </a:ext>
            </a:extLst>
          </p:cNvPr>
          <p:cNvSpPr/>
          <p:nvPr/>
        </p:nvSpPr>
        <p:spPr>
          <a:xfrm>
            <a:off x="6240260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0" name="object 42">
            <a:extLst>
              <a:ext uri="{FF2B5EF4-FFF2-40B4-BE49-F238E27FC236}">
                <a16:creationId xmlns:a16="http://schemas.microsoft.com/office/drawing/2014/main" id="{5E904CFD-03C0-4BB9-4274-94794BC91B86}"/>
              </a:ext>
            </a:extLst>
          </p:cNvPr>
          <p:cNvSpPr/>
          <p:nvPr/>
        </p:nvSpPr>
        <p:spPr>
          <a:xfrm>
            <a:off x="6667983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1" name="object 43">
            <a:extLst>
              <a:ext uri="{FF2B5EF4-FFF2-40B4-BE49-F238E27FC236}">
                <a16:creationId xmlns:a16="http://schemas.microsoft.com/office/drawing/2014/main" id="{7A15F8C2-B1E0-F887-BDBF-E4AD02920A9B}"/>
              </a:ext>
            </a:extLst>
          </p:cNvPr>
          <p:cNvSpPr/>
          <p:nvPr/>
        </p:nvSpPr>
        <p:spPr>
          <a:xfrm>
            <a:off x="7095706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2" name="object 44">
            <a:extLst>
              <a:ext uri="{FF2B5EF4-FFF2-40B4-BE49-F238E27FC236}">
                <a16:creationId xmlns:a16="http://schemas.microsoft.com/office/drawing/2014/main" id="{61F956E3-DEDD-4214-145D-473C20AE0D61}"/>
              </a:ext>
            </a:extLst>
          </p:cNvPr>
          <p:cNvSpPr/>
          <p:nvPr/>
        </p:nvSpPr>
        <p:spPr>
          <a:xfrm>
            <a:off x="3246195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3" name="object 45">
            <a:extLst>
              <a:ext uri="{FF2B5EF4-FFF2-40B4-BE49-F238E27FC236}">
                <a16:creationId xmlns:a16="http://schemas.microsoft.com/office/drawing/2014/main" id="{E0426C40-6DE5-C1F3-7BB1-7AF7B6C0EA2A}"/>
              </a:ext>
            </a:extLst>
          </p:cNvPr>
          <p:cNvSpPr/>
          <p:nvPr/>
        </p:nvSpPr>
        <p:spPr>
          <a:xfrm>
            <a:off x="3673918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4" name="object 46">
            <a:extLst>
              <a:ext uri="{FF2B5EF4-FFF2-40B4-BE49-F238E27FC236}">
                <a16:creationId xmlns:a16="http://schemas.microsoft.com/office/drawing/2014/main" id="{BB307C30-B5BA-21EC-1C48-FFE736A1B1D2}"/>
              </a:ext>
            </a:extLst>
          </p:cNvPr>
          <p:cNvSpPr/>
          <p:nvPr/>
        </p:nvSpPr>
        <p:spPr>
          <a:xfrm>
            <a:off x="4101642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5" name="object 47">
            <a:extLst>
              <a:ext uri="{FF2B5EF4-FFF2-40B4-BE49-F238E27FC236}">
                <a16:creationId xmlns:a16="http://schemas.microsoft.com/office/drawing/2014/main" id="{FE37FE8E-45E2-9EED-00DD-41D71AAA566C}"/>
              </a:ext>
            </a:extLst>
          </p:cNvPr>
          <p:cNvSpPr/>
          <p:nvPr/>
        </p:nvSpPr>
        <p:spPr>
          <a:xfrm>
            <a:off x="4529366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6" name="object 48">
            <a:extLst>
              <a:ext uri="{FF2B5EF4-FFF2-40B4-BE49-F238E27FC236}">
                <a16:creationId xmlns:a16="http://schemas.microsoft.com/office/drawing/2014/main" id="{8342DF9F-D917-BEB3-B24D-D26E278833BE}"/>
              </a:ext>
            </a:extLst>
          </p:cNvPr>
          <p:cNvSpPr/>
          <p:nvPr/>
        </p:nvSpPr>
        <p:spPr>
          <a:xfrm>
            <a:off x="4957089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7" name="object 49">
            <a:extLst>
              <a:ext uri="{FF2B5EF4-FFF2-40B4-BE49-F238E27FC236}">
                <a16:creationId xmlns:a16="http://schemas.microsoft.com/office/drawing/2014/main" id="{C61726E7-5227-2279-ADE0-A9966AC7451E}"/>
              </a:ext>
            </a:extLst>
          </p:cNvPr>
          <p:cNvSpPr/>
          <p:nvPr/>
        </p:nvSpPr>
        <p:spPr>
          <a:xfrm>
            <a:off x="5384813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8" name="object 50">
            <a:extLst>
              <a:ext uri="{FF2B5EF4-FFF2-40B4-BE49-F238E27FC236}">
                <a16:creationId xmlns:a16="http://schemas.microsoft.com/office/drawing/2014/main" id="{0CF154A7-9B22-B0CC-DFC3-0F84D9D7ED0C}"/>
              </a:ext>
            </a:extLst>
          </p:cNvPr>
          <p:cNvSpPr/>
          <p:nvPr/>
        </p:nvSpPr>
        <p:spPr>
          <a:xfrm>
            <a:off x="5812537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9" name="object 51">
            <a:extLst>
              <a:ext uri="{FF2B5EF4-FFF2-40B4-BE49-F238E27FC236}">
                <a16:creationId xmlns:a16="http://schemas.microsoft.com/office/drawing/2014/main" id="{63EB0005-4307-CD0C-9E22-C75BD7DF1688}"/>
              </a:ext>
            </a:extLst>
          </p:cNvPr>
          <p:cNvSpPr/>
          <p:nvPr/>
        </p:nvSpPr>
        <p:spPr>
          <a:xfrm>
            <a:off x="6240260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0" name="object 52">
            <a:extLst>
              <a:ext uri="{FF2B5EF4-FFF2-40B4-BE49-F238E27FC236}">
                <a16:creationId xmlns:a16="http://schemas.microsoft.com/office/drawing/2014/main" id="{1B49C950-F49C-F461-0EC7-1666E4FE8D80}"/>
              </a:ext>
            </a:extLst>
          </p:cNvPr>
          <p:cNvSpPr/>
          <p:nvPr/>
        </p:nvSpPr>
        <p:spPr>
          <a:xfrm>
            <a:off x="6667983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1" name="object 53">
            <a:extLst>
              <a:ext uri="{FF2B5EF4-FFF2-40B4-BE49-F238E27FC236}">
                <a16:creationId xmlns:a16="http://schemas.microsoft.com/office/drawing/2014/main" id="{11811E60-26F5-0890-D448-4DC7F2F2B977}"/>
              </a:ext>
            </a:extLst>
          </p:cNvPr>
          <p:cNvSpPr/>
          <p:nvPr/>
        </p:nvSpPr>
        <p:spPr>
          <a:xfrm>
            <a:off x="7095706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2" name="object 54">
            <a:extLst>
              <a:ext uri="{FF2B5EF4-FFF2-40B4-BE49-F238E27FC236}">
                <a16:creationId xmlns:a16="http://schemas.microsoft.com/office/drawing/2014/main" id="{1D017E76-A85D-CC5D-372F-8CC45D2F5328}"/>
              </a:ext>
            </a:extLst>
          </p:cNvPr>
          <p:cNvSpPr/>
          <p:nvPr/>
        </p:nvSpPr>
        <p:spPr>
          <a:xfrm>
            <a:off x="3246195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3" name="object 55">
            <a:extLst>
              <a:ext uri="{FF2B5EF4-FFF2-40B4-BE49-F238E27FC236}">
                <a16:creationId xmlns:a16="http://schemas.microsoft.com/office/drawing/2014/main" id="{BDD1D0DA-3B31-2474-72F3-DE3D55EF3038}"/>
              </a:ext>
            </a:extLst>
          </p:cNvPr>
          <p:cNvSpPr/>
          <p:nvPr/>
        </p:nvSpPr>
        <p:spPr>
          <a:xfrm>
            <a:off x="3673918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4" name="object 56">
            <a:extLst>
              <a:ext uri="{FF2B5EF4-FFF2-40B4-BE49-F238E27FC236}">
                <a16:creationId xmlns:a16="http://schemas.microsoft.com/office/drawing/2014/main" id="{2CBAFFC5-2846-3C3D-9B61-7014C6A3388E}"/>
              </a:ext>
            </a:extLst>
          </p:cNvPr>
          <p:cNvSpPr/>
          <p:nvPr/>
        </p:nvSpPr>
        <p:spPr>
          <a:xfrm>
            <a:off x="4101642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5" name="object 57">
            <a:extLst>
              <a:ext uri="{FF2B5EF4-FFF2-40B4-BE49-F238E27FC236}">
                <a16:creationId xmlns:a16="http://schemas.microsoft.com/office/drawing/2014/main" id="{1608D488-E7C8-9313-F444-54E97B2B1AAE}"/>
              </a:ext>
            </a:extLst>
          </p:cNvPr>
          <p:cNvSpPr/>
          <p:nvPr/>
        </p:nvSpPr>
        <p:spPr>
          <a:xfrm>
            <a:off x="4529366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6" name="object 58">
            <a:extLst>
              <a:ext uri="{FF2B5EF4-FFF2-40B4-BE49-F238E27FC236}">
                <a16:creationId xmlns:a16="http://schemas.microsoft.com/office/drawing/2014/main" id="{4B0CAE30-919B-C73E-D42A-D5865A4EAC14}"/>
              </a:ext>
            </a:extLst>
          </p:cNvPr>
          <p:cNvSpPr/>
          <p:nvPr/>
        </p:nvSpPr>
        <p:spPr>
          <a:xfrm>
            <a:off x="4957089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7" name="object 59">
            <a:extLst>
              <a:ext uri="{FF2B5EF4-FFF2-40B4-BE49-F238E27FC236}">
                <a16:creationId xmlns:a16="http://schemas.microsoft.com/office/drawing/2014/main" id="{740E295A-C18B-5882-5533-EAD1FBB21DF8}"/>
              </a:ext>
            </a:extLst>
          </p:cNvPr>
          <p:cNvSpPr/>
          <p:nvPr/>
        </p:nvSpPr>
        <p:spPr>
          <a:xfrm>
            <a:off x="5384812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8" name="object 60">
            <a:extLst>
              <a:ext uri="{FF2B5EF4-FFF2-40B4-BE49-F238E27FC236}">
                <a16:creationId xmlns:a16="http://schemas.microsoft.com/office/drawing/2014/main" id="{499D433E-C229-4759-8B8A-5081A0D1C6E4}"/>
              </a:ext>
            </a:extLst>
          </p:cNvPr>
          <p:cNvSpPr/>
          <p:nvPr/>
        </p:nvSpPr>
        <p:spPr>
          <a:xfrm>
            <a:off x="5812537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9" name="object 61">
            <a:extLst>
              <a:ext uri="{FF2B5EF4-FFF2-40B4-BE49-F238E27FC236}">
                <a16:creationId xmlns:a16="http://schemas.microsoft.com/office/drawing/2014/main" id="{61E90AE9-B6E6-636C-2341-E8588BB06D37}"/>
              </a:ext>
            </a:extLst>
          </p:cNvPr>
          <p:cNvSpPr/>
          <p:nvPr/>
        </p:nvSpPr>
        <p:spPr>
          <a:xfrm>
            <a:off x="6240260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0" name="object 62">
            <a:extLst>
              <a:ext uri="{FF2B5EF4-FFF2-40B4-BE49-F238E27FC236}">
                <a16:creationId xmlns:a16="http://schemas.microsoft.com/office/drawing/2014/main" id="{CAFF0568-EA51-3773-2F30-400EE8BED3AE}"/>
              </a:ext>
            </a:extLst>
          </p:cNvPr>
          <p:cNvSpPr/>
          <p:nvPr/>
        </p:nvSpPr>
        <p:spPr>
          <a:xfrm>
            <a:off x="6667983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1" name="object 63">
            <a:extLst>
              <a:ext uri="{FF2B5EF4-FFF2-40B4-BE49-F238E27FC236}">
                <a16:creationId xmlns:a16="http://schemas.microsoft.com/office/drawing/2014/main" id="{978A6F89-93CD-358D-5F16-61B119FBED4E}"/>
              </a:ext>
            </a:extLst>
          </p:cNvPr>
          <p:cNvSpPr/>
          <p:nvPr/>
        </p:nvSpPr>
        <p:spPr>
          <a:xfrm>
            <a:off x="7095706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2" name="object 64">
            <a:extLst>
              <a:ext uri="{FF2B5EF4-FFF2-40B4-BE49-F238E27FC236}">
                <a16:creationId xmlns:a16="http://schemas.microsoft.com/office/drawing/2014/main" id="{04BBAA08-1BED-C1AB-1866-BA0AC2D4D52F}"/>
              </a:ext>
            </a:extLst>
          </p:cNvPr>
          <p:cNvSpPr/>
          <p:nvPr/>
        </p:nvSpPr>
        <p:spPr>
          <a:xfrm>
            <a:off x="7523430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3" name="object 65">
            <a:extLst>
              <a:ext uri="{FF2B5EF4-FFF2-40B4-BE49-F238E27FC236}">
                <a16:creationId xmlns:a16="http://schemas.microsoft.com/office/drawing/2014/main" id="{17BC7E00-24D6-23D0-C69E-27372941E963}"/>
              </a:ext>
            </a:extLst>
          </p:cNvPr>
          <p:cNvSpPr/>
          <p:nvPr/>
        </p:nvSpPr>
        <p:spPr>
          <a:xfrm>
            <a:off x="3238769" y="2603799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1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4" name="object 66">
            <a:extLst>
              <a:ext uri="{FF2B5EF4-FFF2-40B4-BE49-F238E27FC236}">
                <a16:creationId xmlns:a16="http://schemas.microsoft.com/office/drawing/2014/main" id="{29FAAF44-BE0E-3D59-F2AC-1E2AA13F11E7}"/>
              </a:ext>
            </a:extLst>
          </p:cNvPr>
          <p:cNvSpPr/>
          <p:nvPr/>
        </p:nvSpPr>
        <p:spPr>
          <a:xfrm>
            <a:off x="3238769" y="2863999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1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5" name="object 67">
            <a:extLst>
              <a:ext uri="{FF2B5EF4-FFF2-40B4-BE49-F238E27FC236}">
                <a16:creationId xmlns:a16="http://schemas.microsoft.com/office/drawing/2014/main" id="{749317C2-5952-2858-E786-CCF71B14C29A}"/>
              </a:ext>
            </a:extLst>
          </p:cNvPr>
          <p:cNvSpPr/>
          <p:nvPr/>
        </p:nvSpPr>
        <p:spPr>
          <a:xfrm>
            <a:off x="3238769" y="3124201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1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6" name="object 68">
            <a:extLst>
              <a:ext uri="{FF2B5EF4-FFF2-40B4-BE49-F238E27FC236}">
                <a16:creationId xmlns:a16="http://schemas.microsoft.com/office/drawing/2014/main" id="{537F52DD-7200-EC80-C42C-FBCA68467274}"/>
              </a:ext>
            </a:extLst>
          </p:cNvPr>
          <p:cNvSpPr/>
          <p:nvPr/>
        </p:nvSpPr>
        <p:spPr>
          <a:xfrm>
            <a:off x="3238769" y="3384402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1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7" name="object 69">
            <a:extLst>
              <a:ext uri="{FF2B5EF4-FFF2-40B4-BE49-F238E27FC236}">
                <a16:creationId xmlns:a16="http://schemas.microsoft.com/office/drawing/2014/main" id="{5B53C8E5-A064-EC98-725C-13CC30E34926}"/>
              </a:ext>
            </a:extLst>
          </p:cNvPr>
          <p:cNvSpPr/>
          <p:nvPr/>
        </p:nvSpPr>
        <p:spPr>
          <a:xfrm>
            <a:off x="3238769" y="3644602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1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8" name="object 70">
            <a:extLst>
              <a:ext uri="{FF2B5EF4-FFF2-40B4-BE49-F238E27FC236}">
                <a16:creationId xmlns:a16="http://schemas.microsoft.com/office/drawing/2014/main" id="{64D7A491-70C7-905A-E0F4-D623831098B3}"/>
              </a:ext>
            </a:extLst>
          </p:cNvPr>
          <p:cNvSpPr/>
          <p:nvPr/>
        </p:nvSpPr>
        <p:spPr>
          <a:xfrm>
            <a:off x="3238769" y="3904806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1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9" name="object 71">
            <a:extLst>
              <a:ext uri="{FF2B5EF4-FFF2-40B4-BE49-F238E27FC236}">
                <a16:creationId xmlns:a16="http://schemas.microsoft.com/office/drawing/2014/main" id="{0C3DB4D9-E9AC-D19A-0500-381DBC7444CF}"/>
              </a:ext>
            </a:extLst>
          </p:cNvPr>
          <p:cNvSpPr/>
          <p:nvPr/>
        </p:nvSpPr>
        <p:spPr>
          <a:xfrm>
            <a:off x="3238769" y="4165007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1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0" name="object 72">
            <a:extLst>
              <a:ext uri="{FF2B5EF4-FFF2-40B4-BE49-F238E27FC236}">
                <a16:creationId xmlns:a16="http://schemas.microsoft.com/office/drawing/2014/main" id="{75772B15-54C5-B49A-F7CD-4FC0FCD97E3F}"/>
              </a:ext>
            </a:extLst>
          </p:cNvPr>
          <p:cNvSpPr txBox="1"/>
          <p:nvPr/>
        </p:nvSpPr>
        <p:spPr>
          <a:xfrm>
            <a:off x="3673918" y="2603800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2177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A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1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151" name="object 73">
            <a:extLst>
              <a:ext uri="{FF2B5EF4-FFF2-40B4-BE49-F238E27FC236}">
                <a16:creationId xmlns:a16="http://schemas.microsoft.com/office/drawing/2014/main" id="{2E78F8CB-801A-1C5F-9A56-680171AA879E}"/>
              </a:ext>
            </a:extLst>
          </p:cNvPr>
          <p:cNvSpPr txBox="1"/>
          <p:nvPr/>
        </p:nvSpPr>
        <p:spPr>
          <a:xfrm>
            <a:off x="4101642" y="2603800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9603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…</a:t>
            </a:r>
            <a:endParaRPr sz="1169">
              <a:latin typeface="Arial"/>
              <a:cs typeface="Arial"/>
            </a:endParaRPr>
          </a:p>
        </p:txBody>
      </p:sp>
      <p:sp>
        <p:nvSpPr>
          <p:cNvPr id="152" name="object 74">
            <a:extLst>
              <a:ext uri="{FF2B5EF4-FFF2-40B4-BE49-F238E27FC236}">
                <a16:creationId xmlns:a16="http://schemas.microsoft.com/office/drawing/2014/main" id="{89B45B2B-687B-C8BB-D2C2-E033EC493395}"/>
              </a:ext>
            </a:extLst>
          </p:cNvPr>
          <p:cNvSpPr txBox="1"/>
          <p:nvPr/>
        </p:nvSpPr>
        <p:spPr>
          <a:xfrm>
            <a:off x="4529366" y="2603800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15841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A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m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153" name="object 75">
            <a:extLst>
              <a:ext uri="{FF2B5EF4-FFF2-40B4-BE49-F238E27FC236}">
                <a16:creationId xmlns:a16="http://schemas.microsoft.com/office/drawing/2014/main" id="{A4023DE0-B89A-4399-16BC-AF8A96A902B6}"/>
              </a:ext>
            </a:extLst>
          </p:cNvPr>
          <p:cNvSpPr txBox="1"/>
          <p:nvPr/>
        </p:nvSpPr>
        <p:spPr>
          <a:xfrm>
            <a:off x="5384812" y="2603800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2177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B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1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154" name="object 76">
            <a:extLst>
              <a:ext uri="{FF2B5EF4-FFF2-40B4-BE49-F238E27FC236}">
                <a16:creationId xmlns:a16="http://schemas.microsoft.com/office/drawing/2014/main" id="{94875B16-AEF3-B035-E468-8B112DE7FABC}"/>
              </a:ext>
            </a:extLst>
          </p:cNvPr>
          <p:cNvSpPr txBox="1"/>
          <p:nvPr/>
        </p:nvSpPr>
        <p:spPr>
          <a:xfrm>
            <a:off x="5812537" y="2603800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9603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…</a:t>
            </a:r>
            <a:endParaRPr sz="1169">
              <a:latin typeface="Arial"/>
              <a:cs typeface="Arial"/>
            </a:endParaRPr>
          </a:p>
        </p:txBody>
      </p:sp>
      <p:sp>
        <p:nvSpPr>
          <p:cNvPr id="155" name="object 77">
            <a:extLst>
              <a:ext uri="{FF2B5EF4-FFF2-40B4-BE49-F238E27FC236}">
                <a16:creationId xmlns:a16="http://schemas.microsoft.com/office/drawing/2014/main" id="{5DC54054-9300-1115-76B6-90EEB8A2ABB2}"/>
              </a:ext>
            </a:extLst>
          </p:cNvPr>
          <p:cNvSpPr txBox="1"/>
          <p:nvPr/>
        </p:nvSpPr>
        <p:spPr>
          <a:xfrm>
            <a:off x="6240260" y="2603800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29950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B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n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156" name="object 78">
            <a:extLst>
              <a:ext uri="{FF2B5EF4-FFF2-40B4-BE49-F238E27FC236}">
                <a16:creationId xmlns:a16="http://schemas.microsoft.com/office/drawing/2014/main" id="{AA96F482-5B1A-1C5F-F514-BA1295D3AC18}"/>
              </a:ext>
            </a:extLst>
          </p:cNvPr>
          <p:cNvSpPr txBox="1"/>
          <p:nvPr/>
        </p:nvSpPr>
        <p:spPr>
          <a:xfrm>
            <a:off x="3232433" y="4413089"/>
            <a:ext cx="4705067" cy="1386591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763361">
              <a:spcBef>
                <a:spcPts val="117"/>
              </a:spcBef>
            </a:pPr>
            <a:r>
              <a:rPr sz="1871" spc="-6" dirty="0">
                <a:latin typeface="Arial"/>
                <a:cs typeface="Arial"/>
              </a:rPr>
              <a:t>A</a:t>
            </a:r>
            <a:r>
              <a:rPr sz="1842" spc="-8" baseline="-31746" dirty="0">
                <a:latin typeface="Arial"/>
                <a:cs typeface="Arial"/>
              </a:rPr>
              <a:t>1</a:t>
            </a:r>
            <a:r>
              <a:rPr sz="1871" spc="-6" dirty="0">
                <a:latin typeface="Arial"/>
                <a:cs typeface="Arial"/>
              </a:rPr>
              <a:t>, </a:t>
            </a:r>
            <a:r>
              <a:rPr sz="1871" dirty="0">
                <a:latin typeface="Arial"/>
                <a:cs typeface="Arial"/>
              </a:rPr>
              <a:t>…, </a:t>
            </a:r>
            <a:r>
              <a:rPr sz="1871" spc="6" dirty="0">
                <a:latin typeface="Arial"/>
                <a:cs typeface="Arial"/>
              </a:rPr>
              <a:t>A</a:t>
            </a:r>
            <a:r>
              <a:rPr sz="1842" spc="8" baseline="-31746" dirty="0">
                <a:latin typeface="Arial"/>
                <a:cs typeface="Arial"/>
              </a:rPr>
              <a:t>m </a:t>
            </a:r>
            <a:r>
              <a:rPr sz="1871" dirty="0">
                <a:latin typeface="Arial"/>
                <a:cs typeface="Arial"/>
              </a:rPr>
              <a:t>→</a:t>
            </a:r>
            <a:r>
              <a:rPr sz="1871" spc="-29" dirty="0">
                <a:latin typeface="Arial"/>
                <a:cs typeface="Arial"/>
              </a:rPr>
              <a:t> </a:t>
            </a:r>
            <a:r>
              <a:rPr sz="1871" spc="-6" dirty="0">
                <a:latin typeface="Arial"/>
                <a:cs typeface="Arial"/>
              </a:rPr>
              <a:t>B</a:t>
            </a:r>
            <a:r>
              <a:rPr sz="1842" spc="-8" baseline="-31746" dirty="0">
                <a:latin typeface="Arial"/>
                <a:cs typeface="Arial"/>
              </a:rPr>
              <a:t>1</a:t>
            </a:r>
            <a:r>
              <a:rPr sz="1871" spc="-6" dirty="0">
                <a:latin typeface="Arial"/>
                <a:cs typeface="Arial"/>
              </a:rPr>
              <a:t>,…,B</a:t>
            </a:r>
            <a:r>
              <a:rPr sz="1842" spc="-8" baseline="-31746" dirty="0">
                <a:latin typeface="Arial"/>
                <a:cs typeface="Arial"/>
              </a:rPr>
              <a:t>n</a:t>
            </a:r>
            <a:endParaRPr sz="1842" baseline="-31746" dirty="0">
              <a:latin typeface="Arial"/>
              <a:cs typeface="Arial"/>
            </a:endParaRPr>
          </a:p>
          <a:p>
            <a:pPr marL="713609" marR="5941" indent="-699500">
              <a:lnSpc>
                <a:spcPts val="4327"/>
              </a:lnSpc>
              <a:spcBef>
                <a:spcPts val="456"/>
              </a:spcBef>
            </a:pPr>
            <a:r>
              <a:rPr sz="1871" dirty="0">
                <a:latin typeface="Arial"/>
                <a:cs typeface="Arial"/>
              </a:rPr>
              <a:t>… </a:t>
            </a:r>
            <a:r>
              <a:rPr sz="1871" spc="-6" dirty="0">
                <a:latin typeface="Arial"/>
                <a:cs typeface="Arial"/>
              </a:rPr>
              <a:t>is</a:t>
            </a:r>
            <a:r>
              <a:rPr lang="de-DE" sz="1871" spc="-6" dirty="0">
                <a:latin typeface="Arial"/>
                <a:cs typeface="Arial"/>
              </a:rPr>
              <a:t>t</a:t>
            </a:r>
            <a:r>
              <a:rPr sz="1871" spc="-6" dirty="0">
                <a:latin typeface="Arial"/>
                <a:cs typeface="Arial"/>
              </a:rPr>
              <a:t> </a:t>
            </a:r>
            <a:r>
              <a:rPr lang="de-DE" sz="1871" spc="-6" dirty="0">
                <a:latin typeface="Arial"/>
                <a:cs typeface="Arial"/>
              </a:rPr>
              <a:t>ä</a:t>
            </a:r>
            <a:r>
              <a:rPr sz="1871" spc="-6" dirty="0" err="1">
                <a:latin typeface="Arial"/>
                <a:cs typeface="Arial"/>
              </a:rPr>
              <a:t>quivalent</a:t>
            </a:r>
            <a:r>
              <a:rPr sz="1871" spc="-6" dirty="0">
                <a:latin typeface="Arial"/>
                <a:cs typeface="Arial"/>
              </a:rPr>
              <a:t> </a:t>
            </a:r>
            <a:r>
              <a:rPr lang="de-DE" sz="1871" spc="-6" dirty="0">
                <a:latin typeface="Arial"/>
                <a:cs typeface="Arial"/>
              </a:rPr>
              <a:t>zu den folgenden</a:t>
            </a:r>
            <a:r>
              <a:rPr sz="1871" spc="-6" dirty="0">
                <a:latin typeface="Arial"/>
                <a:cs typeface="Arial"/>
              </a:rPr>
              <a:t> </a:t>
            </a:r>
            <a:r>
              <a:rPr sz="1871" i="1" dirty="0">
                <a:latin typeface="Arial"/>
                <a:cs typeface="Arial"/>
              </a:rPr>
              <a:t>n </a:t>
            </a:r>
            <a:r>
              <a:rPr sz="1871" spc="-6" dirty="0">
                <a:latin typeface="Arial"/>
                <a:cs typeface="Arial"/>
              </a:rPr>
              <a:t>FDs…  A</a:t>
            </a:r>
            <a:r>
              <a:rPr sz="1842" spc="-8" baseline="-31746" dirty="0">
                <a:latin typeface="Arial"/>
                <a:cs typeface="Arial"/>
              </a:rPr>
              <a:t>1</a:t>
            </a:r>
            <a:r>
              <a:rPr sz="1871" spc="-6" dirty="0">
                <a:latin typeface="Arial"/>
                <a:cs typeface="Arial"/>
              </a:rPr>
              <a:t>,…,A</a:t>
            </a:r>
            <a:r>
              <a:rPr sz="1842" spc="-8" baseline="-31746" dirty="0">
                <a:latin typeface="Arial"/>
                <a:cs typeface="Arial"/>
              </a:rPr>
              <a:t>m </a:t>
            </a:r>
            <a:r>
              <a:rPr sz="1871" dirty="0">
                <a:latin typeface="Arial"/>
                <a:cs typeface="Arial"/>
              </a:rPr>
              <a:t>→ B</a:t>
            </a:r>
            <a:r>
              <a:rPr sz="1842" baseline="-31746" dirty="0">
                <a:latin typeface="Arial"/>
                <a:cs typeface="Arial"/>
              </a:rPr>
              <a:t>i </a:t>
            </a:r>
            <a:r>
              <a:rPr sz="1871" spc="-6" dirty="0">
                <a:latin typeface="Arial"/>
                <a:cs typeface="Arial"/>
              </a:rPr>
              <a:t>f</a:t>
            </a:r>
            <a:r>
              <a:rPr lang="de-DE" sz="1871" spc="-6" dirty="0" err="1">
                <a:latin typeface="Arial"/>
                <a:cs typeface="Arial"/>
              </a:rPr>
              <a:t>ü</a:t>
            </a:r>
            <a:r>
              <a:rPr sz="1871" spc="-6" dirty="0">
                <a:latin typeface="Arial"/>
                <a:cs typeface="Arial"/>
              </a:rPr>
              <a:t>r</a:t>
            </a:r>
            <a:r>
              <a:rPr sz="1871" spc="-23" dirty="0">
                <a:latin typeface="Arial"/>
                <a:cs typeface="Arial"/>
              </a:rPr>
              <a:t> </a:t>
            </a:r>
            <a:r>
              <a:rPr sz="1871" spc="-6" dirty="0">
                <a:latin typeface="Arial"/>
                <a:cs typeface="Arial"/>
              </a:rPr>
              <a:t>i=1,…,n</a:t>
            </a:r>
            <a:endParaRPr sz="1871" dirty="0">
              <a:latin typeface="Arial"/>
              <a:cs typeface="Arial"/>
            </a:endParaRPr>
          </a:p>
        </p:txBody>
      </p:sp>
      <p:sp>
        <p:nvSpPr>
          <p:cNvPr id="157" name="object 79">
            <a:extLst>
              <a:ext uri="{FF2B5EF4-FFF2-40B4-BE49-F238E27FC236}">
                <a16:creationId xmlns:a16="http://schemas.microsoft.com/office/drawing/2014/main" id="{B3B8E034-DBB0-8B2C-93DD-02A8E6B57336}"/>
              </a:ext>
            </a:extLst>
          </p:cNvPr>
          <p:cNvSpPr/>
          <p:nvPr/>
        </p:nvSpPr>
        <p:spPr>
          <a:xfrm>
            <a:off x="3558699" y="3016036"/>
            <a:ext cx="1486027" cy="10029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8" name="object 80">
            <a:extLst>
              <a:ext uri="{FF2B5EF4-FFF2-40B4-BE49-F238E27FC236}">
                <a16:creationId xmlns:a16="http://schemas.microsoft.com/office/drawing/2014/main" id="{FB4C1FC6-C396-752F-1AB1-B28C930A887F}"/>
              </a:ext>
            </a:extLst>
          </p:cNvPr>
          <p:cNvSpPr/>
          <p:nvPr/>
        </p:nvSpPr>
        <p:spPr>
          <a:xfrm>
            <a:off x="3611032" y="3044994"/>
            <a:ext cx="1381973" cy="898543"/>
          </a:xfrm>
          <a:custGeom>
            <a:avLst/>
            <a:gdLst/>
            <a:ahLst/>
            <a:cxnLst/>
            <a:rect l="l" t="t" r="r" b="b"/>
            <a:pathLst>
              <a:path w="1181735" h="768350">
                <a:moveTo>
                  <a:pt x="0" y="128017"/>
                </a:moveTo>
                <a:lnTo>
                  <a:pt x="10061" y="78186"/>
                </a:lnTo>
                <a:lnTo>
                  <a:pt x="37499" y="37495"/>
                </a:lnTo>
                <a:lnTo>
                  <a:pt x="78194" y="10060"/>
                </a:lnTo>
                <a:lnTo>
                  <a:pt x="128024" y="0"/>
                </a:lnTo>
                <a:lnTo>
                  <a:pt x="1053172" y="0"/>
                </a:lnTo>
                <a:lnTo>
                  <a:pt x="1102166" y="9744"/>
                </a:lnTo>
                <a:lnTo>
                  <a:pt x="1143697" y="37494"/>
                </a:lnTo>
                <a:lnTo>
                  <a:pt x="1171447" y="79026"/>
                </a:lnTo>
                <a:lnTo>
                  <a:pt x="1181197" y="128017"/>
                </a:lnTo>
                <a:lnTo>
                  <a:pt x="1181197" y="640081"/>
                </a:lnTo>
                <a:lnTo>
                  <a:pt x="1171135" y="689911"/>
                </a:lnTo>
                <a:lnTo>
                  <a:pt x="1143697" y="730606"/>
                </a:lnTo>
                <a:lnTo>
                  <a:pt x="1103003" y="758044"/>
                </a:lnTo>
                <a:lnTo>
                  <a:pt x="1053172" y="768105"/>
                </a:lnTo>
                <a:lnTo>
                  <a:pt x="128024" y="768105"/>
                </a:lnTo>
                <a:lnTo>
                  <a:pt x="78194" y="758044"/>
                </a:lnTo>
                <a:lnTo>
                  <a:pt x="37499" y="730606"/>
                </a:lnTo>
                <a:lnTo>
                  <a:pt x="10061" y="689911"/>
                </a:lnTo>
                <a:lnTo>
                  <a:pt x="0" y="640081"/>
                </a:lnTo>
                <a:lnTo>
                  <a:pt x="0" y="128017"/>
                </a:lnTo>
                <a:close/>
              </a:path>
            </a:pathLst>
          </a:custGeom>
          <a:ln w="9524">
            <a:solidFill>
              <a:srgbClr val="EB792A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9" name="object 81">
            <a:extLst>
              <a:ext uri="{FF2B5EF4-FFF2-40B4-BE49-F238E27FC236}">
                <a16:creationId xmlns:a16="http://schemas.microsoft.com/office/drawing/2014/main" id="{01A70D34-38CD-98E9-8DCC-32FD0166EE16}"/>
              </a:ext>
            </a:extLst>
          </p:cNvPr>
          <p:cNvSpPr/>
          <p:nvPr/>
        </p:nvSpPr>
        <p:spPr>
          <a:xfrm>
            <a:off x="5732605" y="3016036"/>
            <a:ext cx="610428" cy="10029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0" name="object 82">
            <a:extLst>
              <a:ext uri="{FF2B5EF4-FFF2-40B4-BE49-F238E27FC236}">
                <a16:creationId xmlns:a16="http://schemas.microsoft.com/office/drawing/2014/main" id="{308DB161-CEB8-4EF4-3423-6F03C1919F30}"/>
              </a:ext>
            </a:extLst>
          </p:cNvPr>
          <p:cNvSpPr/>
          <p:nvPr/>
        </p:nvSpPr>
        <p:spPr>
          <a:xfrm>
            <a:off x="5784937" y="3044994"/>
            <a:ext cx="506451" cy="898543"/>
          </a:xfrm>
          <a:custGeom>
            <a:avLst/>
            <a:gdLst/>
            <a:ahLst/>
            <a:cxnLst/>
            <a:rect l="l" t="t" r="r" b="b"/>
            <a:pathLst>
              <a:path w="433070" h="768350">
                <a:moveTo>
                  <a:pt x="0" y="72077"/>
                </a:moveTo>
                <a:lnTo>
                  <a:pt x="5664" y="44021"/>
                </a:lnTo>
                <a:lnTo>
                  <a:pt x="21112" y="21110"/>
                </a:lnTo>
                <a:lnTo>
                  <a:pt x="44022" y="5664"/>
                </a:lnTo>
                <a:lnTo>
                  <a:pt x="72074" y="0"/>
                </a:lnTo>
                <a:lnTo>
                  <a:pt x="360374" y="0"/>
                </a:lnTo>
                <a:lnTo>
                  <a:pt x="400367" y="12108"/>
                </a:lnTo>
                <a:lnTo>
                  <a:pt x="426971" y="44493"/>
                </a:lnTo>
                <a:lnTo>
                  <a:pt x="432449" y="72077"/>
                </a:lnTo>
                <a:lnTo>
                  <a:pt x="432449" y="696006"/>
                </a:lnTo>
                <a:lnTo>
                  <a:pt x="426787" y="724072"/>
                </a:lnTo>
                <a:lnTo>
                  <a:pt x="411346" y="746990"/>
                </a:lnTo>
                <a:lnTo>
                  <a:pt x="388437" y="762440"/>
                </a:lnTo>
                <a:lnTo>
                  <a:pt x="360374" y="768105"/>
                </a:lnTo>
                <a:lnTo>
                  <a:pt x="72074" y="768105"/>
                </a:lnTo>
                <a:lnTo>
                  <a:pt x="44022" y="762440"/>
                </a:lnTo>
                <a:lnTo>
                  <a:pt x="21112" y="746990"/>
                </a:lnTo>
                <a:lnTo>
                  <a:pt x="5664" y="724072"/>
                </a:lnTo>
                <a:lnTo>
                  <a:pt x="0" y="696006"/>
                </a:lnTo>
                <a:lnTo>
                  <a:pt x="0" y="72077"/>
                </a:lnTo>
                <a:close/>
              </a:path>
            </a:pathLst>
          </a:custGeom>
          <a:ln w="9524">
            <a:solidFill>
              <a:srgbClr val="EB792A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1" name="object 83">
            <a:extLst>
              <a:ext uri="{FF2B5EF4-FFF2-40B4-BE49-F238E27FC236}">
                <a16:creationId xmlns:a16="http://schemas.microsoft.com/office/drawing/2014/main" id="{D5592C89-FAD2-5251-5B7C-E8B01F80C4E3}"/>
              </a:ext>
            </a:extLst>
          </p:cNvPr>
          <p:cNvSpPr/>
          <p:nvPr/>
        </p:nvSpPr>
        <p:spPr>
          <a:xfrm>
            <a:off x="4708349" y="3232772"/>
            <a:ext cx="1257255" cy="5764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2" name="object 84">
            <a:extLst>
              <a:ext uri="{FF2B5EF4-FFF2-40B4-BE49-F238E27FC236}">
                <a16:creationId xmlns:a16="http://schemas.microsoft.com/office/drawing/2014/main" id="{582D57AD-36F4-924D-B412-F4C80B723B23}"/>
              </a:ext>
            </a:extLst>
          </p:cNvPr>
          <p:cNvSpPr/>
          <p:nvPr/>
        </p:nvSpPr>
        <p:spPr>
          <a:xfrm>
            <a:off x="4760711" y="3258233"/>
            <a:ext cx="1153253" cy="472292"/>
          </a:xfrm>
          <a:custGeom>
            <a:avLst/>
            <a:gdLst/>
            <a:ahLst/>
            <a:cxnLst/>
            <a:rect l="l" t="t" r="r" b="b"/>
            <a:pathLst>
              <a:path w="986154" h="403860">
                <a:moveTo>
                  <a:pt x="0" y="100852"/>
                </a:moveTo>
                <a:lnTo>
                  <a:pt x="783848" y="100852"/>
                </a:lnTo>
                <a:lnTo>
                  <a:pt x="783848" y="0"/>
                </a:lnTo>
                <a:lnTo>
                  <a:pt x="985548" y="201704"/>
                </a:lnTo>
                <a:lnTo>
                  <a:pt x="783848" y="403414"/>
                </a:lnTo>
                <a:lnTo>
                  <a:pt x="783848" y="302556"/>
                </a:lnTo>
                <a:lnTo>
                  <a:pt x="0" y="302556"/>
                </a:lnTo>
                <a:lnTo>
                  <a:pt x="0" y="100852"/>
                </a:lnTo>
                <a:close/>
              </a:path>
            </a:pathLst>
          </a:custGeom>
          <a:ln w="9524">
            <a:solidFill>
              <a:srgbClr val="EB792A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</p:spTree>
    <p:extLst>
      <p:ext uri="{BB962C8B-B14F-4D97-AF65-F5344CB8AC3E}">
        <p14:creationId xmlns:p14="http://schemas.microsoft.com/office/powerpoint/2010/main" val="6203974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CC4812BA-BB40-D7D8-112A-D507B6104E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4374" y="764931"/>
            <a:ext cx="6279679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/>
              <a:t>1. Split / Combine</a:t>
            </a:r>
            <a:endParaRPr lang="en-GB" spc="-88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CC1D7D80-C329-697B-95DF-1DB4B03D9226}"/>
              </a:ext>
            </a:extLst>
          </p:cNvPr>
          <p:cNvSpPr/>
          <p:nvPr/>
        </p:nvSpPr>
        <p:spPr>
          <a:xfrm>
            <a:off x="3246195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7609870D-5DB2-2FFA-3C3B-59BA54D2D55C}"/>
              </a:ext>
            </a:extLst>
          </p:cNvPr>
          <p:cNvSpPr/>
          <p:nvPr/>
        </p:nvSpPr>
        <p:spPr>
          <a:xfrm>
            <a:off x="3673918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967EFF95-04D7-7F8B-7706-C43BA2086C7A}"/>
              </a:ext>
            </a:extLst>
          </p:cNvPr>
          <p:cNvSpPr/>
          <p:nvPr/>
        </p:nvSpPr>
        <p:spPr>
          <a:xfrm>
            <a:off x="4101642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47955087-382C-44CB-65A9-0F34256A6879}"/>
              </a:ext>
            </a:extLst>
          </p:cNvPr>
          <p:cNvSpPr/>
          <p:nvPr/>
        </p:nvSpPr>
        <p:spPr>
          <a:xfrm>
            <a:off x="4529366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1088EB41-1505-0A7A-5C2E-261C59539309}"/>
              </a:ext>
            </a:extLst>
          </p:cNvPr>
          <p:cNvSpPr/>
          <p:nvPr/>
        </p:nvSpPr>
        <p:spPr>
          <a:xfrm>
            <a:off x="4957089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B4C970E4-6B8E-79F7-3DD8-EB0DE58988D0}"/>
              </a:ext>
            </a:extLst>
          </p:cNvPr>
          <p:cNvSpPr/>
          <p:nvPr/>
        </p:nvSpPr>
        <p:spPr>
          <a:xfrm>
            <a:off x="5384813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B362D2DA-F429-76FE-87D8-5F8E26B98575}"/>
              </a:ext>
            </a:extLst>
          </p:cNvPr>
          <p:cNvSpPr/>
          <p:nvPr/>
        </p:nvSpPr>
        <p:spPr>
          <a:xfrm>
            <a:off x="5812537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7ADB967E-04CC-8929-9424-4A753A4D003C}"/>
              </a:ext>
            </a:extLst>
          </p:cNvPr>
          <p:cNvSpPr/>
          <p:nvPr/>
        </p:nvSpPr>
        <p:spPr>
          <a:xfrm>
            <a:off x="6240260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54186BFB-A7FD-80AA-A25B-68614C5747FA}"/>
              </a:ext>
            </a:extLst>
          </p:cNvPr>
          <p:cNvSpPr/>
          <p:nvPr/>
        </p:nvSpPr>
        <p:spPr>
          <a:xfrm>
            <a:off x="6667983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B813D6D2-EFE0-E451-3FAA-0CFB3FED87FF}"/>
              </a:ext>
            </a:extLst>
          </p:cNvPr>
          <p:cNvSpPr/>
          <p:nvPr/>
        </p:nvSpPr>
        <p:spPr>
          <a:xfrm>
            <a:off x="7095706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E270F7FA-5912-C86A-9E0F-D9F9470843FB}"/>
              </a:ext>
            </a:extLst>
          </p:cNvPr>
          <p:cNvSpPr/>
          <p:nvPr/>
        </p:nvSpPr>
        <p:spPr>
          <a:xfrm>
            <a:off x="3246195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415F8BD4-F33F-5892-0EF9-7BEA0F7F6840}"/>
              </a:ext>
            </a:extLst>
          </p:cNvPr>
          <p:cNvSpPr/>
          <p:nvPr/>
        </p:nvSpPr>
        <p:spPr>
          <a:xfrm>
            <a:off x="3673918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C0D6AD2E-E12E-3D61-B505-F9173DC9CD81}"/>
              </a:ext>
            </a:extLst>
          </p:cNvPr>
          <p:cNvSpPr/>
          <p:nvPr/>
        </p:nvSpPr>
        <p:spPr>
          <a:xfrm>
            <a:off x="4101642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49FDBB4A-2E70-F394-E70A-74AEEF21C56E}"/>
              </a:ext>
            </a:extLst>
          </p:cNvPr>
          <p:cNvSpPr/>
          <p:nvPr/>
        </p:nvSpPr>
        <p:spPr>
          <a:xfrm>
            <a:off x="4529366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B20E438F-60C4-9B10-2EFB-0B6476D4FE68}"/>
              </a:ext>
            </a:extLst>
          </p:cNvPr>
          <p:cNvSpPr/>
          <p:nvPr/>
        </p:nvSpPr>
        <p:spPr>
          <a:xfrm>
            <a:off x="4957089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8EEAFEAA-A798-D402-1884-66EC4413604B}"/>
              </a:ext>
            </a:extLst>
          </p:cNvPr>
          <p:cNvSpPr/>
          <p:nvPr/>
        </p:nvSpPr>
        <p:spPr>
          <a:xfrm>
            <a:off x="5384813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1C63DA66-711F-B698-F033-D57EF602BD23}"/>
              </a:ext>
            </a:extLst>
          </p:cNvPr>
          <p:cNvSpPr/>
          <p:nvPr/>
        </p:nvSpPr>
        <p:spPr>
          <a:xfrm>
            <a:off x="5812537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B44EEDAB-1590-D674-3893-ECEB1676ABE6}"/>
              </a:ext>
            </a:extLst>
          </p:cNvPr>
          <p:cNvSpPr/>
          <p:nvPr/>
        </p:nvSpPr>
        <p:spPr>
          <a:xfrm>
            <a:off x="6240260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EE848A6E-14F7-FB59-05C9-48369B3AE319}"/>
              </a:ext>
            </a:extLst>
          </p:cNvPr>
          <p:cNvSpPr/>
          <p:nvPr/>
        </p:nvSpPr>
        <p:spPr>
          <a:xfrm>
            <a:off x="6667983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6063A842-CFBF-2D8E-6586-65BC859D637F}"/>
              </a:ext>
            </a:extLst>
          </p:cNvPr>
          <p:cNvSpPr/>
          <p:nvPr/>
        </p:nvSpPr>
        <p:spPr>
          <a:xfrm>
            <a:off x="7095706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5" name="object 24">
            <a:extLst>
              <a:ext uri="{FF2B5EF4-FFF2-40B4-BE49-F238E27FC236}">
                <a16:creationId xmlns:a16="http://schemas.microsoft.com/office/drawing/2014/main" id="{F3E3280E-5814-FD8F-68C4-D3F18191E978}"/>
              </a:ext>
            </a:extLst>
          </p:cNvPr>
          <p:cNvSpPr/>
          <p:nvPr/>
        </p:nvSpPr>
        <p:spPr>
          <a:xfrm>
            <a:off x="3246195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94DC3725-0DD5-2D21-29B2-19BE1DF790FC}"/>
              </a:ext>
            </a:extLst>
          </p:cNvPr>
          <p:cNvSpPr/>
          <p:nvPr/>
        </p:nvSpPr>
        <p:spPr>
          <a:xfrm>
            <a:off x="3673918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37009A8C-7AFC-D19D-FF8F-303DE7CE452D}"/>
              </a:ext>
            </a:extLst>
          </p:cNvPr>
          <p:cNvSpPr/>
          <p:nvPr/>
        </p:nvSpPr>
        <p:spPr>
          <a:xfrm>
            <a:off x="4101642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670679D1-D393-F95E-B3B4-BE4867A30D58}"/>
              </a:ext>
            </a:extLst>
          </p:cNvPr>
          <p:cNvSpPr/>
          <p:nvPr/>
        </p:nvSpPr>
        <p:spPr>
          <a:xfrm>
            <a:off x="4529366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9" name="object 28">
            <a:extLst>
              <a:ext uri="{FF2B5EF4-FFF2-40B4-BE49-F238E27FC236}">
                <a16:creationId xmlns:a16="http://schemas.microsoft.com/office/drawing/2014/main" id="{FE2E9E90-2ED4-B804-CFA0-23D61F470D49}"/>
              </a:ext>
            </a:extLst>
          </p:cNvPr>
          <p:cNvSpPr/>
          <p:nvPr/>
        </p:nvSpPr>
        <p:spPr>
          <a:xfrm>
            <a:off x="4957089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0" name="object 29">
            <a:extLst>
              <a:ext uri="{FF2B5EF4-FFF2-40B4-BE49-F238E27FC236}">
                <a16:creationId xmlns:a16="http://schemas.microsoft.com/office/drawing/2014/main" id="{BF0A9E64-1635-B347-B6A5-8F41FACA230C}"/>
              </a:ext>
            </a:extLst>
          </p:cNvPr>
          <p:cNvSpPr/>
          <p:nvPr/>
        </p:nvSpPr>
        <p:spPr>
          <a:xfrm>
            <a:off x="5384813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1" name="object 30">
            <a:extLst>
              <a:ext uri="{FF2B5EF4-FFF2-40B4-BE49-F238E27FC236}">
                <a16:creationId xmlns:a16="http://schemas.microsoft.com/office/drawing/2014/main" id="{3755E746-F635-EAF6-FB08-426AC51A1EE3}"/>
              </a:ext>
            </a:extLst>
          </p:cNvPr>
          <p:cNvSpPr/>
          <p:nvPr/>
        </p:nvSpPr>
        <p:spPr>
          <a:xfrm>
            <a:off x="5812537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2" name="object 31">
            <a:extLst>
              <a:ext uri="{FF2B5EF4-FFF2-40B4-BE49-F238E27FC236}">
                <a16:creationId xmlns:a16="http://schemas.microsoft.com/office/drawing/2014/main" id="{51327824-7346-298F-C5AB-C6D1507D1797}"/>
              </a:ext>
            </a:extLst>
          </p:cNvPr>
          <p:cNvSpPr/>
          <p:nvPr/>
        </p:nvSpPr>
        <p:spPr>
          <a:xfrm>
            <a:off x="6240260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3" name="object 32">
            <a:extLst>
              <a:ext uri="{FF2B5EF4-FFF2-40B4-BE49-F238E27FC236}">
                <a16:creationId xmlns:a16="http://schemas.microsoft.com/office/drawing/2014/main" id="{A31502E7-3570-EB53-7C10-B4E4A78C7D6B}"/>
              </a:ext>
            </a:extLst>
          </p:cNvPr>
          <p:cNvSpPr/>
          <p:nvPr/>
        </p:nvSpPr>
        <p:spPr>
          <a:xfrm>
            <a:off x="6667983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4" name="object 33">
            <a:extLst>
              <a:ext uri="{FF2B5EF4-FFF2-40B4-BE49-F238E27FC236}">
                <a16:creationId xmlns:a16="http://schemas.microsoft.com/office/drawing/2014/main" id="{EFE87752-3EA9-7752-D19B-107FE0DEBBA7}"/>
              </a:ext>
            </a:extLst>
          </p:cNvPr>
          <p:cNvSpPr/>
          <p:nvPr/>
        </p:nvSpPr>
        <p:spPr>
          <a:xfrm>
            <a:off x="7095706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5" name="object 34">
            <a:extLst>
              <a:ext uri="{FF2B5EF4-FFF2-40B4-BE49-F238E27FC236}">
                <a16:creationId xmlns:a16="http://schemas.microsoft.com/office/drawing/2014/main" id="{9F2FAA78-FF1E-C466-F944-A3244FD17F53}"/>
              </a:ext>
            </a:extLst>
          </p:cNvPr>
          <p:cNvSpPr/>
          <p:nvPr/>
        </p:nvSpPr>
        <p:spPr>
          <a:xfrm>
            <a:off x="3246195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6" name="object 35">
            <a:extLst>
              <a:ext uri="{FF2B5EF4-FFF2-40B4-BE49-F238E27FC236}">
                <a16:creationId xmlns:a16="http://schemas.microsoft.com/office/drawing/2014/main" id="{DD771E2F-DF2D-42DB-202C-C8CE3FFEDE34}"/>
              </a:ext>
            </a:extLst>
          </p:cNvPr>
          <p:cNvSpPr/>
          <p:nvPr/>
        </p:nvSpPr>
        <p:spPr>
          <a:xfrm>
            <a:off x="3673918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7" name="object 36">
            <a:extLst>
              <a:ext uri="{FF2B5EF4-FFF2-40B4-BE49-F238E27FC236}">
                <a16:creationId xmlns:a16="http://schemas.microsoft.com/office/drawing/2014/main" id="{2F6B90B2-6EB1-A20B-9AF2-AB7DB007B7D0}"/>
              </a:ext>
            </a:extLst>
          </p:cNvPr>
          <p:cNvSpPr/>
          <p:nvPr/>
        </p:nvSpPr>
        <p:spPr>
          <a:xfrm>
            <a:off x="4101642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8" name="object 37">
            <a:extLst>
              <a:ext uri="{FF2B5EF4-FFF2-40B4-BE49-F238E27FC236}">
                <a16:creationId xmlns:a16="http://schemas.microsoft.com/office/drawing/2014/main" id="{953A7B13-6841-70A2-A280-742DCDE745D1}"/>
              </a:ext>
            </a:extLst>
          </p:cNvPr>
          <p:cNvSpPr/>
          <p:nvPr/>
        </p:nvSpPr>
        <p:spPr>
          <a:xfrm>
            <a:off x="4529366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9" name="object 38">
            <a:extLst>
              <a:ext uri="{FF2B5EF4-FFF2-40B4-BE49-F238E27FC236}">
                <a16:creationId xmlns:a16="http://schemas.microsoft.com/office/drawing/2014/main" id="{8CC7ED0A-45B0-75EF-AEFC-1350EB5DA7BA}"/>
              </a:ext>
            </a:extLst>
          </p:cNvPr>
          <p:cNvSpPr/>
          <p:nvPr/>
        </p:nvSpPr>
        <p:spPr>
          <a:xfrm>
            <a:off x="4957089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0" name="object 39">
            <a:extLst>
              <a:ext uri="{FF2B5EF4-FFF2-40B4-BE49-F238E27FC236}">
                <a16:creationId xmlns:a16="http://schemas.microsoft.com/office/drawing/2014/main" id="{8ED754A7-4627-054E-6EA0-D4A06DC2D7F3}"/>
              </a:ext>
            </a:extLst>
          </p:cNvPr>
          <p:cNvSpPr/>
          <p:nvPr/>
        </p:nvSpPr>
        <p:spPr>
          <a:xfrm>
            <a:off x="5384813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1" name="object 40">
            <a:extLst>
              <a:ext uri="{FF2B5EF4-FFF2-40B4-BE49-F238E27FC236}">
                <a16:creationId xmlns:a16="http://schemas.microsoft.com/office/drawing/2014/main" id="{D9F46E48-D782-F04D-777D-623C03B20069}"/>
              </a:ext>
            </a:extLst>
          </p:cNvPr>
          <p:cNvSpPr/>
          <p:nvPr/>
        </p:nvSpPr>
        <p:spPr>
          <a:xfrm>
            <a:off x="5812537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2" name="object 41">
            <a:extLst>
              <a:ext uri="{FF2B5EF4-FFF2-40B4-BE49-F238E27FC236}">
                <a16:creationId xmlns:a16="http://schemas.microsoft.com/office/drawing/2014/main" id="{7F08B813-878E-5B2F-A0F4-E9F225903970}"/>
              </a:ext>
            </a:extLst>
          </p:cNvPr>
          <p:cNvSpPr/>
          <p:nvPr/>
        </p:nvSpPr>
        <p:spPr>
          <a:xfrm>
            <a:off x="6240260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3" name="object 42">
            <a:extLst>
              <a:ext uri="{FF2B5EF4-FFF2-40B4-BE49-F238E27FC236}">
                <a16:creationId xmlns:a16="http://schemas.microsoft.com/office/drawing/2014/main" id="{AA1EEECF-443E-9BEE-8FD7-805F82306DB3}"/>
              </a:ext>
            </a:extLst>
          </p:cNvPr>
          <p:cNvSpPr/>
          <p:nvPr/>
        </p:nvSpPr>
        <p:spPr>
          <a:xfrm>
            <a:off x="6667983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4" name="object 43">
            <a:extLst>
              <a:ext uri="{FF2B5EF4-FFF2-40B4-BE49-F238E27FC236}">
                <a16:creationId xmlns:a16="http://schemas.microsoft.com/office/drawing/2014/main" id="{B7740C5E-EB7B-0867-71A2-0583BD54C738}"/>
              </a:ext>
            </a:extLst>
          </p:cNvPr>
          <p:cNvSpPr/>
          <p:nvPr/>
        </p:nvSpPr>
        <p:spPr>
          <a:xfrm>
            <a:off x="7095706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5" name="object 44">
            <a:extLst>
              <a:ext uri="{FF2B5EF4-FFF2-40B4-BE49-F238E27FC236}">
                <a16:creationId xmlns:a16="http://schemas.microsoft.com/office/drawing/2014/main" id="{91054D86-8496-D2C6-8814-ECB3D3FBB547}"/>
              </a:ext>
            </a:extLst>
          </p:cNvPr>
          <p:cNvSpPr/>
          <p:nvPr/>
        </p:nvSpPr>
        <p:spPr>
          <a:xfrm>
            <a:off x="3246195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6" name="object 45">
            <a:extLst>
              <a:ext uri="{FF2B5EF4-FFF2-40B4-BE49-F238E27FC236}">
                <a16:creationId xmlns:a16="http://schemas.microsoft.com/office/drawing/2014/main" id="{4F16CBB8-3E99-8DF4-F8EE-D76DAB653EF0}"/>
              </a:ext>
            </a:extLst>
          </p:cNvPr>
          <p:cNvSpPr/>
          <p:nvPr/>
        </p:nvSpPr>
        <p:spPr>
          <a:xfrm>
            <a:off x="3673918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7" name="object 46">
            <a:extLst>
              <a:ext uri="{FF2B5EF4-FFF2-40B4-BE49-F238E27FC236}">
                <a16:creationId xmlns:a16="http://schemas.microsoft.com/office/drawing/2014/main" id="{00B5DF43-DF20-A533-0A03-FF2F6B8E139E}"/>
              </a:ext>
            </a:extLst>
          </p:cNvPr>
          <p:cNvSpPr/>
          <p:nvPr/>
        </p:nvSpPr>
        <p:spPr>
          <a:xfrm>
            <a:off x="4101642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8" name="object 47">
            <a:extLst>
              <a:ext uri="{FF2B5EF4-FFF2-40B4-BE49-F238E27FC236}">
                <a16:creationId xmlns:a16="http://schemas.microsoft.com/office/drawing/2014/main" id="{AE86EEEE-F1ED-4A1A-C097-7C933847947E}"/>
              </a:ext>
            </a:extLst>
          </p:cNvPr>
          <p:cNvSpPr/>
          <p:nvPr/>
        </p:nvSpPr>
        <p:spPr>
          <a:xfrm>
            <a:off x="4529366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9" name="object 48">
            <a:extLst>
              <a:ext uri="{FF2B5EF4-FFF2-40B4-BE49-F238E27FC236}">
                <a16:creationId xmlns:a16="http://schemas.microsoft.com/office/drawing/2014/main" id="{54323859-895E-F131-26E5-3AD5C4B43914}"/>
              </a:ext>
            </a:extLst>
          </p:cNvPr>
          <p:cNvSpPr/>
          <p:nvPr/>
        </p:nvSpPr>
        <p:spPr>
          <a:xfrm>
            <a:off x="4957089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0" name="object 49">
            <a:extLst>
              <a:ext uri="{FF2B5EF4-FFF2-40B4-BE49-F238E27FC236}">
                <a16:creationId xmlns:a16="http://schemas.microsoft.com/office/drawing/2014/main" id="{52E41616-CCE9-1BE2-6DF5-69360ABC8616}"/>
              </a:ext>
            </a:extLst>
          </p:cNvPr>
          <p:cNvSpPr/>
          <p:nvPr/>
        </p:nvSpPr>
        <p:spPr>
          <a:xfrm>
            <a:off x="5384813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1" name="object 50">
            <a:extLst>
              <a:ext uri="{FF2B5EF4-FFF2-40B4-BE49-F238E27FC236}">
                <a16:creationId xmlns:a16="http://schemas.microsoft.com/office/drawing/2014/main" id="{FB796499-1786-6467-F58C-113AB0CBDD7F}"/>
              </a:ext>
            </a:extLst>
          </p:cNvPr>
          <p:cNvSpPr/>
          <p:nvPr/>
        </p:nvSpPr>
        <p:spPr>
          <a:xfrm>
            <a:off x="5812537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2" name="object 51">
            <a:extLst>
              <a:ext uri="{FF2B5EF4-FFF2-40B4-BE49-F238E27FC236}">
                <a16:creationId xmlns:a16="http://schemas.microsoft.com/office/drawing/2014/main" id="{2A9174CA-D5C8-406E-F931-1C1237D6092E}"/>
              </a:ext>
            </a:extLst>
          </p:cNvPr>
          <p:cNvSpPr/>
          <p:nvPr/>
        </p:nvSpPr>
        <p:spPr>
          <a:xfrm>
            <a:off x="6240260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3" name="object 52">
            <a:extLst>
              <a:ext uri="{FF2B5EF4-FFF2-40B4-BE49-F238E27FC236}">
                <a16:creationId xmlns:a16="http://schemas.microsoft.com/office/drawing/2014/main" id="{25B16560-8018-BB61-DE0D-4A61B8A0A433}"/>
              </a:ext>
            </a:extLst>
          </p:cNvPr>
          <p:cNvSpPr/>
          <p:nvPr/>
        </p:nvSpPr>
        <p:spPr>
          <a:xfrm>
            <a:off x="6667983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4" name="object 53">
            <a:extLst>
              <a:ext uri="{FF2B5EF4-FFF2-40B4-BE49-F238E27FC236}">
                <a16:creationId xmlns:a16="http://schemas.microsoft.com/office/drawing/2014/main" id="{BFFE1049-7A9A-FC64-4CC3-E3235C61D33A}"/>
              </a:ext>
            </a:extLst>
          </p:cNvPr>
          <p:cNvSpPr/>
          <p:nvPr/>
        </p:nvSpPr>
        <p:spPr>
          <a:xfrm>
            <a:off x="7095706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5" name="object 54">
            <a:extLst>
              <a:ext uri="{FF2B5EF4-FFF2-40B4-BE49-F238E27FC236}">
                <a16:creationId xmlns:a16="http://schemas.microsoft.com/office/drawing/2014/main" id="{D01755CB-C282-054C-12DC-14075131EC2E}"/>
              </a:ext>
            </a:extLst>
          </p:cNvPr>
          <p:cNvSpPr/>
          <p:nvPr/>
        </p:nvSpPr>
        <p:spPr>
          <a:xfrm>
            <a:off x="3246195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6" name="object 55">
            <a:extLst>
              <a:ext uri="{FF2B5EF4-FFF2-40B4-BE49-F238E27FC236}">
                <a16:creationId xmlns:a16="http://schemas.microsoft.com/office/drawing/2014/main" id="{E5244EA3-9BCE-3C91-72CA-23438D639B87}"/>
              </a:ext>
            </a:extLst>
          </p:cNvPr>
          <p:cNvSpPr/>
          <p:nvPr/>
        </p:nvSpPr>
        <p:spPr>
          <a:xfrm>
            <a:off x="3673918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7" name="object 56">
            <a:extLst>
              <a:ext uri="{FF2B5EF4-FFF2-40B4-BE49-F238E27FC236}">
                <a16:creationId xmlns:a16="http://schemas.microsoft.com/office/drawing/2014/main" id="{C96BBD21-4198-3D64-88FD-259D956637D5}"/>
              </a:ext>
            </a:extLst>
          </p:cNvPr>
          <p:cNvSpPr/>
          <p:nvPr/>
        </p:nvSpPr>
        <p:spPr>
          <a:xfrm>
            <a:off x="4101642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8" name="object 57">
            <a:extLst>
              <a:ext uri="{FF2B5EF4-FFF2-40B4-BE49-F238E27FC236}">
                <a16:creationId xmlns:a16="http://schemas.microsoft.com/office/drawing/2014/main" id="{06BD2DAA-132F-F911-1130-40C22E22A477}"/>
              </a:ext>
            </a:extLst>
          </p:cNvPr>
          <p:cNvSpPr/>
          <p:nvPr/>
        </p:nvSpPr>
        <p:spPr>
          <a:xfrm>
            <a:off x="4529366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9" name="object 58">
            <a:extLst>
              <a:ext uri="{FF2B5EF4-FFF2-40B4-BE49-F238E27FC236}">
                <a16:creationId xmlns:a16="http://schemas.microsoft.com/office/drawing/2014/main" id="{F0BA4371-E8DA-A5F5-A2AF-DCFC76A7D063}"/>
              </a:ext>
            </a:extLst>
          </p:cNvPr>
          <p:cNvSpPr/>
          <p:nvPr/>
        </p:nvSpPr>
        <p:spPr>
          <a:xfrm>
            <a:off x="4957089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0" name="object 59">
            <a:extLst>
              <a:ext uri="{FF2B5EF4-FFF2-40B4-BE49-F238E27FC236}">
                <a16:creationId xmlns:a16="http://schemas.microsoft.com/office/drawing/2014/main" id="{2A715D22-29AB-3DAE-39ED-064F2262853A}"/>
              </a:ext>
            </a:extLst>
          </p:cNvPr>
          <p:cNvSpPr/>
          <p:nvPr/>
        </p:nvSpPr>
        <p:spPr>
          <a:xfrm>
            <a:off x="5384812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1" name="object 60">
            <a:extLst>
              <a:ext uri="{FF2B5EF4-FFF2-40B4-BE49-F238E27FC236}">
                <a16:creationId xmlns:a16="http://schemas.microsoft.com/office/drawing/2014/main" id="{ECBA40E5-A207-42EC-12DA-D50079CA5C58}"/>
              </a:ext>
            </a:extLst>
          </p:cNvPr>
          <p:cNvSpPr/>
          <p:nvPr/>
        </p:nvSpPr>
        <p:spPr>
          <a:xfrm>
            <a:off x="5812537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2" name="object 61">
            <a:extLst>
              <a:ext uri="{FF2B5EF4-FFF2-40B4-BE49-F238E27FC236}">
                <a16:creationId xmlns:a16="http://schemas.microsoft.com/office/drawing/2014/main" id="{E847A0D4-B4AC-43FE-9E8F-897E377D934D}"/>
              </a:ext>
            </a:extLst>
          </p:cNvPr>
          <p:cNvSpPr/>
          <p:nvPr/>
        </p:nvSpPr>
        <p:spPr>
          <a:xfrm>
            <a:off x="6240260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3" name="object 62">
            <a:extLst>
              <a:ext uri="{FF2B5EF4-FFF2-40B4-BE49-F238E27FC236}">
                <a16:creationId xmlns:a16="http://schemas.microsoft.com/office/drawing/2014/main" id="{CA75B722-4280-F661-4789-2D665DD8A4E1}"/>
              </a:ext>
            </a:extLst>
          </p:cNvPr>
          <p:cNvSpPr/>
          <p:nvPr/>
        </p:nvSpPr>
        <p:spPr>
          <a:xfrm>
            <a:off x="6667983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4" name="object 63">
            <a:extLst>
              <a:ext uri="{FF2B5EF4-FFF2-40B4-BE49-F238E27FC236}">
                <a16:creationId xmlns:a16="http://schemas.microsoft.com/office/drawing/2014/main" id="{E8203F28-DEBF-9217-A68A-B4919B757D33}"/>
              </a:ext>
            </a:extLst>
          </p:cNvPr>
          <p:cNvSpPr/>
          <p:nvPr/>
        </p:nvSpPr>
        <p:spPr>
          <a:xfrm>
            <a:off x="7095706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5" name="object 64">
            <a:extLst>
              <a:ext uri="{FF2B5EF4-FFF2-40B4-BE49-F238E27FC236}">
                <a16:creationId xmlns:a16="http://schemas.microsoft.com/office/drawing/2014/main" id="{0B5354B0-AEA9-1F1C-56F3-796CADC7062A}"/>
              </a:ext>
            </a:extLst>
          </p:cNvPr>
          <p:cNvSpPr/>
          <p:nvPr/>
        </p:nvSpPr>
        <p:spPr>
          <a:xfrm>
            <a:off x="7523430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6" name="object 65">
            <a:extLst>
              <a:ext uri="{FF2B5EF4-FFF2-40B4-BE49-F238E27FC236}">
                <a16:creationId xmlns:a16="http://schemas.microsoft.com/office/drawing/2014/main" id="{24E06B2F-5DC3-B86E-DF67-AF2A048F8EDC}"/>
              </a:ext>
            </a:extLst>
          </p:cNvPr>
          <p:cNvSpPr/>
          <p:nvPr/>
        </p:nvSpPr>
        <p:spPr>
          <a:xfrm>
            <a:off x="3238769" y="2603799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1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7" name="object 66">
            <a:extLst>
              <a:ext uri="{FF2B5EF4-FFF2-40B4-BE49-F238E27FC236}">
                <a16:creationId xmlns:a16="http://schemas.microsoft.com/office/drawing/2014/main" id="{6F9ED654-CE0D-81C5-1A41-D992ECB6F59D}"/>
              </a:ext>
            </a:extLst>
          </p:cNvPr>
          <p:cNvSpPr/>
          <p:nvPr/>
        </p:nvSpPr>
        <p:spPr>
          <a:xfrm>
            <a:off x="3238769" y="2863999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1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8" name="object 67">
            <a:extLst>
              <a:ext uri="{FF2B5EF4-FFF2-40B4-BE49-F238E27FC236}">
                <a16:creationId xmlns:a16="http://schemas.microsoft.com/office/drawing/2014/main" id="{34BC676A-B572-D299-54B0-52EEAC15CF20}"/>
              </a:ext>
            </a:extLst>
          </p:cNvPr>
          <p:cNvSpPr/>
          <p:nvPr/>
        </p:nvSpPr>
        <p:spPr>
          <a:xfrm>
            <a:off x="3238769" y="3124201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1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9" name="object 68">
            <a:extLst>
              <a:ext uri="{FF2B5EF4-FFF2-40B4-BE49-F238E27FC236}">
                <a16:creationId xmlns:a16="http://schemas.microsoft.com/office/drawing/2014/main" id="{20B50CD8-AFBE-AFCC-47A7-2B0FF4AE7FC4}"/>
              </a:ext>
            </a:extLst>
          </p:cNvPr>
          <p:cNvSpPr/>
          <p:nvPr/>
        </p:nvSpPr>
        <p:spPr>
          <a:xfrm>
            <a:off x="3238769" y="3384402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1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0" name="object 69">
            <a:extLst>
              <a:ext uri="{FF2B5EF4-FFF2-40B4-BE49-F238E27FC236}">
                <a16:creationId xmlns:a16="http://schemas.microsoft.com/office/drawing/2014/main" id="{7CF27B8D-C681-F35A-D2F1-E9E7902D71C8}"/>
              </a:ext>
            </a:extLst>
          </p:cNvPr>
          <p:cNvSpPr/>
          <p:nvPr/>
        </p:nvSpPr>
        <p:spPr>
          <a:xfrm>
            <a:off x="3238769" y="3644602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1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1" name="object 70">
            <a:extLst>
              <a:ext uri="{FF2B5EF4-FFF2-40B4-BE49-F238E27FC236}">
                <a16:creationId xmlns:a16="http://schemas.microsoft.com/office/drawing/2014/main" id="{A99162BC-AC2E-B749-0905-818C8172A096}"/>
              </a:ext>
            </a:extLst>
          </p:cNvPr>
          <p:cNvSpPr/>
          <p:nvPr/>
        </p:nvSpPr>
        <p:spPr>
          <a:xfrm>
            <a:off x="3238769" y="3904806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1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2" name="object 71">
            <a:extLst>
              <a:ext uri="{FF2B5EF4-FFF2-40B4-BE49-F238E27FC236}">
                <a16:creationId xmlns:a16="http://schemas.microsoft.com/office/drawing/2014/main" id="{E1DEF4F4-A877-4A96-4118-3AD239021E0E}"/>
              </a:ext>
            </a:extLst>
          </p:cNvPr>
          <p:cNvSpPr/>
          <p:nvPr/>
        </p:nvSpPr>
        <p:spPr>
          <a:xfrm>
            <a:off x="3238769" y="4165007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1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3" name="object 72">
            <a:extLst>
              <a:ext uri="{FF2B5EF4-FFF2-40B4-BE49-F238E27FC236}">
                <a16:creationId xmlns:a16="http://schemas.microsoft.com/office/drawing/2014/main" id="{AA13BBDA-373E-36D6-2CC0-F8491446A710}"/>
              </a:ext>
            </a:extLst>
          </p:cNvPr>
          <p:cNvSpPr txBox="1"/>
          <p:nvPr/>
        </p:nvSpPr>
        <p:spPr>
          <a:xfrm>
            <a:off x="3673918" y="2603800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2177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A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1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74" name="object 73">
            <a:extLst>
              <a:ext uri="{FF2B5EF4-FFF2-40B4-BE49-F238E27FC236}">
                <a16:creationId xmlns:a16="http://schemas.microsoft.com/office/drawing/2014/main" id="{21C3B7E7-8E55-5EAB-7C64-C8734AA6065B}"/>
              </a:ext>
            </a:extLst>
          </p:cNvPr>
          <p:cNvSpPr txBox="1"/>
          <p:nvPr/>
        </p:nvSpPr>
        <p:spPr>
          <a:xfrm>
            <a:off x="4101642" y="2603800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9603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…</a:t>
            </a:r>
            <a:endParaRPr sz="1169">
              <a:latin typeface="Arial"/>
              <a:cs typeface="Arial"/>
            </a:endParaRPr>
          </a:p>
        </p:txBody>
      </p:sp>
      <p:sp>
        <p:nvSpPr>
          <p:cNvPr id="75" name="object 74">
            <a:extLst>
              <a:ext uri="{FF2B5EF4-FFF2-40B4-BE49-F238E27FC236}">
                <a16:creationId xmlns:a16="http://schemas.microsoft.com/office/drawing/2014/main" id="{60871071-9265-FCAB-7C25-6715964DC385}"/>
              </a:ext>
            </a:extLst>
          </p:cNvPr>
          <p:cNvSpPr txBox="1"/>
          <p:nvPr/>
        </p:nvSpPr>
        <p:spPr>
          <a:xfrm>
            <a:off x="4529366" y="2603800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15841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A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m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76" name="object 75">
            <a:extLst>
              <a:ext uri="{FF2B5EF4-FFF2-40B4-BE49-F238E27FC236}">
                <a16:creationId xmlns:a16="http://schemas.microsoft.com/office/drawing/2014/main" id="{9C6E09D0-2E10-1A0B-7084-2D1C1260E675}"/>
              </a:ext>
            </a:extLst>
          </p:cNvPr>
          <p:cNvSpPr txBox="1"/>
          <p:nvPr/>
        </p:nvSpPr>
        <p:spPr>
          <a:xfrm>
            <a:off x="5384812" y="2603800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2177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B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1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77" name="object 76">
            <a:extLst>
              <a:ext uri="{FF2B5EF4-FFF2-40B4-BE49-F238E27FC236}">
                <a16:creationId xmlns:a16="http://schemas.microsoft.com/office/drawing/2014/main" id="{6C515C10-EEFD-FFD8-C15C-6C2FC66067B4}"/>
              </a:ext>
            </a:extLst>
          </p:cNvPr>
          <p:cNvSpPr txBox="1"/>
          <p:nvPr/>
        </p:nvSpPr>
        <p:spPr>
          <a:xfrm>
            <a:off x="5812537" y="2603800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9603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…</a:t>
            </a:r>
            <a:endParaRPr sz="1169">
              <a:latin typeface="Arial"/>
              <a:cs typeface="Arial"/>
            </a:endParaRPr>
          </a:p>
        </p:txBody>
      </p:sp>
      <p:sp>
        <p:nvSpPr>
          <p:cNvPr id="78" name="object 77">
            <a:extLst>
              <a:ext uri="{FF2B5EF4-FFF2-40B4-BE49-F238E27FC236}">
                <a16:creationId xmlns:a16="http://schemas.microsoft.com/office/drawing/2014/main" id="{854D37EA-6FEF-4E5F-511E-18F90BE38D81}"/>
              </a:ext>
            </a:extLst>
          </p:cNvPr>
          <p:cNvSpPr txBox="1"/>
          <p:nvPr/>
        </p:nvSpPr>
        <p:spPr>
          <a:xfrm>
            <a:off x="6240260" y="2603800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29950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B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n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79" name="object 78">
            <a:extLst>
              <a:ext uri="{FF2B5EF4-FFF2-40B4-BE49-F238E27FC236}">
                <a16:creationId xmlns:a16="http://schemas.microsoft.com/office/drawing/2014/main" id="{0FF5288A-92EB-1595-20DA-F3BBCAF494CB}"/>
              </a:ext>
            </a:extLst>
          </p:cNvPr>
          <p:cNvSpPr txBox="1"/>
          <p:nvPr/>
        </p:nvSpPr>
        <p:spPr>
          <a:xfrm>
            <a:off x="3552393" y="4434309"/>
            <a:ext cx="3663975" cy="1759246"/>
          </a:xfrm>
          <a:prstGeom prst="rect">
            <a:avLst/>
          </a:prstGeom>
        </p:spPr>
        <p:txBody>
          <a:bodyPr vert="horz" wrap="square" lIns="0" tIns="10396" rIns="0" bIns="0" rtlCol="0">
            <a:spAutoFit/>
          </a:bodyPr>
          <a:lstStyle/>
          <a:p>
            <a:pPr marL="14851" marR="5941" algn="ctr">
              <a:lnSpc>
                <a:spcPct val="101600"/>
              </a:lnSpc>
              <a:spcBef>
                <a:spcPts val="82"/>
              </a:spcBef>
            </a:pPr>
            <a:r>
              <a:rPr lang="de-DE" sz="1871" b="1" i="1" spc="-6" dirty="0">
                <a:latin typeface="Arial"/>
                <a:cs typeface="Arial"/>
              </a:rPr>
              <a:t>U</a:t>
            </a:r>
            <a:r>
              <a:rPr sz="1871" b="1" i="1" spc="-6" dirty="0" err="1">
                <a:latin typeface="Arial"/>
                <a:cs typeface="Arial"/>
              </a:rPr>
              <a:t>nd</a:t>
            </a:r>
            <a:r>
              <a:rPr sz="1871" b="1" i="1" spc="-6" dirty="0">
                <a:latin typeface="Arial"/>
                <a:cs typeface="Arial"/>
              </a:rPr>
              <a:t> </a:t>
            </a:r>
            <a:r>
              <a:rPr lang="de-DE" sz="1871" b="1" i="1" spc="-6" dirty="0">
                <a:latin typeface="Arial"/>
                <a:cs typeface="Arial"/>
              </a:rPr>
              <a:t>umgekehrt</a:t>
            </a:r>
            <a:r>
              <a:rPr sz="1871" b="1" i="1" spc="-6" dirty="0">
                <a:latin typeface="Arial"/>
                <a:cs typeface="Arial"/>
              </a:rPr>
              <a:t>, </a:t>
            </a:r>
            <a:r>
              <a:rPr sz="1871" spc="-6" dirty="0">
                <a:latin typeface="Arial"/>
                <a:cs typeface="Arial"/>
              </a:rPr>
              <a:t>A</a:t>
            </a:r>
            <a:r>
              <a:rPr sz="1842" spc="-8" baseline="-31746" dirty="0">
                <a:latin typeface="Arial"/>
                <a:cs typeface="Arial"/>
              </a:rPr>
              <a:t>1</a:t>
            </a:r>
            <a:r>
              <a:rPr sz="1871" spc="-6" dirty="0">
                <a:latin typeface="Arial"/>
                <a:cs typeface="Arial"/>
              </a:rPr>
              <a:t>,…,A</a:t>
            </a:r>
            <a:r>
              <a:rPr sz="1842" spc="-8" baseline="-31746" dirty="0">
                <a:latin typeface="Arial"/>
                <a:cs typeface="Arial"/>
              </a:rPr>
              <a:t>m </a:t>
            </a:r>
            <a:r>
              <a:rPr sz="1871" dirty="0">
                <a:latin typeface="Arial"/>
                <a:cs typeface="Arial"/>
              </a:rPr>
              <a:t>→ B</a:t>
            </a:r>
            <a:r>
              <a:rPr sz="1842" baseline="-31746" dirty="0">
                <a:latin typeface="Arial"/>
                <a:cs typeface="Arial"/>
              </a:rPr>
              <a:t>i </a:t>
            </a:r>
            <a:r>
              <a:rPr sz="1871" spc="-6" dirty="0">
                <a:latin typeface="Arial"/>
                <a:cs typeface="Arial"/>
              </a:rPr>
              <a:t>for  i=1,…,n</a:t>
            </a:r>
            <a:endParaRPr sz="1871" dirty="0">
              <a:latin typeface="Arial"/>
              <a:cs typeface="Arial"/>
            </a:endParaRPr>
          </a:p>
          <a:p>
            <a:pPr algn="ctr">
              <a:spcBef>
                <a:spcPts val="1807"/>
              </a:spcBef>
            </a:pPr>
            <a:r>
              <a:rPr sz="1871" dirty="0">
                <a:latin typeface="Arial"/>
                <a:cs typeface="Arial"/>
              </a:rPr>
              <a:t>… </a:t>
            </a:r>
            <a:r>
              <a:rPr sz="1871" spc="-6" dirty="0">
                <a:latin typeface="Arial"/>
                <a:cs typeface="Arial"/>
              </a:rPr>
              <a:t>is </a:t>
            </a:r>
            <a:r>
              <a:rPr lang="de-DE" sz="1871" spc="-6" dirty="0">
                <a:latin typeface="Arial"/>
                <a:cs typeface="Arial"/>
              </a:rPr>
              <a:t>ä</a:t>
            </a:r>
            <a:r>
              <a:rPr sz="1871" spc="-6" dirty="0" err="1">
                <a:latin typeface="Arial"/>
                <a:cs typeface="Arial"/>
              </a:rPr>
              <a:t>quivalent</a:t>
            </a:r>
            <a:r>
              <a:rPr sz="1871" spc="-6" dirty="0">
                <a:latin typeface="Arial"/>
                <a:cs typeface="Arial"/>
              </a:rPr>
              <a:t> </a:t>
            </a:r>
            <a:r>
              <a:rPr lang="de-DE" sz="1871" spc="-6" dirty="0">
                <a:latin typeface="Arial"/>
                <a:cs typeface="Arial"/>
              </a:rPr>
              <a:t>zu</a:t>
            </a:r>
            <a:r>
              <a:rPr sz="1871" spc="-41" dirty="0">
                <a:latin typeface="Arial"/>
                <a:cs typeface="Arial"/>
              </a:rPr>
              <a:t> </a:t>
            </a:r>
            <a:r>
              <a:rPr sz="1871" dirty="0">
                <a:latin typeface="Arial"/>
                <a:cs typeface="Arial"/>
              </a:rPr>
              <a:t>…</a:t>
            </a:r>
          </a:p>
          <a:p>
            <a:pPr>
              <a:spcBef>
                <a:spcPts val="53"/>
              </a:spcBef>
            </a:pPr>
            <a:endParaRPr sz="2222" dirty="0">
              <a:latin typeface="Times New Roman"/>
              <a:cs typeface="Times New Roman"/>
            </a:endParaRPr>
          </a:p>
          <a:p>
            <a:pPr marL="776727"/>
            <a:r>
              <a:rPr sz="1871" spc="-6" dirty="0">
                <a:latin typeface="Arial"/>
                <a:cs typeface="Arial"/>
              </a:rPr>
              <a:t>A</a:t>
            </a:r>
            <a:r>
              <a:rPr sz="1842" spc="-8" baseline="-31746" dirty="0">
                <a:latin typeface="Arial"/>
                <a:cs typeface="Arial"/>
              </a:rPr>
              <a:t>1</a:t>
            </a:r>
            <a:r>
              <a:rPr sz="1871" spc="-6" dirty="0">
                <a:latin typeface="Arial"/>
                <a:cs typeface="Arial"/>
              </a:rPr>
              <a:t>, </a:t>
            </a:r>
            <a:r>
              <a:rPr sz="1871" dirty="0">
                <a:latin typeface="Arial"/>
                <a:cs typeface="Arial"/>
              </a:rPr>
              <a:t>…, </a:t>
            </a:r>
            <a:r>
              <a:rPr sz="1871" spc="6" dirty="0">
                <a:latin typeface="Arial"/>
                <a:cs typeface="Arial"/>
              </a:rPr>
              <a:t>A</a:t>
            </a:r>
            <a:r>
              <a:rPr sz="1842" spc="8" baseline="-31746" dirty="0">
                <a:latin typeface="Arial"/>
                <a:cs typeface="Arial"/>
              </a:rPr>
              <a:t>m </a:t>
            </a:r>
            <a:r>
              <a:rPr sz="1871" dirty="0">
                <a:latin typeface="Arial"/>
                <a:cs typeface="Arial"/>
              </a:rPr>
              <a:t>→</a:t>
            </a:r>
            <a:r>
              <a:rPr sz="1871" spc="-35" dirty="0">
                <a:latin typeface="Arial"/>
                <a:cs typeface="Arial"/>
              </a:rPr>
              <a:t> </a:t>
            </a:r>
            <a:r>
              <a:rPr sz="1871" spc="-6" dirty="0">
                <a:latin typeface="Arial"/>
                <a:cs typeface="Arial"/>
              </a:rPr>
              <a:t>B</a:t>
            </a:r>
            <a:r>
              <a:rPr sz="1842" spc="-8" baseline="-31746" dirty="0">
                <a:latin typeface="Arial"/>
                <a:cs typeface="Arial"/>
              </a:rPr>
              <a:t>1</a:t>
            </a:r>
            <a:r>
              <a:rPr sz="1871" spc="-6" dirty="0">
                <a:latin typeface="Arial"/>
                <a:cs typeface="Arial"/>
              </a:rPr>
              <a:t>,…,B</a:t>
            </a:r>
            <a:r>
              <a:rPr sz="1842" spc="-8" baseline="-31746" dirty="0">
                <a:latin typeface="Arial"/>
                <a:cs typeface="Arial"/>
              </a:rPr>
              <a:t>n</a:t>
            </a:r>
            <a:endParaRPr sz="1842" baseline="-31746" dirty="0">
              <a:latin typeface="Arial"/>
              <a:cs typeface="Arial"/>
            </a:endParaRPr>
          </a:p>
        </p:txBody>
      </p:sp>
      <p:sp>
        <p:nvSpPr>
          <p:cNvPr id="80" name="object 79">
            <a:extLst>
              <a:ext uri="{FF2B5EF4-FFF2-40B4-BE49-F238E27FC236}">
                <a16:creationId xmlns:a16="http://schemas.microsoft.com/office/drawing/2014/main" id="{0FE97582-306B-4D4A-0E2B-2700D5E025F7}"/>
              </a:ext>
            </a:extLst>
          </p:cNvPr>
          <p:cNvSpPr/>
          <p:nvPr/>
        </p:nvSpPr>
        <p:spPr>
          <a:xfrm>
            <a:off x="3558699" y="3016036"/>
            <a:ext cx="1486027" cy="10029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1" name="object 80">
            <a:extLst>
              <a:ext uri="{FF2B5EF4-FFF2-40B4-BE49-F238E27FC236}">
                <a16:creationId xmlns:a16="http://schemas.microsoft.com/office/drawing/2014/main" id="{DC082DD7-36DB-69CC-6BC3-AB795C82BE08}"/>
              </a:ext>
            </a:extLst>
          </p:cNvPr>
          <p:cNvSpPr/>
          <p:nvPr/>
        </p:nvSpPr>
        <p:spPr>
          <a:xfrm>
            <a:off x="3611032" y="3044994"/>
            <a:ext cx="1381973" cy="898543"/>
          </a:xfrm>
          <a:custGeom>
            <a:avLst/>
            <a:gdLst/>
            <a:ahLst/>
            <a:cxnLst/>
            <a:rect l="l" t="t" r="r" b="b"/>
            <a:pathLst>
              <a:path w="1181735" h="768350">
                <a:moveTo>
                  <a:pt x="0" y="128017"/>
                </a:moveTo>
                <a:lnTo>
                  <a:pt x="10061" y="78186"/>
                </a:lnTo>
                <a:lnTo>
                  <a:pt x="37499" y="37495"/>
                </a:lnTo>
                <a:lnTo>
                  <a:pt x="78194" y="10060"/>
                </a:lnTo>
                <a:lnTo>
                  <a:pt x="128024" y="0"/>
                </a:lnTo>
                <a:lnTo>
                  <a:pt x="1053172" y="0"/>
                </a:lnTo>
                <a:lnTo>
                  <a:pt x="1102166" y="9744"/>
                </a:lnTo>
                <a:lnTo>
                  <a:pt x="1143697" y="37494"/>
                </a:lnTo>
                <a:lnTo>
                  <a:pt x="1171447" y="79026"/>
                </a:lnTo>
                <a:lnTo>
                  <a:pt x="1181197" y="128017"/>
                </a:lnTo>
                <a:lnTo>
                  <a:pt x="1181197" y="640081"/>
                </a:lnTo>
                <a:lnTo>
                  <a:pt x="1171135" y="689911"/>
                </a:lnTo>
                <a:lnTo>
                  <a:pt x="1143697" y="730606"/>
                </a:lnTo>
                <a:lnTo>
                  <a:pt x="1103003" y="758044"/>
                </a:lnTo>
                <a:lnTo>
                  <a:pt x="1053172" y="768105"/>
                </a:lnTo>
                <a:lnTo>
                  <a:pt x="128024" y="768105"/>
                </a:lnTo>
                <a:lnTo>
                  <a:pt x="78194" y="758044"/>
                </a:lnTo>
                <a:lnTo>
                  <a:pt x="37499" y="730606"/>
                </a:lnTo>
                <a:lnTo>
                  <a:pt x="10061" y="689911"/>
                </a:lnTo>
                <a:lnTo>
                  <a:pt x="0" y="640081"/>
                </a:lnTo>
                <a:lnTo>
                  <a:pt x="0" y="128017"/>
                </a:lnTo>
                <a:close/>
              </a:path>
            </a:pathLst>
          </a:custGeom>
          <a:ln w="9524">
            <a:solidFill>
              <a:srgbClr val="EB792A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2" name="object 81">
            <a:extLst>
              <a:ext uri="{FF2B5EF4-FFF2-40B4-BE49-F238E27FC236}">
                <a16:creationId xmlns:a16="http://schemas.microsoft.com/office/drawing/2014/main" id="{EF7877A4-B2D3-F44E-4DBE-3A5C47782DE9}"/>
              </a:ext>
            </a:extLst>
          </p:cNvPr>
          <p:cNvSpPr/>
          <p:nvPr/>
        </p:nvSpPr>
        <p:spPr>
          <a:xfrm>
            <a:off x="5732605" y="3016036"/>
            <a:ext cx="610428" cy="10029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3" name="object 82">
            <a:extLst>
              <a:ext uri="{FF2B5EF4-FFF2-40B4-BE49-F238E27FC236}">
                <a16:creationId xmlns:a16="http://schemas.microsoft.com/office/drawing/2014/main" id="{8BCBE194-8EC4-A154-F4B4-553993BAB40B}"/>
              </a:ext>
            </a:extLst>
          </p:cNvPr>
          <p:cNvSpPr/>
          <p:nvPr/>
        </p:nvSpPr>
        <p:spPr>
          <a:xfrm>
            <a:off x="5784937" y="3044994"/>
            <a:ext cx="506451" cy="898543"/>
          </a:xfrm>
          <a:custGeom>
            <a:avLst/>
            <a:gdLst/>
            <a:ahLst/>
            <a:cxnLst/>
            <a:rect l="l" t="t" r="r" b="b"/>
            <a:pathLst>
              <a:path w="433070" h="768350">
                <a:moveTo>
                  <a:pt x="0" y="72077"/>
                </a:moveTo>
                <a:lnTo>
                  <a:pt x="5664" y="44021"/>
                </a:lnTo>
                <a:lnTo>
                  <a:pt x="21112" y="21110"/>
                </a:lnTo>
                <a:lnTo>
                  <a:pt x="44022" y="5664"/>
                </a:lnTo>
                <a:lnTo>
                  <a:pt x="72074" y="0"/>
                </a:lnTo>
                <a:lnTo>
                  <a:pt x="360374" y="0"/>
                </a:lnTo>
                <a:lnTo>
                  <a:pt x="400367" y="12108"/>
                </a:lnTo>
                <a:lnTo>
                  <a:pt x="426971" y="44493"/>
                </a:lnTo>
                <a:lnTo>
                  <a:pt x="432449" y="72077"/>
                </a:lnTo>
                <a:lnTo>
                  <a:pt x="432449" y="696006"/>
                </a:lnTo>
                <a:lnTo>
                  <a:pt x="426787" y="724072"/>
                </a:lnTo>
                <a:lnTo>
                  <a:pt x="411346" y="746990"/>
                </a:lnTo>
                <a:lnTo>
                  <a:pt x="388437" y="762440"/>
                </a:lnTo>
                <a:lnTo>
                  <a:pt x="360374" y="768105"/>
                </a:lnTo>
                <a:lnTo>
                  <a:pt x="72074" y="768105"/>
                </a:lnTo>
                <a:lnTo>
                  <a:pt x="44022" y="762440"/>
                </a:lnTo>
                <a:lnTo>
                  <a:pt x="21112" y="746990"/>
                </a:lnTo>
                <a:lnTo>
                  <a:pt x="5664" y="724072"/>
                </a:lnTo>
                <a:lnTo>
                  <a:pt x="0" y="696006"/>
                </a:lnTo>
                <a:lnTo>
                  <a:pt x="0" y="72077"/>
                </a:lnTo>
                <a:close/>
              </a:path>
            </a:pathLst>
          </a:custGeom>
          <a:ln w="9524">
            <a:solidFill>
              <a:srgbClr val="EB792A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3" name="object 83">
            <a:extLst>
              <a:ext uri="{FF2B5EF4-FFF2-40B4-BE49-F238E27FC236}">
                <a16:creationId xmlns:a16="http://schemas.microsoft.com/office/drawing/2014/main" id="{DD239DE6-8981-CE78-A6F3-97E521BA0669}"/>
              </a:ext>
            </a:extLst>
          </p:cNvPr>
          <p:cNvSpPr/>
          <p:nvPr/>
        </p:nvSpPr>
        <p:spPr>
          <a:xfrm>
            <a:off x="4708349" y="3232772"/>
            <a:ext cx="1257255" cy="5764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4" name="object 84">
            <a:extLst>
              <a:ext uri="{FF2B5EF4-FFF2-40B4-BE49-F238E27FC236}">
                <a16:creationId xmlns:a16="http://schemas.microsoft.com/office/drawing/2014/main" id="{1C88E23C-FE35-6D8B-9174-D37754C2B27C}"/>
              </a:ext>
            </a:extLst>
          </p:cNvPr>
          <p:cNvSpPr/>
          <p:nvPr/>
        </p:nvSpPr>
        <p:spPr>
          <a:xfrm>
            <a:off x="4760711" y="3258233"/>
            <a:ext cx="1153253" cy="472292"/>
          </a:xfrm>
          <a:custGeom>
            <a:avLst/>
            <a:gdLst/>
            <a:ahLst/>
            <a:cxnLst/>
            <a:rect l="l" t="t" r="r" b="b"/>
            <a:pathLst>
              <a:path w="986154" h="403860">
                <a:moveTo>
                  <a:pt x="0" y="100852"/>
                </a:moveTo>
                <a:lnTo>
                  <a:pt x="783848" y="100852"/>
                </a:lnTo>
                <a:lnTo>
                  <a:pt x="783848" y="0"/>
                </a:lnTo>
                <a:lnTo>
                  <a:pt x="985548" y="201704"/>
                </a:lnTo>
                <a:lnTo>
                  <a:pt x="783848" y="403414"/>
                </a:lnTo>
                <a:lnTo>
                  <a:pt x="783848" y="302556"/>
                </a:lnTo>
                <a:lnTo>
                  <a:pt x="0" y="302556"/>
                </a:lnTo>
                <a:lnTo>
                  <a:pt x="0" y="100852"/>
                </a:lnTo>
                <a:close/>
              </a:path>
            </a:pathLst>
          </a:custGeom>
          <a:ln w="9524">
            <a:solidFill>
              <a:srgbClr val="EB792A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</p:spTree>
    <p:extLst>
      <p:ext uri="{BB962C8B-B14F-4D97-AF65-F5344CB8AC3E}">
        <p14:creationId xmlns:p14="http://schemas.microsoft.com/office/powerpoint/2010/main" val="4625742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CC4812BA-BB40-D7D8-112A-D507B6104E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4374" y="799613"/>
            <a:ext cx="6279679" cy="470635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/>
              <a:t>2. </a:t>
            </a:r>
            <a:r>
              <a:rPr lang="en-GB" sz="2961" spc="-213" dirty="0" err="1"/>
              <a:t>Reduktion</a:t>
            </a:r>
            <a:r>
              <a:rPr lang="en-GB" sz="2961" spc="-213" dirty="0"/>
              <a:t> / </a:t>
            </a:r>
            <a:r>
              <a:rPr lang="en-GB" sz="2961" spc="-213" dirty="0" err="1"/>
              <a:t>Trivialität</a:t>
            </a:r>
            <a:endParaRPr lang="en-GB" spc="-88" dirty="0"/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FA89E832-602E-5447-FE99-AFC359458D76}"/>
              </a:ext>
            </a:extLst>
          </p:cNvPr>
          <p:cNvSpPr/>
          <p:nvPr/>
        </p:nvSpPr>
        <p:spPr>
          <a:xfrm>
            <a:off x="3246195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5311D015-2207-D961-42A7-5B70046E508E}"/>
              </a:ext>
            </a:extLst>
          </p:cNvPr>
          <p:cNvSpPr/>
          <p:nvPr/>
        </p:nvSpPr>
        <p:spPr>
          <a:xfrm>
            <a:off x="3673918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4" name="object 6">
            <a:extLst>
              <a:ext uri="{FF2B5EF4-FFF2-40B4-BE49-F238E27FC236}">
                <a16:creationId xmlns:a16="http://schemas.microsoft.com/office/drawing/2014/main" id="{8555AB9E-9C54-78CC-7154-464B9FA2F5C0}"/>
              </a:ext>
            </a:extLst>
          </p:cNvPr>
          <p:cNvSpPr/>
          <p:nvPr/>
        </p:nvSpPr>
        <p:spPr>
          <a:xfrm>
            <a:off x="4101642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5" name="object 7">
            <a:extLst>
              <a:ext uri="{FF2B5EF4-FFF2-40B4-BE49-F238E27FC236}">
                <a16:creationId xmlns:a16="http://schemas.microsoft.com/office/drawing/2014/main" id="{BABC3290-3E90-34C9-0488-EE639B840A66}"/>
              </a:ext>
            </a:extLst>
          </p:cNvPr>
          <p:cNvSpPr/>
          <p:nvPr/>
        </p:nvSpPr>
        <p:spPr>
          <a:xfrm>
            <a:off x="4529366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6" name="object 8">
            <a:extLst>
              <a:ext uri="{FF2B5EF4-FFF2-40B4-BE49-F238E27FC236}">
                <a16:creationId xmlns:a16="http://schemas.microsoft.com/office/drawing/2014/main" id="{3C8AA8E4-3639-6EBF-C8DC-935206D4556A}"/>
              </a:ext>
            </a:extLst>
          </p:cNvPr>
          <p:cNvSpPr/>
          <p:nvPr/>
        </p:nvSpPr>
        <p:spPr>
          <a:xfrm>
            <a:off x="4957089" y="28640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7" name="object 9">
            <a:extLst>
              <a:ext uri="{FF2B5EF4-FFF2-40B4-BE49-F238E27FC236}">
                <a16:creationId xmlns:a16="http://schemas.microsoft.com/office/drawing/2014/main" id="{249731AD-2FDC-C79B-F0D0-48F219680A17}"/>
              </a:ext>
            </a:extLst>
          </p:cNvPr>
          <p:cNvSpPr/>
          <p:nvPr/>
        </p:nvSpPr>
        <p:spPr>
          <a:xfrm>
            <a:off x="3246195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8" name="object 10">
            <a:extLst>
              <a:ext uri="{FF2B5EF4-FFF2-40B4-BE49-F238E27FC236}">
                <a16:creationId xmlns:a16="http://schemas.microsoft.com/office/drawing/2014/main" id="{6808D854-D27F-14CE-EFB5-F807AB16856B}"/>
              </a:ext>
            </a:extLst>
          </p:cNvPr>
          <p:cNvSpPr/>
          <p:nvPr/>
        </p:nvSpPr>
        <p:spPr>
          <a:xfrm>
            <a:off x="3673918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9" name="object 11">
            <a:extLst>
              <a:ext uri="{FF2B5EF4-FFF2-40B4-BE49-F238E27FC236}">
                <a16:creationId xmlns:a16="http://schemas.microsoft.com/office/drawing/2014/main" id="{602EA822-51C0-C484-F170-48C326D692D2}"/>
              </a:ext>
            </a:extLst>
          </p:cNvPr>
          <p:cNvSpPr/>
          <p:nvPr/>
        </p:nvSpPr>
        <p:spPr>
          <a:xfrm>
            <a:off x="4101642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0" name="object 12">
            <a:extLst>
              <a:ext uri="{FF2B5EF4-FFF2-40B4-BE49-F238E27FC236}">
                <a16:creationId xmlns:a16="http://schemas.microsoft.com/office/drawing/2014/main" id="{2D0771AA-CDBE-4877-7529-0734EE36DA5F}"/>
              </a:ext>
            </a:extLst>
          </p:cNvPr>
          <p:cNvSpPr/>
          <p:nvPr/>
        </p:nvSpPr>
        <p:spPr>
          <a:xfrm>
            <a:off x="4529366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1" name="object 13">
            <a:extLst>
              <a:ext uri="{FF2B5EF4-FFF2-40B4-BE49-F238E27FC236}">
                <a16:creationId xmlns:a16="http://schemas.microsoft.com/office/drawing/2014/main" id="{ABD35B17-D9D1-8922-4A51-C04710F78F55}"/>
              </a:ext>
            </a:extLst>
          </p:cNvPr>
          <p:cNvSpPr/>
          <p:nvPr/>
        </p:nvSpPr>
        <p:spPr>
          <a:xfrm>
            <a:off x="4957089" y="3124201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2" name="object 14">
            <a:extLst>
              <a:ext uri="{FF2B5EF4-FFF2-40B4-BE49-F238E27FC236}">
                <a16:creationId xmlns:a16="http://schemas.microsoft.com/office/drawing/2014/main" id="{C17B2058-358F-0A7A-AD4E-0AD9C9886559}"/>
              </a:ext>
            </a:extLst>
          </p:cNvPr>
          <p:cNvSpPr/>
          <p:nvPr/>
        </p:nvSpPr>
        <p:spPr>
          <a:xfrm>
            <a:off x="3246195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3" name="object 15">
            <a:extLst>
              <a:ext uri="{FF2B5EF4-FFF2-40B4-BE49-F238E27FC236}">
                <a16:creationId xmlns:a16="http://schemas.microsoft.com/office/drawing/2014/main" id="{1C3C67AA-105A-1032-C585-253F1B7658F6}"/>
              </a:ext>
            </a:extLst>
          </p:cNvPr>
          <p:cNvSpPr/>
          <p:nvPr/>
        </p:nvSpPr>
        <p:spPr>
          <a:xfrm>
            <a:off x="3673918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4" name="object 16">
            <a:extLst>
              <a:ext uri="{FF2B5EF4-FFF2-40B4-BE49-F238E27FC236}">
                <a16:creationId xmlns:a16="http://schemas.microsoft.com/office/drawing/2014/main" id="{403C6C40-C2A0-15C2-7209-D9CF1A242644}"/>
              </a:ext>
            </a:extLst>
          </p:cNvPr>
          <p:cNvSpPr/>
          <p:nvPr/>
        </p:nvSpPr>
        <p:spPr>
          <a:xfrm>
            <a:off x="4101642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5" name="object 17">
            <a:extLst>
              <a:ext uri="{FF2B5EF4-FFF2-40B4-BE49-F238E27FC236}">
                <a16:creationId xmlns:a16="http://schemas.microsoft.com/office/drawing/2014/main" id="{7CD440BF-782E-441A-1B87-942CFF71C79E}"/>
              </a:ext>
            </a:extLst>
          </p:cNvPr>
          <p:cNvSpPr/>
          <p:nvPr/>
        </p:nvSpPr>
        <p:spPr>
          <a:xfrm>
            <a:off x="4529366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6" name="object 18">
            <a:extLst>
              <a:ext uri="{FF2B5EF4-FFF2-40B4-BE49-F238E27FC236}">
                <a16:creationId xmlns:a16="http://schemas.microsoft.com/office/drawing/2014/main" id="{2C02B740-95B6-22A7-588E-E004812BF13E}"/>
              </a:ext>
            </a:extLst>
          </p:cNvPr>
          <p:cNvSpPr/>
          <p:nvPr/>
        </p:nvSpPr>
        <p:spPr>
          <a:xfrm>
            <a:off x="4957089" y="33844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7" name="object 19">
            <a:extLst>
              <a:ext uri="{FF2B5EF4-FFF2-40B4-BE49-F238E27FC236}">
                <a16:creationId xmlns:a16="http://schemas.microsoft.com/office/drawing/2014/main" id="{352C4520-A018-2869-9CF7-F2FBFC58B581}"/>
              </a:ext>
            </a:extLst>
          </p:cNvPr>
          <p:cNvSpPr/>
          <p:nvPr/>
        </p:nvSpPr>
        <p:spPr>
          <a:xfrm>
            <a:off x="3246195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8" name="object 20">
            <a:extLst>
              <a:ext uri="{FF2B5EF4-FFF2-40B4-BE49-F238E27FC236}">
                <a16:creationId xmlns:a16="http://schemas.microsoft.com/office/drawing/2014/main" id="{FD294033-6548-F080-C268-0CAEDBF8E5F6}"/>
              </a:ext>
            </a:extLst>
          </p:cNvPr>
          <p:cNvSpPr/>
          <p:nvPr/>
        </p:nvSpPr>
        <p:spPr>
          <a:xfrm>
            <a:off x="3673918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9" name="object 21">
            <a:extLst>
              <a:ext uri="{FF2B5EF4-FFF2-40B4-BE49-F238E27FC236}">
                <a16:creationId xmlns:a16="http://schemas.microsoft.com/office/drawing/2014/main" id="{C939C32A-5A8F-FBCD-519C-F42AFA5999CA}"/>
              </a:ext>
            </a:extLst>
          </p:cNvPr>
          <p:cNvSpPr/>
          <p:nvPr/>
        </p:nvSpPr>
        <p:spPr>
          <a:xfrm>
            <a:off x="4101642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0" name="object 22">
            <a:extLst>
              <a:ext uri="{FF2B5EF4-FFF2-40B4-BE49-F238E27FC236}">
                <a16:creationId xmlns:a16="http://schemas.microsoft.com/office/drawing/2014/main" id="{B8099CE4-5914-91D0-BA36-11913D286254}"/>
              </a:ext>
            </a:extLst>
          </p:cNvPr>
          <p:cNvSpPr/>
          <p:nvPr/>
        </p:nvSpPr>
        <p:spPr>
          <a:xfrm>
            <a:off x="4529366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1" name="object 23">
            <a:extLst>
              <a:ext uri="{FF2B5EF4-FFF2-40B4-BE49-F238E27FC236}">
                <a16:creationId xmlns:a16="http://schemas.microsoft.com/office/drawing/2014/main" id="{1B5A95DB-C681-F548-7E98-CAB8FE9FCF20}"/>
              </a:ext>
            </a:extLst>
          </p:cNvPr>
          <p:cNvSpPr/>
          <p:nvPr/>
        </p:nvSpPr>
        <p:spPr>
          <a:xfrm>
            <a:off x="4957089" y="3644603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2" name="object 24">
            <a:extLst>
              <a:ext uri="{FF2B5EF4-FFF2-40B4-BE49-F238E27FC236}">
                <a16:creationId xmlns:a16="http://schemas.microsoft.com/office/drawing/2014/main" id="{FC6CB830-6C23-5A0B-2537-CD578C3F0352}"/>
              </a:ext>
            </a:extLst>
          </p:cNvPr>
          <p:cNvSpPr/>
          <p:nvPr/>
        </p:nvSpPr>
        <p:spPr>
          <a:xfrm>
            <a:off x="3246195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3" name="object 25">
            <a:extLst>
              <a:ext uri="{FF2B5EF4-FFF2-40B4-BE49-F238E27FC236}">
                <a16:creationId xmlns:a16="http://schemas.microsoft.com/office/drawing/2014/main" id="{02E1D4B2-4DBD-18C7-475F-99342145CBF3}"/>
              </a:ext>
            </a:extLst>
          </p:cNvPr>
          <p:cNvSpPr/>
          <p:nvPr/>
        </p:nvSpPr>
        <p:spPr>
          <a:xfrm>
            <a:off x="3673918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4" name="object 26">
            <a:extLst>
              <a:ext uri="{FF2B5EF4-FFF2-40B4-BE49-F238E27FC236}">
                <a16:creationId xmlns:a16="http://schemas.microsoft.com/office/drawing/2014/main" id="{B2B06C10-BD6E-6937-C5CE-49A68E898B96}"/>
              </a:ext>
            </a:extLst>
          </p:cNvPr>
          <p:cNvSpPr/>
          <p:nvPr/>
        </p:nvSpPr>
        <p:spPr>
          <a:xfrm>
            <a:off x="4101642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5" name="object 27">
            <a:extLst>
              <a:ext uri="{FF2B5EF4-FFF2-40B4-BE49-F238E27FC236}">
                <a16:creationId xmlns:a16="http://schemas.microsoft.com/office/drawing/2014/main" id="{CA5230E6-E69C-58AD-B8F8-F400B385C68E}"/>
              </a:ext>
            </a:extLst>
          </p:cNvPr>
          <p:cNvSpPr/>
          <p:nvPr/>
        </p:nvSpPr>
        <p:spPr>
          <a:xfrm>
            <a:off x="4529366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6" name="object 28">
            <a:extLst>
              <a:ext uri="{FF2B5EF4-FFF2-40B4-BE49-F238E27FC236}">
                <a16:creationId xmlns:a16="http://schemas.microsoft.com/office/drawing/2014/main" id="{306184A3-1AC5-4FA4-6E3B-C9C1650D6C00}"/>
              </a:ext>
            </a:extLst>
          </p:cNvPr>
          <p:cNvSpPr/>
          <p:nvPr/>
        </p:nvSpPr>
        <p:spPr>
          <a:xfrm>
            <a:off x="4957089" y="3904807"/>
            <a:ext cx="427736" cy="260652"/>
          </a:xfrm>
          <a:custGeom>
            <a:avLst/>
            <a:gdLst/>
            <a:ahLst/>
            <a:cxnLst/>
            <a:rect l="l" t="t" r="r" b="b"/>
            <a:pathLst>
              <a:path w="365760" h="222885">
                <a:moveTo>
                  <a:pt x="0" y="0"/>
                </a:moveTo>
                <a:lnTo>
                  <a:pt x="365749" y="0"/>
                </a:lnTo>
                <a:lnTo>
                  <a:pt x="36574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7" name="object 29">
            <a:extLst>
              <a:ext uri="{FF2B5EF4-FFF2-40B4-BE49-F238E27FC236}">
                <a16:creationId xmlns:a16="http://schemas.microsoft.com/office/drawing/2014/main" id="{FEB20326-3F4C-FEE2-691E-26F897BDE827}"/>
              </a:ext>
            </a:extLst>
          </p:cNvPr>
          <p:cNvSpPr/>
          <p:nvPr/>
        </p:nvSpPr>
        <p:spPr>
          <a:xfrm>
            <a:off x="3246195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8" name="object 30">
            <a:extLst>
              <a:ext uri="{FF2B5EF4-FFF2-40B4-BE49-F238E27FC236}">
                <a16:creationId xmlns:a16="http://schemas.microsoft.com/office/drawing/2014/main" id="{9C00B1C1-A40B-0811-16B3-0283B88FD346}"/>
              </a:ext>
            </a:extLst>
          </p:cNvPr>
          <p:cNvSpPr/>
          <p:nvPr/>
        </p:nvSpPr>
        <p:spPr>
          <a:xfrm>
            <a:off x="3673918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9" name="object 31">
            <a:extLst>
              <a:ext uri="{FF2B5EF4-FFF2-40B4-BE49-F238E27FC236}">
                <a16:creationId xmlns:a16="http://schemas.microsoft.com/office/drawing/2014/main" id="{5756162B-EFEF-D482-5406-602712B309DB}"/>
              </a:ext>
            </a:extLst>
          </p:cNvPr>
          <p:cNvSpPr/>
          <p:nvPr/>
        </p:nvSpPr>
        <p:spPr>
          <a:xfrm>
            <a:off x="4101642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0" name="object 32">
            <a:extLst>
              <a:ext uri="{FF2B5EF4-FFF2-40B4-BE49-F238E27FC236}">
                <a16:creationId xmlns:a16="http://schemas.microsoft.com/office/drawing/2014/main" id="{D4598649-C352-4228-4684-FE832FA97158}"/>
              </a:ext>
            </a:extLst>
          </p:cNvPr>
          <p:cNvSpPr/>
          <p:nvPr/>
        </p:nvSpPr>
        <p:spPr>
          <a:xfrm>
            <a:off x="4529366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1" name="object 33">
            <a:extLst>
              <a:ext uri="{FF2B5EF4-FFF2-40B4-BE49-F238E27FC236}">
                <a16:creationId xmlns:a16="http://schemas.microsoft.com/office/drawing/2014/main" id="{E5FC8DD4-C6FD-4626-3C84-8467E47FD7F6}"/>
              </a:ext>
            </a:extLst>
          </p:cNvPr>
          <p:cNvSpPr/>
          <p:nvPr/>
        </p:nvSpPr>
        <p:spPr>
          <a:xfrm>
            <a:off x="4957089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2" name="object 34">
            <a:extLst>
              <a:ext uri="{FF2B5EF4-FFF2-40B4-BE49-F238E27FC236}">
                <a16:creationId xmlns:a16="http://schemas.microsoft.com/office/drawing/2014/main" id="{4F98D31A-9C24-F4BD-9907-7F4649C79956}"/>
              </a:ext>
            </a:extLst>
          </p:cNvPr>
          <p:cNvSpPr/>
          <p:nvPr/>
        </p:nvSpPr>
        <p:spPr>
          <a:xfrm>
            <a:off x="5384812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3" name="object 35">
            <a:extLst>
              <a:ext uri="{FF2B5EF4-FFF2-40B4-BE49-F238E27FC236}">
                <a16:creationId xmlns:a16="http://schemas.microsoft.com/office/drawing/2014/main" id="{7470BFD1-1560-2392-595C-CAD3CABEC5A2}"/>
              </a:ext>
            </a:extLst>
          </p:cNvPr>
          <p:cNvSpPr/>
          <p:nvPr/>
        </p:nvSpPr>
        <p:spPr>
          <a:xfrm>
            <a:off x="3238769" y="2603799"/>
            <a:ext cx="2153532" cy="0"/>
          </a:xfrm>
          <a:custGeom>
            <a:avLst/>
            <a:gdLst/>
            <a:ahLst/>
            <a:cxnLst/>
            <a:rect l="l" t="t" r="r" b="b"/>
            <a:pathLst>
              <a:path w="1841500">
                <a:moveTo>
                  <a:pt x="0" y="0"/>
                </a:moveTo>
                <a:lnTo>
                  <a:pt x="1841446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4" name="object 36">
            <a:extLst>
              <a:ext uri="{FF2B5EF4-FFF2-40B4-BE49-F238E27FC236}">
                <a16:creationId xmlns:a16="http://schemas.microsoft.com/office/drawing/2014/main" id="{9152B695-2033-8F9F-5DF7-E81A8A529422}"/>
              </a:ext>
            </a:extLst>
          </p:cNvPr>
          <p:cNvSpPr/>
          <p:nvPr/>
        </p:nvSpPr>
        <p:spPr>
          <a:xfrm>
            <a:off x="3238769" y="2863999"/>
            <a:ext cx="2153532" cy="0"/>
          </a:xfrm>
          <a:custGeom>
            <a:avLst/>
            <a:gdLst/>
            <a:ahLst/>
            <a:cxnLst/>
            <a:rect l="l" t="t" r="r" b="b"/>
            <a:pathLst>
              <a:path w="1841500">
                <a:moveTo>
                  <a:pt x="0" y="0"/>
                </a:moveTo>
                <a:lnTo>
                  <a:pt x="1841446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5" name="object 37">
            <a:extLst>
              <a:ext uri="{FF2B5EF4-FFF2-40B4-BE49-F238E27FC236}">
                <a16:creationId xmlns:a16="http://schemas.microsoft.com/office/drawing/2014/main" id="{2CE762DE-4922-B1C9-BD39-1621DB429604}"/>
              </a:ext>
            </a:extLst>
          </p:cNvPr>
          <p:cNvSpPr/>
          <p:nvPr/>
        </p:nvSpPr>
        <p:spPr>
          <a:xfrm>
            <a:off x="3238769" y="3124201"/>
            <a:ext cx="2153532" cy="0"/>
          </a:xfrm>
          <a:custGeom>
            <a:avLst/>
            <a:gdLst/>
            <a:ahLst/>
            <a:cxnLst/>
            <a:rect l="l" t="t" r="r" b="b"/>
            <a:pathLst>
              <a:path w="1841500">
                <a:moveTo>
                  <a:pt x="0" y="0"/>
                </a:moveTo>
                <a:lnTo>
                  <a:pt x="1841446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6" name="object 38">
            <a:extLst>
              <a:ext uri="{FF2B5EF4-FFF2-40B4-BE49-F238E27FC236}">
                <a16:creationId xmlns:a16="http://schemas.microsoft.com/office/drawing/2014/main" id="{E36472D8-65E3-AD3E-D325-7D1651C85035}"/>
              </a:ext>
            </a:extLst>
          </p:cNvPr>
          <p:cNvSpPr/>
          <p:nvPr/>
        </p:nvSpPr>
        <p:spPr>
          <a:xfrm>
            <a:off x="3238769" y="3384402"/>
            <a:ext cx="2153532" cy="0"/>
          </a:xfrm>
          <a:custGeom>
            <a:avLst/>
            <a:gdLst/>
            <a:ahLst/>
            <a:cxnLst/>
            <a:rect l="l" t="t" r="r" b="b"/>
            <a:pathLst>
              <a:path w="1841500">
                <a:moveTo>
                  <a:pt x="0" y="0"/>
                </a:moveTo>
                <a:lnTo>
                  <a:pt x="1841446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7" name="object 39">
            <a:extLst>
              <a:ext uri="{FF2B5EF4-FFF2-40B4-BE49-F238E27FC236}">
                <a16:creationId xmlns:a16="http://schemas.microsoft.com/office/drawing/2014/main" id="{086FDFB7-12D8-4528-64B9-3EA389FCBF55}"/>
              </a:ext>
            </a:extLst>
          </p:cNvPr>
          <p:cNvSpPr/>
          <p:nvPr/>
        </p:nvSpPr>
        <p:spPr>
          <a:xfrm>
            <a:off x="3238769" y="3644602"/>
            <a:ext cx="2153532" cy="0"/>
          </a:xfrm>
          <a:custGeom>
            <a:avLst/>
            <a:gdLst/>
            <a:ahLst/>
            <a:cxnLst/>
            <a:rect l="l" t="t" r="r" b="b"/>
            <a:pathLst>
              <a:path w="1841500">
                <a:moveTo>
                  <a:pt x="0" y="0"/>
                </a:moveTo>
                <a:lnTo>
                  <a:pt x="1841446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8" name="object 40">
            <a:extLst>
              <a:ext uri="{FF2B5EF4-FFF2-40B4-BE49-F238E27FC236}">
                <a16:creationId xmlns:a16="http://schemas.microsoft.com/office/drawing/2014/main" id="{62204A48-7E11-19B1-0CCD-657BB6E2EB6D}"/>
              </a:ext>
            </a:extLst>
          </p:cNvPr>
          <p:cNvSpPr/>
          <p:nvPr/>
        </p:nvSpPr>
        <p:spPr>
          <a:xfrm>
            <a:off x="3238769" y="3904806"/>
            <a:ext cx="2153532" cy="0"/>
          </a:xfrm>
          <a:custGeom>
            <a:avLst/>
            <a:gdLst/>
            <a:ahLst/>
            <a:cxnLst/>
            <a:rect l="l" t="t" r="r" b="b"/>
            <a:pathLst>
              <a:path w="1841500">
                <a:moveTo>
                  <a:pt x="0" y="0"/>
                </a:moveTo>
                <a:lnTo>
                  <a:pt x="1841446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9" name="object 41">
            <a:extLst>
              <a:ext uri="{FF2B5EF4-FFF2-40B4-BE49-F238E27FC236}">
                <a16:creationId xmlns:a16="http://schemas.microsoft.com/office/drawing/2014/main" id="{D5106C2E-15DF-373D-0DF4-E000D6F43585}"/>
              </a:ext>
            </a:extLst>
          </p:cNvPr>
          <p:cNvSpPr/>
          <p:nvPr/>
        </p:nvSpPr>
        <p:spPr>
          <a:xfrm>
            <a:off x="3238769" y="4165007"/>
            <a:ext cx="2153532" cy="0"/>
          </a:xfrm>
          <a:custGeom>
            <a:avLst/>
            <a:gdLst/>
            <a:ahLst/>
            <a:cxnLst/>
            <a:rect l="l" t="t" r="r" b="b"/>
            <a:pathLst>
              <a:path w="1841500">
                <a:moveTo>
                  <a:pt x="0" y="0"/>
                </a:moveTo>
                <a:lnTo>
                  <a:pt x="1841446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0" name="object 42">
            <a:extLst>
              <a:ext uri="{FF2B5EF4-FFF2-40B4-BE49-F238E27FC236}">
                <a16:creationId xmlns:a16="http://schemas.microsoft.com/office/drawing/2014/main" id="{25AE6F25-BD82-F182-C678-2F702ECF312D}"/>
              </a:ext>
            </a:extLst>
          </p:cNvPr>
          <p:cNvSpPr txBox="1"/>
          <p:nvPr/>
        </p:nvSpPr>
        <p:spPr>
          <a:xfrm>
            <a:off x="3673918" y="2603800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2177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A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1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121" name="object 43">
            <a:extLst>
              <a:ext uri="{FF2B5EF4-FFF2-40B4-BE49-F238E27FC236}">
                <a16:creationId xmlns:a16="http://schemas.microsoft.com/office/drawing/2014/main" id="{BAC548BE-00BD-D8DC-EBA5-0DA9111FFCDC}"/>
              </a:ext>
            </a:extLst>
          </p:cNvPr>
          <p:cNvSpPr txBox="1"/>
          <p:nvPr/>
        </p:nvSpPr>
        <p:spPr>
          <a:xfrm>
            <a:off x="4101642" y="2603800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39603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…</a:t>
            </a:r>
            <a:endParaRPr sz="1169">
              <a:latin typeface="Arial"/>
              <a:cs typeface="Arial"/>
            </a:endParaRPr>
          </a:p>
        </p:txBody>
      </p:sp>
      <p:sp>
        <p:nvSpPr>
          <p:cNvPr id="122" name="object 44">
            <a:extLst>
              <a:ext uri="{FF2B5EF4-FFF2-40B4-BE49-F238E27FC236}">
                <a16:creationId xmlns:a16="http://schemas.microsoft.com/office/drawing/2014/main" id="{0D76BD8D-8047-34E6-D3AE-76BF904C4A8D}"/>
              </a:ext>
            </a:extLst>
          </p:cNvPr>
          <p:cNvSpPr txBox="1"/>
          <p:nvPr/>
        </p:nvSpPr>
        <p:spPr>
          <a:xfrm>
            <a:off x="4529366" y="2603800"/>
            <a:ext cx="427736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15841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A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m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123" name="object 45">
            <a:extLst>
              <a:ext uri="{FF2B5EF4-FFF2-40B4-BE49-F238E27FC236}">
                <a16:creationId xmlns:a16="http://schemas.microsoft.com/office/drawing/2014/main" id="{0C6772A7-63B2-D306-815D-BA2A0602727B}"/>
              </a:ext>
            </a:extLst>
          </p:cNvPr>
          <p:cNvSpPr txBox="1"/>
          <p:nvPr/>
        </p:nvSpPr>
        <p:spPr>
          <a:xfrm>
            <a:off x="3774722" y="4629057"/>
            <a:ext cx="2844890" cy="266925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4851">
              <a:spcBef>
                <a:spcPts val="117"/>
              </a:spcBef>
            </a:pPr>
            <a:r>
              <a:rPr sz="1637" dirty="0">
                <a:latin typeface="Arial"/>
                <a:cs typeface="Arial"/>
              </a:rPr>
              <a:t>A</a:t>
            </a:r>
            <a:r>
              <a:rPr sz="1579" baseline="-30864" dirty="0">
                <a:latin typeface="Arial"/>
                <a:cs typeface="Arial"/>
              </a:rPr>
              <a:t>1</a:t>
            </a:r>
            <a:r>
              <a:rPr sz="1637" dirty="0">
                <a:latin typeface="Arial"/>
                <a:cs typeface="Arial"/>
              </a:rPr>
              <a:t>,…,A</a:t>
            </a:r>
            <a:r>
              <a:rPr sz="1579" baseline="-30864" dirty="0">
                <a:latin typeface="Arial"/>
                <a:cs typeface="Arial"/>
              </a:rPr>
              <a:t>m </a:t>
            </a:r>
            <a:r>
              <a:rPr sz="1637" dirty="0">
                <a:latin typeface="Arial"/>
                <a:cs typeface="Arial"/>
              </a:rPr>
              <a:t>→ </a:t>
            </a:r>
            <a:r>
              <a:rPr sz="1637" dirty="0" err="1">
                <a:latin typeface="Arial"/>
                <a:cs typeface="Arial"/>
              </a:rPr>
              <a:t>A</a:t>
            </a:r>
            <a:r>
              <a:rPr sz="1579" baseline="-30864" dirty="0" err="1">
                <a:latin typeface="Arial"/>
                <a:cs typeface="Arial"/>
              </a:rPr>
              <a:t>j</a:t>
            </a:r>
            <a:r>
              <a:rPr sz="1579" baseline="-30864" dirty="0">
                <a:latin typeface="Arial"/>
                <a:cs typeface="Arial"/>
              </a:rPr>
              <a:t> </a:t>
            </a:r>
            <a:r>
              <a:rPr sz="1637" spc="-6" dirty="0">
                <a:latin typeface="Arial"/>
                <a:cs typeface="Arial"/>
              </a:rPr>
              <a:t>f</a:t>
            </a:r>
            <a:r>
              <a:rPr lang="de-DE" sz="1637" spc="-6" dirty="0" err="1">
                <a:latin typeface="Arial"/>
                <a:cs typeface="Arial"/>
              </a:rPr>
              <a:t>ü</a:t>
            </a:r>
            <a:r>
              <a:rPr sz="1637" spc="-6" dirty="0">
                <a:latin typeface="Arial"/>
                <a:cs typeface="Arial"/>
              </a:rPr>
              <a:t>r a</a:t>
            </a:r>
            <a:r>
              <a:rPr lang="de-DE" sz="1637" spc="-6" dirty="0" err="1">
                <a:latin typeface="Arial"/>
                <a:cs typeface="Arial"/>
              </a:rPr>
              <a:t>ll</a:t>
            </a:r>
            <a:r>
              <a:rPr sz="1637" spc="-58" dirty="0">
                <a:latin typeface="Arial"/>
                <a:cs typeface="Arial"/>
              </a:rPr>
              <a:t> </a:t>
            </a:r>
            <a:r>
              <a:rPr sz="1637" spc="-6" dirty="0">
                <a:latin typeface="Arial"/>
                <a:cs typeface="Arial"/>
              </a:rPr>
              <a:t>j=1,…,m</a:t>
            </a:r>
            <a:endParaRPr sz="1637" dirty="0">
              <a:latin typeface="Arial"/>
              <a:cs typeface="Arial"/>
            </a:endParaRPr>
          </a:p>
        </p:txBody>
      </p:sp>
      <p:sp>
        <p:nvSpPr>
          <p:cNvPr id="124" name="object 46">
            <a:extLst>
              <a:ext uri="{FF2B5EF4-FFF2-40B4-BE49-F238E27FC236}">
                <a16:creationId xmlns:a16="http://schemas.microsoft.com/office/drawing/2014/main" id="{15F0AC78-730A-73AA-1C86-503842B396B2}"/>
              </a:ext>
            </a:extLst>
          </p:cNvPr>
          <p:cNvSpPr/>
          <p:nvPr/>
        </p:nvSpPr>
        <p:spPr>
          <a:xfrm>
            <a:off x="3558699" y="3016036"/>
            <a:ext cx="1486027" cy="10029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5" name="object 47">
            <a:extLst>
              <a:ext uri="{FF2B5EF4-FFF2-40B4-BE49-F238E27FC236}">
                <a16:creationId xmlns:a16="http://schemas.microsoft.com/office/drawing/2014/main" id="{16DDB3B8-9A8E-EBB2-744D-83A56615AC7B}"/>
              </a:ext>
            </a:extLst>
          </p:cNvPr>
          <p:cNvSpPr/>
          <p:nvPr/>
        </p:nvSpPr>
        <p:spPr>
          <a:xfrm>
            <a:off x="3611032" y="3044994"/>
            <a:ext cx="1381973" cy="898543"/>
          </a:xfrm>
          <a:custGeom>
            <a:avLst/>
            <a:gdLst/>
            <a:ahLst/>
            <a:cxnLst/>
            <a:rect l="l" t="t" r="r" b="b"/>
            <a:pathLst>
              <a:path w="1181735" h="768350">
                <a:moveTo>
                  <a:pt x="0" y="128017"/>
                </a:moveTo>
                <a:lnTo>
                  <a:pt x="10061" y="78186"/>
                </a:lnTo>
                <a:lnTo>
                  <a:pt x="37499" y="37495"/>
                </a:lnTo>
                <a:lnTo>
                  <a:pt x="78194" y="10060"/>
                </a:lnTo>
                <a:lnTo>
                  <a:pt x="128024" y="0"/>
                </a:lnTo>
                <a:lnTo>
                  <a:pt x="1053172" y="0"/>
                </a:lnTo>
                <a:lnTo>
                  <a:pt x="1102166" y="9744"/>
                </a:lnTo>
                <a:lnTo>
                  <a:pt x="1143697" y="37494"/>
                </a:lnTo>
                <a:lnTo>
                  <a:pt x="1171447" y="79026"/>
                </a:lnTo>
                <a:lnTo>
                  <a:pt x="1181197" y="128017"/>
                </a:lnTo>
                <a:lnTo>
                  <a:pt x="1181197" y="640081"/>
                </a:lnTo>
                <a:lnTo>
                  <a:pt x="1171135" y="689911"/>
                </a:lnTo>
                <a:lnTo>
                  <a:pt x="1143697" y="730606"/>
                </a:lnTo>
                <a:lnTo>
                  <a:pt x="1103003" y="758044"/>
                </a:lnTo>
                <a:lnTo>
                  <a:pt x="1053172" y="768105"/>
                </a:lnTo>
                <a:lnTo>
                  <a:pt x="128024" y="768105"/>
                </a:lnTo>
                <a:lnTo>
                  <a:pt x="78194" y="758044"/>
                </a:lnTo>
                <a:lnTo>
                  <a:pt x="37499" y="730606"/>
                </a:lnTo>
                <a:lnTo>
                  <a:pt x="10061" y="689911"/>
                </a:lnTo>
                <a:lnTo>
                  <a:pt x="0" y="640081"/>
                </a:lnTo>
                <a:lnTo>
                  <a:pt x="0" y="128017"/>
                </a:lnTo>
                <a:close/>
              </a:path>
            </a:pathLst>
          </a:custGeom>
          <a:ln w="9524">
            <a:solidFill>
              <a:srgbClr val="EB792A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6" name="object 48">
            <a:extLst>
              <a:ext uri="{FF2B5EF4-FFF2-40B4-BE49-F238E27FC236}">
                <a16:creationId xmlns:a16="http://schemas.microsoft.com/office/drawing/2014/main" id="{6A032EAB-B0C2-5BA1-CAC0-74EB17281987}"/>
              </a:ext>
            </a:extLst>
          </p:cNvPr>
          <p:cNvSpPr/>
          <p:nvPr/>
        </p:nvSpPr>
        <p:spPr>
          <a:xfrm>
            <a:off x="3973852" y="3009224"/>
            <a:ext cx="655717" cy="10029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7" name="object 49">
            <a:extLst>
              <a:ext uri="{FF2B5EF4-FFF2-40B4-BE49-F238E27FC236}">
                <a16:creationId xmlns:a16="http://schemas.microsoft.com/office/drawing/2014/main" id="{66585D31-80DA-C8E1-3DC6-DB577244D126}"/>
              </a:ext>
            </a:extLst>
          </p:cNvPr>
          <p:cNvSpPr/>
          <p:nvPr/>
        </p:nvSpPr>
        <p:spPr>
          <a:xfrm>
            <a:off x="4026185" y="3038180"/>
            <a:ext cx="551750" cy="898543"/>
          </a:xfrm>
          <a:custGeom>
            <a:avLst/>
            <a:gdLst/>
            <a:ahLst/>
            <a:cxnLst/>
            <a:rect l="l" t="t" r="r" b="b"/>
            <a:pathLst>
              <a:path w="471804" h="768350">
                <a:moveTo>
                  <a:pt x="0" y="78532"/>
                </a:moveTo>
                <a:lnTo>
                  <a:pt x="6173" y="47963"/>
                </a:lnTo>
                <a:lnTo>
                  <a:pt x="23009" y="23001"/>
                </a:lnTo>
                <a:lnTo>
                  <a:pt x="47977" y="6171"/>
                </a:lnTo>
                <a:lnTo>
                  <a:pt x="78549" y="0"/>
                </a:lnTo>
                <a:lnTo>
                  <a:pt x="392674" y="0"/>
                </a:lnTo>
                <a:lnTo>
                  <a:pt x="436239" y="13195"/>
                </a:lnTo>
                <a:lnTo>
                  <a:pt x="465220" y="48479"/>
                </a:lnTo>
                <a:lnTo>
                  <a:pt x="471199" y="78532"/>
                </a:lnTo>
                <a:lnTo>
                  <a:pt x="471199" y="689558"/>
                </a:lnTo>
                <a:lnTo>
                  <a:pt x="465025" y="720126"/>
                </a:lnTo>
                <a:lnTo>
                  <a:pt x="448192" y="745086"/>
                </a:lnTo>
                <a:lnTo>
                  <a:pt x="423231" y="761913"/>
                </a:lnTo>
                <a:lnTo>
                  <a:pt x="392674" y="768083"/>
                </a:lnTo>
                <a:lnTo>
                  <a:pt x="78549" y="768083"/>
                </a:lnTo>
                <a:lnTo>
                  <a:pt x="47977" y="761913"/>
                </a:lnTo>
                <a:lnTo>
                  <a:pt x="23009" y="745086"/>
                </a:lnTo>
                <a:lnTo>
                  <a:pt x="6173" y="720126"/>
                </a:lnTo>
                <a:lnTo>
                  <a:pt x="0" y="689558"/>
                </a:lnTo>
                <a:lnTo>
                  <a:pt x="0" y="78532"/>
                </a:lnTo>
                <a:close/>
              </a:path>
            </a:pathLst>
          </a:custGeom>
          <a:ln w="9524">
            <a:solidFill>
              <a:srgbClr val="EB792A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8" name="object 50">
            <a:extLst>
              <a:ext uri="{FF2B5EF4-FFF2-40B4-BE49-F238E27FC236}">
                <a16:creationId xmlns:a16="http://schemas.microsoft.com/office/drawing/2014/main" id="{C6CA87DC-2186-D56E-DF3A-E93E7E88550D}"/>
              </a:ext>
            </a:extLst>
          </p:cNvPr>
          <p:cNvSpPr/>
          <p:nvPr/>
        </p:nvSpPr>
        <p:spPr>
          <a:xfrm>
            <a:off x="3584924" y="3232772"/>
            <a:ext cx="487332" cy="5764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9" name="object 51">
            <a:extLst>
              <a:ext uri="{FF2B5EF4-FFF2-40B4-BE49-F238E27FC236}">
                <a16:creationId xmlns:a16="http://schemas.microsoft.com/office/drawing/2014/main" id="{F78EBDB3-CD99-3732-E801-B7C14EC906D4}"/>
              </a:ext>
            </a:extLst>
          </p:cNvPr>
          <p:cNvSpPr/>
          <p:nvPr/>
        </p:nvSpPr>
        <p:spPr>
          <a:xfrm>
            <a:off x="3637256" y="3258233"/>
            <a:ext cx="383180" cy="472292"/>
          </a:xfrm>
          <a:custGeom>
            <a:avLst/>
            <a:gdLst/>
            <a:ahLst/>
            <a:cxnLst/>
            <a:rect l="l" t="t" r="r" b="b"/>
            <a:pathLst>
              <a:path w="327660" h="403860">
                <a:moveTo>
                  <a:pt x="0" y="100852"/>
                </a:moveTo>
                <a:lnTo>
                  <a:pt x="163599" y="100852"/>
                </a:lnTo>
                <a:lnTo>
                  <a:pt x="163599" y="0"/>
                </a:lnTo>
                <a:lnTo>
                  <a:pt x="327199" y="201704"/>
                </a:lnTo>
                <a:lnTo>
                  <a:pt x="163599" y="403414"/>
                </a:lnTo>
                <a:lnTo>
                  <a:pt x="163599" y="302556"/>
                </a:lnTo>
                <a:lnTo>
                  <a:pt x="0" y="302556"/>
                </a:lnTo>
                <a:lnTo>
                  <a:pt x="0" y="100852"/>
                </a:lnTo>
                <a:close/>
              </a:path>
            </a:pathLst>
          </a:custGeom>
          <a:ln w="9524">
            <a:solidFill>
              <a:srgbClr val="EB792A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</p:spTree>
    <p:extLst>
      <p:ext uri="{BB962C8B-B14F-4D97-AF65-F5344CB8AC3E}">
        <p14:creationId xmlns:p14="http://schemas.microsoft.com/office/powerpoint/2010/main" val="20814611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CC4812BA-BB40-D7D8-112A-D507B6104E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4374" y="799613"/>
            <a:ext cx="6279679" cy="470635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/>
              <a:t>3. </a:t>
            </a:r>
            <a:r>
              <a:rPr lang="en-GB" sz="2961" spc="-213" dirty="0" err="1"/>
              <a:t>Transitivität</a:t>
            </a:r>
            <a:endParaRPr lang="en-GB" spc="-88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D49203D5-F522-18C3-0CA6-7E9DE3B25DAB}"/>
              </a:ext>
            </a:extLst>
          </p:cNvPr>
          <p:cNvSpPr/>
          <p:nvPr/>
        </p:nvSpPr>
        <p:spPr>
          <a:xfrm>
            <a:off x="3297124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E880CAE9-5D13-AE0C-8DC7-49EEB02E566A}"/>
              </a:ext>
            </a:extLst>
          </p:cNvPr>
          <p:cNvSpPr/>
          <p:nvPr/>
        </p:nvSpPr>
        <p:spPr>
          <a:xfrm>
            <a:off x="3653570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3E8A34BF-B5C5-9FF2-7291-2269BE501A7B}"/>
              </a:ext>
            </a:extLst>
          </p:cNvPr>
          <p:cNvSpPr/>
          <p:nvPr/>
        </p:nvSpPr>
        <p:spPr>
          <a:xfrm>
            <a:off x="4010017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EFD65775-3E75-2FE7-A24E-3B74C8CE07D9}"/>
              </a:ext>
            </a:extLst>
          </p:cNvPr>
          <p:cNvSpPr/>
          <p:nvPr/>
        </p:nvSpPr>
        <p:spPr>
          <a:xfrm>
            <a:off x="4366462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DF1092AB-1710-C81E-3814-92C9E3A4837A}"/>
              </a:ext>
            </a:extLst>
          </p:cNvPr>
          <p:cNvSpPr/>
          <p:nvPr/>
        </p:nvSpPr>
        <p:spPr>
          <a:xfrm>
            <a:off x="4722908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6CB8681F-8B47-024D-CF97-BFDB0863DB83}"/>
              </a:ext>
            </a:extLst>
          </p:cNvPr>
          <p:cNvSpPr/>
          <p:nvPr/>
        </p:nvSpPr>
        <p:spPr>
          <a:xfrm>
            <a:off x="5079354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412215D-4207-FCC5-37BC-A915903EC62C}"/>
              </a:ext>
            </a:extLst>
          </p:cNvPr>
          <p:cNvSpPr/>
          <p:nvPr/>
        </p:nvSpPr>
        <p:spPr>
          <a:xfrm>
            <a:off x="5435800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9A2D91C7-108A-9EE1-D89C-2738E324A97A}"/>
              </a:ext>
            </a:extLst>
          </p:cNvPr>
          <p:cNvSpPr/>
          <p:nvPr/>
        </p:nvSpPr>
        <p:spPr>
          <a:xfrm>
            <a:off x="5792246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8B7D1EF4-0C77-A084-4420-501044234746}"/>
              </a:ext>
            </a:extLst>
          </p:cNvPr>
          <p:cNvSpPr/>
          <p:nvPr/>
        </p:nvSpPr>
        <p:spPr>
          <a:xfrm>
            <a:off x="6148692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26A07B80-09DA-3D44-F70F-C6716AAB3EF1}"/>
              </a:ext>
            </a:extLst>
          </p:cNvPr>
          <p:cNvSpPr/>
          <p:nvPr/>
        </p:nvSpPr>
        <p:spPr>
          <a:xfrm>
            <a:off x="6505137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7EFA2CB3-76AA-11AE-C366-974EB258D8B5}"/>
              </a:ext>
            </a:extLst>
          </p:cNvPr>
          <p:cNvSpPr/>
          <p:nvPr/>
        </p:nvSpPr>
        <p:spPr>
          <a:xfrm>
            <a:off x="6861584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30CEF6C7-7B72-9857-58C3-F5380AEE29D5}"/>
              </a:ext>
            </a:extLst>
          </p:cNvPr>
          <p:cNvSpPr/>
          <p:nvPr/>
        </p:nvSpPr>
        <p:spPr>
          <a:xfrm>
            <a:off x="7218030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E165069D-14AA-C0D4-DC78-94BA77716A01}"/>
              </a:ext>
            </a:extLst>
          </p:cNvPr>
          <p:cNvSpPr/>
          <p:nvPr/>
        </p:nvSpPr>
        <p:spPr>
          <a:xfrm>
            <a:off x="3297124" y="31242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4A293F0-3003-B4D6-0488-6DBF9E2DE2E3}"/>
              </a:ext>
            </a:extLst>
          </p:cNvPr>
          <p:cNvSpPr/>
          <p:nvPr/>
        </p:nvSpPr>
        <p:spPr>
          <a:xfrm>
            <a:off x="3653570" y="31242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34591BAF-6F0A-287C-C04D-28CCB93B6B32}"/>
              </a:ext>
            </a:extLst>
          </p:cNvPr>
          <p:cNvSpPr/>
          <p:nvPr/>
        </p:nvSpPr>
        <p:spPr>
          <a:xfrm>
            <a:off x="4010017" y="31242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4870F088-C89D-9D0A-2A46-9A4F7CF44915}"/>
              </a:ext>
            </a:extLst>
          </p:cNvPr>
          <p:cNvSpPr/>
          <p:nvPr/>
        </p:nvSpPr>
        <p:spPr>
          <a:xfrm>
            <a:off x="4366462" y="31242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96261B9F-DDED-5A49-FC9D-DEA655938B3D}"/>
              </a:ext>
            </a:extLst>
          </p:cNvPr>
          <p:cNvSpPr/>
          <p:nvPr/>
        </p:nvSpPr>
        <p:spPr>
          <a:xfrm>
            <a:off x="4722908" y="31242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4D799387-FA2D-BDA8-5BE2-BA0FA9EECE37}"/>
              </a:ext>
            </a:extLst>
          </p:cNvPr>
          <p:cNvSpPr/>
          <p:nvPr/>
        </p:nvSpPr>
        <p:spPr>
          <a:xfrm>
            <a:off x="5079354" y="31242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9B28F490-F25F-E8E4-79F6-80A12950B307}"/>
              </a:ext>
            </a:extLst>
          </p:cNvPr>
          <p:cNvSpPr/>
          <p:nvPr/>
        </p:nvSpPr>
        <p:spPr>
          <a:xfrm>
            <a:off x="5435800" y="31242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49A7ACE3-F72A-47FC-FAF0-FE2143DE43E7}"/>
              </a:ext>
            </a:extLst>
          </p:cNvPr>
          <p:cNvSpPr/>
          <p:nvPr/>
        </p:nvSpPr>
        <p:spPr>
          <a:xfrm>
            <a:off x="5792246" y="31242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5" name="object 24">
            <a:extLst>
              <a:ext uri="{FF2B5EF4-FFF2-40B4-BE49-F238E27FC236}">
                <a16:creationId xmlns:a16="http://schemas.microsoft.com/office/drawing/2014/main" id="{0B953182-5EE3-AE4C-2BFB-9E30984AA9BF}"/>
              </a:ext>
            </a:extLst>
          </p:cNvPr>
          <p:cNvSpPr/>
          <p:nvPr/>
        </p:nvSpPr>
        <p:spPr>
          <a:xfrm>
            <a:off x="6148692" y="31242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986D2B84-657C-865E-3170-BDCEA9A90503}"/>
              </a:ext>
            </a:extLst>
          </p:cNvPr>
          <p:cNvSpPr/>
          <p:nvPr/>
        </p:nvSpPr>
        <p:spPr>
          <a:xfrm>
            <a:off x="3297124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F28D7D49-43D9-EC89-302C-F140F110F17B}"/>
              </a:ext>
            </a:extLst>
          </p:cNvPr>
          <p:cNvSpPr/>
          <p:nvPr/>
        </p:nvSpPr>
        <p:spPr>
          <a:xfrm>
            <a:off x="3653570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716CAB0B-62D6-9A84-823E-D3DB4C8C50F6}"/>
              </a:ext>
            </a:extLst>
          </p:cNvPr>
          <p:cNvSpPr/>
          <p:nvPr/>
        </p:nvSpPr>
        <p:spPr>
          <a:xfrm>
            <a:off x="4010017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29" name="object 28">
            <a:extLst>
              <a:ext uri="{FF2B5EF4-FFF2-40B4-BE49-F238E27FC236}">
                <a16:creationId xmlns:a16="http://schemas.microsoft.com/office/drawing/2014/main" id="{503C0160-FC9D-1188-42B8-3BCEDCBAAAC3}"/>
              </a:ext>
            </a:extLst>
          </p:cNvPr>
          <p:cNvSpPr/>
          <p:nvPr/>
        </p:nvSpPr>
        <p:spPr>
          <a:xfrm>
            <a:off x="4366462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0" name="object 29">
            <a:extLst>
              <a:ext uri="{FF2B5EF4-FFF2-40B4-BE49-F238E27FC236}">
                <a16:creationId xmlns:a16="http://schemas.microsoft.com/office/drawing/2014/main" id="{72810632-49E2-E6DF-FA6D-0E7F588C450F}"/>
              </a:ext>
            </a:extLst>
          </p:cNvPr>
          <p:cNvSpPr/>
          <p:nvPr/>
        </p:nvSpPr>
        <p:spPr>
          <a:xfrm>
            <a:off x="4722908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1" name="object 30">
            <a:extLst>
              <a:ext uri="{FF2B5EF4-FFF2-40B4-BE49-F238E27FC236}">
                <a16:creationId xmlns:a16="http://schemas.microsoft.com/office/drawing/2014/main" id="{366F443B-DED1-486E-130B-8795CCE18839}"/>
              </a:ext>
            </a:extLst>
          </p:cNvPr>
          <p:cNvSpPr/>
          <p:nvPr/>
        </p:nvSpPr>
        <p:spPr>
          <a:xfrm>
            <a:off x="5079354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2" name="object 31">
            <a:extLst>
              <a:ext uri="{FF2B5EF4-FFF2-40B4-BE49-F238E27FC236}">
                <a16:creationId xmlns:a16="http://schemas.microsoft.com/office/drawing/2014/main" id="{A9C5C84E-E671-430A-909A-4B9E5A8A503C}"/>
              </a:ext>
            </a:extLst>
          </p:cNvPr>
          <p:cNvSpPr/>
          <p:nvPr/>
        </p:nvSpPr>
        <p:spPr>
          <a:xfrm>
            <a:off x="5435800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3" name="object 32">
            <a:extLst>
              <a:ext uri="{FF2B5EF4-FFF2-40B4-BE49-F238E27FC236}">
                <a16:creationId xmlns:a16="http://schemas.microsoft.com/office/drawing/2014/main" id="{7C3183E2-B843-834B-A623-4C5EAB33E28C}"/>
              </a:ext>
            </a:extLst>
          </p:cNvPr>
          <p:cNvSpPr/>
          <p:nvPr/>
        </p:nvSpPr>
        <p:spPr>
          <a:xfrm>
            <a:off x="5792246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4" name="object 33">
            <a:extLst>
              <a:ext uri="{FF2B5EF4-FFF2-40B4-BE49-F238E27FC236}">
                <a16:creationId xmlns:a16="http://schemas.microsoft.com/office/drawing/2014/main" id="{7D1CA948-AD5B-F5CF-B8CD-8D7D787F0F0E}"/>
              </a:ext>
            </a:extLst>
          </p:cNvPr>
          <p:cNvSpPr/>
          <p:nvPr/>
        </p:nvSpPr>
        <p:spPr>
          <a:xfrm>
            <a:off x="6148692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5" name="object 34">
            <a:extLst>
              <a:ext uri="{FF2B5EF4-FFF2-40B4-BE49-F238E27FC236}">
                <a16:creationId xmlns:a16="http://schemas.microsoft.com/office/drawing/2014/main" id="{24EFDF9A-A7CA-0457-3E37-509E525FA50B}"/>
              </a:ext>
            </a:extLst>
          </p:cNvPr>
          <p:cNvSpPr/>
          <p:nvPr/>
        </p:nvSpPr>
        <p:spPr>
          <a:xfrm>
            <a:off x="6505137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6" name="object 35">
            <a:extLst>
              <a:ext uri="{FF2B5EF4-FFF2-40B4-BE49-F238E27FC236}">
                <a16:creationId xmlns:a16="http://schemas.microsoft.com/office/drawing/2014/main" id="{DBC9693F-19AF-0177-6E88-419C8DE1BBB5}"/>
              </a:ext>
            </a:extLst>
          </p:cNvPr>
          <p:cNvSpPr/>
          <p:nvPr/>
        </p:nvSpPr>
        <p:spPr>
          <a:xfrm>
            <a:off x="6861584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7" name="object 36">
            <a:extLst>
              <a:ext uri="{FF2B5EF4-FFF2-40B4-BE49-F238E27FC236}">
                <a16:creationId xmlns:a16="http://schemas.microsoft.com/office/drawing/2014/main" id="{55DB8B31-0873-4A06-BBF2-7E08EF406EB4}"/>
              </a:ext>
            </a:extLst>
          </p:cNvPr>
          <p:cNvSpPr/>
          <p:nvPr/>
        </p:nvSpPr>
        <p:spPr>
          <a:xfrm>
            <a:off x="7218030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8" name="object 37">
            <a:extLst>
              <a:ext uri="{FF2B5EF4-FFF2-40B4-BE49-F238E27FC236}">
                <a16:creationId xmlns:a16="http://schemas.microsoft.com/office/drawing/2014/main" id="{063D63F1-92EA-52AC-B2A4-611F3C913989}"/>
              </a:ext>
            </a:extLst>
          </p:cNvPr>
          <p:cNvSpPr/>
          <p:nvPr/>
        </p:nvSpPr>
        <p:spPr>
          <a:xfrm>
            <a:off x="3297124" y="36446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9" name="object 38">
            <a:extLst>
              <a:ext uri="{FF2B5EF4-FFF2-40B4-BE49-F238E27FC236}">
                <a16:creationId xmlns:a16="http://schemas.microsoft.com/office/drawing/2014/main" id="{F493CA9F-994C-79F5-9E83-9C327DB407FB}"/>
              </a:ext>
            </a:extLst>
          </p:cNvPr>
          <p:cNvSpPr/>
          <p:nvPr/>
        </p:nvSpPr>
        <p:spPr>
          <a:xfrm>
            <a:off x="3653570" y="36446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0" name="object 39">
            <a:extLst>
              <a:ext uri="{FF2B5EF4-FFF2-40B4-BE49-F238E27FC236}">
                <a16:creationId xmlns:a16="http://schemas.microsoft.com/office/drawing/2014/main" id="{8F1538C7-482B-D095-0D5E-BE994C1F3AE5}"/>
              </a:ext>
            </a:extLst>
          </p:cNvPr>
          <p:cNvSpPr/>
          <p:nvPr/>
        </p:nvSpPr>
        <p:spPr>
          <a:xfrm>
            <a:off x="4010017" y="36446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1" name="object 40">
            <a:extLst>
              <a:ext uri="{FF2B5EF4-FFF2-40B4-BE49-F238E27FC236}">
                <a16:creationId xmlns:a16="http://schemas.microsoft.com/office/drawing/2014/main" id="{A4948C07-0023-C0CA-8F9B-57C96B77706A}"/>
              </a:ext>
            </a:extLst>
          </p:cNvPr>
          <p:cNvSpPr/>
          <p:nvPr/>
        </p:nvSpPr>
        <p:spPr>
          <a:xfrm>
            <a:off x="4366462" y="36446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2" name="object 41">
            <a:extLst>
              <a:ext uri="{FF2B5EF4-FFF2-40B4-BE49-F238E27FC236}">
                <a16:creationId xmlns:a16="http://schemas.microsoft.com/office/drawing/2014/main" id="{747AC417-7A40-E849-317F-5F1E58116005}"/>
              </a:ext>
            </a:extLst>
          </p:cNvPr>
          <p:cNvSpPr/>
          <p:nvPr/>
        </p:nvSpPr>
        <p:spPr>
          <a:xfrm>
            <a:off x="4722908" y="36446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3" name="object 42">
            <a:extLst>
              <a:ext uri="{FF2B5EF4-FFF2-40B4-BE49-F238E27FC236}">
                <a16:creationId xmlns:a16="http://schemas.microsoft.com/office/drawing/2014/main" id="{6E4BD41A-998A-2966-AC7F-CE243EEC8351}"/>
              </a:ext>
            </a:extLst>
          </p:cNvPr>
          <p:cNvSpPr/>
          <p:nvPr/>
        </p:nvSpPr>
        <p:spPr>
          <a:xfrm>
            <a:off x="5079354" y="36446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4" name="object 43">
            <a:extLst>
              <a:ext uri="{FF2B5EF4-FFF2-40B4-BE49-F238E27FC236}">
                <a16:creationId xmlns:a16="http://schemas.microsoft.com/office/drawing/2014/main" id="{28C1AF06-FE3E-50D9-CF7A-B9B93073E00C}"/>
              </a:ext>
            </a:extLst>
          </p:cNvPr>
          <p:cNvSpPr/>
          <p:nvPr/>
        </p:nvSpPr>
        <p:spPr>
          <a:xfrm>
            <a:off x="5435800" y="36446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5" name="object 44">
            <a:extLst>
              <a:ext uri="{FF2B5EF4-FFF2-40B4-BE49-F238E27FC236}">
                <a16:creationId xmlns:a16="http://schemas.microsoft.com/office/drawing/2014/main" id="{CC28623F-85A8-4F63-A541-FDB4515D48B0}"/>
              </a:ext>
            </a:extLst>
          </p:cNvPr>
          <p:cNvSpPr/>
          <p:nvPr/>
        </p:nvSpPr>
        <p:spPr>
          <a:xfrm>
            <a:off x="5792246" y="36446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6" name="object 45">
            <a:extLst>
              <a:ext uri="{FF2B5EF4-FFF2-40B4-BE49-F238E27FC236}">
                <a16:creationId xmlns:a16="http://schemas.microsoft.com/office/drawing/2014/main" id="{319EAEB8-1118-FCEB-00E2-101974DED927}"/>
              </a:ext>
            </a:extLst>
          </p:cNvPr>
          <p:cNvSpPr/>
          <p:nvPr/>
        </p:nvSpPr>
        <p:spPr>
          <a:xfrm>
            <a:off x="6148692" y="36446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7" name="object 46">
            <a:extLst>
              <a:ext uri="{FF2B5EF4-FFF2-40B4-BE49-F238E27FC236}">
                <a16:creationId xmlns:a16="http://schemas.microsoft.com/office/drawing/2014/main" id="{E77C32E8-B540-DB61-025E-C93BC03D746C}"/>
              </a:ext>
            </a:extLst>
          </p:cNvPr>
          <p:cNvSpPr/>
          <p:nvPr/>
        </p:nvSpPr>
        <p:spPr>
          <a:xfrm>
            <a:off x="3297124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8" name="object 47">
            <a:extLst>
              <a:ext uri="{FF2B5EF4-FFF2-40B4-BE49-F238E27FC236}">
                <a16:creationId xmlns:a16="http://schemas.microsoft.com/office/drawing/2014/main" id="{2834120A-6DD6-6C54-0604-4B6F05C703F0}"/>
              </a:ext>
            </a:extLst>
          </p:cNvPr>
          <p:cNvSpPr/>
          <p:nvPr/>
        </p:nvSpPr>
        <p:spPr>
          <a:xfrm>
            <a:off x="3653570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9" name="object 48">
            <a:extLst>
              <a:ext uri="{FF2B5EF4-FFF2-40B4-BE49-F238E27FC236}">
                <a16:creationId xmlns:a16="http://schemas.microsoft.com/office/drawing/2014/main" id="{EF8BF691-7B28-428F-C222-8E33D1E63A11}"/>
              </a:ext>
            </a:extLst>
          </p:cNvPr>
          <p:cNvSpPr/>
          <p:nvPr/>
        </p:nvSpPr>
        <p:spPr>
          <a:xfrm>
            <a:off x="4010017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0" name="object 49">
            <a:extLst>
              <a:ext uri="{FF2B5EF4-FFF2-40B4-BE49-F238E27FC236}">
                <a16:creationId xmlns:a16="http://schemas.microsoft.com/office/drawing/2014/main" id="{2ED5941D-1EB3-5230-8F7D-D337A306AACA}"/>
              </a:ext>
            </a:extLst>
          </p:cNvPr>
          <p:cNvSpPr/>
          <p:nvPr/>
        </p:nvSpPr>
        <p:spPr>
          <a:xfrm>
            <a:off x="4366462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1" name="object 50">
            <a:extLst>
              <a:ext uri="{FF2B5EF4-FFF2-40B4-BE49-F238E27FC236}">
                <a16:creationId xmlns:a16="http://schemas.microsoft.com/office/drawing/2014/main" id="{EA24343B-0A93-B7F0-DD3B-F1D30776AE3F}"/>
              </a:ext>
            </a:extLst>
          </p:cNvPr>
          <p:cNvSpPr/>
          <p:nvPr/>
        </p:nvSpPr>
        <p:spPr>
          <a:xfrm>
            <a:off x="4722908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2" name="object 51">
            <a:extLst>
              <a:ext uri="{FF2B5EF4-FFF2-40B4-BE49-F238E27FC236}">
                <a16:creationId xmlns:a16="http://schemas.microsoft.com/office/drawing/2014/main" id="{85CA8B37-B6A5-6C29-4166-297678AC62FC}"/>
              </a:ext>
            </a:extLst>
          </p:cNvPr>
          <p:cNvSpPr/>
          <p:nvPr/>
        </p:nvSpPr>
        <p:spPr>
          <a:xfrm>
            <a:off x="5079354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3" name="object 52">
            <a:extLst>
              <a:ext uri="{FF2B5EF4-FFF2-40B4-BE49-F238E27FC236}">
                <a16:creationId xmlns:a16="http://schemas.microsoft.com/office/drawing/2014/main" id="{B98C93B7-2C79-C7AF-F546-6F33B7697920}"/>
              </a:ext>
            </a:extLst>
          </p:cNvPr>
          <p:cNvSpPr/>
          <p:nvPr/>
        </p:nvSpPr>
        <p:spPr>
          <a:xfrm>
            <a:off x="5435800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4" name="object 53">
            <a:extLst>
              <a:ext uri="{FF2B5EF4-FFF2-40B4-BE49-F238E27FC236}">
                <a16:creationId xmlns:a16="http://schemas.microsoft.com/office/drawing/2014/main" id="{38E89576-3B4E-5091-6096-3F2B0A4CA5D0}"/>
              </a:ext>
            </a:extLst>
          </p:cNvPr>
          <p:cNvSpPr/>
          <p:nvPr/>
        </p:nvSpPr>
        <p:spPr>
          <a:xfrm>
            <a:off x="5792246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5" name="object 54">
            <a:extLst>
              <a:ext uri="{FF2B5EF4-FFF2-40B4-BE49-F238E27FC236}">
                <a16:creationId xmlns:a16="http://schemas.microsoft.com/office/drawing/2014/main" id="{87575941-3562-6C87-68B1-2B25C9E4D37E}"/>
              </a:ext>
            </a:extLst>
          </p:cNvPr>
          <p:cNvSpPr/>
          <p:nvPr/>
        </p:nvSpPr>
        <p:spPr>
          <a:xfrm>
            <a:off x="6148692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6" name="object 55">
            <a:extLst>
              <a:ext uri="{FF2B5EF4-FFF2-40B4-BE49-F238E27FC236}">
                <a16:creationId xmlns:a16="http://schemas.microsoft.com/office/drawing/2014/main" id="{1EFA412E-F81D-0C2C-40EF-0CD15FA7468F}"/>
              </a:ext>
            </a:extLst>
          </p:cNvPr>
          <p:cNvSpPr/>
          <p:nvPr/>
        </p:nvSpPr>
        <p:spPr>
          <a:xfrm>
            <a:off x="6505137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7" name="object 56">
            <a:extLst>
              <a:ext uri="{FF2B5EF4-FFF2-40B4-BE49-F238E27FC236}">
                <a16:creationId xmlns:a16="http://schemas.microsoft.com/office/drawing/2014/main" id="{8826345E-2F9C-169A-A5C2-36A3661EBF90}"/>
              </a:ext>
            </a:extLst>
          </p:cNvPr>
          <p:cNvSpPr/>
          <p:nvPr/>
        </p:nvSpPr>
        <p:spPr>
          <a:xfrm>
            <a:off x="6861584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8" name="object 57">
            <a:extLst>
              <a:ext uri="{FF2B5EF4-FFF2-40B4-BE49-F238E27FC236}">
                <a16:creationId xmlns:a16="http://schemas.microsoft.com/office/drawing/2014/main" id="{16633825-2400-2B80-85E7-6CFD98F5FB41}"/>
              </a:ext>
            </a:extLst>
          </p:cNvPr>
          <p:cNvSpPr/>
          <p:nvPr/>
        </p:nvSpPr>
        <p:spPr>
          <a:xfrm>
            <a:off x="7218030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9" name="object 58">
            <a:extLst>
              <a:ext uri="{FF2B5EF4-FFF2-40B4-BE49-F238E27FC236}">
                <a16:creationId xmlns:a16="http://schemas.microsoft.com/office/drawing/2014/main" id="{202A555F-BC68-1FBC-6ED5-3436D1EAC394}"/>
              </a:ext>
            </a:extLst>
          </p:cNvPr>
          <p:cNvSpPr/>
          <p:nvPr/>
        </p:nvSpPr>
        <p:spPr>
          <a:xfrm>
            <a:off x="3297125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0" name="object 59">
            <a:extLst>
              <a:ext uri="{FF2B5EF4-FFF2-40B4-BE49-F238E27FC236}">
                <a16:creationId xmlns:a16="http://schemas.microsoft.com/office/drawing/2014/main" id="{298F7CDA-AF4A-C223-EFF3-810AD25B0012}"/>
              </a:ext>
            </a:extLst>
          </p:cNvPr>
          <p:cNvSpPr/>
          <p:nvPr/>
        </p:nvSpPr>
        <p:spPr>
          <a:xfrm>
            <a:off x="3653570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1" name="object 60">
            <a:extLst>
              <a:ext uri="{FF2B5EF4-FFF2-40B4-BE49-F238E27FC236}">
                <a16:creationId xmlns:a16="http://schemas.microsoft.com/office/drawing/2014/main" id="{7417AAB2-2DEC-2B6E-621E-6BBF1A39DFC2}"/>
              </a:ext>
            </a:extLst>
          </p:cNvPr>
          <p:cNvSpPr/>
          <p:nvPr/>
        </p:nvSpPr>
        <p:spPr>
          <a:xfrm>
            <a:off x="4010017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2" name="object 61">
            <a:extLst>
              <a:ext uri="{FF2B5EF4-FFF2-40B4-BE49-F238E27FC236}">
                <a16:creationId xmlns:a16="http://schemas.microsoft.com/office/drawing/2014/main" id="{A22D1C89-44AF-C7B9-30CB-D4CB48E6D592}"/>
              </a:ext>
            </a:extLst>
          </p:cNvPr>
          <p:cNvSpPr/>
          <p:nvPr/>
        </p:nvSpPr>
        <p:spPr>
          <a:xfrm>
            <a:off x="4366462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3" name="object 62">
            <a:extLst>
              <a:ext uri="{FF2B5EF4-FFF2-40B4-BE49-F238E27FC236}">
                <a16:creationId xmlns:a16="http://schemas.microsoft.com/office/drawing/2014/main" id="{F0E01F9B-434B-9E4D-4DFB-D3773F7AC485}"/>
              </a:ext>
            </a:extLst>
          </p:cNvPr>
          <p:cNvSpPr/>
          <p:nvPr/>
        </p:nvSpPr>
        <p:spPr>
          <a:xfrm>
            <a:off x="4722908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4" name="object 63">
            <a:extLst>
              <a:ext uri="{FF2B5EF4-FFF2-40B4-BE49-F238E27FC236}">
                <a16:creationId xmlns:a16="http://schemas.microsoft.com/office/drawing/2014/main" id="{765D9CDC-297D-BD84-6CD1-6EC08BC5E006}"/>
              </a:ext>
            </a:extLst>
          </p:cNvPr>
          <p:cNvSpPr/>
          <p:nvPr/>
        </p:nvSpPr>
        <p:spPr>
          <a:xfrm>
            <a:off x="5079354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5" name="object 64">
            <a:extLst>
              <a:ext uri="{FF2B5EF4-FFF2-40B4-BE49-F238E27FC236}">
                <a16:creationId xmlns:a16="http://schemas.microsoft.com/office/drawing/2014/main" id="{8100AB22-B5B1-46D8-F7FD-C0118ADE9766}"/>
              </a:ext>
            </a:extLst>
          </p:cNvPr>
          <p:cNvSpPr/>
          <p:nvPr/>
        </p:nvSpPr>
        <p:spPr>
          <a:xfrm>
            <a:off x="5435800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6" name="object 65">
            <a:extLst>
              <a:ext uri="{FF2B5EF4-FFF2-40B4-BE49-F238E27FC236}">
                <a16:creationId xmlns:a16="http://schemas.microsoft.com/office/drawing/2014/main" id="{CF0EB076-2236-017A-FC4A-9E03B03A9752}"/>
              </a:ext>
            </a:extLst>
          </p:cNvPr>
          <p:cNvSpPr/>
          <p:nvPr/>
        </p:nvSpPr>
        <p:spPr>
          <a:xfrm>
            <a:off x="5792245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7" name="object 66">
            <a:extLst>
              <a:ext uri="{FF2B5EF4-FFF2-40B4-BE49-F238E27FC236}">
                <a16:creationId xmlns:a16="http://schemas.microsoft.com/office/drawing/2014/main" id="{6834337E-7734-AB1E-F25B-84EF8DB25152}"/>
              </a:ext>
            </a:extLst>
          </p:cNvPr>
          <p:cNvSpPr/>
          <p:nvPr/>
        </p:nvSpPr>
        <p:spPr>
          <a:xfrm>
            <a:off x="6148692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8" name="object 67">
            <a:extLst>
              <a:ext uri="{FF2B5EF4-FFF2-40B4-BE49-F238E27FC236}">
                <a16:creationId xmlns:a16="http://schemas.microsoft.com/office/drawing/2014/main" id="{06C4C366-3FD2-6518-2D7D-06D0543160E8}"/>
              </a:ext>
            </a:extLst>
          </p:cNvPr>
          <p:cNvSpPr/>
          <p:nvPr/>
        </p:nvSpPr>
        <p:spPr>
          <a:xfrm>
            <a:off x="6505138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9" name="object 68">
            <a:extLst>
              <a:ext uri="{FF2B5EF4-FFF2-40B4-BE49-F238E27FC236}">
                <a16:creationId xmlns:a16="http://schemas.microsoft.com/office/drawing/2014/main" id="{6D5BC848-13C8-897D-49BB-9CAD11F3692D}"/>
              </a:ext>
            </a:extLst>
          </p:cNvPr>
          <p:cNvSpPr/>
          <p:nvPr/>
        </p:nvSpPr>
        <p:spPr>
          <a:xfrm>
            <a:off x="6861584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0" name="object 69">
            <a:extLst>
              <a:ext uri="{FF2B5EF4-FFF2-40B4-BE49-F238E27FC236}">
                <a16:creationId xmlns:a16="http://schemas.microsoft.com/office/drawing/2014/main" id="{ADA96E67-D81C-6C67-F532-27241BEE038B}"/>
              </a:ext>
            </a:extLst>
          </p:cNvPr>
          <p:cNvSpPr/>
          <p:nvPr/>
        </p:nvSpPr>
        <p:spPr>
          <a:xfrm>
            <a:off x="7218030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1" name="object 70">
            <a:extLst>
              <a:ext uri="{FF2B5EF4-FFF2-40B4-BE49-F238E27FC236}">
                <a16:creationId xmlns:a16="http://schemas.microsoft.com/office/drawing/2014/main" id="{615CB39E-A5BD-673A-F09F-369457669D8C}"/>
              </a:ext>
            </a:extLst>
          </p:cNvPr>
          <p:cNvSpPr/>
          <p:nvPr/>
        </p:nvSpPr>
        <p:spPr>
          <a:xfrm>
            <a:off x="7574475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2" name="object 71">
            <a:extLst>
              <a:ext uri="{FF2B5EF4-FFF2-40B4-BE49-F238E27FC236}">
                <a16:creationId xmlns:a16="http://schemas.microsoft.com/office/drawing/2014/main" id="{DDF8E9C4-14CA-7E66-23FE-ED6CE77A9727}"/>
              </a:ext>
            </a:extLst>
          </p:cNvPr>
          <p:cNvSpPr/>
          <p:nvPr/>
        </p:nvSpPr>
        <p:spPr>
          <a:xfrm>
            <a:off x="3289699" y="2603799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2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3" name="object 72">
            <a:extLst>
              <a:ext uri="{FF2B5EF4-FFF2-40B4-BE49-F238E27FC236}">
                <a16:creationId xmlns:a16="http://schemas.microsoft.com/office/drawing/2014/main" id="{99065A85-B7DC-F280-B80F-08934C37B3AF}"/>
              </a:ext>
            </a:extLst>
          </p:cNvPr>
          <p:cNvSpPr/>
          <p:nvPr/>
        </p:nvSpPr>
        <p:spPr>
          <a:xfrm>
            <a:off x="3289699" y="2863999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2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4" name="object 73">
            <a:extLst>
              <a:ext uri="{FF2B5EF4-FFF2-40B4-BE49-F238E27FC236}">
                <a16:creationId xmlns:a16="http://schemas.microsoft.com/office/drawing/2014/main" id="{A787BA61-7622-B481-1AF6-82C4B3F8AFC5}"/>
              </a:ext>
            </a:extLst>
          </p:cNvPr>
          <p:cNvSpPr/>
          <p:nvPr/>
        </p:nvSpPr>
        <p:spPr>
          <a:xfrm>
            <a:off x="3289699" y="3124201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2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5" name="object 74">
            <a:extLst>
              <a:ext uri="{FF2B5EF4-FFF2-40B4-BE49-F238E27FC236}">
                <a16:creationId xmlns:a16="http://schemas.microsoft.com/office/drawing/2014/main" id="{D03D4FE7-86D5-38B2-26F8-CFCFE363DECC}"/>
              </a:ext>
            </a:extLst>
          </p:cNvPr>
          <p:cNvSpPr/>
          <p:nvPr/>
        </p:nvSpPr>
        <p:spPr>
          <a:xfrm>
            <a:off x="3289699" y="3384402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2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6" name="object 75">
            <a:extLst>
              <a:ext uri="{FF2B5EF4-FFF2-40B4-BE49-F238E27FC236}">
                <a16:creationId xmlns:a16="http://schemas.microsoft.com/office/drawing/2014/main" id="{E9963B9F-527C-B258-0880-DCFC11FD6615}"/>
              </a:ext>
            </a:extLst>
          </p:cNvPr>
          <p:cNvSpPr/>
          <p:nvPr/>
        </p:nvSpPr>
        <p:spPr>
          <a:xfrm>
            <a:off x="3289699" y="3644602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2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7" name="object 76">
            <a:extLst>
              <a:ext uri="{FF2B5EF4-FFF2-40B4-BE49-F238E27FC236}">
                <a16:creationId xmlns:a16="http://schemas.microsoft.com/office/drawing/2014/main" id="{C4D5B31D-A6E3-2991-14A1-38C243A42B31}"/>
              </a:ext>
            </a:extLst>
          </p:cNvPr>
          <p:cNvSpPr/>
          <p:nvPr/>
        </p:nvSpPr>
        <p:spPr>
          <a:xfrm>
            <a:off x="3289699" y="3904806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2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8" name="object 77">
            <a:extLst>
              <a:ext uri="{FF2B5EF4-FFF2-40B4-BE49-F238E27FC236}">
                <a16:creationId xmlns:a16="http://schemas.microsoft.com/office/drawing/2014/main" id="{4E8D1721-44D7-DB0E-1985-AE628ADE9135}"/>
              </a:ext>
            </a:extLst>
          </p:cNvPr>
          <p:cNvSpPr/>
          <p:nvPr/>
        </p:nvSpPr>
        <p:spPr>
          <a:xfrm>
            <a:off x="3289699" y="4165007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2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9" name="object 78">
            <a:extLst>
              <a:ext uri="{FF2B5EF4-FFF2-40B4-BE49-F238E27FC236}">
                <a16:creationId xmlns:a16="http://schemas.microsoft.com/office/drawing/2014/main" id="{90B37FE0-B56E-FE23-A811-02EDD87964CC}"/>
              </a:ext>
            </a:extLst>
          </p:cNvPr>
          <p:cNvSpPr txBox="1"/>
          <p:nvPr/>
        </p:nvSpPr>
        <p:spPr>
          <a:xfrm>
            <a:off x="3653570" y="2603800"/>
            <a:ext cx="356447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96534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A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1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80" name="object 79">
            <a:extLst>
              <a:ext uri="{FF2B5EF4-FFF2-40B4-BE49-F238E27FC236}">
                <a16:creationId xmlns:a16="http://schemas.microsoft.com/office/drawing/2014/main" id="{B03CF40F-68CC-C13D-D66B-5EF37770D4E9}"/>
              </a:ext>
            </a:extLst>
          </p:cNvPr>
          <p:cNvSpPr txBox="1"/>
          <p:nvPr/>
        </p:nvSpPr>
        <p:spPr>
          <a:xfrm>
            <a:off x="4010017" y="2603800"/>
            <a:ext cx="356447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03960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…</a:t>
            </a:r>
            <a:endParaRPr sz="1169">
              <a:latin typeface="Arial"/>
              <a:cs typeface="Arial"/>
            </a:endParaRPr>
          </a:p>
        </p:txBody>
      </p:sp>
      <p:sp>
        <p:nvSpPr>
          <p:cNvPr id="81" name="object 80">
            <a:extLst>
              <a:ext uri="{FF2B5EF4-FFF2-40B4-BE49-F238E27FC236}">
                <a16:creationId xmlns:a16="http://schemas.microsoft.com/office/drawing/2014/main" id="{1AB37DF1-268B-6C19-446E-5F350EA704C6}"/>
              </a:ext>
            </a:extLst>
          </p:cNvPr>
          <p:cNvSpPr txBox="1"/>
          <p:nvPr/>
        </p:nvSpPr>
        <p:spPr>
          <a:xfrm>
            <a:off x="4366462" y="2603800"/>
            <a:ext cx="356447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80197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A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m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82" name="object 81">
            <a:extLst>
              <a:ext uri="{FF2B5EF4-FFF2-40B4-BE49-F238E27FC236}">
                <a16:creationId xmlns:a16="http://schemas.microsoft.com/office/drawing/2014/main" id="{A19BDD52-94B5-8AD1-4EF1-6CC56FA1B5AD}"/>
              </a:ext>
            </a:extLst>
          </p:cNvPr>
          <p:cNvSpPr txBox="1"/>
          <p:nvPr/>
        </p:nvSpPr>
        <p:spPr>
          <a:xfrm>
            <a:off x="5079354" y="2603800"/>
            <a:ext cx="356447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96534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B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1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83" name="object 82">
            <a:extLst>
              <a:ext uri="{FF2B5EF4-FFF2-40B4-BE49-F238E27FC236}">
                <a16:creationId xmlns:a16="http://schemas.microsoft.com/office/drawing/2014/main" id="{8E97A91B-0B1C-F4EB-EC6B-597FCCD4CC88}"/>
              </a:ext>
            </a:extLst>
          </p:cNvPr>
          <p:cNvSpPr txBox="1"/>
          <p:nvPr/>
        </p:nvSpPr>
        <p:spPr>
          <a:xfrm>
            <a:off x="5435800" y="2603800"/>
            <a:ext cx="356447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03960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…</a:t>
            </a:r>
            <a:endParaRPr sz="1169">
              <a:latin typeface="Arial"/>
              <a:cs typeface="Arial"/>
            </a:endParaRPr>
          </a:p>
        </p:txBody>
      </p:sp>
      <p:sp>
        <p:nvSpPr>
          <p:cNvPr id="130" name="object 83">
            <a:extLst>
              <a:ext uri="{FF2B5EF4-FFF2-40B4-BE49-F238E27FC236}">
                <a16:creationId xmlns:a16="http://schemas.microsoft.com/office/drawing/2014/main" id="{564CF35D-C79D-3133-094B-BDD08DAC4886}"/>
              </a:ext>
            </a:extLst>
          </p:cNvPr>
          <p:cNvSpPr txBox="1"/>
          <p:nvPr/>
        </p:nvSpPr>
        <p:spPr>
          <a:xfrm>
            <a:off x="5792245" y="2603800"/>
            <a:ext cx="356447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94306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B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n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131" name="object 84">
            <a:extLst>
              <a:ext uri="{FF2B5EF4-FFF2-40B4-BE49-F238E27FC236}">
                <a16:creationId xmlns:a16="http://schemas.microsoft.com/office/drawing/2014/main" id="{EDEC9E52-723C-596C-7C67-E29BE942E943}"/>
              </a:ext>
            </a:extLst>
          </p:cNvPr>
          <p:cNvSpPr txBox="1"/>
          <p:nvPr/>
        </p:nvSpPr>
        <p:spPr>
          <a:xfrm>
            <a:off x="6505137" y="2603800"/>
            <a:ext cx="356447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96534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C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1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132" name="object 85">
            <a:extLst>
              <a:ext uri="{FF2B5EF4-FFF2-40B4-BE49-F238E27FC236}">
                <a16:creationId xmlns:a16="http://schemas.microsoft.com/office/drawing/2014/main" id="{677D7C24-59A2-9D2D-9541-516E79E3EEFF}"/>
              </a:ext>
            </a:extLst>
          </p:cNvPr>
          <p:cNvSpPr txBox="1"/>
          <p:nvPr/>
        </p:nvSpPr>
        <p:spPr>
          <a:xfrm>
            <a:off x="6861584" y="2603800"/>
            <a:ext cx="356447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03960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…</a:t>
            </a:r>
            <a:endParaRPr sz="1169">
              <a:latin typeface="Arial"/>
              <a:cs typeface="Arial"/>
            </a:endParaRPr>
          </a:p>
        </p:txBody>
      </p:sp>
      <p:sp>
        <p:nvSpPr>
          <p:cNvPr id="133" name="object 86">
            <a:extLst>
              <a:ext uri="{FF2B5EF4-FFF2-40B4-BE49-F238E27FC236}">
                <a16:creationId xmlns:a16="http://schemas.microsoft.com/office/drawing/2014/main" id="{2CF1FBC5-94CD-2E7A-2D54-9E18D4DC5362}"/>
              </a:ext>
            </a:extLst>
          </p:cNvPr>
          <p:cNvSpPr txBox="1"/>
          <p:nvPr/>
        </p:nvSpPr>
        <p:spPr>
          <a:xfrm>
            <a:off x="7218030" y="2603800"/>
            <a:ext cx="356447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96534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C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k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134" name="object 87">
            <a:extLst>
              <a:ext uri="{FF2B5EF4-FFF2-40B4-BE49-F238E27FC236}">
                <a16:creationId xmlns:a16="http://schemas.microsoft.com/office/drawing/2014/main" id="{B3CDA9E1-DE62-997B-7D1E-A3D3E1B65D80}"/>
              </a:ext>
            </a:extLst>
          </p:cNvPr>
          <p:cNvSpPr txBox="1"/>
          <p:nvPr/>
        </p:nvSpPr>
        <p:spPr>
          <a:xfrm>
            <a:off x="3382524" y="4413089"/>
            <a:ext cx="2740926" cy="578986"/>
          </a:xfrm>
          <a:prstGeom prst="rect">
            <a:avLst/>
          </a:prstGeom>
        </p:spPr>
        <p:txBody>
          <a:bodyPr vert="horz" wrap="square" lIns="0" tIns="10396" rIns="0" bIns="0" rtlCol="0">
            <a:spAutoFit/>
          </a:bodyPr>
          <a:lstStyle/>
          <a:p>
            <a:pPr marL="14851" marR="5941">
              <a:lnSpc>
                <a:spcPct val="101600"/>
              </a:lnSpc>
              <a:spcBef>
                <a:spcPts val="82"/>
              </a:spcBef>
            </a:pPr>
            <a:r>
              <a:rPr sz="1871" spc="-6" dirty="0">
                <a:latin typeface="Arial"/>
                <a:cs typeface="Arial"/>
              </a:rPr>
              <a:t>A</a:t>
            </a:r>
            <a:r>
              <a:rPr sz="1842" spc="-8" baseline="-31746" dirty="0">
                <a:latin typeface="Arial"/>
                <a:cs typeface="Arial"/>
              </a:rPr>
              <a:t>1</a:t>
            </a:r>
            <a:r>
              <a:rPr sz="1871" spc="-6" dirty="0">
                <a:latin typeface="Arial"/>
                <a:cs typeface="Arial"/>
              </a:rPr>
              <a:t>, </a:t>
            </a:r>
            <a:r>
              <a:rPr sz="1871" dirty="0">
                <a:latin typeface="Arial"/>
                <a:cs typeface="Arial"/>
              </a:rPr>
              <a:t>…, </a:t>
            </a:r>
            <a:r>
              <a:rPr sz="1871" spc="6" dirty="0">
                <a:latin typeface="Arial"/>
                <a:cs typeface="Arial"/>
              </a:rPr>
              <a:t>A</a:t>
            </a:r>
            <a:r>
              <a:rPr sz="1842" spc="8" baseline="-31746" dirty="0">
                <a:latin typeface="Arial"/>
                <a:cs typeface="Arial"/>
              </a:rPr>
              <a:t>m </a:t>
            </a:r>
            <a:r>
              <a:rPr sz="1871" dirty="0">
                <a:latin typeface="Arial"/>
                <a:cs typeface="Arial"/>
              </a:rPr>
              <a:t>→ </a:t>
            </a:r>
            <a:r>
              <a:rPr sz="1871" spc="-6" dirty="0">
                <a:latin typeface="Arial"/>
                <a:cs typeface="Arial"/>
              </a:rPr>
              <a:t>B</a:t>
            </a:r>
            <a:r>
              <a:rPr sz="1842" spc="-8" baseline="-31746" dirty="0">
                <a:latin typeface="Arial"/>
                <a:cs typeface="Arial"/>
              </a:rPr>
              <a:t>1</a:t>
            </a:r>
            <a:r>
              <a:rPr sz="1871" spc="-6" dirty="0">
                <a:latin typeface="Arial"/>
                <a:cs typeface="Arial"/>
              </a:rPr>
              <a:t>,…,B</a:t>
            </a:r>
            <a:r>
              <a:rPr sz="1842" spc="-8" baseline="-31746" dirty="0">
                <a:latin typeface="Arial"/>
                <a:cs typeface="Arial"/>
              </a:rPr>
              <a:t>n </a:t>
            </a:r>
            <a:r>
              <a:rPr lang="en-GB" sz="1871" spc="-6" dirty="0">
                <a:latin typeface="Arial"/>
                <a:cs typeface="Arial"/>
              </a:rPr>
              <a:t>u</a:t>
            </a:r>
            <a:r>
              <a:rPr sz="1871" spc="-6" dirty="0" err="1">
                <a:latin typeface="Arial"/>
                <a:cs typeface="Arial"/>
              </a:rPr>
              <a:t>nd</a:t>
            </a:r>
            <a:r>
              <a:rPr sz="1871" spc="-6" dirty="0">
                <a:latin typeface="Arial"/>
                <a:cs typeface="Arial"/>
              </a:rPr>
              <a:t>  B</a:t>
            </a:r>
            <a:r>
              <a:rPr sz="1842" spc="-8" baseline="-31746" dirty="0">
                <a:latin typeface="Arial"/>
                <a:cs typeface="Arial"/>
              </a:rPr>
              <a:t>1</a:t>
            </a:r>
            <a:r>
              <a:rPr sz="1871" spc="-6" dirty="0">
                <a:latin typeface="Arial"/>
                <a:cs typeface="Arial"/>
              </a:rPr>
              <a:t>,…,B</a:t>
            </a:r>
            <a:r>
              <a:rPr sz="1842" spc="-8" baseline="-31746" dirty="0">
                <a:latin typeface="Arial"/>
                <a:cs typeface="Arial"/>
              </a:rPr>
              <a:t>n </a:t>
            </a:r>
            <a:r>
              <a:rPr sz="1871" dirty="0">
                <a:latin typeface="Arial"/>
                <a:cs typeface="Arial"/>
              </a:rPr>
              <a:t>→</a:t>
            </a:r>
            <a:r>
              <a:rPr sz="1871" spc="-12" dirty="0">
                <a:latin typeface="Arial"/>
                <a:cs typeface="Arial"/>
              </a:rPr>
              <a:t> </a:t>
            </a:r>
            <a:r>
              <a:rPr sz="1871" spc="-6" dirty="0">
                <a:latin typeface="Arial"/>
                <a:cs typeface="Arial"/>
              </a:rPr>
              <a:t>C</a:t>
            </a:r>
            <a:r>
              <a:rPr sz="1842" spc="-8" baseline="-31746" dirty="0">
                <a:latin typeface="Arial"/>
                <a:cs typeface="Arial"/>
              </a:rPr>
              <a:t>1</a:t>
            </a:r>
            <a:r>
              <a:rPr sz="1871" spc="-6" dirty="0">
                <a:latin typeface="Arial"/>
                <a:cs typeface="Arial"/>
              </a:rPr>
              <a:t>,…,C</a:t>
            </a:r>
            <a:r>
              <a:rPr sz="1842" spc="-8" baseline="-31746" dirty="0">
                <a:latin typeface="Arial"/>
                <a:cs typeface="Arial"/>
              </a:rPr>
              <a:t>k</a:t>
            </a:r>
            <a:endParaRPr sz="1842" baseline="-31746" dirty="0">
              <a:latin typeface="Arial"/>
              <a:cs typeface="Arial"/>
            </a:endParaRPr>
          </a:p>
        </p:txBody>
      </p:sp>
      <p:sp>
        <p:nvSpPr>
          <p:cNvPr id="135" name="object 88">
            <a:extLst>
              <a:ext uri="{FF2B5EF4-FFF2-40B4-BE49-F238E27FC236}">
                <a16:creationId xmlns:a16="http://schemas.microsoft.com/office/drawing/2014/main" id="{6FFF4A02-F4D9-34CF-281A-93F7A4BC5675}"/>
              </a:ext>
            </a:extLst>
          </p:cNvPr>
          <p:cNvSpPr/>
          <p:nvPr/>
        </p:nvSpPr>
        <p:spPr>
          <a:xfrm>
            <a:off x="3579427" y="3016036"/>
            <a:ext cx="1194789" cy="10029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6" name="object 89">
            <a:extLst>
              <a:ext uri="{FF2B5EF4-FFF2-40B4-BE49-F238E27FC236}">
                <a16:creationId xmlns:a16="http://schemas.microsoft.com/office/drawing/2014/main" id="{3FF264B0-1CBA-6FC2-7068-00E302B92B2B}"/>
              </a:ext>
            </a:extLst>
          </p:cNvPr>
          <p:cNvSpPr/>
          <p:nvPr/>
        </p:nvSpPr>
        <p:spPr>
          <a:xfrm>
            <a:off x="3631760" y="3044994"/>
            <a:ext cx="1090133" cy="898543"/>
          </a:xfrm>
          <a:custGeom>
            <a:avLst/>
            <a:gdLst/>
            <a:ahLst/>
            <a:cxnLst/>
            <a:rect l="l" t="t" r="r" b="b"/>
            <a:pathLst>
              <a:path w="932179" h="768350">
                <a:moveTo>
                  <a:pt x="0" y="128017"/>
                </a:moveTo>
                <a:lnTo>
                  <a:pt x="10061" y="78186"/>
                </a:lnTo>
                <a:lnTo>
                  <a:pt x="37499" y="37495"/>
                </a:lnTo>
                <a:lnTo>
                  <a:pt x="78194" y="10060"/>
                </a:lnTo>
                <a:lnTo>
                  <a:pt x="128024" y="0"/>
                </a:lnTo>
                <a:lnTo>
                  <a:pt x="804123" y="0"/>
                </a:lnTo>
                <a:lnTo>
                  <a:pt x="853117" y="9744"/>
                </a:lnTo>
                <a:lnTo>
                  <a:pt x="894648" y="37494"/>
                </a:lnTo>
                <a:lnTo>
                  <a:pt x="922407" y="79026"/>
                </a:lnTo>
                <a:lnTo>
                  <a:pt x="932148" y="128017"/>
                </a:lnTo>
                <a:lnTo>
                  <a:pt x="932148" y="640081"/>
                </a:lnTo>
                <a:lnTo>
                  <a:pt x="922086" y="689911"/>
                </a:lnTo>
                <a:lnTo>
                  <a:pt x="894648" y="730606"/>
                </a:lnTo>
                <a:lnTo>
                  <a:pt x="853953" y="758044"/>
                </a:lnTo>
                <a:lnTo>
                  <a:pt x="804123" y="768105"/>
                </a:lnTo>
                <a:lnTo>
                  <a:pt x="128024" y="768105"/>
                </a:lnTo>
                <a:lnTo>
                  <a:pt x="78194" y="758044"/>
                </a:lnTo>
                <a:lnTo>
                  <a:pt x="37499" y="730606"/>
                </a:lnTo>
                <a:lnTo>
                  <a:pt x="10061" y="689911"/>
                </a:lnTo>
                <a:lnTo>
                  <a:pt x="0" y="640081"/>
                </a:lnTo>
                <a:lnTo>
                  <a:pt x="0" y="128017"/>
                </a:lnTo>
                <a:close/>
              </a:path>
            </a:pathLst>
          </a:custGeom>
          <a:ln w="9524">
            <a:solidFill>
              <a:srgbClr val="EB792A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7" name="object 90">
            <a:extLst>
              <a:ext uri="{FF2B5EF4-FFF2-40B4-BE49-F238E27FC236}">
                <a16:creationId xmlns:a16="http://schemas.microsoft.com/office/drawing/2014/main" id="{A31E8B0E-83CB-F2FD-08DB-E99427DD0706}"/>
              </a:ext>
            </a:extLst>
          </p:cNvPr>
          <p:cNvSpPr/>
          <p:nvPr/>
        </p:nvSpPr>
        <p:spPr>
          <a:xfrm>
            <a:off x="4976473" y="3016036"/>
            <a:ext cx="1258950" cy="10029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8" name="object 91">
            <a:extLst>
              <a:ext uri="{FF2B5EF4-FFF2-40B4-BE49-F238E27FC236}">
                <a16:creationId xmlns:a16="http://schemas.microsoft.com/office/drawing/2014/main" id="{17B00D6E-1395-045B-306A-50CB012CE705}"/>
              </a:ext>
            </a:extLst>
          </p:cNvPr>
          <p:cNvSpPr/>
          <p:nvPr/>
        </p:nvSpPr>
        <p:spPr>
          <a:xfrm>
            <a:off x="5028835" y="3044994"/>
            <a:ext cx="1154739" cy="898543"/>
          </a:xfrm>
          <a:custGeom>
            <a:avLst/>
            <a:gdLst/>
            <a:ahLst/>
            <a:cxnLst/>
            <a:rect l="l" t="t" r="r" b="b"/>
            <a:pathLst>
              <a:path w="987425" h="768350">
                <a:moveTo>
                  <a:pt x="0" y="128017"/>
                </a:moveTo>
                <a:lnTo>
                  <a:pt x="10057" y="78186"/>
                </a:lnTo>
                <a:lnTo>
                  <a:pt x="37487" y="37495"/>
                </a:lnTo>
                <a:lnTo>
                  <a:pt x="78173" y="10060"/>
                </a:lnTo>
                <a:lnTo>
                  <a:pt x="127999" y="0"/>
                </a:lnTo>
                <a:lnTo>
                  <a:pt x="858973" y="0"/>
                </a:lnTo>
                <a:lnTo>
                  <a:pt x="907966" y="9744"/>
                </a:lnTo>
                <a:lnTo>
                  <a:pt x="949498" y="37494"/>
                </a:lnTo>
                <a:lnTo>
                  <a:pt x="977257" y="79026"/>
                </a:lnTo>
                <a:lnTo>
                  <a:pt x="986998" y="128017"/>
                </a:lnTo>
                <a:lnTo>
                  <a:pt x="986998" y="640081"/>
                </a:lnTo>
                <a:lnTo>
                  <a:pt x="976936" y="689911"/>
                </a:lnTo>
                <a:lnTo>
                  <a:pt x="949498" y="730606"/>
                </a:lnTo>
                <a:lnTo>
                  <a:pt x="908803" y="758044"/>
                </a:lnTo>
                <a:lnTo>
                  <a:pt x="858973" y="768105"/>
                </a:lnTo>
                <a:lnTo>
                  <a:pt x="127999" y="768105"/>
                </a:lnTo>
                <a:lnTo>
                  <a:pt x="78173" y="758044"/>
                </a:lnTo>
                <a:lnTo>
                  <a:pt x="37487" y="730606"/>
                </a:lnTo>
                <a:lnTo>
                  <a:pt x="10057" y="689911"/>
                </a:lnTo>
                <a:lnTo>
                  <a:pt x="0" y="640081"/>
                </a:lnTo>
                <a:lnTo>
                  <a:pt x="0" y="128017"/>
                </a:lnTo>
                <a:close/>
              </a:path>
            </a:pathLst>
          </a:custGeom>
          <a:ln w="9524">
            <a:solidFill>
              <a:srgbClr val="EB792A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9" name="object 92">
            <a:extLst>
              <a:ext uri="{FF2B5EF4-FFF2-40B4-BE49-F238E27FC236}">
                <a16:creationId xmlns:a16="http://schemas.microsoft.com/office/drawing/2014/main" id="{C9ED48B6-5FFB-59F1-7505-61A33213060D}"/>
              </a:ext>
            </a:extLst>
          </p:cNvPr>
          <p:cNvSpPr/>
          <p:nvPr/>
        </p:nvSpPr>
        <p:spPr>
          <a:xfrm>
            <a:off x="4420433" y="3232772"/>
            <a:ext cx="915889" cy="5764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0" name="object 93">
            <a:extLst>
              <a:ext uri="{FF2B5EF4-FFF2-40B4-BE49-F238E27FC236}">
                <a16:creationId xmlns:a16="http://schemas.microsoft.com/office/drawing/2014/main" id="{DF1F6075-8984-172D-F450-006ED044B149}"/>
              </a:ext>
            </a:extLst>
          </p:cNvPr>
          <p:cNvSpPr/>
          <p:nvPr/>
        </p:nvSpPr>
        <p:spPr>
          <a:xfrm>
            <a:off x="4472765" y="3258233"/>
            <a:ext cx="811659" cy="472292"/>
          </a:xfrm>
          <a:custGeom>
            <a:avLst/>
            <a:gdLst/>
            <a:ahLst/>
            <a:cxnLst/>
            <a:rect l="l" t="t" r="r" b="b"/>
            <a:pathLst>
              <a:path w="694054" h="403860">
                <a:moveTo>
                  <a:pt x="0" y="100852"/>
                </a:moveTo>
                <a:lnTo>
                  <a:pt x="491949" y="100852"/>
                </a:lnTo>
                <a:lnTo>
                  <a:pt x="491949" y="0"/>
                </a:lnTo>
                <a:lnTo>
                  <a:pt x="693648" y="201704"/>
                </a:lnTo>
                <a:lnTo>
                  <a:pt x="491949" y="403414"/>
                </a:lnTo>
                <a:lnTo>
                  <a:pt x="491949" y="302556"/>
                </a:lnTo>
                <a:lnTo>
                  <a:pt x="0" y="302556"/>
                </a:lnTo>
                <a:lnTo>
                  <a:pt x="0" y="100852"/>
                </a:lnTo>
                <a:close/>
              </a:path>
            </a:pathLst>
          </a:custGeom>
          <a:ln w="9524">
            <a:solidFill>
              <a:srgbClr val="EB792A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1" name="object 94">
            <a:extLst>
              <a:ext uri="{FF2B5EF4-FFF2-40B4-BE49-F238E27FC236}">
                <a16:creationId xmlns:a16="http://schemas.microsoft.com/office/drawing/2014/main" id="{48B07EAF-70E1-6A7E-8E58-40B6CBC67CAF}"/>
              </a:ext>
            </a:extLst>
          </p:cNvPr>
          <p:cNvSpPr/>
          <p:nvPr/>
        </p:nvSpPr>
        <p:spPr>
          <a:xfrm>
            <a:off x="6412752" y="3016036"/>
            <a:ext cx="1258950" cy="10029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2" name="object 95">
            <a:extLst>
              <a:ext uri="{FF2B5EF4-FFF2-40B4-BE49-F238E27FC236}">
                <a16:creationId xmlns:a16="http://schemas.microsoft.com/office/drawing/2014/main" id="{8BBA6E0F-6524-63AD-A118-095C6E7369EF}"/>
              </a:ext>
            </a:extLst>
          </p:cNvPr>
          <p:cNvSpPr/>
          <p:nvPr/>
        </p:nvSpPr>
        <p:spPr>
          <a:xfrm>
            <a:off x="6465085" y="3044994"/>
            <a:ext cx="1154739" cy="898543"/>
          </a:xfrm>
          <a:custGeom>
            <a:avLst/>
            <a:gdLst/>
            <a:ahLst/>
            <a:cxnLst/>
            <a:rect l="l" t="t" r="r" b="b"/>
            <a:pathLst>
              <a:path w="987425" h="768350">
                <a:moveTo>
                  <a:pt x="0" y="128017"/>
                </a:moveTo>
                <a:lnTo>
                  <a:pt x="10061" y="78186"/>
                </a:lnTo>
                <a:lnTo>
                  <a:pt x="37499" y="37495"/>
                </a:lnTo>
                <a:lnTo>
                  <a:pt x="78194" y="10060"/>
                </a:lnTo>
                <a:lnTo>
                  <a:pt x="128024" y="0"/>
                </a:lnTo>
                <a:lnTo>
                  <a:pt x="858998" y="0"/>
                </a:lnTo>
                <a:lnTo>
                  <a:pt x="907991" y="9744"/>
                </a:lnTo>
                <a:lnTo>
                  <a:pt x="949523" y="37494"/>
                </a:lnTo>
                <a:lnTo>
                  <a:pt x="977273" y="79026"/>
                </a:lnTo>
                <a:lnTo>
                  <a:pt x="987023" y="128017"/>
                </a:lnTo>
                <a:lnTo>
                  <a:pt x="987023" y="640081"/>
                </a:lnTo>
                <a:lnTo>
                  <a:pt x="976961" y="689911"/>
                </a:lnTo>
                <a:lnTo>
                  <a:pt x="949523" y="730606"/>
                </a:lnTo>
                <a:lnTo>
                  <a:pt x="908828" y="758044"/>
                </a:lnTo>
                <a:lnTo>
                  <a:pt x="858998" y="768105"/>
                </a:lnTo>
                <a:lnTo>
                  <a:pt x="128024" y="768105"/>
                </a:lnTo>
                <a:lnTo>
                  <a:pt x="78194" y="758044"/>
                </a:lnTo>
                <a:lnTo>
                  <a:pt x="37499" y="730606"/>
                </a:lnTo>
                <a:lnTo>
                  <a:pt x="10061" y="689911"/>
                </a:lnTo>
                <a:lnTo>
                  <a:pt x="0" y="640081"/>
                </a:lnTo>
                <a:lnTo>
                  <a:pt x="0" y="128017"/>
                </a:lnTo>
                <a:close/>
              </a:path>
            </a:pathLst>
          </a:custGeom>
          <a:ln w="9524">
            <a:solidFill>
              <a:srgbClr val="EB792A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3" name="object 96">
            <a:extLst>
              <a:ext uri="{FF2B5EF4-FFF2-40B4-BE49-F238E27FC236}">
                <a16:creationId xmlns:a16="http://schemas.microsoft.com/office/drawing/2014/main" id="{E051EE52-BD18-D70B-66F5-6744E9F8B35F}"/>
              </a:ext>
            </a:extLst>
          </p:cNvPr>
          <p:cNvSpPr/>
          <p:nvPr/>
        </p:nvSpPr>
        <p:spPr>
          <a:xfrm>
            <a:off x="5864021" y="3232772"/>
            <a:ext cx="915889" cy="5764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4" name="object 97">
            <a:extLst>
              <a:ext uri="{FF2B5EF4-FFF2-40B4-BE49-F238E27FC236}">
                <a16:creationId xmlns:a16="http://schemas.microsoft.com/office/drawing/2014/main" id="{6E09A9AF-E416-23E2-DC02-02ED0A8A5F2A}"/>
              </a:ext>
            </a:extLst>
          </p:cNvPr>
          <p:cNvSpPr/>
          <p:nvPr/>
        </p:nvSpPr>
        <p:spPr>
          <a:xfrm>
            <a:off x="5916382" y="3258233"/>
            <a:ext cx="811659" cy="472292"/>
          </a:xfrm>
          <a:custGeom>
            <a:avLst/>
            <a:gdLst/>
            <a:ahLst/>
            <a:cxnLst/>
            <a:rect l="l" t="t" r="r" b="b"/>
            <a:pathLst>
              <a:path w="694054" h="403860">
                <a:moveTo>
                  <a:pt x="0" y="100852"/>
                </a:moveTo>
                <a:lnTo>
                  <a:pt x="491949" y="100852"/>
                </a:lnTo>
                <a:lnTo>
                  <a:pt x="491949" y="0"/>
                </a:lnTo>
                <a:lnTo>
                  <a:pt x="693648" y="201704"/>
                </a:lnTo>
                <a:lnTo>
                  <a:pt x="491949" y="403414"/>
                </a:lnTo>
                <a:lnTo>
                  <a:pt x="491949" y="302556"/>
                </a:lnTo>
                <a:lnTo>
                  <a:pt x="0" y="302556"/>
                </a:lnTo>
                <a:lnTo>
                  <a:pt x="0" y="100852"/>
                </a:lnTo>
                <a:close/>
              </a:path>
            </a:pathLst>
          </a:custGeom>
          <a:ln w="9524">
            <a:solidFill>
              <a:srgbClr val="EB792A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</p:spTree>
    <p:extLst>
      <p:ext uri="{BB962C8B-B14F-4D97-AF65-F5344CB8AC3E}">
        <p14:creationId xmlns:p14="http://schemas.microsoft.com/office/powerpoint/2010/main" val="37018557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CC4812BA-BB40-D7D8-112A-D507B6104E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4374" y="799613"/>
            <a:ext cx="6279679" cy="470635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/>
              <a:t>3. </a:t>
            </a:r>
            <a:r>
              <a:rPr lang="en-GB" sz="2961" spc="-213" dirty="0" err="1"/>
              <a:t>Transitivität</a:t>
            </a:r>
            <a:endParaRPr lang="en-GB" spc="-88" dirty="0"/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E8936AC6-0877-FABA-E6AA-E328C7F92B81}"/>
              </a:ext>
            </a:extLst>
          </p:cNvPr>
          <p:cNvSpPr/>
          <p:nvPr/>
        </p:nvSpPr>
        <p:spPr>
          <a:xfrm>
            <a:off x="3297124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0F12F16B-7325-5327-C5F5-230AE32C608F}"/>
              </a:ext>
            </a:extLst>
          </p:cNvPr>
          <p:cNvSpPr/>
          <p:nvPr/>
        </p:nvSpPr>
        <p:spPr>
          <a:xfrm>
            <a:off x="3653570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4" name="object 6">
            <a:extLst>
              <a:ext uri="{FF2B5EF4-FFF2-40B4-BE49-F238E27FC236}">
                <a16:creationId xmlns:a16="http://schemas.microsoft.com/office/drawing/2014/main" id="{F2FD86A8-9FF6-4465-F92F-F0BF016D3223}"/>
              </a:ext>
            </a:extLst>
          </p:cNvPr>
          <p:cNvSpPr/>
          <p:nvPr/>
        </p:nvSpPr>
        <p:spPr>
          <a:xfrm>
            <a:off x="4010017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5" name="object 7">
            <a:extLst>
              <a:ext uri="{FF2B5EF4-FFF2-40B4-BE49-F238E27FC236}">
                <a16:creationId xmlns:a16="http://schemas.microsoft.com/office/drawing/2014/main" id="{03F7F931-C376-39DF-D2AB-0CD3DFA758AA}"/>
              </a:ext>
            </a:extLst>
          </p:cNvPr>
          <p:cNvSpPr/>
          <p:nvPr/>
        </p:nvSpPr>
        <p:spPr>
          <a:xfrm>
            <a:off x="4366462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6" name="object 8">
            <a:extLst>
              <a:ext uri="{FF2B5EF4-FFF2-40B4-BE49-F238E27FC236}">
                <a16:creationId xmlns:a16="http://schemas.microsoft.com/office/drawing/2014/main" id="{E162E308-1964-6A13-2722-56C16F7634BA}"/>
              </a:ext>
            </a:extLst>
          </p:cNvPr>
          <p:cNvSpPr/>
          <p:nvPr/>
        </p:nvSpPr>
        <p:spPr>
          <a:xfrm>
            <a:off x="4722908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7" name="object 9">
            <a:extLst>
              <a:ext uri="{FF2B5EF4-FFF2-40B4-BE49-F238E27FC236}">
                <a16:creationId xmlns:a16="http://schemas.microsoft.com/office/drawing/2014/main" id="{DA91316C-C8AC-E87A-1E0D-36EBF3A743C9}"/>
              </a:ext>
            </a:extLst>
          </p:cNvPr>
          <p:cNvSpPr/>
          <p:nvPr/>
        </p:nvSpPr>
        <p:spPr>
          <a:xfrm>
            <a:off x="5079354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8" name="object 10">
            <a:extLst>
              <a:ext uri="{FF2B5EF4-FFF2-40B4-BE49-F238E27FC236}">
                <a16:creationId xmlns:a16="http://schemas.microsoft.com/office/drawing/2014/main" id="{67B48BB1-C7E8-5C88-F2B8-BABC31327AAA}"/>
              </a:ext>
            </a:extLst>
          </p:cNvPr>
          <p:cNvSpPr/>
          <p:nvPr/>
        </p:nvSpPr>
        <p:spPr>
          <a:xfrm>
            <a:off x="5435800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89" name="object 11">
            <a:extLst>
              <a:ext uri="{FF2B5EF4-FFF2-40B4-BE49-F238E27FC236}">
                <a16:creationId xmlns:a16="http://schemas.microsoft.com/office/drawing/2014/main" id="{23EDC49E-80D1-E5C9-C9DD-CA32C5AF1215}"/>
              </a:ext>
            </a:extLst>
          </p:cNvPr>
          <p:cNvSpPr/>
          <p:nvPr/>
        </p:nvSpPr>
        <p:spPr>
          <a:xfrm>
            <a:off x="5792246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0" name="object 12">
            <a:extLst>
              <a:ext uri="{FF2B5EF4-FFF2-40B4-BE49-F238E27FC236}">
                <a16:creationId xmlns:a16="http://schemas.microsoft.com/office/drawing/2014/main" id="{1973C526-B9F4-FD50-F2DE-BAAF3ACDF5F0}"/>
              </a:ext>
            </a:extLst>
          </p:cNvPr>
          <p:cNvSpPr/>
          <p:nvPr/>
        </p:nvSpPr>
        <p:spPr>
          <a:xfrm>
            <a:off x="6148692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1" name="object 13">
            <a:extLst>
              <a:ext uri="{FF2B5EF4-FFF2-40B4-BE49-F238E27FC236}">
                <a16:creationId xmlns:a16="http://schemas.microsoft.com/office/drawing/2014/main" id="{8259791E-C8AB-C762-B25B-930D501310A9}"/>
              </a:ext>
            </a:extLst>
          </p:cNvPr>
          <p:cNvSpPr/>
          <p:nvPr/>
        </p:nvSpPr>
        <p:spPr>
          <a:xfrm>
            <a:off x="6505137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2" name="object 14">
            <a:extLst>
              <a:ext uri="{FF2B5EF4-FFF2-40B4-BE49-F238E27FC236}">
                <a16:creationId xmlns:a16="http://schemas.microsoft.com/office/drawing/2014/main" id="{5EE96FB1-CA65-B96F-62E1-6AB2D48141BA}"/>
              </a:ext>
            </a:extLst>
          </p:cNvPr>
          <p:cNvSpPr/>
          <p:nvPr/>
        </p:nvSpPr>
        <p:spPr>
          <a:xfrm>
            <a:off x="6861584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3" name="object 15">
            <a:extLst>
              <a:ext uri="{FF2B5EF4-FFF2-40B4-BE49-F238E27FC236}">
                <a16:creationId xmlns:a16="http://schemas.microsoft.com/office/drawing/2014/main" id="{65D8E5E5-9B74-9418-36A6-0A962427869C}"/>
              </a:ext>
            </a:extLst>
          </p:cNvPr>
          <p:cNvSpPr/>
          <p:nvPr/>
        </p:nvSpPr>
        <p:spPr>
          <a:xfrm>
            <a:off x="7218030" y="28640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4" name="object 16">
            <a:extLst>
              <a:ext uri="{FF2B5EF4-FFF2-40B4-BE49-F238E27FC236}">
                <a16:creationId xmlns:a16="http://schemas.microsoft.com/office/drawing/2014/main" id="{199EF1FF-632A-0928-6CEE-B465C70B2033}"/>
              </a:ext>
            </a:extLst>
          </p:cNvPr>
          <p:cNvSpPr/>
          <p:nvPr/>
        </p:nvSpPr>
        <p:spPr>
          <a:xfrm>
            <a:off x="3297124" y="31242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5" name="object 17">
            <a:extLst>
              <a:ext uri="{FF2B5EF4-FFF2-40B4-BE49-F238E27FC236}">
                <a16:creationId xmlns:a16="http://schemas.microsoft.com/office/drawing/2014/main" id="{D08FDEBA-2E05-5635-DEBC-EC370133EA0E}"/>
              </a:ext>
            </a:extLst>
          </p:cNvPr>
          <p:cNvSpPr/>
          <p:nvPr/>
        </p:nvSpPr>
        <p:spPr>
          <a:xfrm>
            <a:off x="3653570" y="31242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6" name="object 18">
            <a:extLst>
              <a:ext uri="{FF2B5EF4-FFF2-40B4-BE49-F238E27FC236}">
                <a16:creationId xmlns:a16="http://schemas.microsoft.com/office/drawing/2014/main" id="{6EB73F15-3ABF-4D1E-746D-1AB25EF90732}"/>
              </a:ext>
            </a:extLst>
          </p:cNvPr>
          <p:cNvSpPr/>
          <p:nvPr/>
        </p:nvSpPr>
        <p:spPr>
          <a:xfrm>
            <a:off x="4010017" y="31242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7" name="object 19">
            <a:extLst>
              <a:ext uri="{FF2B5EF4-FFF2-40B4-BE49-F238E27FC236}">
                <a16:creationId xmlns:a16="http://schemas.microsoft.com/office/drawing/2014/main" id="{CEBCC0D7-EB44-E406-1D13-F2D10408B9D2}"/>
              </a:ext>
            </a:extLst>
          </p:cNvPr>
          <p:cNvSpPr/>
          <p:nvPr/>
        </p:nvSpPr>
        <p:spPr>
          <a:xfrm>
            <a:off x="4366462" y="31242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8" name="object 20">
            <a:extLst>
              <a:ext uri="{FF2B5EF4-FFF2-40B4-BE49-F238E27FC236}">
                <a16:creationId xmlns:a16="http://schemas.microsoft.com/office/drawing/2014/main" id="{19F56C64-8A24-8EE4-3628-D409041471E0}"/>
              </a:ext>
            </a:extLst>
          </p:cNvPr>
          <p:cNvSpPr/>
          <p:nvPr/>
        </p:nvSpPr>
        <p:spPr>
          <a:xfrm>
            <a:off x="4722908" y="31242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9" name="object 21">
            <a:extLst>
              <a:ext uri="{FF2B5EF4-FFF2-40B4-BE49-F238E27FC236}">
                <a16:creationId xmlns:a16="http://schemas.microsoft.com/office/drawing/2014/main" id="{1060EFBA-C20E-3D08-05B9-91E62AA2AB9C}"/>
              </a:ext>
            </a:extLst>
          </p:cNvPr>
          <p:cNvSpPr/>
          <p:nvPr/>
        </p:nvSpPr>
        <p:spPr>
          <a:xfrm>
            <a:off x="5079354" y="31242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0" name="object 22">
            <a:extLst>
              <a:ext uri="{FF2B5EF4-FFF2-40B4-BE49-F238E27FC236}">
                <a16:creationId xmlns:a16="http://schemas.microsoft.com/office/drawing/2014/main" id="{B3767A20-0183-89BC-93FC-DF6917885DDB}"/>
              </a:ext>
            </a:extLst>
          </p:cNvPr>
          <p:cNvSpPr/>
          <p:nvPr/>
        </p:nvSpPr>
        <p:spPr>
          <a:xfrm>
            <a:off x="5435800" y="31242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1" name="object 23">
            <a:extLst>
              <a:ext uri="{FF2B5EF4-FFF2-40B4-BE49-F238E27FC236}">
                <a16:creationId xmlns:a16="http://schemas.microsoft.com/office/drawing/2014/main" id="{96889048-0A09-7E83-C9FA-53A05656F3CA}"/>
              </a:ext>
            </a:extLst>
          </p:cNvPr>
          <p:cNvSpPr/>
          <p:nvPr/>
        </p:nvSpPr>
        <p:spPr>
          <a:xfrm>
            <a:off x="5792246" y="31242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2" name="object 24">
            <a:extLst>
              <a:ext uri="{FF2B5EF4-FFF2-40B4-BE49-F238E27FC236}">
                <a16:creationId xmlns:a16="http://schemas.microsoft.com/office/drawing/2014/main" id="{1256D5FC-A011-654A-298E-A047F278FCC5}"/>
              </a:ext>
            </a:extLst>
          </p:cNvPr>
          <p:cNvSpPr/>
          <p:nvPr/>
        </p:nvSpPr>
        <p:spPr>
          <a:xfrm>
            <a:off x="6148692" y="3124201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3" name="object 25">
            <a:extLst>
              <a:ext uri="{FF2B5EF4-FFF2-40B4-BE49-F238E27FC236}">
                <a16:creationId xmlns:a16="http://schemas.microsoft.com/office/drawing/2014/main" id="{1894E69E-BFD3-BBE4-ED79-5066C3A86DCB}"/>
              </a:ext>
            </a:extLst>
          </p:cNvPr>
          <p:cNvSpPr/>
          <p:nvPr/>
        </p:nvSpPr>
        <p:spPr>
          <a:xfrm>
            <a:off x="3297124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4" name="object 26">
            <a:extLst>
              <a:ext uri="{FF2B5EF4-FFF2-40B4-BE49-F238E27FC236}">
                <a16:creationId xmlns:a16="http://schemas.microsoft.com/office/drawing/2014/main" id="{AB021956-94E8-4DC6-0190-97A9F9A5A1EB}"/>
              </a:ext>
            </a:extLst>
          </p:cNvPr>
          <p:cNvSpPr/>
          <p:nvPr/>
        </p:nvSpPr>
        <p:spPr>
          <a:xfrm>
            <a:off x="3653570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5" name="object 27">
            <a:extLst>
              <a:ext uri="{FF2B5EF4-FFF2-40B4-BE49-F238E27FC236}">
                <a16:creationId xmlns:a16="http://schemas.microsoft.com/office/drawing/2014/main" id="{2CFA4CD8-0299-9DCA-46F8-9691177BADE3}"/>
              </a:ext>
            </a:extLst>
          </p:cNvPr>
          <p:cNvSpPr/>
          <p:nvPr/>
        </p:nvSpPr>
        <p:spPr>
          <a:xfrm>
            <a:off x="4010017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6" name="object 28">
            <a:extLst>
              <a:ext uri="{FF2B5EF4-FFF2-40B4-BE49-F238E27FC236}">
                <a16:creationId xmlns:a16="http://schemas.microsoft.com/office/drawing/2014/main" id="{AFB7E64B-147E-02EE-1F1F-55D3FB564665}"/>
              </a:ext>
            </a:extLst>
          </p:cNvPr>
          <p:cNvSpPr/>
          <p:nvPr/>
        </p:nvSpPr>
        <p:spPr>
          <a:xfrm>
            <a:off x="4366462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7" name="object 29">
            <a:extLst>
              <a:ext uri="{FF2B5EF4-FFF2-40B4-BE49-F238E27FC236}">
                <a16:creationId xmlns:a16="http://schemas.microsoft.com/office/drawing/2014/main" id="{714CF2D2-93EF-42E9-6471-BF2EE6C2CF9C}"/>
              </a:ext>
            </a:extLst>
          </p:cNvPr>
          <p:cNvSpPr/>
          <p:nvPr/>
        </p:nvSpPr>
        <p:spPr>
          <a:xfrm>
            <a:off x="4722908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8" name="object 30">
            <a:extLst>
              <a:ext uri="{FF2B5EF4-FFF2-40B4-BE49-F238E27FC236}">
                <a16:creationId xmlns:a16="http://schemas.microsoft.com/office/drawing/2014/main" id="{C444F2BB-99D1-996A-5970-54300B5F22D5}"/>
              </a:ext>
            </a:extLst>
          </p:cNvPr>
          <p:cNvSpPr/>
          <p:nvPr/>
        </p:nvSpPr>
        <p:spPr>
          <a:xfrm>
            <a:off x="5079354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9" name="object 31">
            <a:extLst>
              <a:ext uri="{FF2B5EF4-FFF2-40B4-BE49-F238E27FC236}">
                <a16:creationId xmlns:a16="http://schemas.microsoft.com/office/drawing/2014/main" id="{ACF985FF-4D20-19BF-8A4A-D73DA91F6B21}"/>
              </a:ext>
            </a:extLst>
          </p:cNvPr>
          <p:cNvSpPr/>
          <p:nvPr/>
        </p:nvSpPr>
        <p:spPr>
          <a:xfrm>
            <a:off x="5435800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0" name="object 32">
            <a:extLst>
              <a:ext uri="{FF2B5EF4-FFF2-40B4-BE49-F238E27FC236}">
                <a16:creationId xmlns:a16="http://schemas.microsoft.com/office/drawing/2014/main" id="{945DC50F-51D7-047F-7F4C-9925BEE2AC53}"/>
              </a:ext>
            </a:extLst>
          </p:cNvPr>
          <p:cNvSpPr/>
          <p:nvPr/>
        </p:nvSpPr>
        <p:spPr>
          <a:xfrm>
            <a:off x="5792246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1" name="object 33">
            <a:extLst>
              <a:ext uri="{FF2B5EF4-FFF2-40B4-BE49-F238E27FC236}">
                <a16:creationId xmlns:a16="http://schemas.microsoft.com/office/drawing/2014/main" id="{B30B91A7-55A0-7377-9A81-A2105F8EC33B}"/>
              </a:ext>
            </a:extLst>
          </p:cNvPr>
          <p:cNvSpPr/>
          <p:nvPr/>
        </p:nvSpPr>
        <p:spPr>
          <a:xfrm>
            <a:off x="6148692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2" name="object 34">
            <a:extLst>
              <a:ext uri="{FF2B5EF4-FFF2-40B4-BE49-F238E27FC236}">
                <a16:creationId xmlns:a16="http://schemas.microsoft.com/office/drawing/2014/main" id="{AA8E7AFA-251E-984A-5D98-E80EE59F6C5F}"/>
              </a:ext>
            </a:extLst>
          </p:cNvPr>
          <p:cNvSpPr/>
          <p:nvPr/>
        </p:nvSpPr>
        <p:spPr>
          <a:xfrm>
            <a:off x="6505137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3" name="object 35">
            <a:extLst>
              <a:ext uri="{FF2B5EF4-FFF2-40B4-BE49-F238E27FC236}">
                <a16:creationId xmlns:a16="http://schemas.microsoft.com/office/drawing/2014/main" id="{1B835007-C3F0-063D-4515-FD75C232227B}"/>
              </a:ext>
            </a:extLst>
          </p:cNvPr>
          <p:cNvSpPr/>
          <p:nvPr/>
        </p:nvSpPr>
        <p:spPr>
          <a:xfrm>
            <a:off x="6861584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4" name="object 36">
            <a:extLst>
              <a:ext uri="{FF2B5EF4-FFF2-40B4-BE49-F238E27FC236}">
                <a16:creationId xmlns:a16="http://schemas.microsoft.com/office/drawing/2014/main" id="{0801FC10-B25B-B899-4DFA-3A7BD656DA03}"/>
              </a:ext>
            </a:extLst>
          </p:cNvPr>
          <p:cNvSpPr/>
          <p:nvPr/>
        </p:nvSpPr>
        <p:spPr>
          <a:xfrm>
            <a:off x="7218030" y="33844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5" name="object 37">
            <a:extLst>
              <a:ext uri="{FF2B5EF4-FFF2-40B4-BE49-F238E27FC236}">
                <a16:creationId xmlns:a16="http://schemas.microsoft.com/office/drawing/2014/main" id="{41281849-72F6-7926-32A0-81EF137A83F7}"/>
              </a:ext>
            </a:extLst>
          </p:cNvPr>
          <p:cNvSpPr/>
          <p:nvPr/>
        </p:nvSpPr>
        <p:spPr>
          <a:xfrm>
            <a:off x="3297124" y="36446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6" name="object 38">
            <a:extLst>
              <a:ext uri="{FF2B5EF4-FFF2-40B4-BE49-F238E27FC236}">
                <a16:creationId xmlns:a16="http://schemas.microsoft.com/office/drawing/2014/main" id="{BC67EF80-8C2C-4ED1-E9C7-03D1D861548D}"/>
              </a:ext>
            </a:extLst>
          </p:cNvPr>
          <p:cNvSpPr/>
          <p:nvPr/>
        </p:nvSpPr>
        <p:spPr>
          <a:xfrm>
            <a:off x="3653570" y="36446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7" name="object 39">
            <a:extLst>
              <a:ext uri="{FF2B5EF4-FFF2-40B4-BE49-F238E27FC236}">
                <a16:creationId xmlns:a16="http://schemas.microsoft.com/office/drawing/2014/main" id="{74161309-C957-7CA4-9D00-5772658D176E}"/>
              </a:ext>
            </a:extLst>
          </p:cNvPr>
          <p:cNvSpPr/>
          <p:nvPr/>
        </p:nvSpPr>
        <p:spPr>
          <a:xfrm>
            <a:off x="4010017" y="36446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8" name="object 40">
            <a:extLst>
              <a:ext uri="{FF2B5EF4-FFF2-40B4-BE49-F238E27FC236}">
                <a16:creationId xmlns:a16="http://schemas.microsoft.com/office/drawing/2014/main" id="{FA733021-198E-C5C7-B5F4-E9F4C105FC0F}"/>
              </a:ext>
            </a:extLst>
          </p:cNvPr>
          <p:cNvSpPr/>
          <p:nvPr/>
        </p:nvSpPr>
        <p:spPr>
          <a:xfrm>
            <a:off x="4366462" y="36446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9" name="object 41">
            <a:extLst>
              <a:ext uri="{FF2B5EF4-FFF2-40B4-BE49-F238E27FC236}">
                <a16:creationId xmlns:a16="http://schemas.microsoft.com/office/drawing/2014/main" id="{62851AAC-15B8-210A-B6E3-F41F70B5442D}"/>
              </a:ext>
            </a:extLst>
          </p:cNvPr>
          <p:cNvSpPr/>
          <p:nvPr/>
        </p:nvSpPr>
        <p:spPr>
          <a:xfrm>
            <a:off x="4722908" y="36446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0" name="object 42">
            <a:extLst>
              <a:ext uri="{FF2B5EF4-FFF2-40B4-BE49-F238E27FC236}">
                <a16:creationId xmlns:a16="http://schemas.microsoft.com/office/drawing/2014/main" id="{835DEB88-125C-A91E-8403-41445DB8B9D8}"/>
              </a:ext>
            </a:extLst>
          </p:cNvPr>
          <p:cNvSpPr/>
          <p:nvPr/>
        </p:nvSpPr>
        <p:spPr>
          <a:xfrm>
            <a:off x="5079354" y="36446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1" name="object 43">
            <a:extLst>
              <a:ext uri="{FF2B5EF4-FFF2-40B4-BE49-F238E27FC236}">
                <a16:creationId xmlns:a16="http://schemas.microsoft.com/office/drawing/2014/main" id="{AA266F0C-B176-09F1-8AF8-6D8C3CA9E1B4}"/>
              </a:ext>
            </a:extLst>
          </p:cNvPr>
          <p:cNvSpPr/>
          <p:nvPr/>
        </p:nvSpPr>
        <p:spPr>
          <a:xfrm>
            <a:off x="5435800" y="36446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2" name="object 44">
            <a:extLst>
              <a:ext uri="{FF2B5EF4-FFF2-40B4-BE49-F238E27FC236}">
                <a16:creationId xmlns:a16="http://schemas.microsoft.com/office/drawing/2014/main" id="{22F20C61-29ED-96BC-158E-197A401CC7F2}"/>
              </a:ext>
            </a:extLst>
          </p:cNvPr>
          <p:cNvSpPr/>
          <p:nvPr/>
        </p:nvSpPr>
        <p:spPr>
          <a:xfrm>
            <a:off x="5792246" y="36446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3" name="object 45">
            <a:extLst>
              <a:ext uri="{FF2B5EF4-FFF2-40B4-BE49-F238E27FC236}">
                <a16:creationId xmlns:a16="http://schemas.microsoft.com/office/drawing/2014/main" id="{F57CEA70-92B9-11CF-D2C1-D5702E47D8E0}"/>
              </a:ext>
            </a:extLst>
          </p:cNvPr>
          <p:cNvSpPr/>
          <p:nvPr/>
        </p:nvSpPr>
        <p:spPr>
          <a:xfrm>
            <a:off x="6148692" y="3644603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502"/>
                </a:lnTo>
                <a:lnTo>
                  <a:pt x="0" y="222502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4" name="object 46">
            <a:extLst>
              <a:ext uri="{FF2B5EF4-FFF2-40B4-BE49-F238E27FC236}">
                <a16:creationId xmlns:a16="http://schemas.microsoft.com/office/drawing/2014/main" id="{63F73AA4-5A73-7C51-4195-3CCBC557DAF7}"/>
              </a:ext>
            </a:extLst>
          </p:cNvPr>
          <p:cNvSpPr/>
          <p:nvPr/>
        </p:nvSpPr>
        <p:spPr>
          <a:xfrm>
            <a:off x="3297124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5" name="object 47">
            <a:extLst>
              <a:ext uri="{FF2B5EF4-FFF2-40B4-BE49-F238E27FC236}">
                <a16:creationId xmlns:a16="http://schemas.microsoft.com/office/drawing/2014/main" id="{6962114C-9AAE-1552-0BFF-7DA6D77A6D48}"/>
              </a:ext>
            </a:extLst>
          </p:cNvPr>
          <p:cNvSpPr/>
          <p:nvPr/>
        </p:nvSpPr>
        <p:spPr>
          <a:xfrm>
            <a:off x="3653570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6" name="object 48">
            <a:extLst>
              <a:ext uri="{FF2B5EF4-FFF2-40B4-BE49-F238E27FC236}">
                <a16:creationId xmlns:a16="http://schemas.microsoft.com/office/drawing/2014/main" id="{8DE33EDC-F6F6-D579-3B7F-AE8E9C4D1BE4}"/>
              </a:ext>
            </a:extLst>
          </p:cNvPr>
          <p:cNvSpPr/>
          <p:nvPr/>
        </p:nvSpPr>
        <p:spPr>
          <a:xfrm>
            <a:off x="4010017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7" name="object 49">
            <a:extLst>
              <a:ext uri="{FF2B5EF4-FFF2-40B4-BE49-F238E27FC236}">
                <a16:creationId xmlns:a16="http://schemas.microsoft.com/office/drawing/2014/main" id="{18DBBEEE-D28C-12F7-1C5C-76A7921C3E02}"/>
              </a:ext>
            </a:extLst>
          </p:cNvPr>
          <p:cNvSpPr/>
          <p:nvPr/>
        </p:nvSpPr>
        <p:spPr>
          <a:xfrm>
            <a:off x="4366462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8" name="object 50">
            <a:extLst>
              <a:ext uri="{FF2B5EF4-FFF2-40B4-BE49-F238E27FC236}">
                <a16:creationId xmlns:a16="http://schemas.microsoft.com/office/drawing/2014/main" id="{CD783609-6393-D5CC-319C-2425E8F74D41}"/>
              </a:ext>
            </a:extLst>
          </p:cNvPr>
          <p:cNvSpPr/>
          <p:nvPr/>
        </p:nvSpPr>
        <p:spPr>
          <a:xfrm>
            <a:off x="4722908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9" name="object 51">
            <a:extLst>
              <a:ext uri="{FF2B5EF4-FFF2-40B4-BE49-F238E27FC236}">
                <a16:creationId xmlns:a16="http://schemas.microsoft.com/office/drawing/2014/main" id="{0FB5C2EC-761B-D9E1-085E-9501881C5EF5}"/>
              </a:ext>
            </a:extLst>
          </p:cNvPr>
          <p:cNvSpPr/>
          <p:nvPr/>
        </p:nvSpPr>
        <p:spPr>
          <a:xfrm>
            <a:off x="5079354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5" name="object 52">
            <a:extLst>
              <a:ext uri="{FF2B5EF4-FFF2-40B4-BE49-F238E27FC236}">
                <a16:creationId xmlns:a16="http://schemas.microsoft.com/office/drawing/2014/main" id="{075BA340-474A-DC17-281A-1669822123D4}"/>
              </a:ext>
            </a:extLst>
          </p:cNvPr>
          <p:cNvSpPr/>
          <p:nvPr/>
        </p:nvSpPr>
        <p:spPr>
          <a:xfrm>
            <a:off x="5435800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6" name="object 53">
            <a:extLst>
              <a:ext uri="{FF2B5EF4-FFF2-40B4-BE49-F238E27FC236}">
                <a16:creationId xmlns:a16="http://schemas.microsoft.com/office/drawing/2014/main" id="{8BDCDB2F-422B-0897-BD05-9748EC2BB684}"/>
              </a:ext>
            </a:extLst>
          </p:cNvPr>
          <p:cNvSpPr/>
          <p:nvPr/>
        </p:nvSpPr>
        <p:spPr>
          <a:xfrm>
            <a:off x="5792246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7" name="object 54">
            <a:extLst>
              <a:ext uri="{FF2B5EF4-FFF2-40B4-BE49-F238E27FC236}">
                <a16:creationId xmlns:a16="http://schemas.microsoft.com/office/drawing/2014/main" id="{CD9C6005-28AF-F8B0-9BAE-19340EF8D67E}"/>
              </a:ext>
            </a:extLst>
          </p:cNvPr>
          <p:cNvSpPr/>
          <p:nvPr/>
        </p:nvSpPr>
        <p:spPr>
          <a:xfrm>
            <a:off x="6148692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8" name="object 55">
            <a:extLst>
              <a:ext uri="{FF2B5EF4-FFF2-40B4-BE49-F238E27FC236}">
                <a16:creationId xmlns:a16="http://schemas.microsoft.com/office/drawing/2014/main" id="{F19372FB-A635-369B-35F8-E02E92080A9E}"/>
              </a:ext>
            </a:extLst>
          </p:cNvPr>
          <p:cNvSpPr/>
          <p:nvPr/>
        </p:nvSpPr>
        <p:spPr>
          <a:xfrm>
            <a:off x="6505137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9" name="object 56">
            <a:extLst>
              <a:ext uri="{FF2B5EF4-FFF2-40B4-BE49-F238E27FC236}">
                <a16:creationId xmlns:a16="http://schemas.microsoft.com/office/drawing/2014/main" id="{049FB1F5-BA83-08D3-F178-AC4E6F9AB21E}"/>
              </a:ext>
            </a:extLst>
          </p:cNvPr>
          <p:cNvSpPr/>
          <p:nvPr/>
        </p:nvSpPr>
        <p:spPr>
          <a:xfrm>
            <a:off x="6861584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0" name="object 57">
            <a:extLst>
              <a:ext uri="{FF2B5EF4-FFF2-40B4-BE49-F238E27FC236}">
                <a16:creationId xmlns:a16="http://schemas.microsoft.com/office/drawing/2014/main" id="{EC390ACF-C092-1EDD-1689-42DBA7DC9E91}"/>
              </a:ext>
            </a:extLst>
          </p:cNvPr>
          <p:cNvSpPr/>
          <p:nvPr/>
        </p:nvSpPr>
        <p:spPr>
          <a:xfrm>
            <a:off x="7218030" y="3904807"/>
            <a:ext cx="356447" cy="260652"/>
          </a:xfrm>
          <a:custGeom>
            <a:avLst/>
            <a:gdLst/>
            <a:ahLst/>
            <a:cxnLst/>
            <a:rect l="l" t="t" r="r" b="b"/>
            <a:pathLst>
              <a:path w="304800" h="222885">
                <a:moveTo>
                  <a:pt x="0" y="0"/>
                </a:moveTo>
                <a:lnTo>
                  <a:pt x="304799" y="0"/>
                </a:lnTo>
                <a:lnTo>
                  <a:pt x="304799" y="222499"/>
                </a:lnTo>
                <a:lnTo>
                  <a:pt x="0" y="222499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1" name="object 58">
            <a:extLst>
              <a:ext uri="{FF2B5EF4-FFF2-40B4-BE49-F238E27FC236}">
                <a16:creationId xmlns:a16="http://schemas.microsoft.com/office/drawing/2014/main" id="{D47A53B6-73A4-AD46-7ED0-8D4CF574F6D1}"/>
              </a:ext>
            </a:extLst>
          </p:cNvPr>
          <p:cNvSpPr/>
          <p:nvPr/>
        </p:nvSpPr>
        <p:spPr>
          <a:xfrm>
            <a:off x="3297125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2" name="object 59">
            <a:extLst>
              <a:ext uri="{FF2B5EF4-FFF2-40B4-BE49-F238E27FC236}">
                <a16:creationId xmlns:a16="http://schemas.microsoft.com/office/drawing/2014/main" id="{D21241A8-3386-6841-B606-2C880040AB05}"/>
              </a:ext>
            </a:extLst>
          </p:cNvPr>
          <p:cNvSpPr/>
          <p:nvPr/>
        </p:nvSpPr>
        <p:spPr>
          <a:xfrm>
            <a:off x="3653570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3" name="object 60">
            <a:extLst>
              <a:ext uri="{FF2B5EF4-FFF2-40B4-BE49-F238E27FC236}">
                <a16:creationId xmlns:a16="http://schemas.microsoft.com/office/drawing/2014/main" id="{1E3E8952-F7DF-BABE-9757-BEDA3296EE53}"/>
              </a:ext>
            </a:extLst>
          </p:cNvPr>
          <p:cNvSpPr/>
          <p:nvPr/>
        </p:nvSpPr>
        <p:spPr>
          <a:xfrm>
            <a:off x="4010017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4" name="object 61">
            <a:extLst>
              <a:ext uri="{FF2B5EF4-FFF2-40B4-BE49-F238E27FC236}">
                <a16:creationId xmlns:a16="http://schemas.microsoft.com/office/drawing/2014/main" id="{0828C5DB-5140-D5DF-0443-96CD12315B09}"/>
              </a:ext>
            </a:extLst>
          </p:cNvPr>
          <p:cNvSpPr/>
          <p:nvPr/>
        </p:nvSpPr>
        <p:spPr>
          <a:xfrm>
            <a:off x="4366462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5" name="object 62">
            <a:extLst>
              <a:ext uri="{FF2B5EF4-FFF2-40B4-BE49-F238E27FC236}">
                <a16:creationId xmlns:a16="http://schemas.microsoft.com/office/drawing/2014/main" id="{6389AACA-F46E-5C8A-757C-CC01687B8B38}"/>
              </a:ext>
            </a:extLst>
          </p:cNvPr>
          <p:cNvSpPr/>
          <p:nvPr/>
        </p:nvSpPr>
        <p:spPr>
          <a:xfrm>
            <a:off x="4722908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6" name="object 63">
            <a:extLst>
              <a:ext uri="{FF2B5EF4-FFF2-40B4-BE49-F238E27FC236}">
                <a16:creationId xmlns:a16="http://schemas.microsoft.com/office/drawing/2014/main" id="{A5ECD018-AF57-E488-47DF-3CCAEB46D7C0}"/>
              </a:ext>
            </a:extLst>
          </p:cNvPr>
          <p:cNvSpPr/>
          <p:nvPr/>
        </p:nvSpPr>
        <p:spPr>
          <a:xfrm>
            <a:off x="5079354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7" name="object 64">
            <a:extLst>
              <a:ext uri="{FF2B5EF4-FFF2-40B4-BE49-F238E27FC236}">
                <a16:creationId xmlns:a16="http://schemas.microsoft.com/office/drawing/2014/main" id="{6AC4A8E1-4713-4225-5B91-DC3615074E99}"/>
              </a:ext>
            </a:extLst>
          </p:cNvPr>
          <p:cNvSpPr/>
          <p:nvPr/>
        </p:nvSpPr>
        <p:spPr>
          <a:xfrm>
            <a:off x="5435800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8" name="object 65">
            <a:extLst>
              <a:ext uri="{FF2B5EF4-FFF2-40B4-BE49-F238E27FC236}">
                <a16:creationId xmlns:a16="http://schemas.microsoft.com/office/drawing/2014/main" id="{95E13B59-56BF-8EDF-636F-97C332B00AD9}"/>
              </a:ext>
            </a:extLst>
          </p:cNvPr>
          <p:cNvSpPr/>
          <p:nvPr/>
        </p:nvSpPr>
        <p:spPr>
          <a:xfrm>
            <a:off x="5792245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59" name="object 66">
            <a:extLst>
              <a:ext uri="{FF2B5EF4-FFF2-40B4-BE49-F238E27FC236}">
                <a16:creationId xmlns:a16="http://schemas.microsoft.com/office/drawing/2014/main" id="{698B0B1D-8585-5D3D-579E-B5883BDA7F86}"/>
              </a:ext>
            </a:extLst>
          </p:cNvPr>
          <p:cNvSpPr/>
          <p:nvPr/>
        </p:nvSpPr>
        <p:spPr>
          <a:xfrm>
            <a:off x="6148692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0" name="object 67">
            <a:extLst>
              <a:ext uri="{FF2B5EF4-FFF2-40B4-BE49-F238E27FC236}">
                <a16:creationId xmlns:a16="http://schemas.microsoft.com/office/drawing/2014/main" id="{E40424A8-1CA6-754A-0D62-7B51CDB3C16F}"/>
              </a:ext>
            </a:extLst>
          </p:cNvPr>
          <p:cNvSpPr/>
          <p:nvPr/>
        </p:nvSpPr>
        <p:spPr>
          <a:xfrm>
            <a:off x="6505138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1" name="object 68">
            <a:extLst>
              <a:ext uri="{FF2B5EF4-FFF2-40B4-BE49-F238E27FC236}">
                <a16:creationId xmlns:a16="http://schemas.microsoft.com/office/drawing/2014/main" id="{92AF688C-2C9B-C2A7-D123-74741A641C80}"/>
              </a:ext>
            </a:extLst>
          </p:cNvPr>
          <p:cNvSpPr/>
          <p:nvPr/>
        </p:nvSpPr>
        <p:spPr>
          <a:xfrm>
            <a:off x="6861584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2" name="object 69">
            <a:extLst>
              <a:ext uri="{FF2B5EF4-FFF2-40B4-BE49-F238E27FC236}">
                <a16:creationId xmlns:a16="http://schemas.microsoft.com/office/drawing/2014/main" id="{5E01E361-78FE-0C66-BD5C-217C6A72EE46}"/>
              </a:ext>
            </a:extLst>
          </p:cNvPr>
          <p:cNvSpPr/>
          <p:nvPr/>
        </p:nvSpPr>
        <p:spPr>
          <a:xfrm>
            <a:off x="7218030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3" name="object 70">
            <a:extLst>
              <a:ext uri="{FF2B5EF4-FFF2-40B4-BE49-F238E27FC236}">
                <a16:creationId xmlns:a16="http://schemas.microsoft.com/office/drawing/2014/main" id="{5EF2CC1C-2C94-5E27-5BBE-BB4E269421AD}"/>
              </a:ext>
            </a:extLst>
          </p:cNvPr>
          <p:cNvSpPr/>
          <p:nvPr/>
        </p:nvSpPr>
        <p:spPr>
          <a:xfrm>
            <a:off x="7574475" y="2596374"/>
            <a:ext cx="0" cy="1576534"/>
          </a:xfrm>
          <a:custGeom>
            <a:avLst/>
            <a:gdLst/>
            <a:ahLst/>
            <a:cxnLst/>
            <a:rect l="l" t="t" r="r" b="b"/>
            <a:pathLst>
              <a:path h="1348105">
                <a:moveTo>
                  <a:pt x="0" y="0"/>
                </a:moveTo>
                <a:lnTo>
                  <a:pt x="0" y="1347699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4" name="object 71">
            <a:extLst>
              <a:ext uri="{FF2B5EF4-FFF2-40B4-BE49-F238E27FC236}">
                <a16:creationId xmlns:a16="http://schemas.microsoft.com/office/drawing/2014/main" id="{03940D34-6BCA-7EB8-C31C-F995F0684240}"/>
              </a:ext>
            </a:extLst>
          </p:cNvPr>
          <p:cNvSpPr/>
          <p:nvPr/>
        </p:nvSpPr>
        <p:spPr>
          <a:xfrm>
            <a:off x="3289699" y="2603799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2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5" name="object 72">
            <a:extLst>
              <a:ext uri="{FF2B5EF4-FFF2-40B4-BE49-F238E27FC236}">
                <a16:creationId xmlns:a16="http://schemas.microsoft.com/office/drawing/2014/main" id="{25FF1DE2-D19B-6487-3506-776CF68E9645}"/>
              </a:ext>
            </a:extLst>
          </p:cNvPr>
          <p:cNvSpPr/>
          <p:nvPr/>
        </p:nvSpPr>
        <p:spPr>
          <a:xfrm>
            <a:off x="3289699" y="2863999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2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6" name="object 73">
            <a:extLst>
              <a:ext uri="{FF2B5EF4-FFF2-40B4-BE49-F238E27FC236}">
                <a16:creationId xmlns:a16="http://schemas.microsoft.com/office/drawing/2014/main" id="{479DE495-DFE0-C631-698C-CACC1D0EC4A7}"/>
              </a:ext>
            </a:extLst>
          </p:cNvPr>
          <p:cNvSpPr/>
          <p:nvPr/>
        </p:nvSpPr>
        <p:spPr>
          <a:xfrm>
            <a:off x="3289699" y="3124201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2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7" name="object 74">
            <a:extLst>
              <a:ext uri="{FF2B5EF4-FFF2-40B4-BE49-F238E27FC236}">
                <a16:creationId xmlns:a16="http://schemas.microsoft.com/office/drawing/2014/main" id="{686CDCCD-ACA1-139A-3724-5294AA263083}"/>
              </a:ext>
            </a:extLst>
          </p:cNvPr>
          <p:cNvSpPr/>
          <p:nvPr/>
        </p:nvSpPr>
        <p:spPr>
          <a:xfrm>
            <a:off x="3289699" y="3384402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2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8" name="object 75">
            <a:extLst>
              <a:ext uri="{FF2B5EF4-FFF2-40B4-BE49-F238E27FC236}">
                <a16:creationId xmlns:a16="http://schemas.microsoft.com/office/drawing/2014/main" id="{A5BFEA32-F2DB-B4F0-4120-8B1A588587CD}"/>
              </a:ext>
            </a:extLst>
          </p:cNvPr>
          <p:cNvSpPr/>
          <p:nvPr/>
        </p:nvSpPr>
        <p:spPr>
          <a:xfrm>
            <a:off x="3289699" y="3644602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2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69" name="object 76">
            <a:extLst>
              <a:ext uri="{FF2B5EF4-FFF2-40B4-BE49-F238E27FC236}">
                <a16:creationId xmlns:a16="http://schemas.microsoft.com/office/drawing/2014/main" id="{4A0E0A26-69A3-7EA8-5318-5ED31B9DA849}"/>
              </a:ext>
            </a:extLst>
          </p:cNvPr>
          <p:cNvSpPr/>
          <p:nvPr/>
        </p:nvSpPr>
        <p:spPr>
          <a:xfrm>
            <a:off x="3289699" y="3904806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2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70" name="object 77">
            <a:extLst>
              <a:ext uri="{FF2B5EF4-FFF2-40B4-BE49-F238E27FC236}">
                <a16:creationId xmlns:a16="http://schemas.microsoft.com/office/drawing/2014/main" id="{E477E048-167B-A56A-A77D-9234EAB4027D}"/>
              </a:ext>
            </a:extLst>
          </p:cNvPr>
          <p:cNvSpPr/>
          <p:nvPr/>
        </p:nvSpPr>
        <p:spPr>
          <a:xfrm>
            <a:off x="3289699" y="4165007"/>
            <a:ext cx="4292212" cy="0"/>
          </a:xfrm>
          <a:custGeom>
            <a:avLst/>
            <a:gdLst/>
            <a:ahLst/>
            <a:cxnLst/>
            <a:rect l="l" t="t" r="r" b="b"/>
            <a:pathLst>
              <a:path w="3670300">
                <a:moveTo>
                  <a:pt x="0" y="0"/>
                </a:moveTo>
                <a:lnTo>
                  <a:pt x="367029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71" name="object 78">
            <a:extLst>
              <a:ext uri="{FF2B5EF4-FFF2-40B4-BE49-F238E27FC236}">
                <a16:creationId xmlns:a16="http://schemas.microsoft.com/office/drawing/2014/main" id="{16D37AFD-C36A-25DC-0141-CE118CCB186B}"/>
              </a:ext>
            </a:extLst>
          </p:cNvPr>
          <p:cNvSpPr txBox="1"/>
          <p:nvPr/>
        </p:nvSpPr>
        <p:spPr>
          <a:xfrm>
            <a:off x="3653570" y="2603800"/>
            <a:ext cx="356447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96534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A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1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172" name="object 79">
            <a:extLst>
              <a:ext uri="{FF2B5EF4-FFF2-40B4-BE49-F238E27FC236}">
                <a16:creationId xmlns:a16="http://schemas.microsoft.com/office/drawing/2014/main" id="{EAD2F818-23A2-A6C0-686D-25C55682BDFD}"/>
              </a:ext>
            </a:extLst>
          </p:cNvPr>
          <p:cNvSpPr txBox="1"/>
          <p:nvPr/>
        </p:nvSpPr>
        <p:spPr>
          <a:xfrm>
            <a:off x="4010017" y="2603800"/>
            <a:ext cx="356447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03960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…</a:t>
            </a:r>
            <a:endParaRPr sz="1169">
              <a:latin typeface="Arial"/>
              <a:cs typeface="Arial"/>
            </a:endParaRPr>
          </a:p>
        </p:txBody>
      </p:sp>
      <p:sp>
        <p:nvSpPr>
          <p:cNvPr id="173" name="object 80">
            <a:extLst>
              <a:ext uri="{FF2B5EF4-FFF2-40B4-BE49-F238E27FC236}">
                <a16:creationId xmlns:a16="http://schemas.microsoft.com/office/drawing/2014/main" id="{4E90F3E4-6E2D-4645-18AA-383C75D06A65}"/>
              </a:ext>
            </a:extLst>
          </p:cNvPr>
          <p:cNvSpPr txBox="1"/>
          <p:nvPr/>
        </p:nvSpPr>
        <p:spPr>
          <a:xfrm>
            <a:off x="4366462" y="2603800"/>
            <a:ext cx="356447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80197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A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m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174" name="object 81">
            <a:extLst>
              <a:ext uri="{FF2B5EF4-FFF2-40B4-BE49-F238E27FC236}">
                <a16:creationId xmlns:a16="http://schemas.microsoft.com/office/drawing/2014/main" id="{241BEF9A-20F4-4461-DB32-32452048F6DD}"/>
              </a:ext>
            </a:extLst>
          </p:cNvPr>
          <p:cNvSpPr txBox="1"/>
          <p:nvPr/>
        </p:nvSpPr>
        <p:spPr>
          <a:xfrm>
            <a:off x="5079354" y="2603800"/>
            <a:ext cx="356447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96534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B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1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175" name="object 82">
            <a:extLst>
              <a:ext uri="{FF2B5EF4-FFF2-40B4-BE49-F238E27FC236}">
                <a16:creationId xmlns:a16="http://schemas.microsoft.com/office/drawing/2014/main" id="{79A66295-36BB-3471-C04B-6954237A681A}"/>
              </a:ext>
            </a:extLst>
          </p:cNvPr>
          <p:cNvSpPr txBox="1"/>
          <p:nvPr/>
        </p:nvSpPr>
        <p:spPr>
          <a:xfrm>
            <a:off x="5435800" y="2603800"/>
            <a:ext cx="356447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03960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…</a:t>
            </a:r>
            <a:endParaRPr sz="1169">
              <a:latin typeface="Arial"/>
              <a:cs typeface="Arial"/>
            </a:endParaRPr>
          </a:p>
        </p:txBody>
      </p:sp>
      <p:sp>
        <p:nvSpPr>
          <p:cNvPr id="176" name="object 83">
            <a:extLst>
              <a:ext uri="{FF2B5EF4-FFF2-40B4-BE49-F238E27FC236}">
                <a16:creationId xmlns:a16="http://schemas.microsoft.com/office/drawing/2014/main" id="{2F94CA8C-FB0E-8448-0D63-ED77764394BA}"/>
              </a:ext>
            </a:extLst>
          </p:cNvPr>
          <p:cNvSpPr txBox="1"/>
          <p:nvPr/>
        </p:nvSpPr>
        <p:spPr>
          <a:xfrm>
            <a:off x="5792245" y="2603800"/>
            <a:ext cx="356447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94306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B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n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177" name="object 84">
            <a:extLst>
              <a:ext uri="{FF2B5EF4-FFF2-40B4-BE49-F238E27FC236}">
                <a16:creationId xmlns:a16="http://schemas.microsoft.com/office/drawing/2014/main" id="{ED8EF323-D490-8053-54D0-D6F5C8C022FF}"/>
              </a:ext>
            </a:extLst>
          </p:cNvPr>
          <p:cNvSpPr txBox="1"/>
          <p:nvPr/>
        </p:nvSpPr>
        <p:spPr>
          <a:xfrm>
            <a:off x="6505137" y="2603800"/>
            <a:ext cx="356447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96534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C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1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178" name="object 85">
            <a:extLst>
              <a:ext uri="{FF2B5EF4-FFF2-40B4-BE49-F238E27FC236}">
                <a16:creationId xmlns:a16="http://schemas.microsoft.com/office/drawing/2014/main" id="{EB62C4CA-11D8-87D3-140E-66A45DE121C6}"/>
              </a:ext>
            </a:extLst>
          </p:cNvPr>
          <p:cNvSpPr txBox="1"/>
          <p:nvPr/>
        </p:nvSpPr>
        <p:spPr>
          <a:xfrm>
            <a:off x="6861584" y="2603800"/>
            <a:ext cx="356447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103960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…</a:t>
            </a:r>
            <a:endParaRPr sz="1169">
              <a:latin typeface="Arial"/>
              <a:cs typeface="Arial"/>
            </a:endParaRPr>
          </a:p>
        </p:txBody>
      </p:sp>
      <p:sp>
        <p:nvSpPr>
          <p:cNvPr id="179" name="object 86">
            <a:extLst>
              <a:ext uri="{FF2B5EF4-FFF2-40B4-BE49-F238E27FC236}">
                <a16:creationId xmlns:a16="http://schemas.microsoft.com/office/drawing/2014/main" id="{9277F4F0-F542-253B-317C-6AB7E037887B}"/>
              </a:ext>
            </a:extLst>
          </p:cNvPr>
          <p:cNvSpPr txBox="1"/>
          <p:nvPr/>
        </p:nvSpPr>
        <p:spPr>
          <a:xfrm>
            <a:off x="7218030" y="2603800"/>
            <a:ext cx="356447" cy="196418"/>
          </a:xfrm>
          <a:prstGeom prst="rect">
            <a:avLst/>
          </a:prstGeom>
          <a:ln w="12699">
            <a:solidFill>
              <a:srgbClr val="A5A5A5"/>
            </a:solidFill>
          </a:ln>
        </p:spPr>
        <p:txBody>
          <a:bodyPr vert="horz" wrap="square" lIns="0" tIns="16337" rIns="0" bIns="0" rtlCol="0">
            <a:spAutoFit/>
          </a:bodyPr>
          <a:lstStyle/>
          <a:p>
            <a:pPr marL="96534">
              <a:spcBef>
                <a:spcPts val="129"/>
              </a:spcBef>
            </a:pPr>
            <a:r>
              <a:rPr sz="1169" b="1" dirty="0">
                <a:solidFill>
                  <a:srgbClr val="ED7C31"/>
                </a:solidFill>
                <a:latin typeface="Arial"/>
                <a:cs typeface="Arial"/>
              </a:rPr>
              <a:t>C</a:t>
            </a:r>
            <a:r>
              <a:rPr sz="1140" b="1" baseline="-34188" dirty="0">
                <a:solidFill>
                  <a:srgbClr val="ED7C31"/>
                </a:solidFill>
                <a:latin typeface="Arial"/>
                <a:cs typeface="Arial"/>
              </a:rPr>
              <a:t>k</a:t>
            </a:r>
            <a:endParaRPr sz="1140" baseline="-34188">
              <a:latin typeface="Arial"/>
              <a:cs typeface="Arial"/>
            </a:endParaRPr>
          </a:p>
        </p:txBody>
      </p:sp>
      <p:sp>
        <p:nvSpPr>
          <p:cNvPr id="180" name="object 87">
            <a:extLst>
              <a:ext uri="{FF2B5EF4-FFF2-40B4-BE49-F238E27FC236}">
                <a16:creationId xmlns:a16="http://schemas.microsoft.com/office/drawing/2014/main" id="{00544B97-833D-7EEE-3485-316FC016E6B9}"/>
              </a:ext>
            </a:extLst>
          </p:cNvPr>
          <p:cNvSpPr txBox="1"/>
          <p:nvPr/>
        </p:nvSpPr>
        <p:spPr>
          <a:xfrm>
            <a:off x="3382523" y="4413089"/>
            <a:ext cx="3212476" cy="1470449"/>
          </a:xfrm>
          <a:prstGeom prst="rect">
            <a:avLst/>
          </a:prstGeom>
        </p:spPr>
        <p:txBody>
          <a:bodyPr vert="horz" wrap="square" lIns="0" tIns="10396" rIns="0" bIns="0" rtlCol="0">
            <a:spAutoFit/>
          </a:bodyPr>
          <a:lstStyle/>
          <a:p>
            <a:pPr marL="14851" marR="476729">
              <a:lnSpc>
                <a:spcPct val="101600"/>
              </a:lnSpc>
              <a:spcBef>
                <a:spcPts val="82"/>
              </a:spcBef>
            </a:pPr>
            <a:r>
              <a:rPr sz="1871" spc="-6" dirty="0">
                <a:latin typeface="Arial"/>
                <a:cs typeface="Arial"/>
              </a:rPr>
              <a:t>A</a:t>
            </a:r>
            <a:r>
              <a:rPr sz="1842" spc="-8" baseline="-31746" dirty="0">
                <a:latin typeface="Arial"/>
                <a:cs typeface="Arial"/>
              </a:rPr>
              <a:t>1</a:t>
            </a:r>
            <a:r>
              <a:rPr sz="1871" spc="-6" dirty="0">
                <a:latin typeface="Arial"/>
                <a:cs typeface="Arial"/>
              </a:rPr>
              <a:t>, </a:t>
            </a:r>
            <a:r>
              <a:rPr sz="1871" dirty="0">
                <a:latin typeface="Arial"/>
                <a:cs typeface="Arial"/>
              </a:rPr>
              <a:t>…, </a:t>
            </a:r>
            <a:r>
              <a:rPr sz="1871" spc="6" dirty="0">
                <a:latin typeface="Arial"/>
                <a:cs typeface="Arial"/>
              </a:rPr>
              <a:t>A</a:t>
            </a:r>
            <a:r>
              <a:rPr sz="1842" spc="8" baseline="-31746" dirty="0">
                <a:latin typeface="Arial"/>
                <a:cs typeface="Arial"/>
              </a:rPr>
              <a:t>m </a:t>
            </a:r>
            <a:r>
              <a:rPr sz="1871" dirty="0">
                <a:latin typeface="Arial"/>
                <a:cs typeface="Arial"/>
              </a:rPr>
              <a:t>→ </a:t>
            </a:r>
            <a:r>
              <a:rPr sz="1871" spc="-6" dirty="0">
                <a:latin typeface="Arial"/>
                <a:cs typeface="Arial"/>
              </a:rPr>
              <a:t>B</a:t>
            </a:r>
            <a:r>
              <a:rPr sz="1842" spc="-8" baseline="-31746" dirty="0">
                <a:latin typeface="Arial"/>
                <a:cs typeface="Arial"/>
              </a:rPr>
              <a:t>1</a:t>
            </a:r>
            <a:r>
              <a:rPr sz="1871" spc="-6" dirty="0">
                <a:latin typeface="Arial"/>
                <a:cs typeface="Arial"/>
              </a:rPr>
              <a:t>,…,B</a:t>
            </a:r>
            <a:r>
              <a:rPr sz="1842" spc="-8" baseline="-31746" dirty="0">
                <a:latin typeface="Arial"/>
                <a:cs typeface="Arial"/>
              </a:rPr>
              <a:t>n </a:t>
            </a:r>
            <a:r>
              <a:rPr lang="de-DE" sz="1871" spc="-6" dirty="0" err="1">
                <a:latin typeface="Arial"/>
                <a:cs typeface="Arial"/>
              </a:rPr>
              <a:t>u</a:t>
            </a:r>
            <a:r>
              <a:rPr sz="1871" spc="-6" dirty="0" err="1">
                <a:latin typeface="Arial"/>
                <a:cs typeface="Arial"/>
              </a:rPr>
              <a:t>nd</a:t>
            </a:r>
            <a:r>
              <a:rPr sz="1871" spc="-6" dirty="0">
                <a:latin typeface="Arial"/>
                <a:cs typeface="Arial"/>
              </a:rPr>
              <a:t>  B</a:t>
            </a:r>
            <a:r>
              <a:rPr sz="1842" spc="-8" baseline="-31746" dirty="0">
                <a:latin typeface="Arial"/>
                <a:cs typeface="Arial"/>
              </a:rPr>
              <a:t>1</a:t>
            </a:r>
            <a:r>
              <a:rPr sz="1871" spc="-6" dirty="0">
                <a:latin typeface="Arial"/>
                <a:cs typeface="Arial"/>
              </a:rPr>
              <a:t>,…,B</a:t>
            </a:r>
            <a:r>
              <a:rPr sz="1842" spc="-8" baseline="-31746" dirty="0">
                <a:latin typeface="Arial"/>
                <a:cs typeface="Arial"/>
              </a:rPr>
              <a:t>n </a:t>
            </a:r>
            <a:r>
              <a:rPr sz="1871" dirty="0">
                <a:latin typeface="Arial"/>
                <a:cs typeface="Arial"/>
              </a:rPr>
              <a:t>→</a:t>
            </a:r>
            <a:r>
              <a:rPr sz="1871" spc="-12" dirty="0">
                <a:latin typeface="Arial"/>
                <a:cs typeface="Arial"/>
              </a:rPr>
              <a:t> </a:t>
            </a:r>
            <a:r>
              <a:rPr sz="1871" spc="-6" dirty="0">
                <a:latin typeface="Arial"/>
                <a:cs typeface="Arial"/>
              </a:rPr>
              <a:t>C</a:t>
            </a:r>
            <a:r>
              <a:rPr sz="1842" spc="-8" baseline="-31746" dirty="0">
                <a:latin typeface="Arial"/>
                <a:cs typeface="Arial"/>
              </a:rPr>
              <a:t>1</a:t>
            </a:r>
            <a:r>
              <a:rPr sz="1871" spc="-6" dirty="0">
                <a:latin typeface="Arial"/>
                <a:cs typeface="Arial"/>
              </a:rPr>
              <a:t>,…,C</a:t>
            </a:r>
            <a:r>
              <a:rPr sz="1842" spc="-8" baseline="-31746" dirty="0">
                <a:latin typeface="Arial"/>
                <a:cs typeface="Arial"/>
              </a:rPr>
              <a:t>k</a:t>
            </a:r>
            <a:endParaRPr sz="1842" baseline="-31746" dirty="0">
              <a:latin typeface="Arial"/>
              <a:cs typeface="Arial"/>
            </a:endParaRPr>
          </a:p>
          <a:p>
            <a:pPr marL="1040339" marR="5941" indent="642322">
              <a:lnSpc>
                <a:spcPct val="142000"/>
              </a:lnSpc>
              <a:spcBef>
                <a:spcPts val="772"/>
              </a:spcBef>
            </a:pPr>
            <a:r>
              <a:rPr sz="1871" spc="-6" dirty="0" err="1">
                <a:latin typeface="Arial"/>
                <a:cs typeface="Arial"/>
              </a:rPr>
              <a:t>impli</a:t>
            </a:r>
            <a:r>
              <a:rPr lang="de-DE" sz="1871" spc="-6" dirty="0">
                <a:latin typeface="Arial"/>
                <a:cs typeface="Arial"/>
              </a:rPr>
              <a:t>ziert</a:t>
            </a:r>
            <a:r>
              <a:rPr sz="1871" spc="-6" dirty="0">
                <a:latin typeface="Arial"/>
                <a:cs typeface="Arial"/>
              </a:rPr>
              <a:t>  A</a:t>
            </a:r>
            <a:r>
              <a:rPr sz="1842" spc="-8" baseline="-31746" dirty="0">
                <a:latin typeface="Arial"/>
                <a:cs typeface="Arial"/>
              </a:rPr>
              <a:t>1</a:t>
            </a:r>
            <a:r>
              <a:rPr sz="1871" spc="-6" dirty="0">
                <a:latin typeface="Arial"/>
                <a:cs typeface="Arial"/>
              </a:rPr>
              <a:t>,…,A</a:t>
            </a:r>
            <a:r>
              <a:rPr sz="1842" spc="-8" baseline="-31746" dirty="0">
                <a:latin typeface="Arial"/>
                <a:cs typeface="Arial"/>
              </a:rPr>
              <a:t>m </a:t>
            </a:r>
            <a:r>
              <a:rPr sz="1871" dirty="0">
                <a:latin typeface="Arial"/>
                <a:cs typeface="Arial"/>
              </a:rPr>
              <a:t>→</a:t>
            </a:r>
            <a:r>
              <a:rPr sz="1871" spc="-35" dirty="0">
                <a:latin typeface="Arial"/>
                <a:cs typeface="Arial"/>
              </a:rPr>
              <a:t> </a:t>
            </a:r>
            <a:r>
              <a:rPr sz="1871" spc="-6" dirty="0">
                <a:latin typeface="Arial"/>
                <a:cs typeface="Arial"/>
              </a:rPr>
              <a:t>C</a:t>
            </a:r>
            <a:r>
              <a:rPr sz="1842" spc="-8" baseline="-31746" dirty="0">
                <a:latin typeface="Arial"/>
                <a:cs typeface="Arial"/>
              </a:rPr>
              <a:t>1</a:t>
            </a:r>
            <a:r>
              <a:rPr sz="1871" spc="-6" dirty="0">
                <a:latin typeface="Arial"/>
                <a:cs typeface="Arial"/>
              </a:rPr>
              <a:t>,…,C</a:t>
            </a:r>
            <a:r>
              <a:rPr sz="1842" spc="-8" baseline="-31746" dirty="0">
                <a:latin typeface="Arial"/>
                <a:cs typeface="Arial"/>
              </a:rPr>
              <a:t>k</a:t>
            </a:r>
            <a:endParaRPr sz="1842" baseline="-31746" dirty="0">
              <a:latin typeface="Arial"/>
              <a:cs typeface="Arial"/>
            </a:endParaRPr>
          </a:p>
        </p:txBody>
      </p:sp>
      <p:sp>
        <p:nvSpPr>
          <p:cNvPr id="181" name="object 88">
            <a:extLst>
              <a:ext uri="{FF2B5EF4-FFF2-40B4-BE49-F238E27FC236}">
                <a16:creationId xmlns:a16="http://schemas.microsoft.com/office/drawing/2014/main" id="{D006E686-B562-004C-695C-664C676EA018}"/>
              </a:ext>
            </a:extLst>
          </p:cNvPr>
          <p:cNvSpPr/>
          <p:nvPr/>
        </p:nvSpPr>
        <p:spPr>
          <a:xfrm>
            <a:off x="3579427" y="3016036"/>
            <a:ext cx="1194789" cy="10029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82" name="object 89">
            <a:extLst>
              <a:ext uri="{FF2B5EF4-FFF2-40B4-BE49-F238E27FC236}">
                <a16:creationId xmlns:a16="http://schemas.microsoft.com/office/drawing/2014/main" id="{90DA059F-8561-1CD5-F0E6-9CB225F42FE7}"/>
              </a:ext>
            </a:extLst>
          </p:cNvPr>
          <p:cNvSpPr/>
          <p:nvPr/>
        </p:nvSpPr>
        <p:spPr>
          <a:xfrm>
            <a:off x="3631760" y="3044994"/>
            <a:ext cx="1090133" cy="898543"/>
          </a:xfrm>
          <a:custGeom>
            <a:avLst/>
            <a:gdLst/>
            <a:ahLst/>
            <a:cxnLst/>
            <a:rect l="l" t="t" r="r" b="b"/>
            <a:pathLst>
              <a:path w="932179" h="768350">
                <a:moveTo>
                  <a:pt x="0" y="128017"/>
                </a:moveTo>
                <a:lnTo>
                  <a:pt x="10061" y="78186"/>
                </a:lnTo>
                <a:lnTo>
                  <a:pt x="37499" y="37495"/>
                </a:lnTo>
                <a:lnTo>
                  <a:pt x="78194" y="10060"/>
                </a:lnTo>
                <a:lnTo>
                  <a:pt x="128024" y="0"/>
                </a:lnTo>
                <a:lnTo>
                  <a:pt x="804123" y="0"/>
                </a:lnTo>
                <a:lnTo>
                  <a:pt x="853117" y="9744"/>
                </a:lnTo>
                <a:lnTo>
                  <a:pt x="894648" y="37494"/>
                </a:lnTo>
                <a:lnTo>
                  <a:pt x="922407" y="79026"/>
                </a:lnTo>
                <a:lnTo>
                  <a:pt x="932148" y="128017"/>
                </a:lnTo>
                <a:lnTo>
                  <a:pt x="932148" y="640081"/>
                </a:lnTo>
                <a:lnTo>
                  <a:pt x="922086" y="689911"/>
                </a:lnTo>
                <a:lnTo>
                  <a:pt x="894648" y="730606"/>
                </a:lnTo>
                <a:lnTo>
                  <a:pt x="853953" y="758044"/>
                </a:lnTo>
                <a:lnTo>
                  <a:pt x="804123" y="768105"/>
                </a:lnTo>
                <a:lnTo>
                  <a:pt x="128024" y="768105"/>
                </a:lnTo>
                <a:lnTo>
                  <a:pt x="78194" y="758044"/>
                </a:lnTo>
                <a:lnTo>
                  <a:pt x="37499" y="730606"/>
                </a:lnTo>
                <a:lnTo>
                  <a:pt x="10061" y="689911"/>
                </a:lnTo>
                <a:lnTo>
                  <a:pt x="0" y="640081"/>
                </a:lnTo>
                <a:lnTo>
                  <a:pt x="0" y="128017"/>
                </a:lnTo>
                <a:close/>
              </a:path>
            </a:pathLst>
          </a:custGeom>
          <a:ln w="9524">
            <a:solidFill>
              <a:srgbClr val="EB792A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83" name="object 90">
            <a:extLst>
              <a:ext uri="{FF2B5EF4-FFF2-40B4-BE49-F238E27FC236}">
                <a16:creationId xmlns:a16="http://schemas.microsoft.com/office/drawing/2014/main" id="{24817995-1E73-0E17-5FE8-84DA5C862BE6}"/>
              </a:ext>
            </a:extLst>
          </p:cNvPr>
          <p:cNvSpPr/>
          <p:nvPr/>
        </p:nvSpPr>
        <p:spPr>
          <a:xfrm>
            <a:off x="6412752" y="3016036"/>
            <a:ext cx="1258950" cy="10029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84" name="object 91">
            <a:extLst>
              <a:ext uri="{FF2B5EF4-FFF2-40B4-BE49-F238E27FC236}">
                <a16:creationId xmlns:a16="http://schemas.microsoft.com/office/drawing/2014/main" id="{C5604ECC-4624-D8AD-1AF4-82742A36DEDA}"/>
              </a:ext>
            </a:extLst>
          </p:cNvPr>
          <p:cNvSpPr/>
          <p:nvPr/>
        </p:nvSpPr>
        <p:spPr>
          <a:xfrm>
            <a:off x="6465085" y="3044994"/>
            <a:ext cx="1154739" cy="898543"/>
          </a:xfrm>
          <a:custGeom>
            <a:avLst/>
            <a:gdLst/>
            <a:ahLst/>
            <a:cxnLst/>
            <a:rect l="l" t="t" r="r" b="b"/>
            <a:pathLst>
              <a:path w="987425" h="768350">
                <a:moveTo>
                  <a:pt x="0" y="128017"/>
                </a:moveTo>
                <a:lnTo>
                  <a:pt x="10061" y="78186"/>
                </a:lnTo>
                <a:lnTo>
                  <a:pt x="37499" y="37495"/>
                </a:lnTo>
                <a:lnTo>
                  <a:pt x="78194" y="10060"/>
                </a:lnTo>
                <a:lnTo>
                  <a:pt x="128024" y="0"/>
                </a:lnTo>
                <a:lnTo>
                  <a:pt x="858998" y="0"/>
                </a:lnTo>
                <a:lnTo>
                  <a:pt x="907991" y="9744"/>
                </a:lnTo>
                <a:lnTo>
                  <a:pt x="949523" y="37494"/>
                </a:lnTo>
                <a:lnTo>
                  <a:pt x="977273" y="79026"/>
                </a:lnTo>
                <a:lnTo>
                  <a:pt x="987023" y="128017"/>
                </a:lnTo>
                <a:lnTo>
                  <a:pt x="987023" y="640081"/>
                </a:lnTo>
                <a:lnTo>
                  <a:pt x="976961" y="689911"/>
                </a:lnTo>
                <a:lnTo>
                  <a:pt x="949523" y="730606"/>
                </a:lnTo>
                <a:lnTo>
                  <a:pt x="908828" y="758044"/>
                </a:lnTo>
                <a:lnTo>
                  <a:pt x="858998" y="768105"/>
                </a:lnTo>
                <a:lnTo>
                  <a:pt x="128024" y="768105"/>
                </a:lnTo>
                <a:lnTo>
                  <a:pt x="78194" y="758044"/>
                </a:lnTo>
                <a:lnTo>
                  <a:pt x="37499" y="730606"/>
                </a:lnTo>
                <a:lnTo>
                  <a:pt x="10061" y="689911"/>
                </a:lnTo>
                <a:lnTo>
                  <a:pt x="0" y="640081"/>
                </a:lnTo>
                <a:lnTo>
                  <a:pt x="0" y="128017"/>
                </a:lnTo>
                <a:close/>
              </a:path>
            </a:pathLst>
          </a:custGeom>
          <a:ln w="9524">
            <a:solidFill>
              <a:srgbClr val="EB792A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85" name="object 92">
            <a:extLst>
              <a:ext uri="{FF2B5EF4-FFF2-40B4-BE49-F238E27FC236}">
                <a16:creationId xmlns:a16="http://schemas.microsoft.com/office/drawing/2014/main" id="{863242E9-457E-1F08-D943-A918C1067FAD}"/>
              </a:ext>
            </a:extLst>
          </p:cNvPr>
          <p:cNvSpPr/>
          <p:nvPr/>
        </p:nvSpPr>
        <p:spPr>
          <a:xfrm>
            <a:off x="4420432" y="3232772"/>
            <a:ext cx="2313192" cy="5764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86" name="object 93">
            <a:extLst>
              <a:ext uri="{FF2B5EF4-FFF2-40B4-BE49-F238E27FC236}">
                <a16:creationId xmlns:a16="http://schemas.microsoft.com/office/drawing/2014/main" id="{9B89D19E-47D9-1937-2847-E095DA6EA017}"/>
              </a:ext>
            </a:extLst>
          </p:cNvPr>
          <p:cNvSpPr/>
          <p:nvPr/>
        </p:nvSpPr>
        <p:spPr>
          <a:xfrm>
            <a:off x="4472765" y="3258233"/>
            <a:ext cx="2208483" cy="472292"/>
          </a:xfrm>
          <a:custGeom>
            <a:avLst/>
            <a:gdLst/>
            <a:ahLst/>
            <a:cxnLst/>
            <a:rect l="l" t="t" r="r" b="b"/>
            <a:pathLst>
              <a:path w="1888489" h="403860">
                <a:moveTo>
                  <a:pt x="0" y="100852"/>
                </a:moveTo>
                <a:lnTo>
                  <a:pt x="1686796" y="100852"/>
                </a:lnTo>
                <a:lnTo>
                  <a:pt x="1686796" y="0"/>
                </a:lnTo>
                <a:lnTo>
                  <a:pt x="1888496" y="201704"/>
                </a:lnTo>
                <a:lnTo>
                  <a:pt x="1686796" y="403414"/>
                </a:lnTo>
                <a:lnTo>
                  <a:pt x="1686796" y="302556"/>
                </a:lnTo>
                <a:lnTo>
                  <a:pt x="0" y="302556"/>
                </a:lnTo>
                <a:lnTo>
                  <a:pt x="0" y="100852"/>
                </a:lnTo>
                <a:close/>
              </a:path>
            </a:pathLst>
          </a:custGeom>
          <a:ln w="9524">
            <a:solidFill>
              <a:srgbClr val="EB792A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</p:spTree>
    <p:extLst>
      <p:ext uri="{BB962C8B-B14F-4D97-AF65-F5344CB8AC3E}">
        <p14:creationId xmlns:p14="http://schemas.microsoft.com/office/powerpoint/2010/main" val="14826651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411257" y="3699303"/>
            <a:ext cx="3717768" cy="870699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37130" rIns="0" bIns="0" rtlCol="0">
            <a:spAutoFit/>
          </a:bodyPr>
          <a:lstStyle/>
          <a:p>
            <a:pPr marL="381146" indent="-253780" defTabSz="1170213">
              <a:lnSpc>
                <a:spcPts val="2140"/>
              </a:lnSpc>
              <a:spcBef>
                <a:spcPts val="374"/>
              </a:spcBef>
              <a:buAutoNum type="arabicPeriod"/>
              <a:tabLst>
                <a:tab pos="382097" algn="l"/>
              </a:tabLst>
            </a:pPr>
            <a:r>
              <a:rPr lang="en-GB" sz="1796" kern="1200" spc="-8">
                <a:solidFill>
                  <a:schemeClr val="tx1"/>
                </a:solidFill>
                <a:latin typeface="Arial"/>
                <a:ea typeface="+mn-ea"/>
                <a:cs typeface="Arial"/>
              </a:rPr>
              <a:t>{Name} </a:t>
            </a:r>
            <a:r>
              <a:rPr lang="en-GB" sz="1796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796" kern="1200" spc="-23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96" kern="1200" spc="-8">
                <a:solidFill>
                  <a:schemeClr val="tx1"/>
                </a:solidFill>
                <a:latin typeface="Arial"/>
                <a:ea typeface="+mn-ea"/>
                <a:cs typeface="Arial"/>
              </a:rPr>
              <a:t>{Color}</a:t>
            </a:r>
            <a:endParaRPr lang="en-GB" sz="1796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381146" indent="-253780" defTabSz="1170213">
              <a:lnSpc>
                <a:spcPts val="2132"/>
              </a:lnSpc>
              <a:buAutoNum type="arabicPeriod"/>
              <a:tabLst>
                <a:tab pos="382097" algn="l"/>
              </a:tabLst>
            </a:pPr>
            <a:r>
              <a:rPr lang="en-GB" sz="1796" kern="1200" spc="-8">
                <a:solidFill>
                  <a:schemeClr val="tx1"/>
                </a:solidFill>
                <a:latin typeface="Arial"/>
                <a:ea typeface="+mn-ea"/>
                <a:cs typeface="Arial"/>
              </a:rPr>
              <a:t>{Category} </a:t>
            </a:r>
            <a:r>
              <a:rPr lang="en-GB" sz="1796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796" kern="1200" spc="-15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96" kern="1200" spc="-8">
                <a:solidFill>
                  <a:schemeClr val="tx1"/>
                </a:solidFill>
                <a:latin typeface="Arial"/>
                <a:ea typeface="+mn-ea"/>
                <a:cs typeface="Arial"/>
              </a:rPr>
              <a:t>{Department}</a:t>
            </a:r>
            <a:endParaRPr lang="en-GB" sz="1796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381146" indent="-253780" defTabSz="1170213">
              <a:lnSpc>
                <a:spcPts val="2140"/>
              </a:lnSpc>
              <a:buAutoNum type="arabicPeriod"/>
              <a:tabLst>
                <a:tab pos="382097" algn="l"/>
              </a:tabLst>
            </a:pPr>
            <a:r>
              <a:rPr lang="en-GB" sz="1796" kern="1200" spc="-8">
                <a:solidFill>
                  <a:schemeClr val="tx1"/>
                </a:solidFill>
                <a:latin typeface="Arial"/>
                <a:ea typeface="+mn-ea"/>
                <a:cs typeface="Arial"/>
              </a:rPr>
              <a:t>{Color, Category} </a:t>
            </a:r>
            <a:r>
              <a:rPr lang="en-GB" sz="1796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796" kern="1200" spc="-142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96" kern="1200" spc="-8">
                <a:solidFill>
                  <a:schemeClr val="tx1"/>
                </a:solidFill>
                <a:latin typeface="Arial"/>
                <a:ea typeface="+mn-ea"/>
                <a:cs typeface="Arial"/>
              </a:rPr>
              <a:t>{Price}</a:t>
            </a:r>
            <a:endParaRPr lang="en-GB" sz="1403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934507"/>
              </p:ext>
            </p:extLst>
          </p:nvPr>
        </p:nvGraphicFramePr>
        <p:xfrm>
          <a:off x="622372" y="3669437"/>
          <a:ext cx="4276617" cy="12832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5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802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Color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Category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Dep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Price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02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Gizmo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Green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Gadget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Toys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49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02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Widget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Black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Gadget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Toys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59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02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Gizmo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Green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Whatsit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Garden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99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7526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996381" y="6107701"/>
            <a:ext cx="5626919" cy="358389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35645" rIns="0" bIns="0" rtlCol="0">
            <a:spAutoFit/>
          </a:bodyPr>
          <a:lstStyle/>
          <a:p>
            <a:pPr marL="295602" defTabSz="1170213">
              <a:spcBef>
                <a:spcPts val="360"/>
              </a:spcBef>
            </a:pPr>
            <a:r>
              <a:rPr lang="en-GB" sz="2095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Welche</a:t>
            </a:r>
            <a:r>
              <a:rPr lang="en-GB" sz="2095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und </a:t>
            </a:r>
            <a:r>
              <a:rPr lang="en-GB" sz="2095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wieviele</a:t>
            </a:r>
            <a:r>
              <a:rPr lang="en-GB" sz="2095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95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andere</a:t>
            </a:r>
            <a:r>
              <a:rPr lang="en-GB" sz="2095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FDs</a:t>
            </a:r>
            <a:r>
              <a:rPr lang="en-GB" sz="2095" kern="1200" spc="-9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95" spc="-8" dirty="0" err="1">
                <a:latin typeface="Arial"/>
                <a:cs typeface="Arial"/>
              </a:rPr>
              <a:t>gibt</a:t>
            </a:r>
            <a:r>
              <a:rPr lang="en-GB" sz="2095" spc="-8" dirty="0">
                <a:latin typeface="Arial"/>
                <a:cs typeface="Arial"/>
              </a:rPr>
              <a:t> es</a:t>
            </a:r>
            <a:r>
              <a:rPr lang="en-GB" sz="2095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?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03902" y="3282989"/>
            <a:ext cx="2347998" cy="337393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9009" defTabSz="1170213">
              <a:spcBef>
                <a:spcPts val="150"/>
              </a:spcBef>
            </a:pPr>
            <a:r>
              <a:rPr lang="en-GB" sz="2095" b="1" spc="-8" dirty="0" err="1">
                <a:solidFill>
                  <a:srgbClr val="ED7C31"/>
                </a:solidFill>
                <a:latin typeface="Arial"/>
                <a:cs typeface="Arial"/>
              </a:rPr>
              <a:t>Bekannte</a:t>
            </a:r>
            <a:r>
              <a:rPr lang="en-GB" sz="2095" b="1" kern="1200" spc="-120" dirty="0">
                <a:solidFill>
                  <a:srgbClr val="ED7C3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95" b="1" kern="1200" spc="-8" dirty="0">
                <a:solidFill>
                  <a:srgbClr val="ED7C31"/>
                </a:solidFill>
                <a:latin typeface="Arial"/>
                <a:ea typeface="+mn-ea"/>
                <a:cs typeface="Arial"/>
              </a:rPr>
              <a:t>FDs: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4374" y="3282989"/>
            <a:ext cx="1194111" cy="342828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9009" defTabSz="1170213">
              <a:spcBef>
                <a:spcPts val="150"/>
              </a:spcBef>
            </a:pPr>
            <a:r>
              <a:rPr lang="en-GB" sz="2095" b="1" kern="1200" spc="-8">
                <a:solidFill>
                  <a:srgbClr val="ED7C31"/>
                </a:solidFill>
                <a:latin typeface="Arial"/>
                <a:ea typeface="+mn-ea"/>
                <a:cs typeface="Arial"/>
              </a:rPr>
              <a:t>Products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1591" y="2624764"/>
            <a:ext cx="4157398" cy="337393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9009" defTabSz="1170213">
              <a:spcBef>
                <a:spcPts val="150"/>
              </a:spcBef>
            </a:pPr>
            <a:r>
              <a:rPr lang="en-GB" sz="2095" spc="-8" dirty="0" err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Zurück</a:t>
            </a:r>
            <a:r>
              <a:rPr lang="en-GB" sz="2095" spc="-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GB" sz="2095" spc="-8" dirty="0" err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zu</a:t>
            </a:r>
            <a:r>
              <a:rPr lang="en-GB" sz="2095" spc="-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GB" sz="2095" spc="-8" dirty="0" err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unserem</a:t>
            </a:r>
            <a:r>
              <a:rPr lang="en-GB" sz="2095" spc="-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GB" sz="2095" b="1" u="heavy" spc="-8" dirty="0" err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Beispiel</a:t>
            </a:r>
            <a:r>
              <a:rPr lang="en-GB" sz="2095" b="1" u="heavy" kern="1200" spc="-8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: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9B8388FF-3BA0-592E-54D7-04D9BE578D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4374" y="730250"/>
            <a:ext cx="6279679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/>
              <a:t>(</a:t>
            </a:r>
            <a:r>
              <a:rPr lang="en-GB" sz="2961" spc="-213" dirty="0" err="1"/>
              <a:t>Systematisches</a:t>
            </a:r>
            <a:r>
              <a:rPr lang="en-GB" sz="2961" spc="-213" dirty="0"/>
              <a:t>) </a:t>
            </a:r>
            <a:r>
              <a:rPr lang="en-GB" sz="2961" spc="-213" dirty="0" err="1"/>
              <a:t>Bestimmen</a:t>
            </a:r>
            <a:r>
              <a:rPr lang="en-GB" sz="2961" spc="-213" dirty="0"/>
              <a:t> von</a:t>
            </a:r>
            <a:r>
              <a:rPr lang="en-GB" sz="2961" b="0" i="0" kern="1200" spc="-362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961" b="0" i="0" kern="1200" spc="-119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FDs</a:t>
            </a:r>
            <a:endParaRPr lang="en-GB" spc="-88" dirty="0"/>
          </a:p>
        </p:txBody>
      </p:sp>
    </p:spTree>
    <p:extLst>
      <p:ext uri="{BB962C8B-B14F-4D97-AF65-F5344CB8AC3E}">
        <p14:creationId xmlns:p14="http://schemas.microsoft.com/office/powerpoint/2010/main" val="13577483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565900" y="3128170"/>
            <a:ext cx="1455129" cy="272058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7376" defTabSz="1069648">
              <a:spcBef>
                <a:spcPts val="137"/>
              </a:spcBef>
            </a:pPr>
            <a:r>
              <a:rPr lang="en-GB" sz="1642" b="1" spc="-7" dirty="0" err="1">
                <a:solidFill>
                  <a:srgbClr val="ED7C31"/>
                </a:solidFill>
                <a:latin typeface="Arial"/>
                <a:cs typeface="Arial"/>
              </a:rPr>
              <a:t>Bekannte</a:t>
            </a:r>
            <a:r>
              <a:rPr lang="en-GB" sz="1642" b="1" kern="1200" spc="-103" dirty="0">
                <a:solidFill>
                  <a:srgbClr val="ED7C3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42" b="1" kern="1200" spc="-7" dirty="0">
                <a:solidFill>
                  <a:srgbClr val="ED7C31"/>
                </a:solidFill>
                <a:latin typeface="Arial"/>
                <a:ea typeface="+mn-ea"/>
                <a:cs typeface="Arial"/>
              </a:rPr>
              <a:t>FDs:</a:t>
            </a:r>
            <a:endParaRPr lang="en-GB" sz="1403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6100" y="3128170"/>
            <a:ext cx="3472358" cy="267695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7376" defTabSz="1069648">
              <a:spcBef>
                <a:spcPts val="137"/>
              </a:spcBef>
            </a:pPr>
            <a:r>
              <a:rPr lang="en-GB" sz="1642" b="1" spc="-7" dirty="0" err="1">
                <a:solidFill>
                  <a:srgbClr val="ED7C31"/>
                </a:solidFill>
                <a:latin typeface="Arial"/>
                <a:cs typeface="Arial"/>
              </a:rPr>
              <a:t>Hergeleitete</a:t>
            </a:r>
            <a:r>
              <a:rPr lang="en-GB" sz="1642" b="1" spc="-7" dirty="0">
                <a:solidFill>
                  <a:srgbClr val="ED7C31"/>
                </a:solidFill>
                <a:latin typeface="Arial"/>
                <a:cs typeface="Arial"/>
              </a:rPr>
              <a:t>/</a:t>
            </a:r>
            <a:r>
              <a:rPr lang="en-GB" sz="1642" b="1" spc="-7" dirty="0" err="1">
                <a:solidFill>
                  <a:srgbClr val="ED7C31"/>
                </a:solidFill>
                <a:latin typeface="Arial"/>
                <a:cs typeface="Arial"/>
              </a:rPr>
              <a:t>Implizierte</a:t>
            </a:r>
            <a:r>
              <a:rPr lang="en-GB" sz="1642" b="1" spc="-7" dirty="0">
                <a:solidFill>
                  <a:srgbClr val="ED7C31"/>
                </a:solidFill>
                <a:latin typeface="Arial"/>
                <a:cs typeface="Arial"/>
              </a:rPr>
              <a:t> </a:t>
            </a:r>
            <a:r>
              <a:rPr lang="en-GB" sz="1642" b="1" kern="1200" spc="-103" dirty="0">
                <a:solidFill>
                  <a:srgbClr val="ED7C3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42" b="1" kern="1200" spc="-7" dirty="0">
                <a:solidFill>
                  <a:srgbClr val="ED7C31"/>
                </a:solidFill>
                <a:latin typeface="Arial"/>
                <a:ea typeface="+mn-ea"/>
                <a:cs typeface="Arial"/>
              </a:rPr>
              <a:t>FDs:</a:t>
            </a:r>
            <a:endParaRPr lang="en-GB" sz="1403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85787" y="2524302"/>
            <a:ext cx="967754" cy="272058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7376" defTabSz="1069648">
              <a:spcBef>
                <a:spcPts val="137"/>
              </a:spcBef>
            </a:pPr>
            <a:r>
              <a:rPr lang="en-GB" sz="1642" b="1" u="heavy" kern="1200" spc="-7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Example:</a:t>
            </a:r>
            <a:endParaRPr lang="en-GB" sz="1403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292983"/>
              </p:ext>
            </p:extLst>
          </p:nvPr>
        </p:nvGraphicFramePr>
        <p:xfrm>
          <a:off x="564374" y="3499955"/>
          <a:ext cx="8117327" cy="18795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6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1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504"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de-DE" sz="1400" b="1" spc="-5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Implizierte</a:t>
                      </a:r>
                      <a:r>
                        <a:rPr sz="1400" b="1" spc="-10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FD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14852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Rule</a:t>
                      </a:r>
                      <a:r>
                        <a:rPr sz="1400" b="1" spc="-1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used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852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283845" indent="-168910">
                        <a:lnSpc>
                          <a:spcPts val="1430"/>
                        </a:lnSpc>
                        <a:spcBef>
                          <a:spcPts val="250"/>
                        </a:spcBef>
                        <a:buAutoNum type="arabicPeriod"/>
                        <a:tabLst>
                          <a:tab pos="284480" algn="l"/>
                        </a:tabLst>
                      </a:pPr>
                      <a:r>
                        <a:rPr sz="1400" spc="-5">
                          <a:latin typeface="Arial"/>
                          <a:cs typeface="Arial"/>
                        </a:rPr>
                        <a:t>{Name} </a:t>
                      </a:r>
                      <a:r>
                        <a:rPr sz="1400">
                          <a:latin typeface="Arial"/>
                          <a:cs typeface="Arial"/>
                        </a:rPr>
                        <a:t>→</a:t>
                      </a:r>
                      <a:r>
                        <a:rPr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{Color}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283845" indent="-168910">
                        <a:lnSpc>
                          <a:spcPts val="1425"/>
                        </a:lnSpc>
                        <a:buAutoNum type="arabicPeriod"/>
                        <a:tabLst>
                          <a:tab pos="284480" algn="l"/>
                        </a:tabLst>
                      </a:pPr>
                      <a:r>
                        <a:rPr sz="1400" spc="-5">
                          <a:latin typeface="Arial"/>
                          <a:cs typeface="Arial"/>
                        </a:rPr>
                        <a:t>{Category} </a:t>
                      </a:r>
                      <a:r>
                        <a:rPr sz="1400">
                          <a:latin typeface="Arial"/>
                          <a:cs typeface="Arial"/>
                        </a:rPr>
                        <a:t>→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{Dept.}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283845" indent="-168910">
                        <a:lnSpc>
                          <a:spcPts val="1430"/>
                        </a:lnSpc>
                        <a:buAutoNum type="arabicPeriod"/>
                        <a:tabLst>
                          <a:tab pos="284480" algn="l"/>
                        </a:tabLst>
                      </a:pPr>
                      <a:r>
                        <a:rPr sz="1400" spc="-5">
                          <a:latin typeface="Arial"/>
                          <a:cs typeface="Arial"/>
                        </a:rPr>
                        <a:t>{Color, Category} </a:t>
                      </a:r>
                      <a:r>
                        <a:rPr sz="1400">
                          <a:latin typeface="Arial"/>
                          <a:cs typeface="Arial"/>
                        </a:rPr>
                        <a:t>→</a:t>
                      </a:r>
                      <a:r>
                        <a:rPr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{Price}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7130" marB="0">
                    <a:lnL w="12700">
                      <a:solidFill>
                        <a:srgbClr val="A5A5A5"/>
                      </a:solidFill>
                      <a:prstDash val="solid"/>
                    </a:lnL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02"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4. {Name, Category} </a:t>
                      </a:r>
                      <a:r>
                        <a:rPr sz="1400">
                          <a:latin typeface="Arial"/>
                          <a:cs typeface="Arial"/>
                        </a:rPr>
                        <a:t>-&gt;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{Name}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852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?</a:t>
                      </a:r>
                    </a:p>
                  </a:txBody>
                  <a:tcPr marL="0" marR="0" marT="14852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750" marB="0">
                    <a:lnL w="12700">
                      <a:solidFill>
                        <a:srgbClr val="A5A5A5"/>
                      </a:solidFill>
                      <a:prstDash val="solid"/>
                    </a:lnL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02"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5. {Name, Category} </a:t>
                      </a:r>
                      <a:r>
                        <a:rPr sz="1400">
                          <a:latin typeface="Arial"/>
                          <a:cs typeface="Arial"/>
                        </a:rPr>
                        <a:t>-&gt;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{Color}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852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?</a:t>
                      </a:r>
                    </a:p>
                  </a:txBody>
                  <a:tcPr marL="0" marR="0" marT="14852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750" marB="0">
                    <a:lnL w="12700">
                      <a:solidFill>
                        <a:srgbClr val="A5A5A5"/>
                      </a:solidFill>
                      <a:prstDash val="solid"/>
                    </a:lnL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02"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6. {Name, Category} </a:t>
                      </a:r>
                      <a:r>
                        <a:rPr sz="1400">
                          <a:latin typeface="Arial"/>
                          <a:cs typeface="Arial"/>
                        </a:rPr>
                        <a:t>-&gt;</a:t>
                      </a:r>
                      <a:r>
                        <a:rPr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{Category}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852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?</a:t>
                      </a:r>
                    </a:p>
                  </a:txBody>
                  <a:tcPr marL="0" marR="0" marT="14852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750" marB="0">
                    <a:lnL w="12700">
                      <a:solidFill>
                        <a:srgbClr val="A5A5A5"/>
                      </a:solidFill>
                      <a:prstDash val="solid"/>
                    </a:lnL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02"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7. {Name, Category </a:t>
                      </a:r>
                      <a:r>
                        <a:rPr sz="1400">
                          <a:latin typeface="Arial"/>
                          <a:cs typeface="Arial"/>
                        </a:rPr>
                        <a:t>-&gt; 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{Color,</a:t>
                      </a:r>
                      <a:r>
                        <a:rPr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Category}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852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?</a:t>
                      </a:r>
                    </a:p>
                  </a:txBody>
                  <a:tcPr marL="0" marR="0" marT="14852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5A5A5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02"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8. {Name, Category} </a:t>
                      </a:r>
                      <a:r>
                        <a:rPr sz="1400">
                          <a:latin typeface="Arial"/>
                          <a:cs typeface="Arial"/>
                        </a:rPr>
                        <a:t>-&gt;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{Price}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852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?</a:t>
                      </a:r>
                    </a:p>
                  </a:txBody>
                  <a:tcPr marL="0" marR="0" marT="14852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A5A5A5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5">
            <a:extLst>
              <a:ext uri="{FF2B5EF4-FFF2-40B4-BE49-F238E27FC236}">
                <a16:creationId xmlns:a16="http://schemas.microsoft.com/office/drawing/2014/main" id="{FCB10F11-0A64-6116-20D2-63465B0262A3}"/>
              </a:ext>
            </a:extLst>
          </p:cNvPr>
          <p:cNvSpPr txBox="1"/>
          <p:nvPr/>
        </p:nvSpPr>
        <p:spPr>
          <a:xfrm>
            <a:off x="2996381" y="6107701"/>
            <a:ext cx="5626919" cy="358389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35645" rIns="0" bIns="0" rtlCol="0">
            <a:spAutoFit/>
          </a:bodyPr>
          <a:lstStyle/>
          <a:p>
            <a:pPr marL="295602" defTabSz="1170213">
              <a:spcBef>
                <a:spcPts val="360"/>
              </a:spcBef>
            </a:pPr>
            <a:r>
              <a:rPr lang="en-GB" sz="2095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Welche</a:t>
            </a:r>
            <a:r>
              <a:rPr lang="en-GB" sz="2095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und </a:t>
            </a:r>
            <a:r>
              <a:rPr lang="en-GB" sz="2095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wieviele</a:t>
            </a:r>
            <a:r>
              <a:rPr lang="en-GB" sz="2095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95" kern="1200" spc="-8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andere</a:t>
            </a:r>
            <a:r>
              <a:rPr lang="en-GB" sz="2095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FDs</a:t>
            </a:r>
            <a:r>
              <a:rPr lang="en-GB" sz="2095" kern="1200" spc="-9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95" spc="-8" dirty="0" err="1">
                <a:latin typeface="Arial"/>
                <a:cs typeface="Arial"/>
              </a:rPr>
              <a:t>gibt</a:t>
            </a:r>
            <a:r>
              <a:rPr lang="en-GB" sz="2095" spc="-8" dirty="0">
                <a:latin typeface="Arial"/>
                <a:cs typeface="Arial"/>
              </a:rPr>
              <a:t> es</a:t>
            </a:r>
            <a:r>
              <a:rPr lang="en-GB" sz="2095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?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006FB5D3-337D-0313-5370-73897DB2DB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4374" y="730250"/>
            <a:ext cx="6279679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/>
              <a:t>(</a:t>
            </a:r>
            <a:r>
              <a:rPr lang="en-GB" sz="2961" spc="-213" dirty="0" err="1"/>
              <a:t>Systematisches</a:t>
            </a:r>
            <a:r>
              <a:rPr lang="en-GB" sz="2961" spc="-213" dirty="0"/>
              <a:t>) </a:t>
            </a:r>
            <a:r>
              <a:rPr lang="en-GB" sz="2961" spc="-213" dirty="0" err="1"/>
              <a:t>Bestimmen</a:t>
            </a:r>
            <a:r>
              <a:rPr lang="en-GB" sz="2961" spc="-213" dirty="0"/>
              <a:t> von</a:t>
            </a:r>
            <a:r>
              <a:rPr lang="en-GB" sz="2961" b="0" i="0" kern="1200" spc="-362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961" b="0" i="0" kern="1200" spc="-119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FDs</a:t>
            </a:r>
            <a:endParaRPr lang="en-GB" spc="-88" dirty="0"/>
          </a:p>
        </p:txBody>
      </p:sp>
    </p:spTree>
    <p:extLst>
      <p:ext uri="{BB962C8B-B14F-4D97-AF65-F5344CB8AC3E}">
        <p14:creationId xmlns:p14="http://schemas.microsoft.com/office/powerpoint/2010/main" val="386755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76991" y="6076068"/>
            <a:ext cx="4948599" cy="621260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36386" rIns="0" bIns="0" rtlCol="0">
            <a:spAutoFit/>
          </a:bodyPr>
          <a:lstStyle/>
          <a:p>
            <a:pPr marL="483234" defTabSz="1060506">
              <a:spcBef>
                <a:spcPts val="331"/>
              </a:spcBef>
            </a:pPr>
            <a:r>
              <a:rPr lang="en-GB" sz="1899" spc="-7" dirty="0" err="1">
                <a:latin typeface="Arial"/>
                <a:cs typeface="Arial"/>
              </a:rPr>
              <a:t>Gibt</a:t>
            </a:r>
            <a:r>
              <a:rPr lang="en-GB" sz="1899" spc="-7" dirty="0">
                <a:latin typeface="Arial"/>
                <a:cs typeface="Arial"/>
              </a:rPr>
              <a:t> es </a:t>
            </a:r>
            <a:r>
              <a:rPr lang="en-GB" sz="1899" spc="-7" dirty="0" err="1">
                <a:latin typeface="Arial"/>
                <a:cs typeface="Arial"/>
              </a:rPr>
              <a:t>einen</a:t>
            </a:r>
            <a:r>
              <a:rPr lang="en-GB" sz="1899" spc="-7" dirty="0">
                <a:latin typeface="Arial"/>
                <a:cs typeface="Arial"/>
              </a:rPr>
              <a:t> </a:t>
            </a:r>
            <a:r>
              <a:rPr lang="en-GB" sz="1899" spc="-7" dirty="0" err="1">
                <a:latin typeface="Arial"/>
                <a:cs typeface="Arial"/>
              </a:rPr>
              <a:t>Algorithmus</a:t>
            </a:r>
            <a:r>
              <a:rPr lang="en-GB" sz="1899" spc="-7" dirty="0">
                <a:latin typeface="Arial"/>
                <a:cs typeface="Arial"/>
              </a:rPr>
              <a:t> das </a:t>
            </a:r>
            <a:r>
              <a:rPr lang="en-GB" sz="1899" spc="-7" dirty="0" err="1">
                <a:latin typeface="Arial"/>
                <a:cs typeface="Arial"/>
              </a:rPr>
              <a:t>systematisch</a:t>
            </a:r>
            <a:r>
              <a:rPr lang="en-GB" sz="1899" spc="-7" dirty="0">
                <a:latin typeface="Arial"/>
                <a:cs typeface="Arial"/>
              </a:rPr>
              <a:t> </a:t>
            </a:r>
            <a:r>
              <a:rPr lang="en-GB" sz="1899" spc="-7" dirty="0" err="1">
                <a:latin typeface="Arial"/>
                <a:cs typeface="Arial"/>
              </a:rPr>
              <a:t>durchzuführen</a:t>
            </a:r>
            <a:r>
              <a:rPr lang="en-GB" sz="1899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?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26491" y="3137750"/>
            <a:ext cx="1896809" cy="265387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7227" defTabSz="1060506">
              <a:spcBef>
                <a:spcPts val="136"/>
              </a:spcBef>
            </a:pPr>
            <a:r>
              <a:rPr lang="en-GB" sz="1627" b="1" spc="-7" dirty="0" err="1">
                <a:solidFill>
                  <a:srgbClr val="ED7C31"/>
                </a:solidFill>
                <a:latin typeface="Arial"/>
                <a:cs typeface="Arial"/>
              </a:rPr>
              <a:t>Bekannte</a:t>
            </a:r>
            <a:r>
              <a:rPr lang="en-GB" sz="1627" b="1" kern="1200" spc="-102" dirty="0">
                <a:solidFill>
                  <a:srgbClr val="ED7C3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27" b="1" kern="1200" spc="-7" dirty="0">
                <a:solidFill>
                  <a:srgbClr val="ED7C31"/>
                </a:solidFill>
                <a:latin typeface="Arial"/>
                <a:ea typeface="+mn-ea"/>
                <a:cs typeface="Arial"/>
              </a:rPr>
              <a:t>FDs:</a:t>
            </a:r>
            <a:endParaRPr lang="en-GB" sz="1403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6100" y="3137750"/>
            <a:ext cx="1994096" cy="265387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7227" defTabSz="1060506">
              <a:spcBef>
                <a:spcPts val="136"/>
              </a:spcBef>
            </a:pPr>
            <a:r>
              <a:rPr lang="en-GB" sz="1627" b="1" kern="1200" spc="-7" dirty="0" err="1">
                <a:solidFill>
                  <a:srgbClr val="ED7C31"/>
                </a:solidFill>
                <a:latin typeface="Arial"/>
                <a:ea typeface="+mn-ea"/>
                <a:cs typeface="Arial"/>
              </a:rPr>
              <a:t>Implizierte</a:t>
            </a:r>
            <a:r>
              <a:rPr lang="en-GB" sz="1627" b="1" kern="1200" spc="-102" dirty="0">
                <a:solidFill>
                  <a:srgbClr val="ED7C3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27" b="1" kern="1200" spc="-7" dirty="0">
                <a:solidFill>
                  <a:srgbClr val="ED7C31"/>
                </a:solidFill>
                <a:latin typeface="Arial"/>
                <a:ea typeface="+mn-ea"/>
                <a:cs typeface="Arial"/>
              </a:rPr>
              <a:t>FDs:</a:t>
            </a:r>
            <a:endParaRPr lang="en-GB" sz="1403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8054" y="2543183"/>
            <a:ext cx="952847" cy="267867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7227" defTabSz="1060506">
              <a:spcBef>
                <a:spcPts val="136"/>
              </a:spcBef>
            </a:pPr>
            <a:r>
              <a:rPr lang="en-GB" sz="1627" b="1" u="heavy" kern="1200" spc="-7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Example:</a:t>
            </a:r>
            <a:endParaRPr lang="en-GB" sz="1403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436404"/>
              </p:ext>
            </p:extLst>
          </p:nvPr>
        </p:nvGraphicFramePr>
        <p:xfrm>
          <a:off x="564374" y="3503808"/>
          <a:ext cx="8244315" cy="18795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01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0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2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504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b="1" spc="-5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lang="de-DE" sz="1400" b="1" spc="-5" dirty="0" err="1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mplizierte</a:t>
                      </a:r>
                      <a:r>
                        <a:rPr sz="1400" b="1" spc="-10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FD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14852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Rule</a:t>
                      </a:r>
                      <a:r>
                        <a:rPr sz="1400" b="1" spc="-10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>
                          <a:solidFill>
                            <a:srgbClr val="ED7C31"/>
                          </a:solidFill>
                          <a:latin typeface="Arial"/>
                          <a:cs typeface="Arial"/>
                        </a:rPr>
                        <a:t>used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852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234950" indent="-168910">
                        <a:lnSpc>
                          <a:spcPts val="1430"/>
                        </a:lnSpc>
                        <a:spcBef>
                          <a:spcPts val="250"/>
                        </a:spcBef>
                        <a:buAutoNum type="arabicPeriod"/>
                        <a:tabLst>
                          <a:tab pos="235585" algn="l"/>
                        </a:tabLst>
                      </a:pPr>
                      <a:r>
                        <a:rPr sz="1400" spc="-5">
                          <a:latin typeface="Arial"/>
                          <a:cs typeface="Arial"/>
                        </a:rPr>
                        <a:t>{Name} </a:t>
                      </a:r>
                      <a:r>
                        <a:rPr sz="1400">
                          <a:latin typeface="Arial"/>
                          <a:cs typeface="Arial"/>
                        </a:rPr>
                        <a:t>→</a:t>
                      </a:r>
                      <a:r>
                        <a:rPr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{Color}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234950" indent="-168910">
                        <a:lnSpc>
                          <a:spcPts val="1425"/>
                        </a:lnSpc>
                        <a:buAutoNum type="arabicPeriod"/>
                        <a:tabLst>
                          <a:tab pos="235585" algn="l"/>
                        </a:tabLst>
                      </a:pPr>
                      <a:r>
                        <a:rPr sz="1400" spc="-5">
                          <a:latin typeface="Arial"/>
                          <a:cs typeface="Arial"/>
                        </a:rPr>
                        <a:t>{Category} </a:t>
                      </a:r>
                      <a:r>
                        <a:rPr sz="1400">
                          <a:latin typeface="Arial"/>
                          <a:cs typeface="Arial"/>
                        </a:rPr>
                        <a:t>→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{Dept.}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234950" indent="-168910">
                        <a:lnSpc>
                          <a:spcPts val="1430"/>
                        </a:lnSpc>
                        <a:buAutoNum type="arabicPeriod"/>
                        <a:tabLst>
                          <a:tab pos="235585" algn="l"/>
                        </a:tabLst>
                      </a:pPr>
                      <a:r>
                        <a:rPr sz="1400" spc="-5">
                          <a:latin typeface="Arial"/>
                          <a:cs typeface="Arial"/>
                        </a:rPr>
                        <a:t>{Color, Category} </a:t>
                      </a:r>
                      <a:r>
                        <a:rPr sz="1400">
                          <a:latin typeface="Arial"/>
                          <a:cs typeface="Arial"/>
                        </a:rPr>
                        <a:t>→</a:t>
                      </a:r>
                      <a:r>
                        <a:rPr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{Price}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7130" marB="0">
                    <a:lnL w="12700">
                      <a:solidFill>
                        <a:srgbClr val="A5A5A5"/>
                      </a:solidFill>
                      <a:prstDash val="solid"/>
                    </a:lnL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02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4. {Name, Category} </a:t>
                      </a:r>
                      <a:r>
                        <a:rPr sz="1400">
                          <a:latin typeface="Arial"/>
                          <a:cs typeface="Arial"/>
                        </a:rPr>
                        <a:t>-&gt;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{Name}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852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435"/>
                        </a:lnSpc>
                        <a:spcBef>
                          <a:spcPts val="625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Trivial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2825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750" marB="0">
                    <a:lnL w="12700">
                      <a:solidFill>
                        <a:srgbClr val="A5A5A5"/>
                      </a:solidFill>
                      <a:prstDash val="solid"/>
                    </a:lnL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02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5. {Name, Category} </a:t>
                      </a:r>
                      <a:r>
                        <a:rPr sz="1400">
                          <a:latin typeface="Arial"/>
                          <a:cs typeface="Arial"/>
                        </a:rPr>
                        <a:t>-&gt;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{Color}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852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435"/>
                        </a:lnSpc>
                        <a:spcBef>
                          <a:spcPts val="625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Transitive </a:t>
                      </a:r>
                      <a:r>
                        <a:rPr sz="1400">
                          <a:latin typeface="Arial"/>
                          <a:cs typeface="Arial"/>
                        </a:rPr>
                        <a:t>(4 -&gt;</a:t>
                      </a:r>
                      <a:r>
                        <a:rPr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2825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750" marB="0">
                    <a:lnL w="12700">
                      <a:solidFill>
                        <a:srgbClr val="A5A5A5"/>
                      </a:solidFill>
                      <a:prstDash val="solid"/>
                    </a:lnL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02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6. {Name, Category} </a:t>
                      </a:r>
                      <a:r>
                        <a:rPr sz="1400">
                          <a:latin typeface="Arial"/>
                          <a:cs typeface="Arial"/>
                        </a:rPr>
                        <a:t>-&gt;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{Category}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852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435"/>
                        </a:lnSpc>
                        <a:spcBef>
                          <a:spcPts val="625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Trivial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2825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750" marB="0">
                    <a:lnL w="12700">
                      <a:solidFill>
                        <a:srgbClr val="A5A5A5"/>
                      </a:solidFill>
                      <a:prstDash val="solid"/>
                    </a:lnL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02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7. {Name, Category} </a:t>
                      </a:r>
                      <a:r>
                        <a:rPr sz="1400">
                          <a:latin typeface="Arial"/>
                          <a:cs typeface="Arial"/>
                        </a:rPr>
                        <a:t>-&gt; 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{Color,</a:t>
                      </a:r>
                      <a:r>
                        <a:rPr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Category}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852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spc="-5">
                          <a:latin typeface="Arial"/>
                          <a:cs typeface="Arial"/>
                        </a:rPr>
                        <a:t>Split/Combine </a:t>
                      </a:r>
                      <a:r>
                        <a:rPr sz="1400">
                          <a:latin typeface="Arial"/>
                          <a:cs typeface="Arial"/>
                        </a:rPr>
                        <a:t>(5 +</a:t>
                      </a:r>
                      <a:r>
                        <a:rPr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6)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940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5A5A5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02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8. {Name, Category}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-&gt;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{Price}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14852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Transitive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(7 -&gt;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3)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59408" marB="0">
                    <a:lnL w="12700">
                      <a:solidFill>
                        <a:srgbClr val="A5A5A5"/>
                      </a:solidFill>
                      <a:prstDash val="solid"/>
                    </a:lnL>
                    <a:lnR w="12700">
                      <a:solidFill>
                        <a:srgbClr val="A5A5A5"/>
                      </a:solidFill>
                      <a:prstDash val="solid"/>
                    </a:lnR>
                    <a:lnT w="12700">
                      <a:solidFill>
                        <a:srgbClr val="A5A5A5"/>
                      </a:solidFill>
                      <a:prstDash val="solid"/>
                    </a:lnT>
                    <a:lnB w="12700">
                      <a:solidFill>
                        <a:srgbClr val="A5A5A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A5A5A5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object 2">
            <a:extLst>
              <a:ext uri="{FF2B5EF4-FFF2-40B4-BE49-F238E27FC236}">
                <a16:creationId xmlns:a16="http://schemas.microsoft.com/office/drawing/2014/main" id="{A8038070-535B-FC7A-575C-F909048DFA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4374" y="730250"/>
            <a:ext cx="6279679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/>
              <a:t>(</a:t>
            </a:r>
            <a:r>
              <a:rPr lang="en-GB" sz="2961" spc="-213" dirty="0" err="1"/>
              <a:t>Systematisches</a:t>
            </a:r>
            <a:r>
              <a:rPr lang="en-GB" sz="2961" spc="-213" dirty="0"/>
              <a:t>) </a:t>
            </a:r>
            <a:r>
              <a:rPr lang="en-GB" sz="2961" spc="-213" dirty="0" err="1"/>
              <a:t>Bestimmen</a:t>
            </a:r>
            <a:r>
              <a:rPr lang="en-GB" sz="2961" spc="-213" dirty="0"/>
              <a:t> von</a:t>
            </a:r>
            <a:r>
              <a:rPr lang="en-GB" sz="2961" b="0" i="0" kern="1200" spc="-362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961" b="0" i="0" kern="1200" spc="-119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FDs</a:t>
            </a:r>
            <a:endParaRPr lang="en-GB" spc="-88" dirty="0"/>
          </a:p>
        </p:txBody>
      </p:sp>
    </p:spTree>
    <p:extLst>
      <p:ext uri="{BB962C8B-B14F-4D97-AF65-F5344CB8AC3E}">
        <p14:creationId xmlns:p14="http://schemas.microsoft.com/office/powerpoint/2010/main" val="7371917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6091C67E-FB05-1F32-1BB7-CFAC2CEBA6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4374" y="654049"/>
            <a:ext cx="6279679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/>
              <a:t>Transitive </a:t>
            </a:r>
            <a:r>
              <a:rPr lang="en-GB" sz="2961" spc="-213" dirty="0" err="1"/>
              <a:t>Hüllen</a:t>
            </a:r>
            <a:r>
              <a:rPr lang="en-GB" sz="2961" spc="-213" dirty="0"/>
              <a:t> / Closures</a:t>
            </a:r>
            <a:endParaRPr lang="en-GB" spc="-88" dirty="0"/>
          </a:p>
        </p:txBody>
      </p:sp>
    </p:spTree>
    <p:extLst>
      <p:ext uri="{BB962C8B-B14F-4D97-AF65-F5344CB8AC3E}">
        <p14:creationId xmlns:p14="http://schemas.microsoft.com/office/powerpoint/2010/main" val="26921889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993900" y="1949450"/>
            <a:ext cx="7003873" cy="1029171"/>
          </a:xfrm>
          <a:custGeom>
            <a:avLst/>
            <a:gdLst/>
            <a:ahLst/>
            <a:cxnLst/>
            <a:rect l="l" t="t" r="r" b="b"/>
            <a:pathLst>
              <a:path w="6407150" h="523239">
                <a:moveTo>
                  <a:pt x="0" y="0"/>
                </a:moveTo>
                <a:lnTo>
                  <a:pt x="6407154" y="0"/>
                </a:lnTo>
                <a:lnTo>
                  <a:pt x="6407154" y="523218"/>
                </a:lnTo>
                <a:lnTo>
                  <a:pt x="0" y="523218"/>
                </a:lnTo>
                <a:lnTo>
                  <a:pt x="0" y="0"/>
                </a:lnTo>
                <a:close/>
              </a:path>
            </a:pathLst>
          </a:custGeom>
          <a:solidFill>
            <a:srgbClr val="D4E4F2"/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5" name="object 5"/>
          <p:cNvSpPr txBox="1"/>
          <p:nvPr/>
        </p:nvSpPr>
        <p:spPr>
          <a:xfrm>
            <a:off x="2087609" y="2025650"/>
            <a:ext cx="6518183" cy="249228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defTabSz="850233">
              <a:spcBef>
                <a:spcPts val="109"/>
              </a:spcBef>
            </a:pPr>
            <a:r>
              <a:rPr lang="en-GB" sz="1522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Für </a:t>
            </a:r>
            <a:r>
              <a:rPr lang="en-GB" sz="1522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eine</a:t>
            </a:r>
            <a:r>
              <a:rPr lang="en-GB" sz="1522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522" b="1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gegebene</a:t>
            </a:r>
            <a:r>
              <a:rPr lang="en-GB" sz="1522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522" spc="-6" dirty="0" err="1">
                <a:latin typeface="Arial"/>
                <a:cs typeface="Arial"/>
              </a:rPr>
              <a:t>A</a:t>
            </a:r>
            <a:r>
              <a:rPr lang="en-GB" sz="1522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ttributmenge</a:t>
            </a:r>
            <a:r>
              <a:rPr lang="en-GB" sz="1522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522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</a:t>
            </a:r>
            <a:r>
              <a:rPr lang="en-GB" sz="1468" b="1" kern="1200" baseline="-3395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1522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, …, </a:t>
            </a:r>
            <a:r>
              <a:rPr lang="en-GB" sz="1522" b="1" kern="1200" spc="11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</a:t>
            </a:r>
            <a:r>
              <a:rPr lang="en-GB" sz="1468" b="1" kern="1200" spc="17" baseline="-3395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 </a:t>
            </a:r>
            <a:r>
              <a:rPr lang="en-GB" sz="1522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und </a:t>
            </a:r>
            <a:r>
              <a:rPr lang="en-GB" sz="1522" spc="-6" dirty="0" err="1">
                <a:latin typeface="Arial"/>
                <a:cs typeface="Arial"/>
              </a:rPr>
              <a:t>eine</a:t>
            </a:r>
            <a:r>
              <a:rPr lang="en-GB" sz="1522" spc="-6" dirty="0">
                <a:latin typeface="Arial"/>
                <a:cs typeface="Arial"/>
              </a:rPr>
              <a:t> </a:t>
            </a:r>
            <a:r>
              <a:rPr lang="en-GB" sz="1522" spc="-6" dirty="0" err="1">
                <a:latin typeface="Arial"/>
                <a:cs typeface="Arial"/>
              </a:rPr>
              <a:t>Menge</a:t>
            </a:r>
            <a:r>
              <a:rPr lang="en-GB" sz="1522" spc="-6" dirty="0">
                <a:latin typeface="Arial"/>
                <a:cs typeface="Arial"/>
              </a:rPr>
              <a:t> von</a:t>
            </a:r>
            <a:r>
              <a:rPr lang="en-GB" sz="1522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522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FDs</a:t>
            </a:r>
            <a:r>
              <a:rPr lang="en-GB" sz="1522" kern="1200" spc="-82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522" b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F: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73726" y="2406650"/>
            <a:ext cx="6924047" cy="483459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defTabSz="850233">
              <a:spcBef>
                <a:spcPts val="109"/>
              </a:spcBef>
            </a:pPr>
            <a:r>
              <a:rPr lang="en-GB" sz="1522" spc="-6" dirty="0">
                <a:latin typeface="Arial"/>
                <a:cs typeface="Arial"/>
              </a:rPr>
              <a:t>Die transitive </a:t>
            </a:r>
            <a:r>
              <a:rPr lang="en-GB" sz="1522" spc="-6" dirty="0" err="1">
                <a:latin typeface="Arial"/>
                <a:cs typeface="Arial"/>
              </a:rPr>
              <a:t>Hülle</a:t>
            </a:r>
            <a:r>
              <a:rPr lang="en-GB" sz="1522" spc="-6" dirty="0">
                <a:latin typeface="Arial"/>
                <a:cs typeface="Arial"/>
              </a:rPr>
              <a:t> /</a:t>
            </a:r>
            <a:r>
              <a:rPr lang="en-GB" sz="1522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522" b="1" u="heavy" spc="-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</a:t>
            </a:r>
            <a:r>
              <a:rPr lang="en-GB" sz="1522" b="1" u="heavy" kern="1200" spc="-6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losure</a:t>
            </a:r>
            <a:r>
              <a:rPr lang="en-GB" sz="1522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, </a:t>
            </a:r>
            <a:r>
              <a:rPr lang="en-GB" sz="1522" b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{A</a:t>
            </a:r>
            <a:r>
              <a:rPr lang="en-GB" sz="1522" b="1" kern="1200" spc="-6" baseline="-250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1522" b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522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, …, A</a:t>
            </a:r>
            <a:r>
              <a:rPr lang="en-GB" sz="1522" b="1" kern="1200" baseline="-250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</a:t>
            </a:r>
            <a:r>
              <a:rPr lang="en-GB" sz="1522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522" b="1" kern="1200" spc="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}</a:t>
            </a:r>
            <a:r>
              <a:rPr lang="en-GB" sz="1468" b="1" kern="1200" spc="7" baseline="30864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522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ist</a:t>
            </a:r>
            <a:r>
              <a:rPr lang="en-GB" sz="1522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die </a:t>
            </a:r>
            <a:r>
              <a:rPr lang="en-GB" sz="1522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Menge</a:t>
            </a:r>
            <a:r>
              <a:rPr lang="en-GB" sz="1522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der Attribute </a:t>
            </a:r>
            <a:r>
              <a:rPr lang="en-GB" sz="1522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B </a:t>
            </a:r>
            <a:r>
              <a:rPr lang="en-GB" sz="1522" b="1" dirty="0">
                <a:latin typeface="Arial"/>
                <a:cs typeface="Arial"/>
              </a:rPr>
              <a:t>für die</a:t>
            </a:r>
            <a:r>
              <a:rPr lang="en-GB" sz="1522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{</a:t>
            </a:r>
            <a:r>
              <a:rPr lang="en-GB" sz="1522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</a:t>
            </a:r>
            <a:r>
              <a:rPr lang="en-GB" sz="1522" b="1" kern="1200" baseline="-250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1522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, …, A</a:t>
            </a:r>
            <a:r>
              <a:rPr lang="en-GB" sz="1522" b="1" kern="1200" baseline="-250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</a:t>
            </a:r>
            <a:r>
              <a:rPr lang="en-GB" sz="1522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} →</a:t>
            </a:r>
            <a:r>
              <a:rPr lang="en-GB" sz="1522" b="1" kern="1200" spc="-261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522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B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52091" y="3678535"/>
            <a:ext cx="2573177" cy="75998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66834" rIns="0" bIns="0" rtlCol="0">
            <a:spAutoFit/>
          </a:bodyPr>
          <a:lstStyle/>
          <a:p>
            <a:pPr marL="93230" defTabSz="850233">
              <a:lnSpc>
                <a:spcPts val="1810"/>
              </a:lnSpc>
              <a:spcBef>
                <a:spcPts val="489"/>
              </a:spcBef>
            </a:pPr>
            <a:r>
              <a:rPr lang="en-GB" sz="1522" kern="1200" spc="-6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{name} </a:t>
            </a:r>
            <a:r>
              <a:rPr lang="en-GB" sz="152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522" kern="1200" spc="-11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522" kern="1200" spc="-6">
                <a:solidFill>
                  <a:srgbClr val="BF4F4D"/>
                </a:solidFill>
                <a:latin typeface="Arial"/>
                <a:ea typeface="+mn-ea"/>
                <a:cs typeface="Arial"/>
              </a:rPr>
              <a:t>{color}</a:t>
            </a:r>
            <a:endParaRPr lang="en-GB" sz="1522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93230" defTabSz="850233">
              <a:lnSpc>
                <a:spcPts val="1795"/>
              </a:lnSpc>
            </a:pPr>
            <a:r>
              <a:rPr lang="en-GB" sz="1522" kern="1200" spc="-6">
                <a:solidFill>
                  <a:srgbClr val="BF4F4D"/>
                </a:solidFill>
                <a:latin typeface="Arial"/>
                <a:ea typeface="+mn-ea"/>
                <a:cs typeface="Arial"/>
              </a:rPr>
              <a:t>{category} </a:t>
            </a:r>
            <a:r>
              <a:rPr lang="en-GB" sz="152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522" kern="1200" spc="-27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522" kern="1200" spc="-6">
                <a:solidFill>
                  <a:srgbClr val="BF4F4D"/>
                </a:solidFill>
                <a:latin typeface="Arial"/>
                <a:ea typeface="+mn-ea"/>
                <a:cs typeface="Arial"/>
              </a:rPr>
              <a:t>{department}</a:t>
            </a:r>
            <a:endParaRPr lang="en-GB" sz="1522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93230" defTabSz="850233">
              <a:lnSpc>
                <a:spcPts val="1810"/>
              </a:lnSpc>
            </a:pPr>
            <a:r>
              <a:rPr lang="en-GB" sz="1522" kern="1200" spc="-6">
                <a:solidFill>
                  <a:srgbClr val="BF4F4D"/>
                </a:solidFill>
                <a:latin typeface="Arial"/>
                <a:ea typeface="+mn-ea"/>
                <a:cs typeface="Arial"/>
              </a:rPr>
              <a:t>{color, </a:t>
            </a:r>
            <a:r>
              <a:rPr lang="en-GB" sz="1522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category} </a:t>
            </a:r>
            <a:r>
              <a:rPr lang="en-GB" sz="152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522" kern="1200" spc="-38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522" kern="1200" spc="-6">
                <a:solidFill>
                  <a:srgbClr val="BF4F4D"/>
                </a:solidFill>
                <a:latin typeface="Arial"/>
                <a:ea typeface="+mn-ea"/>
                <a:cs typeface="Arial"/>
              </a:rPr>
              <a:t>{price}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73726" y="3658155"/>
            <a:ext cx="1391750" cy="249507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3811" defTabSz="850233">
              <a:spcBef>
                <a:spcPts val="109"/>
              </a:spcBef>
              <a:tabLst>
                <a:tab pos="1140853" algn="l"/>
              </a:tabLst>
            </a:pPr>
            <a:r>
              <a:rPr lang="en-GB" sz="1522" u="heavy" spc="-6" dirty="0" err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Beispiel</a:t>
            </a:r>
            <a:r>
              <a:rPr lang="en-GB" sz="1522" u="heavy" kern="1200" spc="-6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:</a:t>
            </a:r>
            <a:r>
              <a:rPr lang="en-GB" sz="1522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	</a:t>
            </a:r>
            <a:r>
              <a:rPr lang="en-GB" sz="1522" kern="1200" spc="-103" dirty="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F</a:t>
            </a:r>
            <a:r>
              <a:rPr lang="en-GB" sz="1522" kern="1200" spc="-195" dirty="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1522" kern="1200" spc="-44" dirty="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=</a:t>
            </a:r>
            <a:endParaRPr lang="en-GB" sz="1637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73726" y="4705620"/>
            <a:ext cx="924593" cy="488660"/>
          </a:xfrm>
          <a:prstGeom prst="rect">
            <a:avLst/>
          </a:prstGeom>
        </p:spPr>
        <p:txBody>
          <a:bodyPr vert="horz" wrap="square" lIns="0" tIns="26734" rIns="0" bIns="0" rtlCol="0">
            <a:spAutoFit/>
          </a:bodyPr>
          <a:lstStyle/>
          <a:p>
            <a:pPr marL="13811" marR="5525" defTabSz="850233">
              <a:lnSpc>
                <a:spcPts val="1795"/>
              </a:lnSpc>
              <a:spcBef>
                <a:spcPts val="195"/>
              </a:spcBef>
            </a:pPr>
            <a:r>
              <a:rPr lang="en-GB" sz="1522" b="1" i="1" spc="-6" dirty="0" err="1">
                <a:latin typeface="Arial"/>
                <a:cs typeface="Arial"/>
              </a:rPr>
              <a:t>Beispiel</a:t>
            </a:r>
            <a:r>
              <a:rPr lang="en-GB" sz="1522" b="1" i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 Closures:</a:t>
            </a:r>
            <a:endParaRPr lang="en-GB" sz="1637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52091" y="4665435"/>
            <a:ext cx="4548698" cy="99756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3517" rIns="0" bIns="0" rtlCol="0">
            <a:spAutoFit/>
          </a:bodyPr>
          <a:lstStyle/>
          <a:p>
            <a:pPr marL="92539" defTabSz="850233">
              <a:lnSpc>
                <a:spcPts val="1810"/>
              </a:lnSpc>
              <a:spcBef>
                <a:spcPts val="538"/>
              </a:spcBef>
            </a:pPr>
            <a:r>
              <a:rPr lang="en-GB" sz="1522" kern="1200" spc="-6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{name}</a:t>
            </a:r>
            <a:r>
              <a:rPr lang="en-GB" sz="1468" kern="1200" spc="-7" baseline="30864">
                <a:solidFill>
                  <a:srgbClr val="BF4F4D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52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1522" kern="1200" spc="-6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</a:t>
            </a:r>
            <a:r>
              <a:rPr lang="en-GB" sz="1522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 color}</a:t>
            </a:r>
            <a:endParaRPr lang="en-GB" sz="1522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92539" defTabSz="850233">
              <a:lnSpc>
                <a:spcPts val="1795"/>
              </a:lnSpc>
            </a:pPr>
            <a:r>
              <a:rPr lang="en-GB" sz="1522" kern="1200" spc="-6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 </a:t>
            </a:r>
            <a:r>
              <a:rPr lang="en-GB" sz="1522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category}</a:t>
            </a:r>
            <a:r>
              <a:rPr lang="en-GB" sz="1468" kern="1200" baseline="30864">
                <a:solidFill>
                  <a:srgbClr val="BF4F4D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52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=</a:t>
            </a:r>
          </a:p>
          <a:p>
            <a:pPr marL="92539" defTabSz="850233">
              <a:lnSpc>
                <a:spcPts val="1795"/>
              </a:lnSpc>
            </a:pPr>
            <a:r>
              <a:rPr lang="en-GB" sz="1522" kern="1200" spc="-6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 </a:t>
            </a:r>
            <a:r>
              <a:rPr lang="en-GB" sz="1522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category, color, </a:t>
            </a:r>
            <a:r>
              <a:rPr lang="en-GB" sz="1522" kern="1200" spc="-6">
                <a:solidFill>
                  <a:srgbClr val="BF4F4D"/>
                </a:solidFill>
                <a:latin typeface="Arial"/>
                <a:ea typeface="+mn-ea"/>
                <a:cs typeface="Arial"/>
              </a:rPr>
              <a:t>dept,</a:t>
            </a:r>
            <a:r>
              <a:rPr lang="en-GB" sz="1522" kern="1200" spc="-33">
                <a:solidFill>
                  <a:srgbClr val="BF4F4D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522" kern="1200" spc="-6">
                <a:solidFill>
                  <a:srgbClr val="BF4F4D"/>
                </a:solidFill>
                <a:latin typeface="Arial"/>
                <a:ea typeface="+mn-ea"/>
                <a:cs typeface="Arial"/>
              </a:rPr>
              <a:t>price}</a:t>
            </a:r>
            <a:endParaRPr lang="en-GB" sz="1522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92539" defTabSz="850233">
              <a:lnSpc>
                <a:spcPts val="1810"/>
              </a:lnSpc>
            </a:pPr>
            <a:r>
              <a:rPr lang="en-GB" sz="1522" kern="1200" spc="-6">
                <a:solidFill>
                  <a:srgbClr val="BF4F4D"/>
                </a:solidFill>
                <a:latin typeface="Arial"/>
                <a:ea typeface="+mn-ea"/>
                <a:cs typeface="Arial"/>
              </a:rPr>
              <a:t>{color}</a:t>
            </a:r>
            <a:r>
              <a:rPr lang="en-GB" sz="1468" kern="1200" spc="-7" baseline="30864">
                <a:solidFill>
                  <a:srgbClr val="BF4F4D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52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1522" kern="1200" spc="6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522" kern="1200" spc="-6">
                <a:solidFill>
                  <a:srgbClr val="BF4F4D"/>
                </a:solidFill>
                <a:latin typeface="Arial"/>
                <a:ea typeface="+mn-ea"/>
                <a:cs typeface="Arial"/>
              </a:rPr>
              <a:t>{color}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59A3BA60-A1E8-A481-DC38-ED9501F049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4374" y="654049"/>
            <a:ext cx="6279679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/>
              <a:t>Transitive </a:t>
            </a:r>
            <a:r>
              <a:rPr lang="en-GB" sz="2961" spc="-213" dirty="0" err="1"/>
              <a:t>Hüllen</a:t>
            </a:r>
            <a:r>
              <a:rPr lang="en-GB" sz="2961" spc="-213" dirty="0"/>
              <a:t> / Closures</a:t>
            </a:r>
            <a:endParaRPr lang="en-GB" spc="-88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A4DEBB-5FF1-9C95-430C-A3F6EF70843B}"/>
              </a:ext>
            </a:extLst>
          </p:cNvPr>
          <p:cNvSpPr txBox="1"/>
          <p:nvPr/>
        </p:nvSpPr>
        <p:spPr>
          <a:xfrm>
            <a:off x="1765300" y="6103719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Wenn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wir</a:t>
            </a:r>
            <a:r>
              <a:rPr lang="en-US" dirty="0">
                <a:solidFill>
                  <a:srgbClr val="FF0000"/>
                </a:solidFill>
              </a:rPr>
              <a:t> die Closures </a:t>
            </a:r>
            <a:r>
              <a:rPr lang="en-US" dirty="0" err="1">
                <a:solidFill>
                  <a:srgbClr val="FF0000"/>
                </a:solidFill>
              </a:rPr>
              <a:t>kennen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dann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koennen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wir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sofort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über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Reduktion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bestimmen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daß</a:t>
            </a:r>
            <a:r>
              <a:rPr lang="en-US" dirty="0">
                <a:solidFill>
                  <a:srgbClr val="FF0000"/>
                </a:solidFill>
              </a:rPr>
              <a:t> dies für die </a:t>
            </a:r>
            <a:r>
              <a:rPr lang="en-US" dirty="0" err="1">
                <a:solidFill>
                  <a:srgbClr val="FF0000"/>
                </a:solidFill>
              </a:rPr>
              <a:t>ensprechenden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einzelnen</a:t>
            </a:r>
            <a:r>
              <a:rPr lang="en-US" dirty="0">
                <a:solidFill>
                  <a:srgbClr val="FF0000"/>
                </a:solidFill>
              </a:rPr>
              <a:t> Attribute in B </a:t>
            </a:r>
            <a:r>
              <a:rPr lang="en-US" dirty="0" err="1">
                <a:solidFill>
                  <a:srgbClr val="FF0000"/>
                </a:solidFill>
              </a:rPr>
              <a:t>auch</a:t>
            </a:r>
            <a:r>
              <a:rPr lang="en-US" dirty="0">
                <a:solidFill>
                  <a:srgbClr val="FF0000"/>
                </a:solidFill>
              </a:rPr>
              <a:t> gilt …</a:t>
            </a:r>
          </a:p>
        </p:txBody>
      </p:sp>
    </p:spTree>
    <p:extLst>
      <p:ext uri="{BB962C8B-B14F-4D97-AF65-F5344CB8AC3E}">
        <p14:creationId xmlns:p14="http://schemas.microsoft.com/office/powerpoint/2010/main" val="27287910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298700" y="2399968"/>
            <a:ext cx="6313563" cy="290601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89112" rIns="0" bIns="0" rtlCol="0">
            <a:spAutoFit/>
          </a:bodyPr>
          <a:lstStyle/>
          <a:p>
            <a:pPr marL="101494" defTabSz="932514">
              <a:spcBef>
                <a:spcPts val="716"/>
              </a:spcBef>
            </a:pP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Start </a:t>
            </a:r>
            <a:r>
              <a:rPr lang="en-GB" sz="2147" spc="-6" dirty="0" err="1">
                <a:latin typeface="Arial"/>
                <a:cs typeface="Arial"/>
              </a:rPr>
              <a:t>mit</a:t>
            </a: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X = </a:t>
            </a:r>
            <a:r>
              <a:rPr lang="en-GB" sz="2147" kern="1200" spc="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{A</a:t>
            </a:r>
            <a:r>
              <a:rPr lang="en-GB" sz="2147" kern="1200" spc="8" baseline="-30092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2147" kern="1200" spc="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,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…, A</a:t>
            </a:r>
            <a:r>
              <a:rPr lang="en-GB" sz="2147" kern="1200" baseline="-30092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} </a:t>
            </a:r>
            <a:r>
              <a:rPr lang="en-GB" sz="2147" spc="-6" dirty="0">
                <a:latin typeface="Arial"/>
                <a:cs typeface="Arial"/>
              </a:rPr>
              <a:t>u</a:t>
            </a: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nd </a:t>
            </a:r>
            <a:r>
              <a:rPr lang="en-GB" sz="2147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Menge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147" spc="-6" dirty="0">
                <a:latin typeface="Arial"/>
                <a:cs typeface="Arial"/>
              </a:rPr>
              <a:t>der</a:t>
            </a: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FDs</a:t>
            </a:r>
            <a:r>
              <a:rPr lang="en-GB" sz="2147" kern="1200" spc="-9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F.</a:t>
            </a:r>
            <a:endParaRPr lang="en-GB" sz="2147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01494" defTabSz="932514">
              <a:spcBef>
                <a:spcPts val="1270"/>
              </a:spcBef>
            </a:pPr>
            <a:r>
              <a:rPr lang="en-GB" sz="2147" b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Repeat until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X </a:t>
            </a: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doesn’t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change;</a:t>
            </a: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147" b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do</a:t>
            </a: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:</a:t>
            </a:r>
            <a:endParaRPr lang="en-GB" sz="2147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22579" defTabSz="932514">
              <a:spcBef>
                <a:spcPts val="1270"/>
              </a:spcBef>
            </a:pPr>
            <a:r>
              <a:rPr lang="en-GB" sz="2147" b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if </a:t>
            </a: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{B</a:t>
            </a:r>
            <a:r>
              <a:rPr lang="en-GB" sz="2147" kern="1200" spc="-8" baseline="-30092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,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…, B</a:t>
            </a:r>
            <a:r>
              <a:rPr lang="en-GB" sz="2147" kern="1200" baseline="-30092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} </a:t>
            </a:r>
            <a:r>
              <a:rPr lang="en-GB" sz="167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 </a:t>
            </a: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is entailed by</a:t>
            </a:r>
            <a:r>
              <a:rPr lang="en-GB" sz="2147" kern="1200" spc="9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</a:t>
            </a:r>
          </a:p>
          <a:p>
            <a:pPr marL="555189" defTabSz="932514">
              <a:spcBef>
                <a:spcPts val="1270"/>
              </a:spcBef>
            </a:pPr>
            <a:r>
              <a:rPr lang="en-GB" sz="2147" b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and </a:t>
            </a: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{B</a:t>
            </a:r>
            <a:r>
              <a:rPr lang="en-GB" sz="2147" kern="1200" spc="-8" baseline="-30092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,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…, B</a:t>
            </a:r>
            <a:r>
              <a:rPr lang="en-GB" sz="2147" kern="1200" baseline="-30092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} </a:t>
            </a:r>
            <a:r>
              <a:rPr lang="en-GB" sz="2147" kern="1200" spc="346" dirty="0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⊆</a:t>
            </a:r>
            <a:r>
              <a:rPr lang="en-GB" sz="2147" kern="1200" spc="-96" dirty="0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X</a:t>
            </a:r>
          </a:p>
          <a:p>
            <a:pPr marL="1344421" defTabSz="932514">
              <a:spcBef>
                <a:spcPts val="1270"/>
              </a:spcBef>
            </a:pPr>
            <a:r>
              <a:rPr lang="en-GB" sz="2147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then </a:t>
            </a: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add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 </a:t>
            </a: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to</a:t>
            </a:r>
            <a:r>
              <a:rPr lang="en-GB" sz="2147" kern="1200" spc="-3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X.</a:t>
            </a:r>
            <a:endParaRPr lang="en-GB" sz="2147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01494" defTabSz="932514">
              <a:spcBef>
                <a:spcPts val="1270"/>
              </a:spcBef>
            </a:pPr>
            <a:r>
              <a:rPr lang="en-GB" sz="2147" b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Return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X </a:t>
            </a: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as</a:t>
            </a:r>
            <a:r>
              <a:rPr lang="en-GB" sz="2147" kern="1200" spc="-1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X</a:t>
            </a:r>
            <a:r>
              <a:rPr lang="en-GB" sz="2147" kern="1200" baseline="30092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+</a:t>
            </a:r>
            <a:endParaRPr lang="en-GB" sz="2105" baseline="30092" dirty="0">
              <a:latin typeface="Arial"/>
              <a:cs typeface="Arial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FFA3FDD7-7A7D-1901-EFE2-B35214A9A48B}"/>
              </a:ext>
            </a:extLst>
          </p:cNvPr>
          <p:cNvSpPr txBox="1">
            <a:spLocks/>
          </p:cNvSpPr>
          <p:nvPr/>
        </p:nvSpPr>
        <p:spPr>
          <a:xfrm>
            <a:off x="564374" y="688731"/>
            <a:ext cx="6279679" cy="470635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4852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/>
              <a:t>Transitive </a:t>
            </a:r>
            <a:r>
              <a:rPr lang="en-GB" sz="2961" spc="-213" dirty="0" err="1"/>
              <a:t>Hüllen</a:t>
            </a:r>
            <a:r>
              <a:rPr lang="en-GB" sz="2961" spc="-213" dirty="0"/>
              <a:t> / Closures – Closure Algorithm</a:t>
            </a:r>
            <a:endParaRPr lang="en-GB" spc="-88" dirty="0"/>
          </a:p>
        </p:txBody>
      </p:sp>
    </p:spTree>
    <p:extLst>
      <p:ext uri="{BB962C8B-B14F-4D97-AF65-F5344CB8AC3E}">
        <p14:creationId xmlns:p14="http://schemas.microsoft.com/office/powerpoint/2010/main" val="21970218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79829" y="4947753"/>
            <a:ext cx="4231439" cy="1671046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80943" rIns="0" bIns="0" rtlCol="0">
            <a:spAutoFit/>
          </a:bodyPr>
          <a:lstStyle/>
          <a:p>
            <a:pPr marL="123385" defTabSz="1133644">
              <a:spcBef>
                <a:spcPts val="790"/>
              </a:spcBef>
            </a:pPr>
            <a:r>
              <a:rPr lang="en-GB" sz="2030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{name} </a:t>
            </a:r>
            <a:r>
              <a:rPr lang="en-GB" sz="203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030" kern="1200" spc="-15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30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{color}</a:t>
            </a:r>
            <a:endParaRPr lang="en-GB" sz="203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33644">
              <a:spcBef>
                <a:spcPts val="7"/>
              </a:spcBef>
            </a:pPr>
            <a:endParaRPr lang="en-GB" sz="2030" kern="120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123385" defTabSz="1133644">
              <a:spcBef>
                <a:spcPts val="7"/>
              </a:spcBef>
            </a:pPr>
            <a:r>
              <a:rPr lang="en-GB" sz="2030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{category} </a:t>
            </a:r>
            <a:r>
              <a:rPr lang="en-GB" sz="203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</a:t>
            </a:r>
            <a:r>
              <a:rPr lang="en-GB" sz="2030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{dept}</a:t>
            </a:r>
            <a:endParaRPr lang="en-GB" sz="203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33644">
              <a:spcBef>
                <a:spcPts val="7"/>
              </a:spcBef>
            </a:pPr>
            <a:endParaRPr lang="en-GB" sz="2030" kern="120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123385" defTabSz="1133644">
              <a:spcBef>
                <a:spcPts val="7"/>
              </a:spcBef>
            </a:pPr>
            <a:r>
              <a:rPr lang="en-GB" sz="2030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{color, </a:t>
            </a:r>
            <a:r>
              <a:rPr lang="en-GB" sz="2030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category} </a:t>
            </a:r>
            <a:r>
              <a:rPr lang="en-GB" sz="203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030" kern="1200" spc="-22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30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{price}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8531" y="4678461"/>
            <a:ext cx="418148" cy="332528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8415" defTabSz="1133644">
              <a:spcBef>
                <a:spcPts val="145"/>
              </a:spcBef>
            </a:pPr>
            <a:r>
              <a:rPr lang="en-GB" sz="203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F</a:t>
            </a:r>
            <a:r>
              <a:rPr lang="en-GB" sz="2030" kern="1200" spc="-123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3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=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21550" y="2368888"/>
            <a:ext cx="4107475" cy="681812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59408" rIns="0" bIns="0" rtlCol="0">
            <a:spAutoFit/>
          </a:bodyPr>
          <a:lstStyle/>
          <a:p>
            <a:pPr marL="123385" defTabSz="1133644">
              <a:lnSpc>
                <a:spcPts val="2413"/>
              </a:lnSpc>
              <a:spcBef>
                <a:spcPts val="580"/>
              </a:spcBef>
            </a:pPr>
            <a:r>
              <a:rPr lang="en-GB" sz="2030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 </a:t>
            </a:r>
            <a:r>
              <a:rPr lang="en-GB" sz="2030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category}</a:t>
            </a:r>
            <a:r>
              <a:rPr lang="en-GB" sz="1958" kern="1200" baseline="30864">
                <a:solidFill>
                  <a:srgbClr val="BF4F4D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03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=</a:t>
            </a:r>
          </a:p>
          <a:p>
            <a:pPr marL="123385" defTabSz="1133644">
              <a:lnSpc>
                <a:spcPts val="2413"/>
              </a:lnSpc>
            </a:pPr>
            <a:r>
              <a:rPr lang="en-GB" sz="2030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</a:t>
            </a:r>
            <a:r>
              <a:rPr lang="en-GB" sz="2030" kern="1200" spc="-15">
                <a:solidFill>
                  <a:srgbClr val="BF4F4D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30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category}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9226" y="2421816"/>
            <a:ext cx="4224038" cy="1975393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92825" rIns="0" bIns="0" rtlCol="0">
            <a:spAutoFit/>
          </a:bodyPr>
          <a:lstStyle/>
          <a:p>
            <a:pPr marL="124306" defTabSz="1133644">
              <a:spcBef>
                <a:spcPts val="906"/>
              </a:spcBef>
            </a:pP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Start with 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X = {A</a:t>
            </a:r>
            <a:r>
              <a:rPr lang="en-GB" sz="1740" kern="120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, …,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A</a:t>
            </a:r>
            <a:r>
              <a:rPr lang="en-GB" sz="1740" kern="1200" spc="-1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n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}, FDs</a:t>
            </a:r>
            <a:r>
              <a:rPr lang="en-GB" sz="1740" kern="1200" spc="-72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F.</a:t>
            </a:r>
            <a:endParaRPr lang="en-GB" sz="174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4306" defTabSz="1133644">
              <a:spcBef>
                <a:spcPts val="305"/>
              </a:spcBef>
            </a:pPr>
            <a:r>
              <a:rPr lang="en-GB" sz="1740" b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Repeat until 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X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doesn’t 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change;</a:t>
            </a:r>
            <a:r>
              <a:rPr lang="en-GB" sz="1740" kern="1200" spc="-29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40" b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do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:</a:t>
            </a:r>
            <a:endParaRPr lang="en-GB" sz="174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4306" marR="139039" indent="183235" defTabSz="1133644">
              <a:lnSpc>
                <a:spcPts val="2552"/>
              </a:lnSpc>
              <a:spcBef>
                <a:spcPts val="283"/>
              </a:spcBef>
            </a:pPr>
            <a:r>
              <a:rPr lang="en-GB" sz="1740" b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if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{B</a:t>
            </a:r>
            <a:r>
              <a:rPr lang="en-GB" sz="1740" kern="1200" spc="-1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 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…,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B</a:t>
            </a:r>
            <a:r>
              <a:rPr lang="en-GB" sz="1740" kern="1200" spc="-1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n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} </a:t>
            </a:r>
            <a:r>
              <a:rPr lang="en-GB" sz="203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C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is in 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F </a:t>
            </a:r>
            <a:r>
              <a:rPr lang="en-GB" sz="1740" b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and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{B</a:t>
            </a:r>
            <a:r>
              <a:rPr lang="en-GB" sz="1740" kern="1200" spc="-1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</a:t>
            </a:r>
            <a:r>
              <a:rPr lang="en-GB" sz="1740" kern="1200" spc="-153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…, 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B</a:t>
            </a:r>
            <a:r>
              <a:rPr lang="en-GB" sz="1740" kern="1200" spc="-1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n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} </a:t>
            </a:r>
            <a:r>
              <a:rPr lang="en-GB" sz="1740" kern="1200" spc="275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⊆</a:t>
            </a:r>
            <a:r>
              <a:rPr lang="en-GB" sz="1740" kern="1200" spc="-72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X:</a:t>
            </a:r>
            <a:endParaRPr lang="en-GB" sz="174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87271" defTabSz="1133644">
              <a:spcBef>
                <a:spcPts val="138"/>
              </a:spcBef>
            </a:pPr>
            <a:r>
              <a:rPr lang="en-GB" sz="1740" b="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then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add 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C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to</a:t>
            </a:r>
            <a:r>
              <a:rPr lang="en-GB" sz="1740" kern="1200" spc="-43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X.</a:t>
            </a:r>
            <a:endParaRPr lang="en-GB" sz="174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4306" defTabSz="1133644">
              <a:spcBef>
                <a:spcPts val="305"/>
              </a:spcBef>
            </a:pPr>
            <a:r>
              <a:rPr lang="en-GB" sz="1740" b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Return 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X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as</a:t>
            </a:r>
            <a:r>
              <a:rPr lang="en-GB" sz="1740" kern="1200" spc="-22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X</a:t>
            </a:r>
            <a:r>
              <a:rPr lang="en-GB" sz="1740" kern="1200" baseline="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+</a:t>
            </a:r>
            <a:endParaRPr lang="en-GB" sz="1403" baseline="31250">
              <a:latin typeface="Arial"/>
              <a:cs typeface="Arial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C325D580-CE16-08A2-FE18-95968AEC8662}"/>
              </a:ext>
            </a:extLst>
          </p:cNvPr>
          <p:cNvSpPr txBox="1">
            <a:spLocks/>
          </p:cNvSpPr>
          <p:nvPr/>
        </p:nvSpPr>
        <p:spPr>
          <a:xfrm>
            <a:off x="564374" y="688731"/>
            <a:ext cx="6279679" cy="470635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4852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/>
              <a:t>Transitive </a:t>
            </a:r>
            <a:r>
              <a:rPr lang="en-GB" sz="2961" spc="-213" dirty="0" err="1"/>
              <a:t>Hüllen</a:t>
            </a:r>
            <a:r>
              <a:rPr lang="en-GB" sz="2961" spc="-213" dirty="0"/>
              <a:t> / Closures – Closure Algorithm</a:t>
            </a:r>
            <a:endParaRPr lang="en-GB" spc="-88" dirty="0"/>
          </a:p>
        </p:txBody>
      </p:sp>
    </p:spTree>
    <p:extLst>
      <p:ext uri="{BB962C8B-B14F-4D97-AF65-F5344CB8AC3E}">
        <p14:creationId xmlns:p14="http://schemas.microsoft.com/office/powerpoint/2010/main" val="39734852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79829" y="4947753"/>
            <a:ext cx="4231439" cy="1671046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80943" rIns="0" bIns="0" rtlCol="0">
            <a:spAutoFit/>
          </a:bodyPr>
          <a:lstStyle/>
          <a:p>
            <a:pPr marL="123385" defTabSz="1133644">
              <a:spcBef>
                <a:spcPts val="790"/>
              </a:spcBef>
            </a:pPr>
            <a:r>
              <a:rPr lang="en-GB" sz="2030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{name} </a:t>
            </a:r>
            <a:r>
              <a:rPr lang="en-GB" sz="203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030" kern="1200" spc="-15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30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{color}</a:t>
            </a:r>
            <a:endParaRPr lang="en-GB" sz="203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33644">
              <a:spcBef>
                <a:spcPts val="7"/>
              </a:spcBef>
            </a:pPr>
            <a:endParaRPr lang="en-GB" sz="2030" kern="120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123385" defTabSz="1133644">
              <a:spcBef>
                <a:spcPts val="7"/>
              </a:spcBef>
            </a:pPr>
            <a:r>
              <a:rPr lang="en-GB" sz="2030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{category} </a:t>
            </a:r>
            <a:r>
              <a:rPr lang="en-GB" sz="203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</a:t>
            </a:r>
            <a:r>
              <a:rPr lang="en-GB" sz="2030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{dept}</a:t>
            </a:r>
            <a:endParaRPr lang="en-GB" sz="203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33644">
              <a:spcBef>
                <a:spcPts val="7"/>
              </a:spcBef>
            </a:pPr>
            <a:endParaRPr lang="en-GB" sz="2030" kern="120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123385" defTabSz="1133644">
              <a:spcBef>
                <a:spcPts val="7"/>
              </a:spcBef>
            </a:pPr>
            <a:r>
              <a:rPr lang="en-GB" sz="2030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{color, </a:t>
            </a:r>
            <a:r>
              <a:rPr lang="en-GB" sz="2030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category} </a:t>
            </a:r>
            <a:r>
              <a:rPr lang="en-GB" sz="203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030" kern="1200" spc="-22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30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{price}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8531" y="4678461"/>
            <a:ext cx="418148" cy="332528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8415" defTabSz="1133644">
              <a:spcBef>
                <a:spcPts val="145"/>
              </a:spcBef>
            </a:pPr>
            <a:r>
              <a:rPr lang="en-GB" sz="203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F</a:t>
            </a:r>
            <a:r>
              <a:rPr lang="en-GB" sz="2030" kern="1200" spc="-123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3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=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21550" y="2368888"/>
            <a:ext cx="4107475" cy="780790"/>
          </a:xfrm>
          <a:custGeom>
            <a:avLst/>
            <a:gdLst/>
            <a:ahLst/>
            <a:cxnLst/>
            <a:rect l="l" t="t" r="r" b="b"/>
            <a:pathLst>
              <a:path w="2819400" h="535939">
                <a:moveTo>
                  <a:pt x="0" y="0"/>
                </a:moveTo>
                <a:lnTo>
                  <a:pt x="2819394" y="0"/>
                </a:lnTo>
                <a:lnTo>
                  <a:pt x="2819394" y="535528"/>
                </a:lnTo>
                <a:lnTo>
                  <a:pt x="0" y="53552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" name="object 6"/>
          <p:cNvSpPr txBox="1"/>
          <p:nvPr/>
        </p:nvSpPr>
        <p:spPr>
          <a:xfrm>
            <a:off x="6146440" y="2448903"/>
            <a:ext cx="2281314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133644">
              <a:lnSpc>
                <a:spcPts val="2371"/>
              </a:lnSpc>
              <a:spcAft>
                <a:spcPts val="600"/>
              </a:spcAft>
            </a:pPr>
            <a:r>
              <a:rPr lang="en-GB" sz="2030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 </a:t>
            </a:r>
            <a:r>
              <a:rPr lang="en-GB" sz="2030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category}</a:t>
            </a:r>
            <a:r>
              <a:rPr lang="en-GB" sz="1958" kern="1200" baseline="30864">
                <a:solidFill>
                  <a:srgbClr val="BF4F4D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58" kern="1200" spc="-109" baseline="30864">
                <a:solidFill>
                  <a:srgbClr val="BF4F4D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3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=</a:t>
            </a:r>
          </a:p>
          <a:p>
            <a:pPr defTabSz="1133644">
              <a:lnSpc>
                <a:spcPts val="2413"/>
              </a:lnSpc>
              <a:spcAft>
                <a:spcPts val="600"/>
              </a:spcAft>
            </a:pPr>
            <a:r>
              <a:rPr lang="en-GB" sz="2030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</a:t>
            </a:r>
            <a:r>
              <a:rPr lang="en-GB" sz="2030" kern="1200" spc="-36">
                <a:solidFill>
                  <a:srgbClr val="BF4F4D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30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category}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21550" y="3444960"/>
            <a:ext cx="4107475" cy="681812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59408" rIns="0" bIns="0" rtlCol="0">
            <a:spAutoFit/>
          </a:bodyPr>
          <a:lstStyle/>
          <a:p>
            <a:pPr marL="123385" defTabSz="1133644">
              <a:lnSpc>
                <a:spcPts val="2413"/>
              </a:lnSpc>
              <a:spcBef>
                <a:spcPts val="580"/>
              </a:spcBef>
            </a:pPr>
            <a:r>
              <a:rPr lang="en-GB" sz="2030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 </a:t>
            </a:r>
            <a:r>
              <a:rPr lang="en-GB" sz="2030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category}</a:t>
            </a:r>
            <a:r>
              <a:rPr lang="en-GB" sz="1958" kern="1200" baseline="30864">
                <a:solidFill>
                  <a:srgbClr val="BF4F4D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03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=</a:t>
            </a:r>
          </a:p>
          <a:p>
            <a:pPr marL="123385" defTabSz="1133644">
              <a:lnSpc>
                <a:spcPts val="2413"/>
              </a:lnSpc>
            </a:pPr>
            <a:r>
              <a:rPr lang="en-GB" sz="2030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 </a:t>
            </a:r>
            <a:r>
              <a:rPr lang="en-GB" sz="2030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category,</a:t>
            </a:r>
            <a:r>
              <a:rPr lang="en-GB" sz="2030" kern="1200" spc="-22">
                <a:solidFill>
                  <a:srgbClr val="BF4F4D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30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color}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9829" y="4974632"/>
            <a:ext cx="2886333" cy="550438"/>
          </a:xfrm>
          <a:custGeom>
            <a:avLst/>
            <a:gdLst/>
            <a:ahLst/>
            <a:cxnLst/>
            <a:rect l="l" t="t" r="r" b="b"/>
            <a:pathLst>
              <a:path w="1981200" h="377825">
                <a:moveTo>
                  <a:pt x="1917646" y="377699"/>
                </a:moveTo>
                <a:lnTo>
                  <a:pt x="62949" y="377699"/>
                </a:lnTo>
                <a:lnTo>
                  <a:pt x="38443" y="372753"/>
                </a:lnTo>
                <a:lnTo>
                  <a:pt x="18434" y="359264"/>
                </a:lnTo>
                <a:lnTo>
                  <a:pt x="4945" y="339255"/>
                </a:lnTo>
                <a:lnTo>
                  <a:pt x="0" y="314749"/>
                </a:lnTo>
                <a:lnTo>
                  <a:pt x="0" y="62949"/>
                </a:lnTo>
                <a:lnTo>
                  <a:pt x="4945" y="38443"/>
                </a:lnTo>
                <a:lnTo>
                  <a:pt x="18434" y="18434"/>
                </a:lnTo>
                <a:lnTo>
                  <a:pt x="38443" y="4945"/>
                </a:lnTo>
                <a:lnTo>
                  <a:pt x="62949" y="0"/>
                </a:lnTo>
                <a:lnTo>
                  <a:pt x="1917646" y="0"/>
                </a:lnTo>
                <a:lnTo>
                  <a:pt x="1962146" y="18449"/>
                </a:lnTo>
                <a:lnTo>
                  <a:pt x="1980596" y="62949"/>
                </a:lnTo>
                <a:lnTo>
                  <a:pt x="1980596" y="314749"/>
                </a:lnTo>
                <a:lnTo>
                  <a:pt x="1975646" y="339255"/>
                </a:lnTo>
                <a:lnTo>
                  <a:pt x="1962152" y="359264"/>
                </a:lnTo>
                <a:lnTo>
                  <a:pt x="1942142" y="372753"/>
                </a:lnTo>
                <a:lnTo>
                  <a:pt x="1917646" y="377699"/>
                </a:lnTo>
                <a:close/>
              </a:path>
            </a:pathLst>
          </a:custGeom>
          <a:solidFill>
            <a:srgbClr val="3A80BA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" name="object 9"/>
          <p:cNvSpPr/>
          <p:nvPr/>
        </p:nvSpPr>
        <p:spPr>
          <a:xfrm>
            <a:off x="6021550" y="2208561"/>
            <a:ext cx="4107475" cy="1091626"/>
          </a:xfrm>
          <a:custGeom>
            <a:avLst/>
            <a:gdLst/>
            <a:ahLst/>
            <a:cxnLst/>
            <a:rect l="l" t="t" r="r" b="b"/>
            <a:pathLst>
              <a:path w="2819400" h="749300">
                <a:moveTo>
                  <a:pt x="0" y="0"/>
                </a:moveTo>
                <a:lnTo>
                  <a:pt x="2819394" y="0"/>
                </a:lnTo>
                <a:lnTo>
                  <a:pt x="2819394" y="749216"/>
                </a:lnTo>
                <a:lnTo>
                  <a:pt x="0" y="7492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" name="object 10"/>
          <p:cNvSpPr txBox="1"/>
          <p:nvPr/>
        </p:nvSpPr>
        <p:spPr>
          <a:xfrm>
            <a:off x="1189226" y="2421816"/>
            <a:ext cx="4224038" cy="1975393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92825" rIns="0" bIns="0" rtlCol="0">
            <a:spAutoFit/>
          </a:bodyPr>
          <a:lstStyle/>
          <a:p>
            <a:pPr marL="124306" defTabSz="1133644">
              <a:spcBef>
                <a:spcPts val="906"/>
              </a:spcBef>
            </a:pP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Start with 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X = {A</a:t>
            </a:r>
            <a:r>
              <a:rPr lang="en-GB" sz="1740" kern="120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, …,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A</a:t>
            </a:r>
            <a:r>
              <a:rPr lang="en-GB" sz="1740" kern="1200" spc="-1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n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}, FDs</a:t>
            </a:r>
            <a:r>
              <a:rPr lang="en-GB" sz="1740" kern="1200" spc="-72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F.</a:t>
            </a:r>
            <a:endParaRPr lang="en-GB" sz="174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4306" defTabSz="1133644">
              <a:spcBef>
                <a:spcPts val="305"/>
              </a:spcBef>
            </a:pPr>
            <a:r>
              <a:rPr lang="en-GB" sz="1740" b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Repeat until 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X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doesn’t 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change;</a:t>
            </a:r>
            <a:r>
              <a:rPr lang="en-GB" sz="1740" kern="1200" spc="-29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40" b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do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:</a:t>
            </a:r>
            <a:endParaRPr lang="en-GB" sz="174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4306" marR="139039" indent="183235" defTabSz="1133644">
              <a:lnSpc>
                <a:spcPts val="2552"/>
              </a:lnSpc>
              <a:spcBef>
                <a:spcPts val="283"/>
              </a:spcBef>
            </a:pPr>
            <a:r>
              <a:rPr lang="en-GB" sz="1740" b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if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{B</a:t>
            </a:r>
            <a:r>
              <a:rPr lang="en-GB" sz="1740" kern="1200" spc="-1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 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…,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B</a:t>
            </a:r>
            <a:r>
              <a:rPr lang="en-GB" sz="1740" kern="1200" spc="-1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n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} </a:t>
            </a:r>
            <a:r>
              <a:rPr lang="en-GB" sz="203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C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is in 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F </a:t>
            </a:r>
            <a:r>
              <a:rPr lang="en-GB" sz="1740" b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and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{B</a:t>
            </a:r>
            <a:r>
              <a:rPr lang="en-GB" sz="1740" kern="1200" spc="-1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</a:t>
            </a:r>
            <a:r>
              <a:rPr lang="en-GB" sz="1740" kern="1200" spc="-153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…, 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B</a:t>
            </a:r>
            <a:r>
              <a:rPr lang="en-GB" sz="1740" kern="1200" spc="-1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n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} </a:t>
            </a:r>
            <a:r>
              <a:rPr lang="en-GB" sz="1740" kern="1200" spc="275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⊆</a:t>
            </a:r>
            <a:r>
              <a:rPr lang="en-GB" sz="1740" kern="1200" spc="-72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X:</a:t>
            </a:r>
            <a:endParaRPr lang="en-GB" sz="174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87271" defTabSz="1133644">
              <a:spcBef>
                <a:spcPts val="138"/>
              </a:spcBef>
            </a:pPr>
            <a:r>
              <a:rPr lang="en-GB" sz="1740" b="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then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add 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C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to</a:t>
            </a:r>
            <a:r>
              <a:rPr lang="en-GB" sz="1740" kern="1200" spc="-43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X.</a:t>
            </a:r>
            <a:endParaRPr lang="en-GB" sz="174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4306" defTabSz="1133644">
              <a:spcBef>
                <a:spcPts val="305"/>
              </a:spcBef>
            </a:pPr>
            <a:r>
              <a:rPr lang="en-GB" sz="1740" b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Return 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X </a:t>
            </a:r>
            <a:r>
              <a:rPr lang="en-GB" sz="1740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as</a:t>
            </a:r>
            <a:r>
              <a:rPr lang="en-GB" sz="1740" kern="1200" spc="-22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4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X</a:t>
            </a:r>
            <a:r>
              <a:rPr lang="en-GB" sz="1740" kern="1200" baseline="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+</a:t>
            </a:r>
            <a:endParaRPr lang="en-GB" sz="1403" baseline="31250">
              <a:latin typeface="Arial"/>
              <a:cs typeface="Arial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36A9BDC4-D623-8653-7976-A18C061825F4}"/>
              </a:ext>
            </a:extLst>
          </p:cNvPr>
          <p:cNvSpPr txBox="1">
            <a:spLocks/>
          </p:cNvSpPr>
          <p:nvPr/>
        </p:nvSpPr>
        <p:spPr>
          <a:xfrm>
            <a:off x="564374" y="654050"/>
            <a:ext cx="6279679" cy="470635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4852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/>
              <a:t>Transitive </a:t>
            </a:r>
            <a:r>
              <a:rPr lang="en-GB" sz="2961" spc="-213" dirty="0" err="1"/>
              <a:t>Hüllen</a:t>
            </a:r>
            <a:r>
              <a:rPr lang="en-GB" sz="2961" spc="-213" dirty="0"/>
              <a:t> / Closures – Closure Algorithm</a:t>
            </a:r>
            <a:endParaRPr lang="en-GB" spc="-88" dirty="0"/>
          </a:p>
        </p:txBody>
      </p:sp>
    </p:spTree>
    <p:extLst>
      <p:ext uri="{BB962C8B-B14F-4D97-AF65-F5344CB8AC3E}">
        <p14:creationId xmlns:p14="http://schemas.microsoft.com/office/powerpoint/2010/main" val="10284181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70383" y="4929803"/>
            <a:ext cx="4166497" cy="16454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80943" rIns="0" bIns="0" rtlCol="0">
            <a:spAutoFit/>
          </a:bodyPr>
          <a:lstStyle/>
          <a:p>
            <a:pPr marL="121395" defTabSz="1115359">
              <a:spcBef>
                <a:spcPts val="777"/>
              </a:spcBef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{name}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997" kern="1200" spc="-15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{color}</a:t>
            </a:r>
            <a:endParaRPr lang="en-GB" sz="1997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15359">
              <a:spcBef>
                <a:spcPts val="7"/>
              </a:spcBef>
            </a:pPr>
            <a:endParaRPr lang="en-GB" sz="1997" kern="120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121395" defTabSz="1115359">
              <a:spcBef>
                <a:spcPts val="7"/>
              </a:spcBef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{category}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</a:t>
            </a: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{dept}</a:t>
            </a:r>
            <a:endParaRPr lang="en-GB" sz="1997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15359">
              <a:spcBef>
                <a:spcPts val="7"/>
              </a:spcBef>
            </a:pPr>
            <a:endParaRPr lang="en-GB" sz="1997" kern="120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121395" defTabSz="1115359">
              <a:spcBef>
                <a:spcPts val="7"/>
              </a:spcBef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{color, </a:t>
            </a:r>
            <a:r>
              <a:rPr lang="en-GB" sz="1997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category}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997" kern="1200" spc="-22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{price}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6165" y="4664644"/>
            <a:ext cx="411731" cy="327424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8118" defTabSz="1115359">
              <a:spcBef>
                <a:spcPts val="143"/>
              </a:spcBef>
            </a:pP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F</a:t>
            </a:r>
            <a:r>
              <a:rPr lang="en-GB" sz="1997" kern="1200" spc="-121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=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37796" y="2390518"/>
            <a:ext cx="4044435" cy="768807"/>
          </a:xfrm>
          <a:custGeom>
            <a:avLst/>
            <a:gdLst/>
            <a:ahLst/>
            <a:cxnLst/>
            <a:rect l="l" t="t" r="r" b="b"/>
            <a:pathLst>
              <a:path w="2819400" h="535939">
                <a:moveTo>
                  <a:pt x="0" y="0"/>
                </a:moveTo>
                <a:lnTo>
                  <a:pt x="2819394" y="0"/>
                </a:lnTo>
                <a:lnTo>
                  <a:pt x="2819394" y="535528"/>
                </a:lnTo>
                <a:lnTo>
                  <a:pt x="0" y="53552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" name="object 6"/>
          <p:cNvSpPr/>
          <p:nvPr/>
        </p:nvSpPr>
        <p:spPr>
          <a:xfrm>
            <a:off x="5937796" y="3450074"/>
            <a:ext cx="4044435" cy="768807"/>
          </a:xfrm>
          <a:custGeom>
            <a:avLst/>
            <a:gdLst/>
            <a:ahLst/>
            <a:cxnLst/>
            <a:rect l="l" t="t" r="r" b="b"/>
            <a:pathLst>
              <a:path w="2819400" h="535939">
                <a:moveTo>
                  <a:pt x="0" y="0"/>
                </a:moveTo>
                <a:lnTo>
                  <a:pt x="2819394" y="0"/>
                </a:lnTo>
                <a:lnTo>
                  <a:pt x="2819394" y="535528"/>
                </a:lnTo>
                <a:lnTo>
                  <a:pt x="0" y="53552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" name="object 7"/>
          <p:cNvSpPr txBox="1"/>
          <p:nvPr/>
        </p:nvSpPr>
        <p:spPr>
          <a:xfrm>
            <a:off x="6060769" y="2469304"/>
            <a:ext cx="2619774" cy="1670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115359">
              <a:lnSpc>
                <a:spcPts val="2333"/>
              </a:lnSpc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 </a:t>
            </a:r>
            <a:r>
              <a:rPr lang="en-GB" sz="1997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category}</a:t>
            </a:r>
            <a:r>
              <a:rPr lang="en-GB" sz="1926" kern="1200" baseline="30864">
                <a:solidFill>
                  <a:srgbClr val="BF4F4D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26" kern="1200" spc="-22" baseline="30864">
                <a:solidFill>
                  <a:srgbClr val="BF4F4D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=</a:t>
            </a:r>
          </a:p>
          <a:p>
            <a:pPr defTabSz="1115359">
              <a:lnSpc>
                <a:spcPts val="2374"/>
              </a:lnSpc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</a:t>
            </a:r>
            <a:r>
              <a:rPr lang="en-GB" sz="1997" kern="1200" spc="-22">
                <a:solidFill>
                  <a:srgbClr val="BF4F4D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category}</a:t>
            </a:r>
            <a:endParaRPr lang="en-GB" sz="1997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15359">
              <a:spcBef>
                <a:spcPts val="15"/>
              </a:spcBef>
            </a:pPr>
            <a:endParaRPr lang="en-GB" sz="3067" kern="120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defTabSz="1115359">
              <a:lnSpc>
                <a:spcPts val="2374"/>
              </a:lnSpc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 </a:t>
            </a:r>
            <a:r>
              <a:rPr lang="en-GB" sz="1997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category}</a:t>
            </a:r>
            <a:r>
              <a:rPr lang="en-GB" sz="1926" kern="1200" baseline="30864">
                <a:solidFill>
                  <a:srgbClr val="BF4F4D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26" kern="1200" spc="-22" baseline="30864">
                <a:solidFill>
                  <a:srgbClr val="BF4F4D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=</a:t>
            </a:r>
          </a:p>
          <a:p>
            <a:pPr defTabSz="1115359">
              <a:lnSpc>
                <a:spcPts val="2374"/>
              </a:lnSpc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 </a:t>
            </a:r>
            <a:r>
              <a:rPr lang="en-GB" sz="1997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category,</a:t>
            </a:r>
            <a:r>
              <a:rPr lang="en-GB" sz="1997" kern="1200" spc="-143">
                <a:solidFill>
                  <a:srgbClr val="BF4F4D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color}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37796" y="4509638"/>
            <a:ext cx="4044435" cy="671348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59408" rIns="0" bIns="0" rtlCol="0">
            <a:spAutoFit/>
          </a:bodyPr>
          <a:lstStyle/>
          <a:p>
            <a:pPr marL="121395" defTabSz="1115359">
              <a:lnSpc>
                <a:spcPts val="2374"/>
              </a:lnSpc>
              <a:spcBef>
                <a:spcPts val="571"/>
              </a:spcBef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 </a:t>
            </a:r>
            <a:r>
              <a:rPr lang="en-GB" sz="1997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category}</a:t>
            </a:r>
            <a:r>
              <a:rPr lang="en-GB" sz="1926" kern="1200" baseline="30864">
                <a:solidFill>
                  <a:srgbClr val="BF4F4D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=</a:t>
            </a:r>
          </a:p>
          <a:p>
            <a:pPr marL="121395" defTabSz="1115359">
              <a:lnSpc>
                <a:spcPts val="2374"/>
              </a:lnSpc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 </a:t>
            </a:r>
            <a:r>
              <a:rPr lang="en-GB" sz="1997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category, color,</a:t>
            </a:r>
            <a:r>
              <a:rPr lang="en-GB" sz="1997" kern="1200" spc="-50">
                <a:solidFill>
                  <a:srgbClr val="BF4F4D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dept}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70383" y="5590677"/>
            <a:ext cx="3256499" cy="541990"/>
          </a:xfrm>
          <a:custGeom>
            <a:avLst/>
            <a:gdLst/>
            <a:ahLst/>
            <a:cxnLst/>
            <a:rect l="l" t="t" r="r" b="b"/>
            <a:pathLst>
              <a:path w="2270125" h="377825">
                <a:moveTo>
                  <a:pt x="2206845" y="377699"/>
                </a:moveTo>
                <a:lnTo>
                  <a:pt x="62949" y="377699"/>
                </a:lnTo>
                <a:lnTo>
                  <a:pt x="38443" y="372753"/>
                </a:lnTo>
                <a:lnTo>
                  <a:pt x="18434" y="359264"/>
                </a:lnTo>
                <a:lnTo>
                  <a:pt x="4945" y="339255"/>
                </a:lnTo>
                <a:lnTo>
                  <a:pt x="0" y="314749"/>
                </a:lnTo>
                <a:lnTo>
                  <a:pt x="0" y="62949"/>
                </a:lnTo>
                <a:lnTo>
                  <a:pt x="4945" y="38443"/>
                </a:lnTo>
                <a:lnTo>
                  <a:pt x="18434" y="18434"/>
                </a:lnTo>
                <a:lnTo>
                  <a:pt x="38443" y="4945"/>
                </a:lnTo>
                <a:lnTo>
                  <a:pt x="62949" y="0"/>
                </a:lnTo>
                <a:lnTo>
                  <a:pt x="2206845" y="0"/>
                </a:lnTo>
                <a:lnTo>
                  <a:pt x="2251345" y="18449"/>
                </a:lnTo>
                <a:lnTo>
                  <a:pt x="2269795" y="62949"/>
                </a:lnTo>
                <a:lnTo>
                  <a:pt x="2269795" y="314749"/>
                </a:lnTo>
                <a:lnTo>
                  <a:pt x="2264846" y="339255"/>
                </a:lnTo>
                <a:lnTo>
                  <a:pt x="2251351" y="359264"/>
                </a:lnTo>
                <a:lnTo>
                  <a:pt x="2231341" y="372753"/>
                </a:lnTo>
                <a:lnTo>
                  <a:pt x="2206845" y="377699"/>
                </a:lnTo>
                <a:close/>
              </a:path>
            </a:pathLst>
          </a:custGeom>
          <a:solidFill>
            <a:srgbClr val="3A80BA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" name="object 10"/>
          <p:cNvSpPr/>
          <p:nvPr/>
        </p:nvSpPr>
        <p:spPr>
          <a:xfrm>
            <a:off x="5858685" y="2232649"/>
            <a:ext cx="4270340" cy="2172517"/>
          </a:xfrm>
          <a:custGeom>
            <a:avLst/>
            <a:gdLst/>
            <a:ahLst/>
            <a:cxnLst/>
            <a:rect l="l" t="t" r="r" b="b"/>
            <a:pathLst>
              <a:path w="2976879" h="1514475">
                <a:moveTo>
                  <a:pt x="0" y="0"/>
                </a:moveTo>
                <a:lnTo>
                  <a:pt x="2976844" y="0"/>
                </a:lnTo>
                <a:lnTo>
                  <a:pt x="2976844" y="1514129"/>
                </a:lnTo>
                <a:lnTo>
                  <a:pt x="0" y="1514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" name="object 11"/>
          <p:cNvSpPr txBox="1"/>
          <p:nvPr/>
        </p:nvSpPr>
        <p:spPr>
          <a:xfrm>
            <a:off x="1179636" y="2442633"/>
            <a:ext cx="4159209" cy="1945076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92825" rIns="0" bIns="0" rtlCol="0">
            <a:spAutoFit/>
          </a:bodyPr>
          <a:lstStyle/>
          <a:p>
            <a:pPr marL="122301" defTabSz="1115359">
              <a:spcBef>
                <a:spcPts val="892"/>
              </a:spcBef>
            </a:pP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Start with 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X = {A</a:t>
            </a:r>
            <a:r>
              <a:rPr lang="en-GB" sz="1712" kern="120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, …,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A</a:t>
            </a:r>
            <a:r>
              <a:rPr lang="en-GB" sz="1712" kern="1200" spc="-1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n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}, FDs</a:t>
            </a:r>
            <a:r>
              <a:rPr lang="en-GB" sz="1712" kern="1200" spc="-71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F.</a:t>
            </a:r>
            <a:endParaRPr lang="en-GB" sz="1712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2301" defTabSz="1115359">
              <a:spcBef>
                <a:spcPts val="300"/>
              </a:spcBef>
            </a:pPr>
            <a:r>
              <a:rPr lang="en-GB" sz="1712" b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Repeat until 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X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doesn’t 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change;</a:t>
            </a:r>
            <a:r>
              <a:rPr lang="en-GB" sz="1712" kern="1200" spc="-28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12" b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do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:</a:t>
            </a:r>
            <a:endParaRPr lang="en-GB" sz="1712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2301" marR="136796" indent="180279" defTabSz="1115359">
              <a:lnSpc>
                <a:spcPts val="2511"/>
              </a:lnSpc>
              <a:spcBef>
                <a:spcPts val="278"/>
              </a:spcBef>
            </a:pPr>
            <a:r>
              <a:rPr lang="en-GB" sz="1712" b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if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{B</a:t>
            </a:r>
            <a:r>
              <a:rPr lang="en-GB" sz="1712" kern="1200" spc="-1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 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…,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B</a:t>
            </a:r>
            <a:r>
              <a:rPr lang="en-GB" sz="1712" kern="1200" spc="-1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n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}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C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is in 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F </a:t>
            </a:r>
            <a:r>
              <a:rPr lang="en-GB" sz="1712" b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and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{B</a:t>
            </a:r>
            <a:r>
              <a:rPr lang="en-GB" sz="1712" kern="1200" spc="-1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</a:t>
            </a:r>
            <a:r>
              <a:rPr lang="en-GB" sz="1712" kern="1200" spc="-15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…, 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B</a:t>
            </a:r>
            <a:r>
              <a:rPr lang="en-GB" sz="1712" kern="1200" spc="-1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n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} </a:t>
            </a:r>
            <a:r>
              <a:rPr lang="en-GB" sz="1712" kern="1200" spc="271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⊆</a:t>
            </a:r>
            <a:r>
              <a:rPr lang="en-GB" sz="1712" kern="1200" spc="-71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X:</a:t>
            </a:r>
            <a:endParaRPr lang="en-GB" sz="1712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74573" defTabSz="1115359">
              <a:spcBef>
                <a:spcPts val="135"/>
              </a:spcBef>
            </a:pPr>
            <a:r>
              <a:rPr lang="en-GB" sz="1712" b="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then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add 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C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to</a:t>
            </a:r>
            <a:r>
              <a:rPr lang="en-GB" sz="1712" kern="1200" spc="-43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X.</a:t>
            </a:r>
            <a:endParaRPr lang="en-GB" sz="1712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2301" defTabSz="1115359">
              <a:spcBef>
                <a:spcPts val="300"/>
              </a:spcBef>
            </a:pPr>
            <a:r>
              <a:rPr lang="en-GB" sz="1712" b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Return 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X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as</a:t>
            </a:r>
            <a:r>
              <a:rPr lang="en-GB" sz="1712" kern="1200" spc="-22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X</a:t>
            </a:r>
            <a:r>
              <a:rPr lang="en-GB" sz="1712" kern="1200" baseline="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+</a:t>
            </a:r>
            <a:endParaRPr lang="en-GB" sz="1403" baseline="31250">
              <a:latin typeface="Arial"/>
              <a:cs typeface="Arial"/>
            </a:endParaRPr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3F07DA56-DED1-B308-0256-56EF5112C4DD}"/>
              </a:ext>
            </a:extLst>
          </p:cNvPr>
          <p:cNvSpPr txBox="1">
            <a:spLocks/>
          </p:cNvSpPr>
          <p:nvPr/>
        </p:nvSpPr>
        <p:spPr>
          <a:xfrm>
            <a:off x="564374" y="688731"/>
            <a:ext cx="6279679" cy="470635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4852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/>
              <a:t>Transitive </a:t>
            </a:r>
            <a:r>
              <a:rPr lang="en-GB" sz="2961" spc="-213" dirty="0" err="1"/>
              <a:t>Hüllen</a:t>
            </a:r>
            <a:r>
              <a:rPr lang="en-GB" sz="2961" spc="-213" dirty="0"/>
              <a:t> / Closures – Closure Algorithm</a:t>
            </a:r>
            <a:endParaRPr lang="en-GB" spc="-88" dirty="0"/>
          </a:p>
        </p:txBody>
      </p:sp>
    </p:spTree>
    <p:extLst>
      <p:ext uri="{BB962C8B-B14F-4D97-AF65-F5344CB8AC3E}">
        <p14:creationId xmlns:p14="http://schemas.microsoft.com/office/powerpoint/2010/main" val="20411467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937796" y="2285767"/>
            <a:ext cx="4044435" cy="768807"/>
          </a:xfrm>
          <a:custGeom>
            <a:avLst/>
            <a:gdLst/>
            <a:ahLst/>
            <a:cxnLst/>
            <a:rect l="l" t="t" r="r" b="b"/>
            <a:pathLst>
              <a:path w="2819400" h="535939">
                <a:moveTo>
                  <a:pt x="0" y="0"/>
                </a:moveTo>
                <a:lnTo>
                  <a:pt x="2819394" y="0"/>
                </a:lnTo>
                <a:lnTo>
                  <a:pt x="2819394" y="535528"/>
                </a:lnTo>
                <a:lnTo>
                  <a:pt x="0" y="53552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4" name="object 4"/>
          <p:cNvSpPr txBox="1"/>
          <p:nvPr/>
        </p:nvSpPr>
        <p:spPr>
          <a:xfrm>
            <a:off x="5937796" y="5477679"/>
            <a:ext cx="4044435" cy="981361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55695" rIns="0" bIns="0" rtlCol="0">
            <a:spAutoFit/>
          </a:bodyPr>
          <a:lstStyle/>
          <a:p>
            <a:pPr marL="121395" defTabSz="1115359">
              <a:lnSpc>
                <a:spcPts val="2374"/>
              </a:lnSpc>
              <a:spcBef>
                <a:spcPts val="536"/>
              </a:spcBef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 </a:t>
            </a:r>
            <a:r>
              <a:rPr lang="en-GB" sz="1997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category}</a:t>
            </a:r>
            <a:r>
              <a:rPr lang="en-GB" sz="1926" kern="1200" baseline="30864">
                <a:solidFill>
                  <a:srgbClr val="BF4F4D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=</a:t>
            </a:r>
          </a:p>
          <a:p>
            <a:pPr marL="121395" marR="664050" defTabSz="1115359">
              <a:lnSpc>
                <a:spcPts val="2355"/>
              </a:lnSpc>
              <a:spcBef>
                <a:spcPts val="93"/>
              </a:spcBef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 </a:t>
            </a:r>
            <a:r>
              <a:rPr lang="en-GB" sz="1997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category, color,</a:t>
            </a:r>
            <a:r>
              <a:rPr lang="en-GB" sz="1997" kern="1200" spc="-150">
                <a:solidFill>
                  <a:srgbClr val="BF4F4D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dept,  price}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37796" y="3345323"/>
            <a:ext cx="4044435" cy="768807"/>
          </a:xfrm>
          <a:custGeom>
            <a:avLst/>
            <a:gdLst/>
            <a:ahLst/>
            <a:cxnLst/>
            <a:rect l="l" t="t" r="r" b="b"/>
            <a:pathLst>
              <a:path w="2819400" h="535939">
                <a:moveTo>
                  <a:pt x="0" y="0"/>
                </a:moveTo>
                <a:lnTo>
                  <a:pt x="2819394" y="0"/>
                </a:lnTo>
                <a:lnTo>
                  <a:pt x="2819394" y="535528"/>
                </a:lnTo>
                <a:lnTo>
                  <a:pt x="0" y="53552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" name="object 6"/>
          <p:cNvSpPr/>
          <p:nvPr/>
        </p:nvSpPr>
        <p:spPr>
          <a:xfrm>
            <a:off x="5937796" y="4404888"/>
            <a:ext cx="4044435" cy="768807"/>
          </a:xfrm>
          <a:custGeom>
            <a:avLst/>
            <a:gdLst/>
            <a:ahLst/>
            <a:cxnLst/>
            <a:rect l="l" t="t" r="r" b="b"/>
            <a:pathLst>
              <a:path w="2819400" h="535939">
                <a:moveTo>
                  <a:pt x="0" y="0"/>
                </a:moveTo>
                <a:lnTo>
                  <a:pt x="2819394" y="0"/>
                </a:lnTo>
                <a:lnTo>
                  <a:pt x="2819394" y="535523"/>
                </a:lnTo>
                <a:lnTo>
                  <a:pt x="0" y="535523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" name="object 7"/>
          <p:cNvSpPr txBox="1"/>
          <p:nvPr/>
        </p:nvSpPr>
        <p:spPr>
          <a:xfrm>
            <a:off x="6060769" y="2364553"/>
            <a:ext cx="3257410" cy="27424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115359">
              <a:lnSpc>
                <a:spcPts val="2333"/>
              </a:lnSpc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 </a:t>
            </a:r>
            <a:r>
              <a:rPr lang="en-GB" sz="1997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category}</a:t>
            </a:r>
            <a:r>
              <a:rPr lang="en-GB" sz="1926" kern="1200" baseline="30864">
                <a:solidFill>
                  <a:srgbClr val="BF4F4D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26" kern="1200" spc="-10" baseline="30864">
                <a:solidFill>
                  <a:srgbClr val="BF4F4D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=</a:t>
            </a:r>
          </a:p>
          <a:p>
            <a:pPr defTabSz="1115359">
              <a:lnSpc>
                <a:spcPts val="2374"/>
              </a:lnSpc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</a:t>
            </a:r>
            <a:r>
              <a:rPr lang="en-GB" sz="1997" kern="1200" spc="-15">
                <a:solidFill>
                  <a:srgbClr val="BF4F4D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category}</a:t>
            </a:r>
            <a:endParaRPr lang="en-GB" sz="1997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15359">
              <a:spcBef>
                <a:spcPts val="15"/>
              </a:spcBef>
            </a:pPr>
            <a:endParaRPr lang="en-GB" sz="3067" kern="120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defTabSz="1115359">
              <a:lnSpc>
                <a:spcPts val="2374"/>
              </a:lnSpc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 </a:t>
            </a:r>
            <a:r>
              <a:rPr lang="en-GB" sz="1997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category}</a:t>
            </a:r>
            <a:r>
              <a:rPr lang="en-GB" sz="1926" kern="1200" baseline="30864">
                <a:solidFill>
                  <a:srgbClr val="BF4F4D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26" kern="1200" spc="-10" baseline="30864">
                <a:solidFill>
                  <a:srgbClr val="BF4F4D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=</a:t>
            </a:r>
          </a:p>
          <a:p>
            <a:pPr defTabSz="1115359">
              <a:lnSpc>
                <a:spcPts val="2374"/>
              </a:lnSpc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 </a:t>
            </a:r>
            <a:r>
              <a:rPr lang="en-GB" sz="1997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category,</a:t>
            </a:r>
            <a:r>
              <a:rPr lang="en-GB" sz="1997" kern="1200" spc="-35">
                <a:solidFill>
                  <a:srgbClr val="BF4F4D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color}</a:t>
            </a:r>
            <a:endParaRPr lang="en-GB" sz="1997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15359">
              <a:spcBef>
                <a:spcPts val="22"/>
              </a:spcBef>
            </a:pPr>
            <a:endParaRPr lang="en-GB" sz="3067" kern="120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defTabSz="1115359">
              <a:lnSpc>
                <a:spcPts val="2374"/>
              </a:lnSpc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 </a:t>
            </a:r>
            <a:r>
              <a:rPr lang="en-GB" sz="1997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category}</a:t>
            </a:r>
            <a:r>
              <a:rPr lang="en-GB" sz="1926" kern="1200" baseline="30864">
                <a:solidFill>
                  <a:srgbClr val="BF4F4D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26" kern="1200" spc="-10" baseline="30864">
                <a:solidFill>
                  <a:srgbClr val="BF4F4D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=</a:t>
            </a:r>
          </a:p>
          <a:p>
            <a:pPr defTabSz="1115359">
              <a:lnSpc>
                <a:spcPts val="2374"/>
              </a:lnSpc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{name, </a:t>
            </a:r>
            <a:r>
              <a:rPr lang="en-GB" sz="1997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category, color,</a:t>
            </a:r>
            <a:r>
              <a:rPr lang="en-GB" sz="1997" kern="1200" spc="-150">
                <a:solidFill>
                  <a:srgbClr val="BF4F4D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dept}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0383" y="4825053"/>
            <a:ext cx="4166497" cy="1722528"/>
          </a:xfrm>
          <a:custGeom>
            <a:avLst/>
            <a:gdLst/>
            <a:ahLst/>
            <a:cxnLst/>
            <a:rect l="l" t="t" r="r" b="b"/>
            <a:pathLst>
              <a:path w="2904490" h="1200785">
                <a:moveTo>
                  <a:pt x="0" y="0"/>
                </a:moveTo>
                <a:lnTo>
                  <a:pt x="2904294" y="0"/>
                </a:lnTo>
                <a:lnTo>
                  <a:pt x="2904294" y="1200322"/>
                </a:lnTo>
                <a:lnTo>
                  <a:pt x="0" y="1200322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9" name="object 9"/>
          <p:cNvSpPr txBox="1"/>
          <p:nvPr/>
        </p:nvSpPr>
        <p:spPr>
          <a:xfrm>
            <a:off x="716165" y="4519788"/>
            <a:ext cx="2521395" cy="724115"/>
          </a:xfrm>
          <a:prstGeom prst="rect">
            <a:avLst/>
          </a:prstGeom>
        </p:spPr>
        <p:txBody>
          <a:bodyPr vert="horz" wrap="square" lIns="0" tIns="47526" rIns="0" bIns="0" rtlCol="0">
            <a:spAutoFit/>
          </a:bodyPr>
          <a:lstStyle/>
          <a:p>
            <a:pPr marL="18118" defTabSz="1115359">
              <a:spcBef>
                <a:spcPts val="456"/>
              </a:spcBef>
            </a:pP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F</a:t>
            </a:r>
            <a:r>
              <a:rPr lang="en-GB" sz="1997" kern="1200" spc="-15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=</a:t>
            </a:r>
          </a:p>
          <a:p>
            <a:pPr marL="573456" defTabSz="1115359">
              <a:spcBef>
                <a:spcPts val="314"/>
              </a:spcBef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{name}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997" kern="1200" spc="-115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{color}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5128" y="5507265"/>
            <a:ext cx="2246301" cy="327424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8118" defTabSz="1115359">
              <a:spcBef>
                <a:spcPts val="143"/>
              </a:spcBef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{category}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997" kern="1200" spc="-10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{dept}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5128" y="6108459"/>
            <a:ext cx="2996890" cy="327424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8118" defTabSz="1115359">
              <a:spcBef>
                <a:spcPts val="143"/>
              </a:spcBef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{color, </a:t>
            </a:r>
            <a:r>
              <a:rPr lang="en-GB" sz="1997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category}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997" kern="1200" spc="-115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{price}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70383" y="6043230"/>
            <a:ext cx="3256499" cy="636725"/>
          </a:xfrm>
          <a:custGeom>
            <a:avLst/>
            <a:gdLst/>
            <a:ahLst/>
            <a:cxnLst/>
            <a:rect l="l" t="t" r="r" b="b"/>
            <a:pathLst>
              <a:path w="2270125" h="443864">
                <a:moveTo>
                  <a:pt x="2195895" y="443399"/>
                </a:moveTo>
                <a:lnTo>
                  <a:pt x="73899" y="443399"/>
                </a:lnTo>
                <a:lnTo>
                  <a:pt x="45129" y="437593"/>
                </a:lnTo>
                <a:lnTo>
                  <a:pt x="21640" y="421758"/>
                </a:lnTo>
                <a:lnTo>
                  <a:pt x="5805" y="398269"/>
                </a:lnTo>
                <a:lnTo>
                  <a:pt x="0" y="369499"/>
                </a:lnTo>
                <a:lnTo>
                  <a:pt x="0" y="73899"/>
                </a:lnTo>
                <a:lnTo>
                  <a:pt x="5805" y="45140"/>
                </a:lnTo>
                <a:lnTo>
                  <a:pt x="21640" y="21649"/>
                </a:lnTo>
                <a:lnTo>
                  <a:pt x="45129" y="5809"/>
                </a:lnTo>
                <a:lnTo>
                  <a:pt x="73899" y="0"/>
                </a:lnTo>
                <a:lnTo>
                  <a:pt x="2195895" y="0"/>
                </a:lnTo>
                <a:lnTo>
                  <a:pt x="2236894" y="12424"/>
                </a:lnTo>
                <a:lnTo>
                  <a:pt x="2264173" y="45618"/>
                </a:lnTo>
                <a:lnTo>
                  <a:pt x="2269795" y="73899"/>
                </a:lnTo>
                <a:lnTo>
                  <a:pt x="2269795" y="369499"/>
                </a:lnTo>
                <a:lnTo>
                  <a:pt x="2263989" y="398269"/>
                </a:lnTo>
                <a:lnTo>
                  <a:pt x="2248154" y="421758"/>
                </a:lnTo>
                <a:lnTo>
                  <a:pt x="2224665" y="437593"/>
                </a:lnTo>
                <a:lnTo>
                  <a:pt x="2195895" y="443399"/>
                </a:lnTo>
                <a:close/>
              </a:path>
            </a:pathLst>
          </a:custGeom>
          <a:solidFill>
            <a:srgbClr val="3A80BA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3" name="object 13"/>
          <p:cNvSpPr/>
          <p:nvPr/>
        </p:nvSpPr>
        <p:spPr>
          <a:xfrm>
            <a:off x="5858685" y="2127898"/>
            <a:ext cx="4270340" cy="3208220"/>
          </a:xfrm>
          <a:custGeom>
            <a:avLst/>
            <a:gdLst/>
            <a:ahLst/>
            <a:cxnLst/>
            <a:rect l="l" t="t" r="r" b="b"/>
            <a:pathLst>
              <a:path w="2976879" h="2236470">
                <a:moveTo>
                  <a:pt x="0" y="0"/>
                </a:moveTo>
                <a:lnTo>
                  <a:pt x="2976844" y="0"/>
                </a:lnTo>
                <a:lnTo>
                  <a:pt x="2976844" y="2235853"/>
                </a:lnTo>
                <a:lnTo>
                  <a:pt x="0" y="2235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4" name="object 14"/>
          <p:cNvSpPr txBox="1"/>
          <p:nvPr/>
        </p:nvSpPr>
        <p:spPr>
          <a:xfrm>
            <a:off x="1179636" y="2337882"/>
            <a:ext cx="4159209" cy="1945076"/>
          </a:xfrm>
          <a:prstGeom prst="rect">
            <a:avLst/>
          </a:prstGeom>
          <a:ln w="9524">
            <a:solidFill>
              <a:srgbClr val="424242"/>
            </a:solidFill>
          </a:ln>
        </p:spPr>
        <p:txBody>
          <a:bodyPr vert="horz" wrap="square" lIns="0" tIns="92825" rIns="0" bIns="0" rtlCol="0">
            <a:spAutoFit/>
          </a:bodyPr>
          <a:lstStyle/>
          <a:p>
            <a:pPr marL="122301" defTabSz="1115359">
              <a:spcBef>
                <a:spcPts val="892"/>
              </a:spcBef>
            </a:pP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Start with 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X = {A</a:t>
            </a:r>
            <a:r>
              <a:rPr lang="en-GB" sz="1712" kern="120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, …,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A</a:t>
            </a:r>
            <a:r>
              <a:rPr lang="en-GB" sz="1712" kern="1200" spc="-1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n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}, FDs</a:t>
            </a:r>
            <a:r>
              <a:rPr lang="en-GB" sz="1712" kern="1200" spc="-71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F.</a:t>
            </a:r>
            <a:endParaRPr lang="en-GB" sz="1712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2301" defTabSz="1115359">
              <a:spcBef>
                <a:spcPts val="300"/>
              </a:spcBef>
            </a:pPr>
            <a:r>
              <a:rPr lang="en-GB" sz="1712" b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Repeat until 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X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doesn’t 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change;</a:t>
            </a:r>
            <a:r>
              <a:rPr lang="en-GB" sz="1712" kern="1200" spc="-28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12" b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do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:</a:t>
            </a:r>
            <a:endParaRPr lang="en-GB" sz="1712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2301" marR="136796" indent="180279" defTabSz="1115359">
              <a:lnSpc>
                <a:spcPts val="2511"/>
              </a:lnSpc>
              <a:spcBef>
                <a:spcPts val="278"/>
              </a:spcBef>
            </a:pPr>
            <a:r>
              <a:rPr lang="en-GB" sz="1712" b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if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{B</a:t>
            </a:r>
            <a:r>
              <a:rPr lang="en-GB" sz="1712" kern="1200" spc="-1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 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…,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B</a:t>
            </a:r>
            <a:r>
              <a:rPr lang="en-GB" sz="1712" kern="1200" spc="-1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n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}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C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is in 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F </a:t>
            </a:r>
            <a:r>
              <a:rPr lang="en-GB" sz="1712" b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and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{B</a:t>
            </a:r>
            <a:r>
              <a:rPr lang="en-GB" sz="1712" kern="1200" spc="-1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</a:t>
            </a:r>
            <a:r>
              <a:rPr lang="en-GB" sz="1712" kern="1200" spc="-15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…, 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B</a:t>
            </a:r>
            <a:r>
              <a:rPr lang="en-GB" sz="1712" kern="1200" spc="-10" baseline="-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n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} </a:t>
            </a:r>
            <a:r>
              <a:rPr lang="en-GB" sz="1712" kern="1200" spc="271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⊆</a:t>
            </a:r>
            <a:r>
              <a:rPr lang="en-GB" sz="1712" kern="1200" spc="-71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X:</a:t>
            </a:r>
            <a:endParaRPr lang="en-GB" sz="1712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74573" defTabSz="1115359">
              <a:spcBef>
                <a:spcPts val="135"/>
              </a:spcBef>
            </a:pPr>
            <a:r>
              <a:rPr lang="en-GB" sz="1712" b="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then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add 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C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to</a:t>
            </a:r>
            <a:r>
              <a:rPr lang="en-GB" sz="1712" kern="1200" spc="-43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X.</a:t>
            </a:r>
            <a:endParaRPr lang="en-GB" sz="1712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2301" defTabSz="1115359">
              <a:spcBef>
                <a:spcPts val="300"/>
              </a:spcBef>
            </a:pPr>
            <a:r>
              <a:rPr lang="en-GB" sz="1712" b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Return 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X </a:t>
            </a:r>
            <a:r>
              <a:rPr lang="en-GB" sz="1712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as</a:t>
            </a:r>
            <a:r>
              <a:rPr lang="en-GB" sz="1712" kern="1200" spc="-22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71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X</a:t>
            </a:r>
            <a:r>
              <a:rPr lang="en-GB" sz="1712" kern="1200" baseline="31250">
                <a:solidFill>
                  <a:schemeClr val="tx1"/>
                </a:solidFill>
                <a:latin typeface="Arial"/>
                <a:ea typeface="+mn-ea"/>
                <a:cs typeface="Arial"/>
              </a:rPr>
              <a:t>+</a:t>
            </a:r>
            <a:endParaRPr lang="en-GB" sz="1403" baseline="31250">
              <a:latin typeface="Arial"/>
              <a:cs typeface="Arial"/>
            </a:endParaRPr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247C5617-B3C4-FA0D-693A-742742B35184}"/>
              </a:ext>
            </a:extLst>
          </p:cNvPr>
          <p:cNvSpPr txBox="1">
            <a:spLocks/>
          </p:cNvSpPr>
          <p:nvPr/>
        </p:nvSpPr>
        <p:spPr>
          <a:xfrm>
            <a:off x="564374" y="654050"/>
            <a:ext cx="6279679" cy="470635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4852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/>
              <a:t>Transitive </a:t>
            </a:r>
            <a:r>
              <a:rPr lang="en-GB" sz="2961" spc="-213" dirty="0" err="1"/>
              <a:t>Hüllen</a:t>
            </a:r>
            <a:r>
              <a:rPr lang="en-GB" sz="2961" spc="-213" dirty="0"/>
              <a:t> / Closures – Closure Algorithm</a:t>
            </a:r>
            <a:endParaRPr lang="en-GB" spc="-88" dirty="0"/>
          </a:p>
        </p:txBody>
      </p:sp>
    </p:spTree>
    <p:extLst>
      <p:ext uri="{BB962C8B-B14F-4D97-AF65-F5344CB8AC3E}">
        <p14:creationId xmlns:p14="http://schemas.microsoft.com/office/powerpoint/2010/main" val="31562016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856263" y="5484716"/>
            <a:ext cx="3974045" cy="468927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20494" defTabSz="1261636">
              <a:spcBef>
                <a:spcPts val="161"/>
              </a:spcBef>
            </a:pPr>
            <a:r>
              <a:rPr lang="en-GB" sz="2905" spc="-8" dirty="0" err="1">
                <a:latin typeface="Arial"/>
                <a:cs typeface="Arial"/>
              </a:rPr>
              <a:t>Berechne</a:t>
            </a:r>
            <a:r>
              <a:rPr lang="en-GB" sz="2905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{A,B}</a:t>
            </a:r>
            <a:r>
              <a:rPr lang="en-GB" sz="2905" kern="1200" spc="-11" baseline="30092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905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2905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{A,</a:t>
            </a:r>
            <a:r>
              <a:rPr lang="en-GB" sz="2905" kern="1200" spc="-113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905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B,</a:t>
            </a:r>
            <a:endParaRPr lang="en-GB" sz="210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59615" y="5484716"/>
            <a:ext cx="165414" cy="468927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20494" defTabSz="1261636">
              <a:spcBef>
                <a:spcPts val="161"/>
              </a:spcBef>
            </a:pPr>
            <a:r>
              <a:rPr lang="en-GB" sz="2905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}</a:t>
            </a:r>
            <a:endParaRPr lang="en-GB" sz="2105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56263" y="6378565"/>
            <a:ext cx="4035690" cy="468927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20494" defTabSz="1261636">
              <a:spcBef>
                <a:spcPts val="161"/>
              </a:spcBef>
            </a:pPr>
            <a:r>
              <a:rPr lang="en-GB" sz="2905" spc="-8" dirty="0" err="1">
                <a:latin typeface="Arial"/>
                <a:cs typeface="Arial"/>
              </a:rPr>
              <a:t>Berechne</a:t>
            </a:r>
            <a:r>
              <a:rPr lang="en-GB" sz="2905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{A, </a:t>
            </a:r>
            <a:r>
              <a:rPr lang="en-GB" sz="2905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F}</a:t>
            </a:r>
            <a:r>
              <a:rPr lang="en-GB" sz="2905" kern="1200" baseline="30092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905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2905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{A,</a:t>
            </a:r>
            <a:r>
              <a:rPr lang="en-GB" sz="2905" kern="1200" spc="-13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905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F,</a:t>
            </a:r>
            <a:endParaRPr lang="en-GB" sz="2105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21073" y="6378567"/>
            <a:ext cx="165414" cy="468927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20494" defTabSz="1261636">
              <a:spcBef>
                <a:spcPts val="161"/>
              </a:spcBef>
            </a:pPr>
            <a:r>
              <a:rPr lang="en-GB" sz="2905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}</a:t>
            </a:r>
            <a:endParaRPr lang="en-GB" sz="2105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38107" y="3030115"/>
            <a:ext cx="2568540" cy="447081"/>
          </a:xfrm>
          <a:prstGeom prst="rect">
            <a:avLst/>
          </a:prstGeom>
          <a:ln w="9524">
            <a:solidFill>
              <a:srgbClr val="7E7E7E"/>
            </a:solidFill>
          </a:ln>
        </p:spPr>
        <p:txBody>
          <a:bodyPr vert="horz" wrap="square" lIns="0" tIns="34902" rIns="0" bIns="0" rtlCol="0">
            <a:spAutoFit/>
          </a:bodyPr>
          <a:lstStyle/>
          <a:p>
            <a:pPr marL="138341" defTabSz="1261636">
              <a:spcBef>
                <a:spcPts val="380"/>
              </a:spcBef>
            </a:pPr>
            <a:r>
              <a:rPr lang="en-GB" sz="2582" kern="1200" spc="-8">
                <a:solidFill>
                  <a:srgbClr val="ED7C31"/>
                </a:solidFill>
                <a:latin typeface="Arial"/>
                <a:ea typeface="+mn-ea"/>
                <a:cs typeface="Arial"/>
              </a:rPr>
              <a:t>R(A,B,C,D,E,F)</a:t>
            </a:r>
            <a:endParaRPr lang="en-GB" sz="1871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89296" y="3040078"/>
            <a:ext cx="2029147" cy="165034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40843" rIns="0" bIns="0" rtlCol="0">
            <a:spAutoFit/>
          </a:bodyPr>
          <a:lstStyle/>
          <a:p>
            <a:pPr marL="137316" defTabSz="1261636">
              <a:spcBef>
                <a:spcPts val="444"/>
              </a:spcBef>
            </a:pPr>
            <a:r>
              <a:rPr lang="en-GB" sz="2582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{A,B} </a:t>
            </a:r>
            <a:r>
              <a:rPr lang="en-GB" sz="258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582" kern="1200" spc="-137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582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{C}</a:t>
            </a:r>
            <a:endParaRPr lang="en-GB" sz="2582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37316" defTabSz="1261636">
              <a:spcBef>
                <a:spcPts val="48"/>
              </a:spcBef>
            </a:pPr>
            <a:r>
              <a:rPr lang="en-GB" sz="2582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{A,D} </a:t>
            </a:r>
            <a:r>
              <a:rPr lang="en-GB" sz="258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582" kern="1200" spc="-137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582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{E}</a:t>
            </a:r>
            <a:endParaRPr lang="en-GB" sz="2582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37316" defTabSz="1261636">
              <a:spcBef>
                <a:spcPts val="48"/>
              </a:spcBef>
            </a:pPr>
            <a:r>
              <a:rPr lang="en-GB" sz="2582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{B} </a:t>
            </a:r>
            <a:r>
              <a:rPr lang="en-GB" sz="258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582" kern="1200" spc="-4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582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{D}</a:t>
            </a:r>
            <a:endParaRPr lang="en-GB" sz="2582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37316" defTabSz="1261636">
              <a:spcBef>
                <a:spcPts val="48"/>
              </a:spcBef>
            </a:pPr>
            <a:r>
              <a:rPr lang="en-GB" sz="2582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{A,F} </a:t>
            </a:r>
            <a:r>
              <a:rPr lang="en-GB" sz="258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582" kern="1200" spc="-57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582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{B}</a:t>
            </a:r>
            <a:endParaRPr lang="en-GB" sz="1871">
              <a:latin typeface="Arial"/>
              <a:cs typeface="Arial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F15DBD3B-121A-D9D5-8EAE-028BC43EE503}"/>
              </a:ext>
            </a:extLst>
          </p:cNvPr>
          <p:cNvSpPr txBox="1">
            <a:spLocks/>
          </p:cNvSpPr>
          <p:nvPr/>
        </p:nvSpPr>
        <p:spPr>
          <a:xfrm>
            <a:off x="564374" y="654049"/>
            <a:ext cx="6279679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4852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/>
              <a:t>Transitive </a:t>
            </a:r>
            <a:r>
              <a:rPr lang="en-GB" sz="2961" spc="-213" dirty="0" err="1"/>
              <a:t>Hüllen</a:t>
            </a:r>
            <a:r>
              <a:rPr lang="en-GB" sz="2961" spc="-213" dirty="0"/>
              <a:t> / Closures – </a:t>
            </a:r>
            <a:r>
              <a:rPr lang="en-GB" sz="2961" spc="-213" dirty="0" err="1"/>
              <a:t>Beispiel</a:t>
            </a:r>
            <a:endParaRPr lang="en-GB" spc="-88" dirty="0"/>
          </a:p>
        </p:txBody>
      </p:sp>
    </p:spTree>
    <p:extLst>
      <p:ext uri="{BB962C8B-B14F-4D97-AF65-F5344CB8AC3E}">
        <p14:creationId xmlns:p14="http://schemas.microsoft.com/office/powerpoint/2010/main" val="22929236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28725" y="5484716"/>
            <a:ext cx="4815498" cy="468927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20494" defTabSz="1261636">
              <a:spcBef>
                <a:spcPts val="161"/>
              </a:spcBef>
            </a:pPr>
            <a:r>
              <a:rPr lang="en-GB" sz="2905" kern="1200" spc="-8">
                <a:solidFill>
                  <a:schemeClr val="tx1"/>
                </a:solidFill>
                <a:latin typeface="Arial"/>
                <a:ea typeface="+mn-ea"/>
                <a:cs typeface="Arial"/>
              </a:rPr>
              <a:t>Compute {A,B}</a:t>
            </a:r>
            <a:r>
              <a:rPr lang="en-GB" sz="2905" kern="1200" spc="-11" baseline="30092">
                <a:solidFill>
                  <a:schemeClr val="tx1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905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2905" kern="1200" spc="-8">
                <a:solidFill>
                  <a:schemeClr val="tx1"/>
                </a:solidFill>
                <a:latin typeface="Arial"/>
                <a:ea typeface="+mn-ea"/>
                <a:cs typeface="Arial"/>
              </a:rPr>
              <a:t>{A, B, C,</a:t>
            </a:r>
            <a:r>
              <a:rPr lang="en-GB" sz="2905" kern="1200" spc="-113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905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D</a:t>
            </a:r>
            <a:endParaRPr lang="en-GB" sz="2105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66226" y="5484716"/>
            <a:ext cx="165414" cy="468927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20494" defTabSz="1261636">
              <a:spcBef>
                <a:spcPts val="161"/>
              </a:spcBef>
            </a:pPr>
            <a:r>
              <a:rPr lang="en-GB" sz="2905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}</a:t>
            </a:r>
            <a:endParaRPr lang="en-GB" sz="2105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28725" y="6378565"/>
            <a:ext cx="4383983" cy="468927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20494" defTabSz="1261636">
              <a:spcBef>
                <a:spcPts val="161"/>
              </a:spcBef>
            </a:pPr>
            <a:r>
              <a:rPr lang="en-GB" sz="2905" kern="1200" spc="-8">
                <a:solidFill>
                  <a:schemeClr val="tx1"/>
                </a:solidFill>
                <a:latin typeface="Arial"/>
                <a:ea typeface="+mn-ea"/>
                <a:cs typeface="Arial"/>
              </a:rPr>
              <a:t>Compute {A, </a:t>
            </a:r>
            <a:r>
              <a:rPr lang="en-GB" sz="2905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F}</a:t>
            </a:r>
            <a:r>
              <a:rPr lang="en-GB" sz="2905" kern="1200" baseline="30092">
                <a:solidFill>
                  <a:schemeClr val="tx1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905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2905" kern="1200" spc="-8">
                <a:solidFill>
                  <a:schemeClr val="tx1"/>
                </a:solidFill>
                <a:latin typeface="Arial"/>
                <a:ea typeface="+mn-ea"/>
                <a:cs typeface="Arial"/>
              </a:rPr>
              <a:t>{A, F,</a:t>
            </a:r>
            <a:r>
              <a:rPr lang="en-GB" sz="2905" kern="1200" spc="-13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905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B</a:t>
            </a:r>
            <a:endParaRPr lang="en-GB" sz="2105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39502" y="6378567"/>
            <a:ext cx="165414" cy="468927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20494" defTabSz="1261636">
              <a:spcBef>
                <a:spcPts val="161"/>
              </a:spcBef>
            </a:pPr>
            <a:r>
              <a:rPr lang="en-GB" sz="2905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}</a:t>
            </a:r>
            <a:endParaRPr lang="en-GB" sz="2105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0577" y="3030115"/>
            <a:ext cx="2568540" cy="447081"/>
          </a:xfrm>
          <a:prstGeom prst="rect">
            <a:avLst/>
          </a:prstGeom>
          <a:ln w="9524">
            <a:solidFill>
              <a:srgbClr val="7E7E7E"/>
            </a:solidFill>
          </a:ln>
        </p:spPr>
        <p:txBody>
          <a:bodyPr vert="horz" wrap="square" lIns="0" tIns="34902" rIns="0" bIns="0" rtlCol="0">
            <a:spAutoFit/>
          </a:bodyPr>
          <a:lstStyle/>
          <a:p>
            <a:pPr marL="137316" defTabSz="1261636">
              <a:spcBef>
                <a:spcPts val="380"/>
              </a:spcBef>
            </a:pPr>
            <a:r>
              <a:rPr lang="en-GB" sz="2582" kern="1200" spc="-8">
                <a:solidFill>
                  <a:srgbClr val="ED7C31"/>
                </a:solidFill>
                <a:latin typeface="Arial"/>
                <a:ea typeface="+mn-ea"/>
                <a:cs typeface="Arial"/>
              </a:rPr>
              <a:t>R(A,B,C,D,E,F)</a:t>
            </a:r>
            <a:endParaRPr lang="en-GB" sz="1871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61779" y="3040078"/>
            <a:ext cx="2029147" cy="165034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40843" rIns="0" bIns="0" rtlCol="0">
            <a:spAutoFit/>
          </a:bodyPr>
          <a:lstStyle/>
          <a:p>
            <a:pPr marL="137316" defTabSz="1261636">
              <a:spcBef>
                <a:spcPts val="444"/>
              </a:spcBef>
            </a:pPr>
            <a:r>
              <a:rPr lang="en-GB" sz="2582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{A,B} </a:t>
            </a:r>
            <a:r>
              <a:rPr lang="en-GB" sz="258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582" kern="1200" spc="-137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582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{C}</a:t>
            </a:r>
            <a:endParaRPr lang="en-GB" sz="2582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37316" defTabSz="1261636">
              <a:spcBef>
                <a:spcPts val="48"/>
              </a:spcBef>
            </a:pPr>
            <a:r>
              <a:rPr lang="en-GB" sz="2582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{A,D} </a:t>
            </a:r>
            <a:r>
              <a:rPr lang="en-GB" sz="258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582" kern="1200" spc="-137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582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{E}</a:t>
            </a:r>
            <a:endParaRPr lang="en-GB" sz="2582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37316" defTabSz="1261636">
              <a:spcBef>
                <a:spcPts val="48"/>
              </a:spcBef>
            </a:pPr>
            <a:r>
              <a:rPr lang="en-GB" sz="2582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{B} </a:t>
            </a:r>
            <a:r>
              <a:rPr lang="en-GB" sz="258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582" kern="1200" spc="-4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582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{D}</a:t>
            </a:r>
            <a:endParaRPr lang="en-GB" sz="2582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37316" defTabSz="1261636">
              <a:spcBef>
                <a:spcPts val="48"/>
              </a:spcBef>
            </a:pPr>
            <a:r>
              <a:rPr lang="en-GB" sz="2582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{A,F} </a:t>
            </a:r>
            <a:r>
              <a:rPr lang="en-GB" sz="2582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582" kern="1200" spc="-57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582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{B}</a:t>
            </a:r>
            <a:endParaRPr lang="en-GB" sz="1871">
              <a:latin typeface="Arial"/>
              <a:cs typeface="Arial"/>
            </a:endParaRPr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0574283E-DDB0-E118-A2E9-666445A7DB1C}"/>
              </a:ext>
            </a:extLst>
          </p:cNvPr>
          <p:cNvSpPr txBox="1">
            <a:spLocks/>
          </p:cNvSpPr>
          <p:nvPr/>
        </p:nvSpPr>
        <p:spPr>
          <a:xfrm>
            <a:off x="564374" y="654049"/>
            <a:ext cx="6279679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4852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/>
              <a:t>Transitive </a:t>
            </a:r>
            <a:r>
              <a:rPr lang="en-GB" sz="2961" spc="-213" dirty="0" err="1"/>
              <a:t>Hüllen</a:t>
            </a:r>
            <a:r>
              <a:rPr lang="en-GB" sz="2961" spc="-213" dirty="0"/>
              <a:t> / Closures – </a:t>
            </a:r>
            <a:r>
              <a:rPr lang="en-GB" sz="2961" spc="-213" dirty="0" err="1"/>
              <a:t>Beispiel</a:t>
            </a:r>
            <a:endParaRPr lang="en-GB" spc="-88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99467B-0134-3012-59CE-113745C6E6ED}"/>
              </a:ext>
            </a:extLst>
          </p:cNvPr>
          <p:cNvSpPr txBox="1"/>
          <p:nvPr/>
        </p:nvSpPr>
        <p:spPr>
          <a:xfrm>
            <a:off x="8470899" y="2711450"/>
            <a:ext cx="20291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 der </a:t>
            </a:r>
            <a:r>
              <a:rPr lang="en-US" dirty="0" err="1">
                <a:solidFill>
                  <a:srgbClr val="FF0000"/>
                </a:solidFill>
              </a:rPr>
              <a:t>Klausur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 err="1">
                <a:solidFill>
                  <a:srgbClr val="FF0000"/>
                </a:solidFill>
              </a:rPr>
              <a:t>Angabe</a:t>
            </a:r>
            <a:r>
              <a:rPr lang="en-US" dirty="0">
                <a:solidFill>
                  <a:srgbClr val="FF0000"/>
                </a:solidFill>
              </a:rPr>
              <a:t> der </a:t>
            </a:r>
            <a:r>
              <a:rPr lang="en-US" dirty="0" err="1">
                <a:solidFill>
                  <a:srgbClr val="FF0000"/>
                </a:solidFill>
              </a:rPr>
              <a:t>einzelnen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Schritte</a:t>
            </a:r>
            <a:r>
              <a:rPr lang="en-US" dirty="0">
                <a:solidFill>
                  <a:srgbClr val="FF0000"/>
                </a:solidFill>
              </a:rPr>
              <a:t> / FDs die </a:t>
            </a:r>
            <a:r>
              <a:rPr lang="en-US" dirty="0" err="1">
                <a:solidFill>
                  <a:srgbClr val="FF0000"/>
                </a:solidFill>
              </a:rPr>
              <a:t>genutzt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wurden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9303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492201" y="5463467"/>
            <a:ext cx="5875219" cy="1384027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20346" defTabSz="1252494">
              <a:spcBef>
                <a:spcPts val="160"/>
              </a:spcBef>
            </a:pPr>
            <a:r>
              <a:rPr lang="en-GB" sz="2884" spc="-8" dirty="0" err="1">
                <a:latin typeface="Arial"/>
                <a:cs typeface="Arial"/>
              </a:rPr>
              <a:t>Berechne</a:t>
            </a:r>
            <a:r>
              <a:rPr lang="en-GB" sz="2884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{A,B}</a:t>
            </a:r>
            <a:r>
              <a:rPr lang="en-GB" sz="2884" kern="1200" spc="-11" baseline="30092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884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2884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{A, B, C, D,</a:t>
            </a:r>
            <a:r>
              <a:rPr lang="en-GB" sz="2884" kern="1200" spc="-73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884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E}</a:t>
            </a:r>
            <a:endParaRPr lang="en-GB" sz="2884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252494">
              <a:spcBef>
                <a:spcPts val="8"/>
              </a:spcBef>
            </a:pPr>
            <a:endParaRPr lang="en-GB" sz="3044" kern="1200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20346" defTabSz="1252494"/>
            <a:r>
              <a:rPr lang="en-GB" sz="2884" spc="-8" dirty="0" err="1">
                <a:latin typeface="Arial"/>
                <a:cs typeface="Arial"/>
              </a:rPr>
              <a:t>Berechne</a:t>
            </a:r>
            <a:r>
              <a:rPr lang="en-GB" sz="2884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{A, </a:t>
            </a:r>
            <a:r>
              <a:rPr lang="en-GB" sz="2884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F}</a:t>
            </a:r>
            <a:r>
              <a:rPr lang="en-GB" sz="2884" kern="1200" baseline="30092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884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2884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{A, B, C, D, E,</a:t>
            </a:r>
            <a:r>
              <a:rPr lang="en-GB" sz="2884" kern="1200" spc="-129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884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F}</a:t>
            </a:r>
            <a:endParaRPr lang="en-GB" sz="210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74572" y="3019787"/>
            <a:ext cx="2557111" cy="445092"/>
          </a:xfrm>
          <a:prstGeom prst="rect">
            <a:avLst/>
          </a:prstGeom>
          <a:ln w="9524">
            <a:solidFill>
              <a:srgbClr val="7E7E7E"/>
            </a:solidFill>
          </a:ln>
        </p:spPr>
        <p:txBody>
          <a:bodyPr vert="horz" wrap="square" lIns="0" tIns="34902" rIns="0" bIns="0" rtlCol="0">
            <a:spAutoFit/>
          </a:bodyPr>
          <a:lstStyle/>
          <a:p>
            <a:pPr marL="137338" defTabSz="1252494">
              <a:spcBef>
                <a:spcPts val="377"/>
              </a:spcBef>
            </a:pPr>
            <a:r>
              <a:rPr lang="en-GB" sz="2563" kern="1200" spc="-8">
                <a:solidFill>
                  <a:srgbClr val="ED7C31"/>
                </a:solidFill>
                <a:latin typeface="Arial"/>
                <a:ea typeface="+mn-ea"/>
                <a:cs typeface="Arial"/>
              </a:rPr>
              <a:t>R(A,B,C,D,E,F)</a:t>
            </a:r>
            <a:endParaRPr lang="en-GB" sz="1871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09050" y="3029706"/>
            <a:ext cx="2020119" cy="1643002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40843" rIns="0" bIns="0" rtlCol="0">
            <a:spAutoFit/>
          </a:bodyPr>
          <a:lstStyle/>
          <a:p>
            <a:pPr marL="137338" defTabSz="1252494">
              <a:spcBef>
                <a:spcPts val="441"/>
              </a:spcBef>
            </a:pPr>
            <a:r>
              <a:rPr lang="en-GB" sz="2563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{A,B} </a:t>
            </a:r>
            <a:r>
              <a:rPr lang="en-GB" sz="2563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563" kern="1200" spc="-136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563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{C}</a:t>
            </a:r>
            <a:endParaRPr lang="en-GB" sz="2563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37338" defTabSz="1252494">
              <a:spcBef>
                <a:spcPts val="48"/>
              </a:spcBef>
            </a:pPr>
            <a:r>
              <a:rPr lang="en-GB" sz="2563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{A,D} </a:t>
            </a:r>
            <a:r>
              <a:rPr lang="en-GB" sz="2563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563" kern="1200" spc="-136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563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{E}</a:t>
            </a:r>
            <a:endParaRPr lang="en-GB" sz="2563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37338" defTabSz="1252494">
              <a:spcBef>
                <a:spcPts val="48"/>
              </a:spcBef>
            </a:pPr>
            <a:r>
              <a:rPr lang="en-GB" sz="2563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{B} </a:t>
            </a:r>
            <a:r>
              <a:rPr lang="en-GB" sz="2563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563" kern="1200" spc="-4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563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{D}</a:t>
            </a:r>
            <a:endParaRPr lang="en-GB" sz="2563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37338" defTabSz="1252494">
              <a:spcBef>
                <a:spcPts val="48"/>
              </a:spcBef>
            </a:pPr>
            <a:r>
              <a:rPr lang="en-GB" sz="2563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{A,F} </a:t>
            </a:r>
            <a:r>
              <a:rPr lang="en-GB" sz="2563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563" kern="1200" spc="-56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563" kern="1200" spc="-8">
                <a:solidFill>
                  <a:srgbClr val="BF4F4D"/>
                </a:solidFill>
                <a:latin typeface="Arial"/>
                <a:ea typeface="+mn-ea"/>
                <a:cs typeface="Arial"/>
              </a:rPr>
              <a:t>{B}</a:t>
            </a:r>
            <a:endParaRPr lang="en-GB" sz="1871">
              <a:latin typeface="Arial"/>
              <a:cs typeface="Arial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7B36F120-9B00-3DA8-B638-B08DD1F86270}"/>
              </a:ext>
            </a:extLst>
          </p:cNvPr>
          <p:cNvSpPr txBox="1">
            <a:spLocks/>
          </p:cNvSpPr>
          <p:nvPr/>
        </p:nvSpPr>
        <p:spPr>
          <a:xfrm>
            <a:off x="564374" y="654049"/>
            <a:ext cx="6279679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4852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/>
              <a:t>Transitive </a:t>
            </a:r>
            <a:r>
              <a:rPr lang="en-GB" sz="2961" spc="-213" dirty="0" err="1"/>
              <a:t>Hüllen</a:t>
            </a:r>
            <a:r>
              <a:rPr lang="en-GB" sz="2961" spc="-213" dirty="0"/>
              <a:t> / Closures – </a:t>
            </a:r>
            <a:r>
              <a:rPr lang="en-GB" sz="2961" spc="-213" dirty="0" err="1"/>
              <a:t>Beispiel</a:t>
            </a:r>
            <a:endParaRPr lang="en-GB" spc="-88" dirty="0"/>
          </a:p>
        </p:txBody>
      </p:sp>
    </p:spTree>
    <p:extLst>
      <p:ext uri="{BB962C8B-B14F-4D97-AF65-F5344CB8AC3E}">
        <p14:creationId xmlns:p14="http://schemas.microsoft.com/office/powerpoint/2010/main" val="36298288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1C815-09B7-C961-D824-66AB0E892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14833"/>
            <a:ext cx="7848600" cy="634667"/>
          </a:xfrm>
        </p:spPr>
        <p:txBody>
          <a:bodyPr/>
          <a:lstStyle/>
          <a:p>
            <a:r>
              <a:rPr lang="en-US" sz="3200" dirty="0"/>
              <a:t>(</a:t>
            </a:r>
            <a:r>
              <a:rPr lang="en-US" sz="3200" dirty="0" err="1"/>
              <a:t>Kanonische</a:t>
            </a:r>
            <a:r>
              <a:rPr lang="en-US" sz="3200" dirty="0"/>
              <a:t>) </a:t>
            </a:r>
            <a:r>
              <a:rPr lang="en-US" sz="3200" dirty="0" err="1"/>
              <a:t>Überdeckung</a:t>
            </a:r>
            <a:r>
              <a:rPr lang="en-US" sz="3200" dirty="0"/>
              <a:t>, </a:t>
            </a:r>
            <a:r>
              <a:rPr lang="en-US" sz="3200" dirty="0" err="1"/>
              <a:t>Superkeys</a:t>
            </a:r>
            <a:r>
              <a:rPr lang="en-US" sz="3200" dirty="0"/>
              <a:t> &amp; Keys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84856EB2-9AA4-EC0A-56BD-252E07110EA8}"/>
              </a:ext>
            </a:extLst>
          </p:cNvPr>
          <p:cNvSpPr txBox="1"/>
          <p:nvPr/>
        </p:nvSpPr>
        <p:spPr>
          <a:xfrm>
            <a:off x="774700" y="2101850"/>
            <a:ext cx="8508365" cy="3541995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Soweit </a:t>
            </a:r>
          </a:p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spc="-5" dirty="0">
                <a:latin typeface="Tahoma"/>
                <a:cs typeface="Tahoma"/>
              </a:rPr>
              <a:t>Möglicherweise sehr große Anzahl von FDs</a:t>
            </a:r>
          </a:p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spc="-5" dirty="0">
                <a:latin typeface="Tahoma"/>
                <a:cs typeface="Tahoma"/>
              </a:rPr>
              <a:t> Berechnet </a:t>
            </a:r>
            <a:r>
              <a:rPr lang="de-DE" sz="2400" spc="-5" dirty="0" err="1">
                <a:latin typeface="Tahoma"/>
                <a:cs typeface="Tahoma"/>
              </a:rPr>
              <a:t>mittles</a:t>
            </a:r>
            <a:r>
              <a:rPr lang="de-DE" sz="2400" spc="-5" dirty="0">
                <a:latin typeface="Tahoma"/>
                <a:cs typeface="Tahoma"/>
              </a:rPr>
              <a:t> transitive Hülle (</a:t>
            </a:r>
            <a:r>
              <a:rPr lang="de-DE" sz="2400" spc="-5" dirty="0" err="1">
                <a:latin typeface="Tahoma"/>
                <a:cs typeface="Tahoma"/>
              </a:rPr>
              <a:t>Closure</a:t>
            </a:r>
            <a:r>
              <a:rPr lang="de-DE" sz="2400" spc="-5" dirty="0">
                <a:latin typeface="Tahoma"/>
                <a:cs typeface="Tahoma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Idealerweise</a:t>
            </a:r>
            <a:r>
              <a:rPr lang="de-DE" sz="2400" spc="-5" dirty="0">
                <a:latin typeface="Tahoma"/>
                <a:cs typeface="Tahoma"/>
              </a:rPr>
              <a:t> gibt es dann eine einfach Basis aus der alles abgeleitet werden kann </a:t>
            </a:r>
          </a:p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Tahoma"/>
              <a:buChar char="•"/>
              <a:tabLst>
                <a:tab pos="152400" algn="l"/>
              </a:tabLst>
            </a:pP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und die dann Ausgangspunkt für die </a:t>
            </a:r>
            <a:r>
              <a:rPr lang="de-DE" sz="2400" spc="-5" dirty="0" err="1">
                <a:latin typeface="Tahoma"/>
                <a:cs typeface="Tahoma"/>
              </a:rPr>
              <a:t>anomalievermeidenden</a:t>
            </a:r>
            <a:r>
              <a:rPr lang="de-DE" sz="2400" spc="-5" dirty="0">
                <a:latin typeface="Tahoma"/>
                <a:cs typeface="Tahoma"/>
              </a:rPr>
              <a:t> Zerlegungen sein kann</a:t>
            </a:r>
            <a:endParaRPr sz="2400" b="1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52758467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440" y="709004"/>
            <a:ext cx="8237406" cy="436503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18267" defTabSz="986392">
              <a:lnSpc>
                <a:spcPct val="100000"/>
              </a:lnSpc>
              <a:spcBef>
                <a:spcPts val="144"/>
              </a:spcBef>
            </a:pPr>
            <a:r>
              <a:rPr lang="en-GB" sz="2697" b="0" i="0" kern="1200" spc="-144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Closure </a:t>
            </a:r>
            <a:r>
              <a:rPr lang="en-GB" sz="2697" b="0" i="0" kern="1200" spc="-108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to </a:t>
            </a:r>
            <a:r>
              <a:rPr lang="en-GB" sz="2697" spc="-303" dirty="0" err="1"/>
              <a:t>zur</a:t>
            </a:r>
            <a:r>
              <a:rPr lang="en-GB" sz="2697" spc="-303" dirty="0"/>
              <a:t> </a:t>
            </a:r>
            <a:r>
              <a:rPr lang="en-GB" sz="2697" spc="-303" dirty="0" err="1"/>
              <a:t>Bestimmung</a:t>
            </a:r>
            <a:r>
              <a:rPr lang="en-GB" sz="2697" spc="-303" dirty="0"/>
              <a:t>  </a:t>
            </a:r>
            <a:r>
              <a:rPr lang="en-GB" sz="2697" spc="-303" dirty="0" err="1"/>
              <a:t>aller</a:t>
            </a:r>
            <a:r>
              <a:rPr lang="en-GB" sz="2697" spc="-303" dirty="0"/>
              <a:t> </a:t>
            </a:r>
            <a:r>
              <a:rPr lang="en-GB" sz="2697" b="0" i="0" kern="1200" spc="-604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697" b="0" i="0" kern="1200" spc="-108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FDs – </a:t>
            </a:r>
            <a:r>
              <a:rPr lang="en-GB" sz="2697" b="0" i="0" kern="1200" spc="-108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noch</a:t>
            </a:r>
            <a:r>
              <a:rPr lang="en-GB" sz="2697" b="0" i="0" kern="1200" spc="-108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697" b="0" i="0" kern="1200" spc="-108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ein</a:t>
            </a:r>
            <a:r>
              <a:rPr lang="en-GB" sz="2697" b="0" i="0" kern="1200" spc="-108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697" b="0" i="0" kern="1200" spc="-108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Beispiel</a:t>
            </a:r>
            <a:endParaRPr lang="en-GB" spc="-88" dirty="0"/>
          </a:p>
        </p:txBody>
      </p:sp>
      <p:sp>
        <p:nvSpPr>
          <p:cNvPr id="3" name="object 3"/>
          <p:cNvSpPr txBox="1"/>
          <p:nvPr/>
        </p:nvSpPr>
        <p:spPr>
          <a:xfrm>
            <a:off x="8354515" y="1847231"/>
            <a:ext cx="1479735" cy="98883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66834" rIns="0" bIns="0" rtlCol="0">
            <a:spAutoFit/>
          </a:bodyPr>
          <a:lstStyle/>
          <a:p>
            <a:pPr marL="122390" defTabSz="1124502">
              <a:lnSpc>
                <a:spcPts val="2394"/>
              </a:lnSpc>
              <a:spcBef>
                <a:spcPts val="647"/>
              </a:spcBef>
            </a:pPr>
            <a:r>
              <a:rPr lang="en-GB" sz="2014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{A,B} </a:t>
            </a:r>
            <a:r>
              <a:rPr lang="en-GB" sz="2014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014" kern="1200" spc="-129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</a:t>
            </a:r>
            <a:endParaRPr lang="en-GB" sz="2014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2390" defTabSz="1124502">
              <a:lnSpc>
                <a:spcPts val="2374"/>
              </a:lnSpc>
            </a:pPr>
            <a:r>
              <a:rPr lang="en-GB" sz="2014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{A,D} </a:t>
            </a:r>
            <a:r>
              <a:rPr lang="en-GB" sz="2014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014" kern="1200" spc="-129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B</a:t>
            </a:r>
            <a:endParaRPr lang="en-GB" sz="2014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2390" defTabSz="1124502">
              <a:lnSpc>
                <a:spcPts val="2394"/>
              </a:lnSpc>
              <a:tabLst>
                <a:tab pos="676798" algn="l"/>
              </a:tabLst>
            </a:pPr>
            <a:r>
              <a:rPr lang="en-GB" sz="2014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{B}	</a:t>
            </a:r>
            <a:r>
              <a:rPr lang="en-GB" sz="2014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014" kern="1200" spc="-36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D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09368" y="1829384"/>
            <a:ext cx="998753" cy="636939"/>
          </a:xfrm>
          <a:prstGeom prst="rect">
            <a:avLst/>
          </a:prstGeom>
        </p:spPr>
        <p:txBody>
          <a:bodyPr vert="horz" wrap="square" lIns="0" tIns="26734" rIns="0" bIns="0" rtlCol="0">
            <a:spAutoFit/>
          </a:bodyPr>
          <a:lstStyle/>
          <a:p>
            <a:pPr marL="18267" marR="7307" defTabSz="1124502">
              <a:lnSpc>
                <a:spcPts val="2374"/>
              </a:lnSpc>
              <a:spcBef>
                <a:spcPts val="258"/>
              </a:spcBef>
            </a:pPr>
            <a:r>
              <a:rPr lang="en-GB" sz="2014" u="heavy" kern="1200" spc="-116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+mn-cs"/>
              </a:rPr>
              <a:t>Example: </a:t>
            </a:r>
            <a:r>
              <a:rPr lang="en-GB" sz="2014" kern="1200" spc="-7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014" kern="1200" spc="-93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Given </a:t>
            </a:r>
            <a:r>
              <a:rPr lang="en-GB" sz="2014" kern="1200" spc="-13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F</a:t>
            </a:r>
            <a:r>
              <a:rPr lang="en-GB" sz="2014" kern="1200" spc="-33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014" kern="1200" spc="-5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=</a:t>
            </a:r>
            <a:endParaRPr lang="en-GB" sz="1637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2061" y="2258741"/>
            <a:ext cx="5843529" cy="375118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8267" defTabSz="1124502">
              <a:spcBef>
                <a:spcPts val="144"/>
              </a:spcBef>
            </a:pPr>
            <a:r>
              <a:rPr lang="en-GB" sz="2301" kern="1200" spc="-10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Step</a:t>
            </a:r>
            <a:r>
              <a:rPr lang="en-GB" sz="2301" kern="1200" spc="-18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14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1:</a:t>
            </a:r>
            <a:r>
              <a:rPr lang="en-GB" sz="2301" kern="1200" spc="-18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10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Compute</a:t>
            </a:r>
            <a:r>
              <a:rPr lang="en-GB" sz="2301" kern="1200" spc="-17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12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</a:t>
            </a:r>
            <a:r>
              <a:rPr lang="en-GB" sz="2266" kern="1200" spc="-194" baseline="31746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+</a:t>
            </a:r>
            <a:r>
              <a:rPr lang="en-GB" sz="2301" kern="1200" spc="-12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,</a:t>
            </a:r>
            <a:r>
              <a:rPr lang="en-GB" sz="2301" kern="1200" spc="-18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93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for</a:t>
            </a:r>
            <a:r>
              <a:rPr lang="en-GB" sz="2301" kern="1200" spc="-17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10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every</a:t>
            </a:r>
            <a:r>
              <a:rPr lang="en-GB" sz="2301" kern="1200" spc="-18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10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set</a:t>
            </a:r>
            <a:r>
              <a:rPr lang="en-GB" sz="2301" kern="1200" spc="-17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93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of</a:t>
            </a:r>
            <a:r>
              <a:rPr lang="en-GB" sz="2301" kern="1200" spc="-18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10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attributes</a:t>
            </a:r>
            <a:r>
              <a:rPr lang="en-GB" sz="2301" kern="1200" spc="-17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16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X:</a:t>
            </a:r>
            <a:endParaRPr lang="en-GB" sz="1871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6697" y="2914308"/>
            <a:ext cx="7216582" cy="3076352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426" rIns="0" bIns="0" rtlCol="0">
            <a:spAutoFit/>
          </a:bodyPr>
          <a:lstStyle/>
          <a:p>
            <a:pPr defTabSz="1124502">
              <a:spcBef>
                <a:spcPts val="71"/>
              </a:spcBef>
            </a:pPr>
            <a:endParaRPr lang="en-GB" sz="1942" kern="120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123304" defTabSz="1124502">
              <a:lnSpc>
                <a:spcPts val="2394"/>
              </a:lnSpc>
              <a:spcBef>
                <a:spcPts val="7"/>
              </a:spcBef>
            </a:pP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{A}</a:t>
            </a:r>
            <a:r>
              <a:rPr lang="en-GB" sz="1942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 {A}</a:t>
            </a:r>
            <a:endParaRPr lang="en-GB" sz="2014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3304" defTabSz="1124502">
              <a:lnSpc>
                <a:spcPts val="2374"/>
              </a:lnSpc>
            </a:pP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{B}</a:t>
            </a:r>
            <a:r>
              <a:rPr lang="en-GB" sz="1942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 {B,D}</a:t>
            </a:r>
            <a:endParaRPr lang="en-GB" sz="2014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3304" defTabSz="1124502">
              <a:lnSpc>
                <a:spcPts val="2374"/>
              </a:lnSpc>
            </a:pP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{C}</a:t>
            </a:r>
            <a:r>
              <a:rPr lang="en-GB" sz="1942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2014" kern="1200" spc="-137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{C}</a:t>
            </a:r>
            <a:endParaRPr lang="en-GB" sz="2014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3304" defTabSz="1124502">
              <a:lnSpc>
                <a:spcPts val="2374"/>
              </a:lnSpc>
            </a:pP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{D}</a:t>
            </a:r>
            <a:r>
              <a:rPr lang="en-GB" sz="1942" kern="1200" baseline="33950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2014" kern="1200" spc="-137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{D}</a:t>
            </a:r>
            <a:endParaRPr lang="en-GB" sz="2014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3304" defTabSz="1124502">
              <a:lnSpc>
                <a:spcPts val="2374"/>
              </a:lnSpc>
            </a:pP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{A,B}</a:t>
            </a:r>
            <a:r>
              <a:rPr lang="en-GB" sz="1942" kern="1200" spc="-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</a:t>
            </a:r>
            <a:endParaRPr lang="en-GB" sz="2014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3304" defTabSz="1124502">
              <a:lnSpc>
                <a:spcPts val="2374"/>
              </a:lnSpc>
            </a:pP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{A,C}</a:t>
            </a:r>
            <a:r>
              <a:rPr lang="en-GB" sz="1942" kern="1200" spc="-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{A,C}</a:t>
            </a:r>
            <a:endParaRPr lang="en-GB" sz="2014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3304" defTabSz="1124502">
              <a:lnSpc>
                <a:spcPts val="2374"/>
              </a:lnSpc>
            </a:pP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{A,D}</a:t>
            </a:r>
            <a:r>
              <a:rPr lang="en-GB" sz="1942" kern="1200" spc="-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</a:t>
            </a:r>
            <a:endParaRPr lang="en-GB" sz="2014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3304" defTabSz="1124502">
              <a:lnSpc>
                <a:spcPts val="2374"/>
              </a:lnSpc>
            </a:pP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{A,B,C}</a:t>
            </a:r>
            <a:r>
              <a:rPr lang="en-GB" sz="1942" kern="1200" spc="-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{A,B,D}</a:t>
            </a:r>
            <a:r>
              <a:rPr lang="en-GB" sz="1942" kern="1200" spc="-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{A,C,D}</a:t>
            </a:r>
            <a:r>
              <a:rPr lang="en-GB" sz="1942" kern="1200" spc="-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{B,C,D}</a:t>
            </a:r>
            <a:r>
              <a:rPr lang="en-GB" sz="1942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2014" kern="1200" spc="-202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{B,C,D}</a:t>
            </a:r>
            <a:endParaRPr lang="en-GB" sz="2014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3304" defTabSz="1124502">
              <a:lnSpc>
                <a:spcPts val="2394"/>
              </a:lnSpc>
            </a:pP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</a:t>
            </a:r>
            <a:r>
              <a:rPr lang="en-GB" sz="1942" kern="1200" spc="-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0A40B0A2-E61D-D040-A8E4-5DD453A2CFEB}"/>
              </a:ext>
            </a:extLst>
          </p:cNvPr>
          <p:cNvSpPr txBox="1"/>
          <p:nvPr/>
        </p:nvSpPr>
        <p:spPr>
          <a:xfrm>
            <a:off x="8163233" y="5607050"/>
            <a:ext cx="1937726" cy="663543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47526" rIns="0" bIns="0" rtlCol="0">
            <a:spAutoFit/>
          </a:bodyPr>
          <a:lstStyle/>
          <a:p>
            <a:pPr marL="122390" marR="198199" defTabSz="1124502">
              <a:lnSpc>
                <a:spcPts val="2374"/>
              </a:lnSpc>
              <a:spcBef>
                <a:spcPts val="460"/>
              </a:spcBef>
            </a:pPr>
            <a:r>
              <a:rPr lang="en-GB" sz="2014" kern="1200" spc="-7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Fehlt</a:t>
            </a:r>
            <a:r>
              <a:rPr lang="en-GB" sz="2014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 spc="-7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hier</a:t>
            </a:r>
            <a:r>
              <a:rPr lang="en-GB" sz="2014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was?</a:t>
            </a:r>
            <a:endParaRPr lang="en-GB" sz="163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38365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8247" y="733041"/>
            <a:ext cx="8160035" cy="384329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18118" defTabSz="978373">
              <a:lnSpc>
                <a:spcPct val="100000"/>
              </a:lnSpc>
              <a:spcBef>
                <a:spcPts val="143"/>
              </a:spcBef>
            </a:pPr>
            <a:r>
              <a:rPr lang="en-GB" sz="2400" b="0" i="0" kern="1200" spc="-144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Closure </a:t>
            </a:r>
            <a:r>
              <a:rPr lang="en-GB" sz="2400" b="0" i="0" kern="1200" spc="-108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to </a:t>
            </a:r>
            <a:r>
              <a:rPr lang="en-GB" sz="2400" spc="-303" dirty="0" err="1"/>
              <a:t>zur</a:t>
            </a:r>
            <a:r>
              <a:rPr lang="en-GB" sz="2400" spc="-303" dirty="0"/>
              <a:t> </a:t>
            </a:r>
            <a:r>
              <a:rPr lang="en-GB" sz="2400" spc="-303" dirty="0" err="1"/>
              <a:t>Bestimmung</a:t>
            </a:r>
            <a:r>
              <a:rPr lang="en-GB" sz="2400" spc="-303" dirty="0"/>
              <a:t>  </a:t>
            </a:r>
            <a:r>
              <a:rPr lang="en-GB" sz="2400" spc="-303" dirty="0" err="1"/>
              <a:t>aller</a:t>
            </a:r>
            <a:r>
              <a:rPr lang="en-GB" sz="2400" spc="-303" dirty="0"/>
              <a:t> </a:t>
            </a:r>
            <a:r>
              <a:rPr lang="en-GB" sz="2400" b="0" i="0" kern="1200" spc="-604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400" b="0" i="0" kern="1200" spc="-108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FDs - </a:t>
            </a:r>
            <a:r>
              <a:rPr lang="en-GB" sz="2400" b="0" i="0" kern="1200" spc="-108" baseline="0" dirty="0" err="1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ein</a:t>
            </a:r>
            <a:r>
              <a:rPr lang="en-GB" sz="2400" spc="-108" dirty="0"/>
              <a:t> </a:t>
            </a:r>
            <a:r>
              <a:rPr lang="en-GB" sz="2400" spc="-108" dirty="0" err="1"/>
              <a:t>Ansatu</a:t>
            </a:r>
            <a:endParaRPr lang="en-GB" spc="-88" dirty="0"/>
          </a:p>
        </p:txBody>
      </p:sp>
      <p:sp>
        <p:nvSpPr>
          <p:cNvPr id="3" name="object 3"/>
          <p:cNvSpPr txBox="1"/>
          <p:nvPr/>
        </p:nvSpPr>
        <p:spPr>
          <a:xfrm>
            <a:off x="8391777" y="1836540"/>
            <a:ext cx="1465836" cy="979551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66834" rIns="0" bIns="0" rtlCol="0">
            <a:spAutoFit/>
          </a:bodyPr>
          <a:lstStyle/>
          <a:p>
            <a:pPr marL="122301" defTabSz="1115359">
              <a:lnSpc>
                <a:spcPts val="2374"/>
              </a:lnSpc>
              <a:spcBef>
                <a:spcPts val="642"/>
              </a:spcBef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{A,B}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997" kern="1200" spc="-128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</a:t>
            </a:r>
            <a:endParaRPr lang="en-GB" sz="1997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2301" defTabSz="1115359">
              <a:lnSpc>
                <a:spcPts val="2355"/>
              </a:lnSpc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{A,D} 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997" kern="1200" spc="-128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B</a:t>
            </a:r>
            <a:endParaRPr lang="en-GB" sz="1997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2301" defTabSz="1115359">
              <a:lnSpc>
                <a:spcPts val="2374"/>
              </a:lnSpc>
              <a:tabLst>
                <a:tab pos="671295" algn="l"/>
              </a:tabLst>
            </a:pPr>
            <a:r>
              <a:rPr lang="en-GB" sz="1997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{B}	</a:t>
            </a:r>
            <a:r>
              <a:rPr lang="en-GB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997" kern="1200" spc="-35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D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58358" y="1818860"/>
            <a:ext cx="989372" cy="630956"/>
          </a:xfrm>
          <a:prstGeom prst="rect">
            <a:avLst/>
          </a:prstGeom>
        </p:spPr>
        <p:txBody>
          <a:bodyPr vert="horz" wrap="square" lIns="0" tIns="26734" rIns="0" bIns="0" rtlCol="0">
            <a:spAutoFit/>
          </a:bodyPr>
          <a:lstStyle/>
          <a:p>
            <a:pPr marL="18118" marR="7248" defTabSz="1115359">
              <a:lnSpc>
                <a:spcPts val="2355"/>
              </a:lnSpc>
              <a:spcBef>
                <a:spcPts val="256"/>
              </a:spcBef>
            </a:pPr>
            <a:r>
              <a:rPr lang="en-GB" sz="1997" u="heavy" kern="1200" spc="-115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+mn-cs"/>
              </a:rPr>
              <a:t>Example: </a:t>
            </a:r>
            <a:r>
              <a:rPr lang="en-GB" sz="1997" kern="1200" spc="-7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1997" kern="1200" spc="-93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Given </a:t>
            </a:r>
            <a:r>
              <a:rPr lang="en-GB" sz="1997" kern="1200" spc="-135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F</a:t>
            </a:r>
            <a:r>
              <a:rPr lang="en-GB" sz="1997" kern="1200" spc="-336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1997" kern="1200" spc="-5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=</a:t>
            </a:r>
            <a:endParaRPr lang="en-GB" sz="1637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984" y="2298846"/>
            <a:ext cx="5752201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115359">
              <a:lnSpc>
                <a:spcPts val="2453"/>
              </a:lnSpc>
              <a:spcAft>
                <a:spcPts val="600"/>
              </a:spcAft>
            </a:pPr>
            <a:r>
              <a:rPr lang="en-GB" sz="2283" kern="1200" spc="-10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Step</a:t>
            </a:r>
            <a:r>
              <a:rPr lang="en-GB" sz="2283" kern="1200" spc="-17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 spc="-143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1:</a:t>
            </a:r>
            <a:r>
              <a:rPr lang="en-GB" sz="2283" kern="1200" spc="-17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 spc="-10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Compute</a:t>
            </a:r>
            <a:r>
              <a:rPr lang="en-GB" sz="2283" kern="1200" spc="-17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 spc="-12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</a:t>
            </a:r>
            <a:r>
              <a:rPr lang="en-GB" sz="2247" kern="1200" spc="-193" baseline="31746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+</a:t>
            </a:r>
            <a:r>
              <a:rPr lang="en-GB" sz="2283" kern="1200" spc="-12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,</a:t>
            </a:r>
            <a:r>
              <a:rPr lang="en-GB" sz="2283" kern="1200" spc="-17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 spc="-93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for</a:t>
            </a:r>
            <a:r>
              <a:rPr lang="en-GB" sz="2283" kern="1200" spc="-17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 spc="-10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every</a:t>
            </a:r>
            <a:r>
              <a:rPr lang="en-GB" sz="2283" kern="1200" spc="-17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 spc="-10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set</a:t>
            </a:r>
            <a:r>
              <a:rPr lang="en-GB" sz="2283" kern="1200" spc="-17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 spc="-93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of</a:t>
            </a:r>
            <a:r>
              <a:rPr lang="en-GB" sz="2283" kern="1200" spc="-17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 spc="-10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attributes</a:t>
            </a:r>
            <a:r>
              <a:rPr lang="en-GB" sz="2283" kern="1200" spc="-17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 spc="-16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X:</a:t>
            </a:r>
            <a:endParaRPr lang="en-GB" sz="1871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5991" y="3013716"/>
            <a:ext cx="7148799" cy="1594483"/>
          </a:xfrm>
          <a:custGeom>
            <a:avLst/>
            <a:gdLst/>
            <a:ahLst/>
            <a:cxnLst/>
            <a:rect l="l" t="t" r="r" b="b"/>
            <a:pathLst>
              <a:path w="4982845" h="979169">
                <a:moveTo>
                  <a:pt x="0" y="0"/>
                </a:moveTo>
                <a:lnTo>
                  <a:pt x="4982809" y="0"/>
                </a:lnTo>
                <a:lnTo>
                  <a:pt x="4982809" y="978733"/>
                </a:lnTo>
                <a:lnTo>
                  <a:pt x="0" y="978733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7" name="object 7"/>
          <p:cNvSpPr txBox="1"/>
          <p:nvPr/>
        </p:nvSpPr>
        <p:spPr>
          <a:xfrm>
            <a:off x="878984" y="3109794"/>
            <a:ext cx="6257818" cy="14304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115359">
              <a:lnSpc>
                <a:spcPts val="2333"/>
              </a:lnSpc>
              <a:spcAft>
                <a:spcPts val="600"/>
              </a:spcAft>
            </a:pPr>
            <a:r>
              <a:rPr lang="en-GB" sz="1997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{A}</a:t>
            </a:r>
            <a:r>
              <a:rPr lang="en-GB" sz="1926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26" kern="1200" spc="-182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 {A},</a:t>
            </a:r>
            <a:r>
              <a:rPr lang="en-GB" sz="1997" kern="1200" spc="-15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 spc="7">
                <a:solidFill>
                  <a:srgbClr val="BF0000"/>
                </a:solidFill>
                <a:latin typeface="Arial"/>
                <a:ea typeface="+mn-ea"/>
                <a:cs typeface="Arial"/>
              </a:rPr>
              <a:t>{B}</a:t>
            </a:r>
            <a:r>
              <a:rPr lang="en-GB" sz="1926" kern="1200" spc="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26" kern="1200" spc="-171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 {B,D},</a:t>
            </a:r>
            <a:r>
              <a:rPr lang="en-GB" sz="1997" kern="1200" spc="-15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 spc="7">
                <a:solidFill>
                  <a:srgbClr val="BF0000"/>
                </a:solidFill>
                <a:latin typeface="Arial"/>
                <a:ea typeface="+mn-ea"/>
                <a:cs typeface="Arial"/>
              </a:rPr>
              <a:t>{C}</a:t>
            </a:r>
            <a:r>
              <a:rPr lang="en-GB" sz="1926" kern="1200" spc="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26" kern="1200" spc="-171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 {C},</a:t>
            </a:r>
            <a:r>
              <a:rPr lang="en-GB" sz="1997" kern="1200" spc="-15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 spc="7">
                <a:solidFill>
                  <a:srgbClr val="BF0000"/>
                </a:solidFill>
                <a:latin typeface="Arial"/>
                <a:ea typeface="+mn-ea"/>
                <a:cs typeface="Arial"/>
              </a:rPr>
              <a:t>{D}</a:t>
            </a:r>
            <a:r>
              <a:rPr lang="en-GB" sz="1926" kern="1200" spc="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26" kern="1200" spc="-171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1997" kern="1200" spc="-15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{D}, </a:t>
            </a:r>
            <a:r>
              <a:rPr lang="en-GB" sz="1997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{A,B}</a:t>
            </a:r>
            <a:r>
              <a:rPr lang="en-GB" sz="1926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26" kern="1200" spc="-171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endParaRPr lang="en-GB" sz="1997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15359">
              <a:lnSpc>
                <a:spcPts val="2355"/>
              </a:lnSpc>
              <a:spcAft>
                <a:spcPts val="600"/>
              </a:spcAft>
            </a:pPr>
            <a:r>
              <a:rPr lang="en-GB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{A,B,C,D}, </a:t>
            </a:r>
            <a:r>
              <a:rPr lang="en-GB" sz="1997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{A,C}</a:t>
            </a:r>
            <a:r>
              <a:rPr lang="en-GB" sz="1926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97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{A,C}, </a:t>
            </a:r>
            <a:r>
              <a:rPr lang="en-GB" sz="1997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{A,D}</a:t>
            </a:r>
            <a:r>
              <a:rPr lang="en-GB" sz="1926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97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{A,B,C,D},</a:t>
            </a:r>
            <a:r>
              <a:rPr lang="en-GB" sz="1997" kern="1200" spc="-393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{A,B,C}</a:t>
            </a:r>
            <a:r>
              <a:rPr lang="en-GB" sz="1926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97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endParaRPr lang="en-GB" sz="1997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15359">
              <a:lnSpc>
                <a:spcPts val="2355"/>
              </a:lnSpc>
              <a:spcAft>
                <a:spcPts val="600"/>
              </a:spcAft>
            </a:pPr>
            <a:r>
              <a:rPr lang="en-GB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{A,B,D}</a:t>
            </a:r>
            <a:r>
              <a:rPr lang="en-GB" sz="1926" kern="1200" spc="-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97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{A,C,D}</a:t>
            </a:r>
            <a:r>
              <a:rPr lang="en-GB" sz="1926" kern="1200" spc="-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97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{A,B,C,D}, </a:t>
            </a:r>
            <a:r>
              <a:rPr lang="en-GB" sz="1997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{B,C,D}</a:t>
            </a:r>
            <a:r>
              <a:rPr lang="en-GB" sz="1926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97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1997" kern="1200" spc="-356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{B,C,D},</a:t>
            </a:r>
            <a:endParaRPr lang="en-GB" sz="1997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15359">
              <a:lnSpc>
                <a:spcPts val="2374"/>
              </a:lnSpc>
              <a:spcAft>
                <a:spcPts val="600"/>
              </a:spcAft>
            </a:pPr>
            <a:r>
              <a:rPr lang="en-GB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</a:t>
            </a:r>
            <a:r>
              <a:rPr lang="en-GB" sz="1926" kern="1200" spc="-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97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1240" y="4857622"/>
            <a:ext cx="6931975" cy="371595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8118" defTabSz="1115359">
              <a:spcBef>
                <a:spcPts val="143"/>
              </a:spcBef>
            </a:pPr>
            <a:r>
              <a:rPr lang="en-GB" sz="2283" kern="1200" spc="-10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Step</a:t>
            </a:r>
            <a:r>
              <a:rPr lang="en-GB" sz="2283" kern="1200" spc="-185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 spc="-143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2:</a:t>
            </a:r>
            <a:r>
              <a:rPr lang="en-GB" sz="2283" kern="1200" spc="-17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 spc="-10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Enumerate</a:t>
            </a:r>
            <a:r>
              <a:rPr lang="en-GB" sz="2283" kern="1200" spc="-17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 spc="-135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all</a:t>
            </a:r>
            <a:r>
              <a:rPr lang="en-GB" sz="2283" kern="1200" spc="-17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 spc="-65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FDs</a:t>
            </a:r>
            <a:r>
              <a:rPr lang="en-GB" sz="2283" kern="1200" spc="-185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 spc="-93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</a:t>
            </a:r>
            <a:r>
              <a:rPr lang="en-GB" sz="2283" kern="1200" spc="-15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283" kern="1200" spc="-121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83" kern="1200" spc="-235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Y,</a:t>
            </a:r>
            <a:r>
              <a:rPr lang="en-GB" sz="2283" kern="1200" spc="-17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 spc="-185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s.t. </a:t>
            </a:r>
            <a:r>
              <a:rPr lang="en-GB" sz="2283" kern="1200" spc="-193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Y</a:t>
            </a:r>
            <a:r>
              <a:rPr lang="en-GB" sz="2283" kern="1200" spc="-17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 spc="362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⊆</a:t>
            </a:r>
            <a:r>
              <a:rPr lang="en-GB" sz="2283" kern="1200" spc="-250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 </a:t>
            </a:r>
            <a:r>
              <a:rPr lang="en-GB" sz="2283" kern="1200" spc="-65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</a:t>
            </a:r>
            <a:r>
              <a:rPr lang="en-GB" sz="2247" kern="1200" spc="-95" baseline="31746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+</a:t>
            </a:r>
            <a:r>
              <a:rPr lang="en-GB" sz="2247" kern="1200" spc="-171" baseline="31746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 spc="-7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and</a:t>
            </a:r>
            <a:r>
              <a:rPr lang="en-GB" sz="2283" kern="1200" spc="-185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 spc="-93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</a:t>
            </a:r>
            <a:r>
              <a:rPr lang="en-GB" sz="2283" kern="1200" spc="-17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∩</a:t>
            </a:r>
            <a:r>
              <a:rPr lang="en-GB" sz="2283" kern="1200" spc="-121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83" kern="1200" spc="-193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Y</a:t>
            </a:r>
            <a:r>
              <a:rPr lang="en-GB" sz="2283" kern="1200" spc="-17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 spc="-65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=</a:t>
            </a:r>
            <a:r>
              <a:rPr lang="en-GB" sz="2283" kern="1200" spc="-17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83" kern="1200" spc="-549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∅</a:t>
            </a:r>
            <a:r>
              <a:rPr lang="en-GB" sz="2283" kern="1200" spc="-54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:</a:t>
            </a:r>
            <a:endParaRPr lang="en-GB" sz="1871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6475" y="5425778"/>
            <a:ext cx="7148799" cy="979551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66834" rIns="0" bIns="0" rtlCol="0">
            <a:spAutoFit/>
          </a:bodyPr>
          <a:lstStyle/>
          <a:p>
            <a:pPr marL="121395" defTabSz="1115359">
              <a:lnSpc>
                <a:spcPts val="2374"/>
              </a:lnSpc>
              <a:spcBef>
                <a:spcPts val="642"/>
              </a:spcBef>
            </a:pPr>
            <a:r>
              <a:rPr lang="is-IS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{B} </a:t>
            </a:r>
            <a:r>
              <a:rPr lang="is-IS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</a:t>
            </a:r>
            <a:r>
              <a:rPr lang="is-IS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{D}</a:t>
            </a:r>
            <a:r>
              <a:rPr lang="is-IS" sz="1997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</a:t>
            </a:r>
            <a:r>
              <a:rPr lang="is-IS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 {A,B} </a:t>
            </a:r>
            <a:r>
              <a:rPr lang="is-IS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</a:t>
            </a:r>
            <a:r>
              <a:rPr lang="is-IS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{C,D}</a:t>
            </a:r>
            <a:r>
              <a:rPr lang="is-IS" sz="1997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 </a:t>
            </a:r>
            <a:r>
              <a:rPr lang="is-IS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{A,D} </a:t>
            </a:r>
            <a:r>
              <a:rPr lang="is-IS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is-IS" sz="1997" kern="1200" spc="-85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is-IS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{B,C}</a:t>
            </a:r>
            <a:r>
              <a:rPr lang="is-IS" sz="1997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</a:t>
            </a:r>
            <a:endParaRPr lang="is-IS" sz="1997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1395" defTabSz="1115359">
              <a:lnSpc>
                <a:spcPts val="2355"/>
              </a:lnSpc>
            </a:pPr>
            <a:r>
              <a:rPr lang="is-IS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{A,B,C} </a:t>
            </a:r>
            <a:r>
              <a:rPr lang="is-IS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</a:t>
            </a:r>
            <a:r>
              <a:rPr lang="is-IS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{D}</a:t>
            </a:r>
            <a:r>
              <a:rPr lang="is-IS" sz="1997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 </a:t>
            </a:r>
            <a:r>
              <a:rPr lang="is-IS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{A,B,D} </a:t>
            </a:r>
            <a:r>
              <a:rPr lang="is-IS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is-IS" sz="1997" kern="1200" spc="-71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is-IS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{C}</a:t>
            </a:r>
            <a:r>
              <a:rPr lang="is-IS" sz="1997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</a:t>
            </a:r>
            <a:endParaRPr lang="is-IS" sz="1997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1395" defTabSz="1115359">
              <a:lnSpc>
                <a:spcPts val="2374"/>
              </a:lnSpc>
            </a:pPr>
            <a:r>
              <a:rPr lang="is-IS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{A,C,D} </a:t>
            </a:r>
            <a:r>
              <a:rPr lang="is-IS" sz="1997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is-IS" sz="1997" kern="1200" spc="7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is-IS" sz="1997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{B}</a:t>
            </a:r>
            <a:endParaRPr lang="is-IS" sz="1637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8941" y="2711451"/>
            <a:ext cx="7296385" cy="1828800"/>
          </a:xfrm>
          <a:custGeom>
            <a:avLst/>
            <a:gdLst/>
            <a:ahLst/>
            <a:cxnLst/>
            <a:rect l="l" t="t" r="r" b="b"/>
            <a:pathLst>
              <a:path w="5085715" h="1274445">
                <a:moveTo>
                  <a:pt x="0" y="0"/>
                </a:moveTo>
                <a:lnTo>
                  <a:pt x="5085307" y="0"/>
                </a:lnTo>
                <a:lnTo>
                  <a:pt x="5085307" y="1274017"/>
                </a:lnTo>
                <a:lnTo>
                  <a:pt x="0" y="12740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 dirty="0"/>
          </a:p>
        </p:txBody>
      </p:sp>
      <p:sp>
        <p:nvSpPr>
          <p:cNvPr id="11" name="object 11"/>
          <p:cNvSpPr/>
          <p:nvPr/>
        </p:nvSpPr>
        <p:spPr>
          <a:xfrm>
            <a:off x="692355" y="2172826"/>
            <a:ext cx="6172182" cy="543881"/>
          </a:xfrm>
          <a:custGeom>
            <a:avLst/>
            <a:gdLst/>
            <a:ahLst/>
            <a:cxnLst/>
            <a:rect l="l" t="t" r="r" b="b"/>
            <a:pathLst>
              <a:path w="4302125" h="379094">
                <a:moveTo>
                  <a:pt x="0" y="0"/>
                </a:moveTo>
                <a:lnTo>
                  <a:pt x="4301816" y="0"/>
                </a:lnTo>
                <a:lnTo>
                  <a:pt x="4301816" y="378861"/>
                </a:lnTo>
                <a:lnTo>
                  <a:pt x="0" y="3788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64023293-B6DA-E341-810F-0F0B6170145A}"/>
              </a:ext>
            </a:extLst>
          </p:cNvPr>
          <p:cNvSpPr txBox="1"/>
          <p:nvPr/>
        </p:nvSpPr>
        <p:spPr>
          <a:xfrm>
            <a:off x="8164932" y="5592942"/>
            <a:ext cx="1919525" cy="644885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47526" rIns="0" bIns="0" rtlCol="0">
            <a:spAutoFit/>
          </a:bodyPr>
          <a:lstStyle/>
          <a:p>
            <a:pPr marL="121395" marR="196587" defTabSz="1115359">
              <a:lnSpc>
                <a:spcPts val="2355"/>
              </a:lnSpc>
              <a:spcBef>
                <a:spcPts val="456"/>
              </a:spcBef>
            </a:pPr>
            <a:r>
              <a:rPr lang="en-GB" sz="1997" spc="-7" dirty="0" err="1">
                <a:latin typeface="Arial"/>
                <a:cs typeface="Arial"/>
              </a:rPr>
              <a:t>Fehlt</a:t>
            </a:r>
            <a:r>
              <a:rPr lang="en-GB" sz="1997" spc="-7" dirty="0">
                <a:latin typeface="Arial"/>
                <a:cs typeface="Arial"/>
              </a:rPr>
              <a:t> </a:t>
            </a:r>
            <a:r>
              <a:rPr lang="en-GB" sz="1997" spc="-7" dirty="0" err="1">
                <a:latin typeface="Arial"/>
                <a:cs typeface="Arial"/>
              </a:rPr>
              <a:t>etwas</a:t>
            </a:r>
            <a:r>
              <a:rPr lang="en-GB" sz="1997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(</a:t>
            </a:r>
            <a:r>
              <a:rPr lang="en-GB" sz="1997" spc="-7" dirty="0">
                <a:latin typeface="Arial"/>
                <a:cs typeface="Arial"/>
              </a:rPr>
              <a:t>von </a:t>
            </a:r>
            <a:r>
              <a:rPr lang="en-GB" sz="1997" spc="-7" dirty="0" err="1">
                <a:latin typeface="Arial"/>
                <a:cs typeface="Arial"/>
              </a:rPr>
              <a:t>vorher</a:t>
            </a:r>
            <a:r>
              <a:rPr lang="en-GB" sz="1997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)?</a:t>
            </a:r>
            <a:endParaRPr lang="en-GB" sz="163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54921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4101" y="919238"/>
            <a:ext cx="8191113" cy="43405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18267" defTabSz="986392">
              <a:lnSpc>
                <a:spcPct val="100000"/>
              </a:lnSpc>
              <a:spcBef>
                <a:spcPts val="144"/>
              </a:spcBef>
            </a:pPr>
            <a:r>
              <a:rPr lang="en-GB" sz="2697" b="0" i="0" kern="1200" spc="-122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Using </a:t>
            </a:r>
            <a:r>
              <a:rPr lang="en-GB" sz="2697" b="0" i="0" kern="1200" spc="-144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Closure </a:t>
            </a:r>
            <a:r>
              <a:rPr lang="en-GB" sz="2697" b="0" i="0" kern="1200" spc="-108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to </a:t>
            </a:r>
            <a:r>
              <a:rPr lang="en-GB" sz="2697" b="0" i="0" kern="1200" spc="-303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Infer </a:t>
            </a:r>
            <a:r>
              <a:rPr lang="en-GB" sz="2697" b="0" i="0" kern="1200" spc="-108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ALL</a:t>
            </a:r>
            <a:r>
              <a:rPr lang="en-GB" sz="2697" b="0" i="0" kern="1200" spc="-604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697" b="0" i="0" kern="1200" spc="-108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FDs</a:t>
            </a:r>
            <a:endParaRPr lang="en-GB" spc="-88"/>
          </a:p>
        </p:txBody>
      </p:sp>
      <p:sp>
        <p:nvSpPr>
          <p:cNvPr id="3" name="object 3"/>
          <p:cNvSpPr txBox="1"/>
          <p:nvPr/>
        </p:nvSpPr>
        <p:spPr>
          <a:xfrm>
            <a:off x="8376857" y="2051068"/>
            <a:ext cx="1471419" cy="983282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66834" rIns="0" bIns="0" rtlCol="0">
            <a:spAutoFit/>
          </a:bodyPr>
          <a:lstStyle/>
          <a:p>
            <a:pPr marL="123304" defTabSz="1124502">
              <a:lnSpc>
                <a:spcPts val="2394"/>
              </a:lnSpc>
              <a:spcBef>
                <a:spcPts val="647"/>
              </a:spcBef>
            </a:pPr>
            <a:r>
              <a:rPr lang="en-GB" sz="2014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{A,B} </a:t>
            </a:r>
            <a:r>
              <a:rPr lang="en-GB" sz="2014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014" kern="1200" spc="-129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</a:t>
            </a:r>
            <a:endParaRPr lang="en-GB" sz="2014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3304" defTabSz="1124502">
              <a:lnSpc>
                <a:spcPts val="2374"/>
              </a:lnSpc>
            </a:pPr>
            <a:r>
              <a:rPr lang="en-GB" sz="2014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{A,D} </a:t>
            </a:r>
            <a:r>
              <a:rPr lang="en-GB" sz="2014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014" kern="1200" spc="-129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B</a:t>
            </a:r>
            <a:endParaRPr lang="en-GB" sz="2014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3304" defTabSz="1124502">
              <a:lnSpc>
                <a:spcPts val="2394"/>
              </a:lnSpc>
              <a:tabLst>
                <a:tab pos="676798" algn="l"/>
              </a:tabLst>
            </a:pPr>
            <a:r>
              <a:rPr lang="en-GB" sz="2014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{B}	</a:t>
            </a:r>
            <a:r>
              <a:rPr lang="en-GB" sz="2014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014" kern="1200" spc="-36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D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38726" y="2033321"/>
            <a:ext cx="993140" cy="642548"/>
          </a:xfrm>
          <a:prstGeom prst="rect">
            <a:avLst/>
          </a:prstGeom>
        </p:spPr>
        <p:txBody>
          <a:bodyPr vert="horz" wrap="square" lIns="0" tIns="26734" rIns="0" bIns="0" rtlCol="0">
            <a:spAutoFit/>
          </a:bodyPr>
          <a:lstStyle/>
          <a:p>
            <a:pPr marL="18267" marR="7307" defTabSz="1124502">
              <a:lnSpc>
                <a:spcPts val="2374"/>
              </a:lnSpc>
              <a:spcBef>
                <a:spcPts val="258"/>
              </a:spcBef>
            </a:pPr>
            <a:r>
              <a:rPr lang="en-GB" sz="2014" u="heavy" kern="1200" spc="-116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+mn-cs"/>
              </a:rPr>
              <a:t>Example: </a:t>
            </a:r>
            <a:r>
              <a:rPr lang="en-GB" sz="2014" kern="1200" spc="-7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014" kern="1200" spc="-93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Given </a:t>
            </a:r>
            <a:r>
              <a:rPr lang="en-GB" sz="2014" kern="1200" spc="-13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F</a:t>
            </a:r>
            <a:r>
              <a:rPr lang="en-GB" sz="2014" kern="1200" spc="-33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014" kern="1200" spc="-5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=</a:t>
            </a:r>
            <a:endParaRPr lang="en-GB" sz="1637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1985" y="3134267"/>
            <a:ext cx="7176026" cy="1639609"/>
          </a:xfrm>
          <a:custGeom>
            <a:avLst/>
            <a:gdLst/>
            <a:ahLst/>
            <a:cxnLst/>
            <a:rect l="l" t="t" r="r" b="b"/>
            <a:pathLst>
              <a:path w="4982845" h="979169">
                <a:moveTo>
                  <a:pt x="0" y="0"/>
                </a:moveTo>
                <a:lnTo>
                  <a:pt x="4982812" y="0"/>
                </a:lnTo>
                <a:lnTo>
                  <a:pt x="4982812" y="978733"/>
                </a:lnTo>
                <a:lnTo>
                  <a:pt x="0" y="978733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" name="object 6"/>
          <p:cNvSpPr txBox="1"/>
          <p:nvPr/>
        </p:nvSpPr>
        <p:spPr>
          <a:xfrm>
            <a:off x="835437" y="3230711"/>
            <a:ext cx="6281652" cy="14619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124502">
              <a:lnSpc>
                <a:spcPts val="2352"/>
              </a:lnSpc>
              <a:spcAft>
                <a:spcPts val="600"/>
              </a:spcAft>
            </a:pP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{A}</a:t>
            </a:r>
            <a:r>
              <a:rPr lang="en-GB" sz="1942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42" kern="1200" spc="-183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 {A},</a:t>
            </a:r>
            <a:r>
              <a:rPr lang="en-GB" sz="2014" kern="1200" spc="-15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 spc="7">
                <a:solidFill>
                  <a:srgbClr val="BF0000"/>
                </a:solidFill>
                <a:latin typeface="Arial"/>
                <a:ea typeface="+mn-ea"/>
                <a:cs typeface="Arial"/>
              </a:rPr>
              <a:t>{B}</a:t>
            </a:r>
            <a:r>
              <a:rPr lang="en-GB" sz="1942" kern="1200" spc="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42" kern="1200" spc="-172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 {B,D},</a:t>
            </a:r>
            <a:r>
              <a:rPr lang="en-GB" sz="2014" kern="1200" spc="-15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 spc="7">
                <a:solidFill>
                  <a:srgbClr val="BF0000"/>
                </a:solidFill>
                <a:latin typeface="Arial"/>
                <a:ea typeface="+mn-ea"/>
                <a:cs typeface="Arial"/>
              </a:rPr>
              <a:t>{C}</a:t>
            </a:r>
            <a:r>
              <a:rPr lang="en-GB" sz="1942" kern="1200" spc="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42" kern="1200" spc="-172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 {C},</a:t>
            </a:r>
            <a:r>
              <a:rPr lang="en-GB" sz="2014" kern="1200" spc="-15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 spc="7">
                <a:solidFill>
                  <a:srgbClr val="BF0000"/>
                </a:solidFill>
                <a:latin typeface="Arial"/>
                <a:ea typeface="+mn-ea"/>
                <a:cs typeface="Arial"/>
              </a:rPr>
              <a:t>{D}</a:t>
            </a:r>
            <a:r>
              <a:rPr lang="en-GB" sz="1942" kern="1200" spc="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42" kern="1200" spc="-172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2014" kern="1200" spc="-15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{D},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{A,B}</a:t>
            </a:r>
            <a:r>
              <a:rPr lang="en-GB" sz="1942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42" kern="1200" spc="-172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endParaRPr lang="en-GB" sz="2014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24502">
              <a:lnSpc>
                <a:spcPts val="2374"/>
              </a:lnSpc>
              <a:spcAft>
                <a:spcPts val="600"/>
              </a:spcAft>
            </a:pP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{A,B,C,D},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{A,C}</a:t>
            </a:r>
            <a:r>
              <a:rPr lang="en-GB" sz="1942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{A,C},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{A,D}</a:t>
            </a:r>
            <a:r>
              <a:rPr lang="en-GB" sz="1942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{A,B,C,D},</a:t>
            </a:r>
            <a:r>
              <a:rPr lang="en-GB" sz="2014" kern="1200" spc="-396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{A,B,C}</a:t>
            </a:r>
            <a:r>
              <a:rPr lang="en-GB" sz="1942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endParaRPr lang="en-GB" sz="2014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24502">
              <a:lnSpc>
                <a:spcPts val="2374"/>
              </a:lnSpc>
              <a:spcAft>
                <a:spcPts val="600"/>
              </a:spcAft>
            </a:pP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{A,B,D}</a:t>
            </a:r>
            <a:r>
              <a:rPr lang="en-GB" sz="1942" kern="1200" spc="-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{A,C,D}</a:t>
            </a:r>
            <a:r>
              <a:rPr lang="en-GB" sz="1942" kern="1200" spc="-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{A,B,C,D},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{B,C,D}</a:t>
            </a:r>
            <a:r>
              <a:rPr lang="en-GB" sz="1942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2014" kern="1200" spc="-359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{B,C,D},</a:t>
            </a:r>
            <a:endParaRPr lang="en-GB" sz="2014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24502">
              <a:lnSpc>
                <a:spcPts val="2394"/>
              </a:lnSpc>
              <a:spcAft>
                <a:spcPts val="600"/>
              </a:spcAft>
            </a:pP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</a:t>
            </a:r>
            <a:r>
              <a:rPr lang="en-GB" sz="1942" kern="1200" spc="-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014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7601" y="5083657"/>
            <a:ext cx="6958377" cy="373010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8267" defTabSz="1124502">
              <a:spcBef>
                <a:spcPts val="144"/>
              </a:spcBef>
            </a:pPr>
            <a:r>
              <a:rPr lang="en-GB" sz="2301" kern="1200" spc="-10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Step</a:t>
            </a:r>
            <a:r>
              <a:rPr lang="en-GB" sz="2301" kern="1200" spc="-18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14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2:</a:t>
            </a:r>
            <a:r>
              <a:rPr lang="en-GB" sz="2301" kern="1200" spc="-18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10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Enumerate</a:t>
            </a:r>
            <a:r>
              <a:rPr lang="en-GB" sz="2301" kern="1200" spc="-18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13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all</a:t>
            </a:r>
            <a:r>
              <a:rPr lang="en-GB" sz="2301" kern="1200" spc="-18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65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FDs</a:t>
            </a:r>
            <a:r>
              <a:rPr lang="en-GB" sz="2301" kern="1200" spc="-18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93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</a:t>
            </a:r>
            <a:r>
              <a:rPr lang="en-GB" sz="2301" kern="1200" spc="-15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301" kern="1200" spc="-122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301" kern="1200" spc="-23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Y,</a:t>
            </a:r>
            <a:r>
              <a:rPr lang="en-GB" sz="2301" kern="1200" spc="-18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18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s.t. </a:t>
            </a:r>
            <a:r>
              <a:rPr lang="en-GB" sz="2301" kern="1200" spc="-19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Y</a:t>
            </a:r>
            <a:r>
              <a:rPr lang="en-GB" sz="2301" kern="1200" spc="-17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365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⊆</a:t>
            </a:r>
            <a:r>
              <a:rPr lang="en-GB" sz="2301" kern="1200" spc="-252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 </a:t>
            </a:r>
            <a:r>
              <a:rPr lang="en-GB" sz="2301" kern="1200" spc="-65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</a:t>
            </a:r>
            <a:r>
              <a:rPr lang="en-GB" sz="2266" kern="1200" spc="-96" baseline="31746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+</a:t>
            </a:r>
            <a:r>
              <a:rPr lang="en-GB" sz="2266" kern="1200" spc="-172" baseline="31746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7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and</a:t>
            </a:r>
            <a:r>
              <a:rPr lang="en-GB" sz="2301" kern="1200" spc="-18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93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</a:t>
            </a:r>
            <a:r>
              <a:rPr lang="en-GB" sz="2301" kern="1200" spc="-18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∩</a:t>
            </a:r>
            <a:r>
              <a:rPr lang="en-GB" sz="2301" kern="1200" spc="-122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301" kern="1200" spc="-19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Y</a:t>
            </a:r>
            <a:r>
              <a:rPr lang="en-GB" sz="2301" kern="1200" spc="-18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65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=</a:t>
            </a:r>
            <a:r>
              <a:rPr lang="en-GB" sz="2301" kern="1200" spc="-17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554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∅</a:t>
            </a:r>
            <a:r>
              <a:rPr lang="en-GB" sz="2301" kern="1200" spc="-55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:</a:t>
            </a:r>
            <a:endParaRPr lang="en-GB" sz="1871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2434" y="5653977"/>
            <a:ext cx="7176026" cy="983282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66834" rIns="0" bIns="0" rtlCol="0">
            <a:spAutoFit/>
          </a:bodyPr>
          <a:lstStyle/>
          <a:p>
            <a:pPr marL="122390" defTabSz="1124502">
              <a:lnSpc>
                <a:spcPts val="2394"/>
              </a:lnSpc>
              <a:spcBef>
                <a:spcPts val="647"/>
              </a:spcBef>
            </a:pP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{B} </a:t>
            </a:r>
            <a:r>
              <a:rPr lang="en-GB" sz="2014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{D}</a:t>
            </a:r>
            <a:r>
              <a:rPr lang="en-GB" sz="2014" kern="1200" spc="-7">
                <a:solidFill>
                  <a:srgbClr val="000000"/>
                </a:solidFill>
                <a:latin typeface="Arial"/>
                <a:ea typeface="+mn-ea"/>
                <a:cs typeface="Arial"/>
              </a:rPr>
              <a:t>,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 {A,B} </a:t>
            </a:r>
            <a:r>
              <a:rPr lang="en-GB" sz="2014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{C,D}</a:t>
            </a:r>
            <a:r>
              <a:rPr lang="en-GB" sz="2014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{A,D} </a:t>
            </a:r>
            <a:r>
              <a:rPr lang="en-GB" sz="2014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014" kern="1200" spc="-86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{B,C}</a:t>
            </a:r>
            <a:r>
              <a:rPr lang="en-GB" sz="2014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</a:t>
            </a:r>
            <a:endParaRPr lang="en-GB" sz="2014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2390" defTabSz="1124502">
              <a:lnSpc>
                <a:spcPts val="2374"/>
              </a:lnSpc>
            </a:pP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{A,B,C} </a:t>
            </a:r>
            <a:r>
              <a:rPr lang="en-GB" sz="2014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{D}</a:t>
            </a:r>
            <a:r>
              <a:rPr lang="en-GB" sz="2014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{A,B,D} </a:t>
            </a:r>
            <a:r>
              <a:rPr lang="en-GB" sz="2014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014" kern="1200" spc="-71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{C}</a:t>
            </a:r>
            <a:r>
              <a:rPr lang="en-GB" sz="2014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</a:t>
            </a:r>
            <a:endParaRPr lang="en-GB" sz="2014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2390" defTabSz="1124502">
              <a:lnSpc>
                <a:spcPts val="2394"/>
              </a:lnSpc>
            </a:pP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{A,C,D} </a:t>
            </a:r>
            <a:r>
              <a:rPr lang="en-GB" sz="2014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014" kern="1200" spc="7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014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{B}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4374" y="2982373"/>
            <a:ext cx="7324174" cy="1931053"/>
          </a:xfrm>
          <a:custGeom>
            <a:avLst/>
            <a:gdLst/>
            <a:ahLst/>
            <a:cxnLst/>
            <a:rect l="l" t="t" r="r" b="b"/>
            <a:pathLst>
              <a:path w="5085715" h="1274445">
                <a:moveTo>
                  <a:pt x="0" y="0"/>
                </a:moveTo>
                <a:lnTo>
                  <a:pt x="5085309" y="0"/>
                </a:lnTo>
                <a:lnTo>
                  <a:pt x="5085309" y="1274017"/>
                </a:lnTo>
                <a:lnTo>
                  <a:pt x="0" y="12740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" name="object 10"/>
          <p:cNvSpPr/>
          <p:nvPr/>
        </p:nvSpPr>
        <p:spPr>
          <a:xfrm>
            <a:off x="5118100" y="5058765"/>
            <a:ext cx="887345" cy="452674"/>
          </a:xfrm>
          <a:custGeom>
            <a:avLst/>
            <a:gdLst/>
            <a:ahLst/>
            <a:cxnLst/>
            <a:rect l="l" t="t" r="r" b="b"/>
            <a:pathLst>
              <a:path w="685800" h="314325">
                <a:moveTo>
                  <a:pt x="633323" y="313949"/>
                </a:moveTo>
                <a:lnTo>
                  <a:pt x="52324" y="313949"/>
                </a:lnTo>
                <a:lnTo>
                  <a:pt x="31956" y="309837"/>
                </a:lnTo>
                <a:lnTo>
                  <a:pt x="15324" y="298624"/>
                </a:lnTo>
                <a:lnTo>
                  <a:pt x="4111" y="281992"/>
                </a:lnTo>
                <a:lnTo>
                  <a:pt x="0" y="261624"/>
                </a:lnTo>
                <a:lnTo>
                  <a:pt x="0" y="52324"/>
                </a:lnTo>
                <a:lnTo>
                  <a:pt x="4111" y="31967"/>
                </a:lnTo>
                <a:lnTo>
                  <a:pt x="15338" y="15324"/>
                </a:lnTo>
                <a:lnTo>
                  <a:pt x="31956" y="4115"/>
                </a:lnTo>
                <a:lnTo>
                  <a:pt x="52324" y="0"/>
                </a:lnTo>
                <a:lnTo>
                  <a:pt x="633323" y="0"/>
                </a:lnTo>
                <a:lnTo>
                  <a:pt x="670331" y="15334"/>
                </a:lnTo>
                <a:lnTo>
                  <a:pt x="685648" y="52324"/>
                </a:lnTo>
                <a:lnTo>
                  <a:pt x="685648" y="261624"/>
                </a:lnTo>
                <a:lnTo>
                  <a:pt x="681536" y="281992"/>
                </a:lnTo>
                <a:lnTo>
                  <a:pt x="670323" y="298624"/>
                </a:lnTo>
                <a:lnTo>
                  <a:pt x="653691" y="309837"/>
                </a:lnTo>
                <a:lnTo>
                  <a:pt x="633323" y="313949"/>
                </a:lnTo>
                <a:close/>
              </a:path>
            </a:pathLst>
          </a:custGeom>
          <a:solidFill>
            <a:srgbClr val="FBE4CD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" name="object 11"/>
          <p:cNvSpPr/>
          <p:nvPr/>
        </p:nvSpPr>
        <p:spPr>
          <a:xfrm>
            <a:off x="5118100" y="5058765"/>
            <a:ext cx="838200" cy="452674"/>
          </a:xfrm>
          <a:custGeom>
            <a:avLst/>
            <a:gdLst/>
            <a:ahLst/>
            <a:cxnLst/>
            <a:rect l="l" t="t" r="r" b="b"/>
            <a:pathLst>
              <a:path w="685800" h="314325">
                <a:moveTo>
                  <a:pt x="0" y="52324"/>
                </a:moveTo>
                <a:lnTo>
                  <a:pt x="4111" y="31967"/>
                </a:lnTo>
                <a:lnTo>
                  <a:pt x="15324" y="15334"/>
                </a:lnTo>
                <a:lnTo>
                  <a:pt x="31956" y="4115"/>
                </a:lnTo>
                <a:lnTo>
                  <a:pt x="52324" y="0"/>
                </a:lnTo>
                <a:lnTo>
                  <a:pt x="633323" y="0"/>
                </a:lnTo>
                <a:lnTo>
                  <a:pt x="670323" y="15324"/>
                </a:lnTo>
                <a:lnTo>
                  <a:pt x="685648" y="52324"/>
                </a:lnTo>
                <a:lnTo>
                  <a:pt x="685648" y="261624"/>
                </a:lnTo>
                <a:lnTo>
                  <a:pt x="681536" y="281992"/>
                </a:lnTo>
                <a:lnTo>
                  <a:pt x="670323" y="298624"/>
                </a:lnTo>
                <a:lnTo>
                  <a:pt x="653691" y="309837"/>
                </a:lnTo>
                <a:lnTo>
                  <a:pt x="633323" y="313949"/>
                </a:lnTo>
                <a:lnTo>
                  <a:pt x="52324" y="313949"/>
                </a:lnTo>
                <a:lnTo>
                  <a:pt x="31956" y="309837"/>
                </a:lnTo>
                <a:lnTo>
                  <a:pt x="15324" y="298624"/>
                </a:lnTo>
                <a:lnTo>
                  <a:pt x="4111" y="281992"/>
                </a:lnTo>
                <a:lnTo>
                  <a:pt x="0" y="261624"/>
                </a:lnTo>
                <a:lnTo>
                  <a:pt x="0" y="52324"/>
                </a:lnTo>
                <a:close/>
              </a:path>
            </a:pathLst>
          </a:custGeom>
          <a:ln w="25399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" name="object 12"/>
          <p:cNvSpPr txBox="1"/>
          <p:nvPr/>
        </p:nvSpPr>
        <p:spPr>
          <a:xfrm>
            <a:off x="8376857" y="5058766"/>
            <a:ext cx="1752168" cy="1099589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30445" rIns="0" bIns="0" rtlCol="0">
            <a:spAutoFit/>
          </a:bodyPr>
          <a:lstStyle/>
          <a:p>
            <a:pPr marL="123304" marR="237474" defTabSz="1124502">
              <a:lnSpc>
                <a:spcPct val="101600"/>
              </a:lnSpc>
              <a:spcBef>
                <a:spcPts val="294"/>
              </a:spcBef>
            </a:pPr>
            <a:r>
              <a:rPr lang="en-GB" sz="2301" i="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“Y </a:t>
            </a:r>
            <a:r>
              <a:rPr lang="en-GB" sz="2301" i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is in</a:t>
            </a:r>
            <a:r>
              <a:rPr lang="en-GB" sz="2301" i="1" kern="1200" spc="-144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301" i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the  </a:t>
            </a:r>
            <a:r>
              <a:rPr lang="en-GB" sz="2301" i="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closure </a:t>
            </a:r>
            <a:r>
              <a:rPr lang="en-GB" sz="2301" i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of  X”</a:t>
            </a:r>
            <a:endParaRPr lang="en-GB" sz="1871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5436" y="2515135"/>
            <a:ext cx="5774109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124502">
              <a:lnSpc>
                <a:spcPts val="2474"/>
              </a:lnSpc>
              <a:spcAft>
                <a:spcPts val="600"/>
              </a:spcAft>
            </a:pPr>
            <a:r>
              <a:rPr lang="en-GB" sz="2301" kern="1200" spc="-10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Step</a:t>
            </a:r>
            <a:r>
              <a:rPr lang="en-GB" sz="2301" kern="1200" spc="-18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14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1:</a:t>
            </a:r>
            <a:r>
              <a:rPr lang="en-GB" sz="2301" kern="1200" spc="-18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10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Compute</a:t>
            </a:r>
            <a:r>
              <a:rPr lang="en-GB" sz="2301" kern="1200" spc="-17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12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</a:t>
            </a:r>
            <a:r>
              <a:rPr lang="en-GB" sz="2266" kern="1200" spc="-194" baseline="31746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+</a:t>
            </a:r>
            <a:r>
              <a:rPr lang="en-GB" sz="2301" kern="1200" spc="-12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,</a:t>
            </a:r>
            <a:r>
              <a:rPr lang="en-GB" sz="2301" kern="1200" spc="-18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93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for</a:t>
            </a:r>
            <a:r>
              <a:rPr lang="en-GB" sz="2301" kern="1200" spc="-17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10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every</a:t>
            </a:r>
            <a:r>
              <a:rPr lang="en-GB" sz="2301" kern="1200" spc="-18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10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set</a:t>
            </a:r>
            <a:r>
              <a:rPr lang="en-GB" sz="2301" kern="1200" spc="-17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93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of</a:t>
            </a:r>
            <a:r>
              <a:rPr lang="en-GB" sz="2301" kern="1200" spc="-18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108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attributes</a:t>
            </a:r>
            <a:r>
              <a:rPr lang="en-GB" sz="2301" kern="1200" spc="-17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301" kern="1200" spc="-16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X:</a:t>
            </a:r>
            <a:endParaRPr lang="en-GB" sz="1871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8107" y="2388635"/>
            <a:ext cx="6195690" cy="545953"/>
          </a:xfrm>
          <a:custGeom>
            <a:avLst/>
            <a:gdLst/>
            <a:ahLst/>
            <a:cxnLst/>
            <a:rect l="l" t="t" r="r" b="b"/>
            <a:pathLst>
              <a:path w="4302125" h="379094">
                <a:moveTo>
                  <a:pt x="0" y="0"/>
                </a:moveTo>
                <a:lnTo>
                  <a:pt x="4301818" y="0"/>
                </a:lnTo>
                <a:lnTo>
                  <a:pt x="4301818" y="378861"/>
                </a:lnTo>
                <a:lnTo>
                  <a:pt x="0" y="3788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</p:spTree>
    <p:extLst>
      <p:ext uri="{BB962C8B-B14F-4D97-AF65-F5344CB8AC3E}">
        <p14:creationId xmlns:p14="http://schemas.microsoft.com/office/powerpoint/2010/main" val="359025327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2248" y="967344"/>
            <a:ext cx="8053290" cy="426746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17970" defTabSz="970353">
              <a:lnSpc>
                <a:spcPct val="100000"/>
              </a:lnSpc>
              <a:spcBef>
                <a:spcPts val="142"/>
              </a:spcBef>
            </a:pPr>
            <a:r>
              <a:rPr lang="en-GB" sz="2654" b="0" i="0" kern="1200" spc="-12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Using </a:t>
            </a:r>
            <a:r>
              <a:rPr lang="en-GB" sz="2654" b="0" i="0" kern="1200" spc="-142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Closure </a:t>
            </a:r>
            <a:r>
              <a:rPr lang="en-GB" sz="2654" b="0" i="0" kern="1200" spc="-106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to </a:t>
            </a:r>
            <a:r>
              <a:rPr lang="en-GB" sz="2654" b="0" i="0" kern="1200" spc="-298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Infer </a:t>
            </a:r>
            <a:r>
              <a:rPr lang="en-GB" sz="2654" b="0" i="0" kern="1200" spc="-106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ALL</a:t>
            </a:r>
            <a:r>
              <a:rPr lang="en-GB" sz="2654" b="0" i="0" kern="1200" spc="-594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654" b="0" i="0" kern="1200" spc="-106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FDs</a:t>
            </a:r>
            <a:endParaRPr lang="en-GB" spc="-88"/>
          </a:p>
        </p:txBody>
      </p:sp>
      <p:sp>
        <p:nvSpPr>
          <p:cNvPr id="3" name="object 3"/>
          <p:cNvSpPr txBox="1"/>
          <p:nvPr/>
        </p:nvSpPr>
        <p:spPr>
          <a:xfrm>
            <a:off x="8245397" y="2080130"/>
            <a:ext cx="1446661" cy="966737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66834" rIns="0" bIns="0" rtlCol="0">
            <a:spAutoFit/>
          </a:bodyPr>
          <a:lstStyle/>
          <a:p>
            <a:pPr marL="121299" defTabSz="1106217">
              <a:lnSpc>
                <a:spcPts val="2355"/>
              </a:lnSpc>
              <a:spcBef>
                <a:spcPts val="636"/>
              </a:spcBef>
            </a:pPr>
            <a:r>
              <a:rPr lang="en-GB" sz="1981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{A,B} </a:t>
            </a:r>
            <a:r>
              <a:rPr lang="en-GB" sz="198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981" kern="1200" spc="-127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</a:t>
            </a:r>
            <a:endParaRPr lang="en-GB" sz="1981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1299" defTabSz="1106217">
              <a:lnSpc>
                <a:spcPts val="2335"/>
              </a:lnSpc>
            </a:pPr>
            <a:r>
              <a:rPr lang="en-GB" sz="1981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{A,D} </a:t>
            </a:r>
            <a:r>
              <a:rPr lang="en-GB" sz="198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981" kern="1200" spc="-127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B</a:t>
            </a:r>
            <a:endParaRPr lang="en-GB" sz="1981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1299" defTabSz="1106217">
              <a:lnSpc>
                <a:spcPts val="2355"/>
              </a:lnSpc>
              <a:tabLst>
                <a:tab pos="665793" algn="l"/>
              </a:tabLst>
            </a:pPr>
            <a:r>
              <a:rPr lang="en-GB" sz="1981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{B}	</a:t>
            </a:r>
            <a:r>
              <a:rPr lang="en-GB" sz="198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981" kern="1200" spc="-35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D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28113" y="2062682"/>
            <a:ext cx="976429" cy="622703"/>
          </a:xfrm>
          <a:prstGeom prst="rect">
            <a:avLst/>
          </a:prstGeom>
        </p:spPr>
        <p:txBody>
          <a:bodyPr vert="horz" wrap="square" lIns="0" tIns="26734" rIns="0" bIns="0" rtlCol="0">
            <a:spAutoFit/>
          </a:bodyPr>
          <a:lstStyle/>
          <a:p>
            <a:pPr marL="17970" marR="7189" defTabSz="1106217">
              <a:lnSpc>
                <a:spcPts val="2335"/>
              </a:lnSpc>
              <a:spcBef>
                <a:spcPts val="254"/>
              </a:spcBef>
            </a:pPr>
            <a:r>
              <a:rPr lang="en-GB" sz="1981" u="heavy" kern="1200" spc="-114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+mn-cs"/>
              </a:rPr>
              <a:t>Example: </a:t>
            </a:r>
            <a:r>
              <a:rPr lang="en-GB" sz="1981" kern="1200" spc="-7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1981" kern="1200" spc="-9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Given </a:t>
            </a:r>
            <a:r>
              <a:rPr lang="en-GB" sz="1981" kern="1200" spc="-13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F</a:t>
            </a:r>
            <a:r>
              <a:rPr lang="en-GB" sz="1981" kern="1200" spc="-333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1981" kern="1200" spc="-5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=</a:t>
            </a:r>
            <a:endParaRPr lang="en-GB" sz="1637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9502" y="3182786"/>
            <a:ext cx="7055283" cy="1509863"/>
          </a:xfrm>
          <a:custGeom>
            <a:avLst/>
            <a:gdLst/>
            <a:ahLst/>
            <a:cxnLst/>
            <a:rect l="l" t="t" r="r" b="b"/>
            <a:pathLst>
              <a:path w="4982845" h="979169">
                <a:moveTo>
                  <a:pt x="0" y="0"/>
                </a:moveTo>
                <a:lnTo>
                  <a:pt x="4982807" y="0"/>
                </a:lnTo>
                <a:lnTo>
                  <a:pt x="4982807" y="978733"/>
                </a:lnTo>
                <a:lnTo>
                  <a:pt x="0" y="978733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" name="object 6"/>
          <p:cNvSpPr txBox="1"/>
          <p:nvPr/>
        </p:nvSpPr>
        <p:spPr>
          <a:xfrm>
            <a:off x="830883" y="3277608"/>
            <a:ext cx="6175957" cy="1404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106217">
              <a:lnSpc>
                <a:spcPts val="2314"/>
              </a:lnSpc>
              <a:spcAft>
                <a:spcPts val="600"/>
              </a:spcAft>
            </a:pP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{A}</a:t>
            </a:r>
            <a:r>
              <a:rPr lang="en-GB" sz="1911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11" kern="1200" spc="-18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 {A},</a:t>
            </a:r>
            <a:r>
              <a:rPr lang="en-GB" sz="1981" kern="1200" spc="-15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 spc="7">
                <a:solidFill>
                  <a:srgbClr val="BF0000"/>
                </a:solidFill>
                <a:latin typeface="Arial"/>
                <a:ea typeface="+mn-ea"/>
                <a:cs typeface="Arial"/>
              </a:rPr>
              <a:t>{B}</a:t>
            </a:r>
            <a:r>
              <a:rPr lang="en-GB" sz="1911" kern="1200" spc="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11" kern="1200" spc="-169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 {B,D},</a:t>
            </a:r>
            <a:r>
              <a:rPr lang="en-GB" sz="1981" kern="1200" spc="-15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 spc="7">
                <a:solidFill>
                  <a:srgbClr val="BF0000"/>
                </a:solidFill>
                <a:latin typeface="Arial"/>
                <a:ea typeface="+mn-ea"/>
                <a:cs typeface="Arial"/>
              </a:rPr>
              <a:t>{C}</a:t>
            </a:r>
            <a:r>
              <a:rPr lang="en-GB" sz="1911" kern="1200" spc="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11" kern="1200" spc="-169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 {C},</a:t>
            </a:r>
            <a:r>
              <a:rPr lang="en-GB" sz="1981" kern="1200" spc="-15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 spc="7">
                <a:solidFill>
                  <a:srgbClr val="BF0000"/>
                </a:solidFill>
                <a:latin typeface="Arial"/>
                <a:ea typeface="+mn-ea"/>
                <a:cs typeface="Arial"/>
              </a:rPr>
              <a:t>{D}</a:t>
            </a:r>
            <a:r>
              <a:rPr lang="en-GB" sz="1911" kern="1200" spc="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11" kern="1200" spc="-169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1981" kern="1200" spc="-15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{D},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{A,B}</a:t>
            </a:r>
            <a:r>
              <a:rPr lang="en-GB" sz="1911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11" kern="1200" spc="-169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endParaRPr lang="en-GB" sz="1981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06217">
              <a:lnSpc>
                <a:spcPts val="2335"/>
              </a:lnSpc>
              <a:spcAft>
                <a:spcPts val="600"/>
              </a:spcAft>
            </a:pP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{A,B,C,D},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{A,C}</a:t>
            </a:r>
            <a:r>
              <a:rPr lang="en-GB" sz="1911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{A,C},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{A,D}</a:t>
            </a:r>
            <a:r>
              <a:rPr lang="en-GB" sz="1911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{A,B,C,D},</a:t>
            </a:r>
            <a:r>
              <a:rPr lang="en-GB" sz="1981" kern="1200" spc="-390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{A,B,C}</a:t>
            </a:r>
            <a:r>
              <a:rPr lang="en-GB" sz="1911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endParaRPr lang="en-GB" sz="1981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06217">
              <a:lnSpc>
                <a:spcPts val="2335"/>
              </a:lnSpc>
              <a:spcAft>
                <a:spcPts val="600"/>
              </a:spcAft>
            </a:pP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{A,B,D}</a:t>
            </a:r>
            <a:r>
              <a:rPr lang="en-GB" sz="1911" kern="1200" spc="-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{A,C,D}</a:t>
            </a:r>
            <a:r>
              <a:rPr lang="en-GB" sz="1911" kern="1200" spc="-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{A,B,C,D},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{B,C,D}</a:t>
            </a:r>
            <a:r>
              <a:rPr lang="en-GB" sz="1911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1981" kern="1200" spc="-353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{B,C,D},</a:t>
            </a:r>
            <a:endParaRPr lang="en-GB" sz="1981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06217">
              <a:lnSpc>
                <a:spcPts val="2355"/>
              </a:lnSpc>
              <a:spcAft>
                <a:spcPts val="600"/>
              </a:spcAft>
            </a:pP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</a:t>
            </a:r>
            <a:r>
              <a:rPr lang="en-GB" sz="1911" kern="1200" spc="-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3501" y="5061693"/>
            <a:ext cx="6841296" cy="366734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7970" defTabSz="1106217">
              <a:spcBef>
                <a:spcPts val="142"/>
              </a:spcBef>
            </a:pPr>
            <a:r>
              <a:rPr lang="en-GB" sz="2264" kern="1200" spc="-9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Step</a:t>
            </a:r>
            <a:r>
              <a:rPr lang="en-GB" sz="2264" kern="1200" spc="-18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14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2: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9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Enumerate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13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all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6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FDs</a:t>
            </a:r>
            <a:r>
              <a:rPr lang="en-GB" sz="2264" kern="1200" spc="-18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9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</a:t>
            </a:r>
            <a:r>
              <a:rPr lang="en-GB" sz="2264" kern="1200" spc="-14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264" kern="1200" spc="-12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64" kern="1200" spc="-23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Y,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18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s.t. </a:t>
            </a:r>
            <a:r>
              <a:rPr lang="en-GB" sz="2264" kern="1200" spc="-19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Y</a:t>
            </a:r>
            <a:r>
              <a:rPr lang="en-GB" sz="2264" kern="1200" spc="-16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359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⊆</a:t>
            </a:r>
            <a:r>
              <a:rPr lang="en-GB" sz="2264" kern="1200" spc="-248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 </a:t>
            </a:r>
            <a:r>
              <a:rPr lang="en-GB" sz="2264" kern="1200" spc="-6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</a:t>
            </a:r>
            <a:r>
              <a:rPr lang="en-GB" sz="2229" kern="1200" spc="-94" baseline="31746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+</a:t>
            </a:r>
            <a:r>
              <a:rPr lang="en-GB" sz="2229" kern="1200" spc="-169" baseline="31746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and</a:t>
            </a:r>
            <a:r>
              <a:rPr lang="en-GB" sz="2264" kern="1200" spc="-18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9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∩</a:t>
            </a:r>
            <a:r>
              <a:rPr lang="en-GB" sz="2264" kern="1200" spc="-12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64" kern="1200" spc="-19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Y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6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=</a:t>
            </a:r>
            <a:r>
              <a:rPr lang="en-GB" sz="2264" kern="1200" spc="-16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545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∅</a:t>
            </a:r>
            <a:r>
              <a:rPr lang="en-GB" sz="2264" kern="1200" spc="-545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:</a:t>
            </a:r>
            <a:endParaRPr lang="en-GB" sz="1871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0106" y="5622417"/>
            <a:ext cx="7055283" cy="966737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66834" rIns="0" bIns="0" rtlCol="0">
            <a:spAutoFit/>
          </a:bodyPr>
          <a:lstStyle/>
          <a:p>
            <a:pPr marL="120400" defTabSz="1106217">
              <a:lnSpc>
                <a:spcPts val="2355"/>
              </a:lnSpc>
              <a:spcBef>
                <a:spcPts val="636"/>
              </a:spcBef>
            </a:pP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{B} </a:t>
            </a:r>
            <a:r>
              <a:rPr lang="is-IS" sz="198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</a:t>
            </a: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{D}</a:t>
            </a:r>
            <a:r>
              <a:rPr lang="is-IS" sz="1981" kern="1200" spc="-7">
                <a:solidFill>
                  <a:srgbClr val="000000"/>
                </a:solidFill>
                <a:latin typeface="Arial"/>
                <a:ea typeface="+mn-ea"/>
                <a:cs typeface="Arial"/>
              </a:rPr>
              <a:t>,</a:t>
            </a: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 {A,B} </a:t>
            </a:r>
            <a:r>
              <a:rPr lang="is-IS" sz="198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</a:t>
            </a: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{C,D}</a:t>
            </a:r>
            <a:r>
              <a:rPr lang="is-IS" sz="198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 </a:t>
            </a: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{A,D} </a:t>
            </a:r>
            <a:r>
              <a:rPr lang="is-IS" sz="198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is-IS" sz="1981" kern="1200" spc="-85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{B,C}</a:t>
            </a:r>
            <a:r>
              <a:rPr lang="is-IS" sz="198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</a:t>
            </a:r>
            <a:endParaRPr lang="is-IS" sz="1981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0400" defTabSz="1106217">
              <a:lnSpc>
                <a:spcPts val="2335"/>
              </a:lnSpc>
            </a:pP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{A,B,C} </a:t>
            </a:r>
            <a:r>
              <a:rPr lang="is-IS" sz="198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</a:t>
            </a: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{D}</a:t>
            </a:r>
            <a:r>
              <a:rPr lang="is-IS" sz="198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 </a:t>
            </a: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{A,B,D} </a:t>
            </a:r>
            <a:r>
              <a:rPr lang="is-IS" sz="198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is-IS" sz="1981" kern="1200" spc="-7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{C}</a:t>
            </a:r>
            <a:r>
              <a:rPr lang="is-IS" sz="198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</a:t>
            </a:r>
            <a:endParaRPr lang="is-IS" sz="1981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0400" defTabSz="1106217">
              <a:lnSpc>
                <a:spcPts val="2355"/>
              </a:lnSpc>
            </a:pP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{A,C,D} </a:t>
            </a:r>
            <a:r>
              <a:rPr lang="is-IS" sz="198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is-IS" sz="1981" kern="1200" spc="7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{B}</a:t>
            </a:r>
            <a:endParaRPr lang="is-IS" sz="1637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4374" y="2995766"/>
            <a:ext cx="7200938" cy="1965174"/>
          </a:xfrm>
          <a:custGeom>
            <a:avLst/>
            <a:gdLst/>
            <a:ahLst/>
            <a:cxnLst/>
            <a:rect l="l" t="t" r="r" b="b"/>
            <a:pathLst>
              <a:path w="5085715" h="1274445">
                <a:moveTo>
                  <a:pt x="0" y="0"/>
                </a:moveTo>
                <a:lnTo>
                  <a:pt x="5085304" y="0"/>
                </a:lnTo>
                <a:lnTo>
                  <a:pt x="5085304" y="1274017"/>
                </a:lnTo>
                <a:lnTo>
                  <a:pt x="0" y="12740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0" name="object 10"/>
          <p:cNvSpPr/>
          <p:nvPr/>
        </p:nvSpPr>
        <p:spPr>
          <a:xfrm>
            <a:off x="6346079" y="5052653"/>
            <a:ext cx="1286621" cy="445058"/>
          </a:xfrm>
          <a:custGeom>
            <a:avLst/>
            <a:gdLst/>
            <a:ahLst/>
            <a:cxnLst/>
            <a:rect l="l" t="t" r="r" b="b"/>
            <a:pathLst>
              <a:path w="908684" h="314325">
                <a:moveTo>
                  <a:pt x="856173" y="313949"/>
                </a:moveTo>
                <a:lnTo>
                  <a:pt x="52324" y="313949"/>
                </a:lnTo>
                <a:lnTo>
                  <a:pt x="31956" y="309837"/>
                </a:lnTo>
                <a:lnTo>
                  <a:pt x="15324" y="298624"/>
                </a:lnTo>
                <a:lnTo>
                  <a:pt x="4111" y="281992"/>
                </a:lnTo>
                <a:lnTo>
                  <a:pt x="0" y="261624"/>
                </a:lnTo>
                <a:lnTo>
                  <a:pt x="0" y="52324"/>
                </a:lnTo>
                <a:lnTo>
                  <a:pt x="4111" y="31967"/>
                </a:lnTo>
                <a:lnTo>
                  <a:pt x="15338" y="15324"/>
                </a:lnTo>
                <a:lnTo>
                  <a:pt x="31956" y="4115"/>
                </a:lnTo>
                <a:lnTo>
                  <a:pt x="52324" y="0"/>
                </a:lnTo>
                <a:lnTo>
                  <a:pt x="856173" y="0"/>
                </a:lnTo>
                <a:lnTo>
                  <a:pt x="893180" y="15334"/>
                </a:lnTo>
                <a:lnTo>
                  <a:pt x="908498" y="52324"/>
                </a:lnTo>
                <a:lnTo>
                  <a:pt x="908498" y="261624"/>
                </a:lnTo>
                <a:lnTo>
                  <a:pt x="904386" y="281992"/>
                </a:lnTo>
                <a:lnTo>
                  <a:pt x="893173" y="298624"/>
                </a:lnTo>
                <a:lnTo>
                  <a:pt x="876541" y="309837"/>
                </a:lnTo>
                <a:lnTo>
                  <a:pt x="856173" y="313949"/>
                </a:lnTo>
                <a:close/>
              </a:path>
            </a:pathLst>
          </a:custGeom>
          <a:solidFill>
            <a:srgbClr val="FBE4CD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1" name="object 11"/>
          <p:cNvSpPr/>
          <p:nvPr/>
        </p:nvSpPr>
        <p:spPr>
          <a:xfrm>
            <a:off x="6346079" y="5052653"/>
            <a:ext cx="1286621" cy="445058"/>
          </a:xfrm>
          <a:custGeom>
            <a:avLst/>
            <a:gdLst/>
            <a:ahLst/>
            <a:cxnLst/>
            <a:rect l="l" t="t" r="r" b="b"/>
            <a:pathLst>
              <a:path w="908684" h="314325">
                <a:moveTo>
                  <a:pt x="0" y="52324"/>
                </a:moveTo>
                <a:lnTo>
                  <a:pt x="4111" y="31967"/>
                </a:lnTo>
                <a:lnTo>
                  <a:pt x="15324" y="15334"/>
                </a:lnTo>
                <a:lnTo>
                  <a:pt x="31956" y="4115"/>
                </a:lnTo>
                <a:lnTo>
                  <a:pt x="52324" y="0"/>
                </a:lnTo>
                <a:lnTo>
                  <a:pt x="856173" y="0"/>
                </a:lnTo>
                <a:lnTo>
                  <a:pt x="893173" y="15324"/>
                </a:lnTo>
                <a:lnTo>
                  <a:pt x="908498" y="52324"/>
                </a:lnTo>
                <a:lnTo>
                  <a:pt x="908498" y="261624"/>
                </a:lnTo>
                <a:lnTo>
                  <a:pt x="904386" y="281992"/>
                </a:lnTo>
                <a:lnTo>
                  <a:pt x="893173" y="298624"/>
                </a:lnTo>
                <a:lnTo>
                  <a:pt x="876541" y="309837"/>
                </a:lnTo>
                <a:lnTo>
                  <a:pt x="856173" y="313949"/>
                </a:lnTo>
                <a:lnTo>
                  <a:pt x="52324" y="313949"/>
                </a:lnTo>
                <a:lnTo>
                  <a:pt x="31956" y="309837"/>
                </a:lnTo>
                <a:lnTo>
                  <a:pt x="15324" y="298624"/>
                </a:lnTo>
                <a:lnTo>
                  <a:pt x="4111" y="281992"/>
                </a:lnTo>
                <a:lnTo>
                  <a:pt x="0" y="261624"/>
                </a:lnTo>
                <a:lnTo>
                  <a:pt x="0" y="52324"/>
                </a:lnTo>
                <a:close/>
              </a:path>
            </a:pathLst>
          </a:custGeom>
          <a:ln w="25399">
            <a:solidFill>
              <a:srgbClr val="ED7C31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" name="object 12"/>
          <p:cNvSpPr txBox="1"/>
          <p:nvPr/>
        </p:nvSpPr>
        <p:spPr>
          <a:xfrm>
            <a:off x="8245399" y="5037220"/>
            <a:ext cx="1883626" cy="1096925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30445" rIns="0" bIns="0" rtlCol="0">
            <a:spAutoFit/>
          </a:bodyPr>
          <a:lstStyle/>
          <a:p>
            <a:pPr marL="121299" marR="155441" defTabSz="1106217">
              <a:lnSpc>
                <a:spcPct val="101600"/>
              </a:lnSpc>
              <a:spcBef>
                <a:spcPts val="289"/>
              </a:spcBef>
            </a:pPr>
            <a:r>
              <a:rPr lang="en-GB" sz="2264" i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The FD </a:t>
            </a:r>
            <a:r>
              <a:rPr lang="en-GB" sz="2264" i="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X</a:t>
            </a:r>
            <a:r>
              <a:rPr lang="en-GB" sz="2264" i="1" kern="1200" spc="-134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64" i="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 Y</a:t>
            </a:r>
            <a:r>
              <a:rPr lang="en-GB" sz="2264" i="1" kern="1200" spc="-22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64" i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is</a:t>
            </a:r>
            <a:endParaRPr lang="en-GB" sz="2264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1299" defTabSz="1106217">
              <a:spcBef>
                <a:spcPts val="42"/>
              </a:spcBef>
            </a:pPr>
            <a:r>
              <a:rPr lang="en-GB" sz="2264" i="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non-trivial</a:t>
            </a:r>
            <a:endParaRPr lang="en-GB" sz="1871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0883" y="2536389"/>
            <a:ext cx="5676954" cy="3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106217">
              <a:lnSpc>
                <a:spcPts val="2433"/>
              </a:lnSpc>
              <a:spcAft>
                <a:spcPts val="600"/>
              </a:spcAft>
            </a:pPr>
            <a:r>
              <a:rPr lang="en-GB" sz="2264" kern="1200" spc="-9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Step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14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1: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9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Compute</a:t>
            </a:r>
            <a:r>
              <a:rPr lang="en-GB" sz="2264" kern="1200" spc="-16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12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</a:t>
            </a:r>
            <a:r>
              <a:rPr lang="en-GB" sz="2229" kern="1200" spc="-191" baseline="31746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+</a:t>
            </a:r>
            <a:r>
              <a:rPr lang="en-GB" sz="2264" kern="1200" spc="-12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,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9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for</a:t>
            </a:r>
            <a:r>
              <a:rPr lang="en-GB" sz="2264" kern="1200" spc="-16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106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every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9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set</a:t>
            </a:r>
            <a:r>
              <a:rPr lang="en-GB" sz="2264" kern="1200" spc="-16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9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of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106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attributes</a:t>
            </a:r>
            <a:r>
              <a:rPr lang="en-GB" sz="2264" kern="1200" spc="-16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16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X:</a:t>
            </a:r>
            <a:endParaRPr lang="en-GB" sz="1871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6695" y="2412017"/>
            <a:ext cx="6091442" cy="536767"/>
          </a:xfrm>
          <a:custGeom>
            <a:avLst/>
            <a:gdLst/>
            <a:ahLst/>
            <a:cxnLst/>
            <a:rect l="l" t="t" r="r" b="b"/>
            <a:pathLst>
              <a:path w="4302125" h="379094">
                <a:moveTo>
                  <a:pt x="0" y="0"/>
                </a:moveTo>
                <a:lnTo>
                  <a:pt x="4301816" y="0"/>
                </a:lnTo>
                <a:lnTo>
                  <a:pt x="4301816" y="378861"/>
                </a:lnTo>
                <a:lnTo>
                  <a:pt x="0" y="3788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</p:spTree>
    <p:extLst>
      <p:ext uri="{BB962C8B-B14F-4D97-AF65-F5344CB8AC3E}">
        <p14:creationId xmlns:p14="http://schemas.microsoft.com/office/powerpoint/2010/main" val="177645960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2248" y="948060"/>
            <a:ext cx="8053290" cy="426746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17970" defTabSz="970353">
              <a:lnSpc>
                <a:spcPct val="100000"/>
              </a:lnSpc>
              <a:spcBef>
                <a:spcPts val="142"/>
              </a:spcBef>
            </a:pPr>
            <a:r>
              <a:rPr lang="en-GB" sz="2654" b="0" i="0" kern="1200" spc="-120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Using </a:t>
            </a:r>
            <a:r>
              <a:rPr lang="en-GB" sz="2654" b="0" i="0" kern="1200" spc="-142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Closure </a:t>
            </a:r>
            <a:r>
              <a:rPr lang="en-GB" sz="2654" b="0" i="0" kern="1200" spc="-106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to </a:t>
            </a:r>
            <a:r>
              <a:rPr lang="en-GB" sz="2654" b="0" i="0" kern="1200" spc="-298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Infer </a:t>
            </a:r>
            <a:r>
              <a:rPr lang="en-GB" sz="2654" b="0" i="0" kern="1200" spc="-106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ALL</a:t>
            </a:r>
            <a:r>
              <a:rPr lang="en-GB" sz="2654" b="0" i="0" kern="1200" spc="-594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 </a:t>
            </a:r>
            <a:r>
              <a:rPr lang="en-GB" sz="2654" b="0" i="0" kern="1200" spc="-106" baseline="0" dirty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rPr>
              <a:t>FDs (A first level of a base)</a:t>
            </a:r>
            <a:endParaRPr lang="en-GB" spc="-88" dirty="0"/>
          </a:p>
        </p:txBody>
      </p:sp>
      <p:sp>
        <p:nvSpPr>
          <p:cNvPr id="3" name="object 3"/>
          <p:cNvSpPr txBox="1"/>
          <p:nvPr/>
        </p:nvSpPr>
        <p:spPr>
          <a:xfrm>
            <a:off x="8245397" y="2060846"/>
            <a:ext cx="1446661" cy="966737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66834" rIns="0" bIns="0" rtlCol="0">
            <a:spAutoFit/>
          </a:bodyPr>
          <a:lstStyle/>
          <a:p>
            <a:pPr marL="121299" defTabSz="1106217">
              <a:lnSpc>
                <a:spcPts val="2355"/>
              </a:lnSpc>
              <a:spcBef>
                <a:spcPts val="636"/>
              </a:spcBef>
            </a:pPr>
            <a:r>
              <a:rPr lang="en-GB" sz="1981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{A,B} </a:t>
            </a:r>
            <a:r>
              <a:rPr lang="en-GB" sz="198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981" kern="1200" spc="-127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C</a:t>
            </a:r>
            <a:endParaRPr lang="en-GB" sz="1981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1299" defTabSz="1106217">
              <a:lnSpc>
                <a:spcPts val="2335"/>
              </a:lnSpc>
            </a:pPr>
            <a:r>
              <a:rPr lang="en-GB" sz="1981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{A,D} </a:t>
            </a:r>
            <a:r>
              <a:rPr lang="en-GB" sz="198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981" kern="1200" spc="-127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B</a:t>
            </a:r>
            <a:endParaRPr lang="en-GB" sz="1981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1299" defTabSz="1106217">
              <a:lnSpc>
                <a:spcPts val="2355"/>
              </a:lnSpc>
              <a:tabLst>
                <a:tab pos="665793" algn="l"/>
              </a:tabLst>
            </a:pPr>
            <a:r>
              <a:rPr lang="en-GB" sz="1981" kern="1200" spc="-7">
                <a:solidFill>
                  <a:srgbClr val="BF4F4D"/>
                </a:solidFill>
                <a:latin typeface="Arial"/>
                <a:ea typeface="+mn-ea"/>
                <a:cs typeface="Arial"/>
              </a:rPr>
              <a:t>{B}	</a:t>
            </a:r>
            <a:r>
              <a:rPr lang="en-GB" sz="198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1981" kern="1200" spc="-35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>
                <a:solidFill>
                  <a:srgbClr val="BF4F4D"/>
                </a:solidFill>
                <a:latin typeface="Arial"/>
                <a:ea typeface="+mn-ea"/>
                <a:cs typeface="Arial"/>
              </a:rPr>
              <a:t>D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28113" y="2043398"/>
            <a:ext cx="976429" cy="622703"/>
          </a:xfrm>
          <a:prstGeom prst="rect">
            <a:avLst/>
          </a:prstGeom>
        </p:spPr>
        <p:txBody>
          <a:bodyPr vert="horz" wrap="square" lIns="0" tIns="26734" rIns="0" bIns="0" rtlCol="0">
            <a:spAutoFit/>
          </a:bodyPr>
          <a:lstStyle/>
          <a:p>
            <a:pPr marL="17970" marR="7189" defTabSz="1106217">
              <a:lnSpc>
                <a:spcPts val="2335"/>
              </a:lnSpc>
              <a:spcBef>
                <a:spcPts val="254"/>
              </a:spcBef>
            </a:pPr>
            <a:r>
              <a:rPr lang="en-GB" sz="1981" u="heavy" kern="1200" spc="-114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+mn-cs"/>
              </a:rPr>
              <a:t>Example: </a:t>
            </a:r>
            <a:r>
              <a:rPr lang="en-GB" sz="1981" kern="1200" spc="-7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1981" kern="1200" spc="-9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Given </a:t>
            </a:r>
            <a:r>
              <a:rPr lang="en-GB" sz="1981" kern="1200" spc="-13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F</a:t>
            </a:r>
            <a:r>
              <a:rPr lang="en-GB" sz="1981" kern="1200" spc="-333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1981" kern="1200" spc="-5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=</a:t>
            </a:r>
            <a:endParaRPr lang="en-GB" sz="1637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9502" y="3163502"/>
            <a:ext cx="7055283" cy="1615507"/>
          </a:xfrm>
          <a:custGeom>
            <a:avLst/>
            <a:gdLst/>
            <a:ahLst/>
            <a:cxnLst/>
            <a:rect l="l" t="t" r="r" b="b"/>
            <a:pathLst>
              <a:path w="4982845" h="979169">
                <a:moveTo>
                  <a:pt x="0" y="0"/>
                </a:moveTo>
                <a:lnTo>
                  <a:pt x="4982807" y="0"/>
                </a:lnTo>
                <a:lnTo>
                  <a:pt x="4982807" y="978733"/>
                </a:lnTo>
                <a:lnTo>
                  <a:pt x="0" y="978733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6" name="object 6"/>
          <p:cNvSpPr txBox="1"/>
          <p:nvPr/>
        </p:nvSpPr>
        <p:spPr>
          <a:xfrm>
            <a:off x="830883" y="3258324"/>
            <a:ext cx="6175957" cy="1404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106217">
              <a:lnSpc>
                <a:spcPts val="2314"/>
              </a:lnSpc>
              <a:spcAft>
                <a:spcPts val="600"/>
              </a:spcAft>
            </a:pP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{A}</a:t>
            </a:r>
            <a:r>
              <a:rPr lang="en-GB" sz="1911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11" kern="1200" spc="-18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 {A},</a:t>
            </a:r>
            <a:r>
              <a:rPr lang="en-GB" sz="1981" kern="1200" spc="-15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 spc="7">
                <a:solidFill>
                  <a:srgbClr val="BF0000"/>
                </a:solidFill>
                <a:latin typeface="Arial"/>
                <a:ea typeface="+mn-ea"/>
                <a:cs typeface="Arial"/>
              </a:rPr>
              <a:t>{B}</a:t>
            </a:r>
            <a:r>
              <a:rPr lang="en-GB" sz="1911" kern="1200" spc="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11" kern="1200" spc="-169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 {B,D},</a:t>
            </a:r>
            <a:r>
              <a:rPr lang="en-GB" sz="1981" kern="1200" spc="-15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 spc="7">
                <a:solidFill>
                  <a:srgbClr val="BF0000"/>
                </a:solidFill>
                <a:latin typeface="Arial"/>
                <a:ea typeface="+mn-ea"/>
                <a:cs typeface="Arial"/>
              </a:rPr>
              <a:t>{C}</a:t>
            </a:r>
            <a:r>
              <a:rPr lang="en-GB" sz="1911" kern="1200" spc="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11" kern="1200" spc="-169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 {C},</a:t>
            </a:r>
            <a:r>
              <a:rPr lang="en-GB" sz="1981" kern="1200" spc="-15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 spc="7">
                <a:solidFill>
                  <a:srgbClr val="BF0000"/>
                </a:solidFill>
                <a:latin typeface="Arial"/>
                <a:ea typeface="+mn-ea"/>
                <a:cs typeface="Arial"/>
              </a:rPr>
              <a:t>{D}</a:t>
            </a:r>
            <a:r>
              <a:rPr lang="en-GB" sz="1911" kern="1200" spc="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11" kern="1200" spc="-169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1981" kern="1200" spc="-15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{D},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{A,B}</a:t>
            </a:r>
            <a:r>
              <a:rPr lang="en-GB" sz="1911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</a:t>
            </a:r>
            <a:r>
              <a:rPr lang="en-GB" sz="1911" kern="1200" spc="-169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endParaRPr lang="en-GB" sz="1981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06217">
              <a:lnSpc>
                <a:spcPts val="2335"/>
              </a:lnSpc>
              <a:spcAft>
                <a:spcPts val="600"/>
              </a:spcAft>
            </a:pP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{A,B,C,D},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{A,C}</a:t>
            </a:r>
            <a:r>
              <a:rPr lang="en-GB" sz="1911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{A,C},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{A,D}</a:t>
            </a:r>
            <a:r>
              <a:rPr lang="en-GB" sz="1911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{A,B,C,D},</a:t>
            </a:r>
            <a:r>
              <a:rPr lang="en-GB" sz="1981" kern="1200" spc="-390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{A,B,C}</a:t>
            </a:r>
            <a:r>
              <a:rPr lang="en-GB" sz="1911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endParaRPr lang="en-GB" sz="1981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06217">
              <a:lnSpc>
                <a:spcPts val="2335"/>
              </a:lnSpc>
              <a:spcAft>
                <a:spcPts val="600"/>
              </a:spcAft>
            </a:pP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{A,B,D}</a:t>
            </a:r>
            <a:r>
              <a:rPr lang="en-GB" sz="1911" kern="1200" spc="-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{A,C,D}</a:t>
            </a:r>
            <a:r>
              <a:rPr lang="en-GB" sz="1911" kern="1200" spc="-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{A,B,C,D},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{B,C,D}</a:t>
            </a:r>
            <a:r>
              <a:rPr lang="en-GB" sz="1911" kern="120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</a:t>
            </a:r>
            <a:r>
              <a:rPr lang="en-GB" sz="1981" kern="1200" spc="-353">
                <a:solidFill>
                  <a:srgbClr val="BF000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{B,C,D},</a:t>
            </a:r>
            <a:endParaRPr lang="en-GB" sz="1981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defTabSz="1106217">
              <a:lnSpc>
                <a:spcPts val="2355"/>
              </a:lnSpc>
              <a:spcAft>
                <a:spcPts val="600"/>
              </a:spcAft>
            </a:pP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</a:t>
            </a:r>
            <a:r>
              <a:rPr lang="en-GB" sz="1911" kern="1200" spc="-10" baseline="30864">
                <a:solidFill>
                  <a:srgbClr val="BF0000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1981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= </a:t>
            </a:r>
            <a:r>
              <a:rPr lang="en-GB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{A,B,C,D}</a:t>
            </a:r>
            <a:endParaRPr lang="en-GB" sz="163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3501" y="5042409"/>
            <a:ext cx="6841296" cy="366734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7970" defTabSz="1106217">
              <a:spcBef>
                <a:spcPts val="142"/>
              </a:spcBef>
            </a:pPr>
            <a:r>
              <a:rPr lang="en-GB" sz="2264" kern="1200" spc="-9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Step</a:t>
            </a:r>
            <a:r>
              <a:rPr lang="en-GB" sz="2264" kern="1200" spc="-18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14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2: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9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Enumerate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13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all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6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FDs</a:t>
            </a:r>
            <a:r>
              <a:rPr lang="en-GB" sz="2264" kern="1200" spc="-18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9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</a:t>
            </a:r>
            <a:r>
              <a:rPr lang="en-GB" sz="2264" kern="1200" spc="-14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264" kern="1200" spc="-12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64" kern="1200" spc="-23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Y,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18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s.t. </a:t>
            </a:r>
            <a:r>
              <a:rPr lang="en-GB" sz="2264" kern="1200" spc="-19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Y</a:t>
            </a:r>
            <a:r>
              <a:rPr lang="en-GB" sz="2264" kern="1200" spc="-16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359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⊆</a:t>
            </a:r>
            <a:r>
              <a:rPr lang="en-GB" sz="2264" kern="1200" spc="-248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 </a:t>
            </a:r>
            <a:r>
              <a:rPr lang="en-GB" sz="2264" kern="1200" spc="-6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</a:t>
            </a:r>
            <a:r>
              <a:rPr lang="en-GB" sz="2229" kern="1200" spc="-94" baseline="31746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+</a:t>
            </a:r>
            <a:r>
              <a:rPr lang="en-GB" sz="2229" kern="1200" spc="-169" baseline="31746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and</a:t>
            </a:r>
            <a:r>
              <a:rPr lang="en-GB" sz="2264" kern="1200" spc="-18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9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∩</a:t>
            </a:r>
            <a:r>
              <a:rPr lang="en-GB" sz="2264" kern="1200" spc="-12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64" kern="1200" spc="-19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Y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64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=</a:t>
            </a:r>
            <a:r>
              <a:rPr lang="en-GB" sz="2264" kern="1200" spc="-16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545">
                <a:solidFill>
                  <a:schemeClr val="tx1"/>
                </a:solidFill>
                <a:latin typeface="DejaVu Sans"/>
                <a:ea typeface="+mn-ea"/>
                <a:cs typeface="+mn-cs"/>
              </a:rPr>
              <a:t>∅</a:t>
            </a:r>
            <a:r>
              <a:rPr lang="en-GB" sz="2264" kern="1200" spc="-545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:</a:t>
            </a:r>
            <a:endParaRPr lang="en-GB" sz="1871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0106" y="5603133"/>
            <a:ext cx="7055283" cy="966737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66834" rIns="0" bIns="0" rtlCol="0">
            <a:spAutoFit/>
          </a:bodyPr>
          <a:lstStyle/>
          <a:p>
            <a:pPr marL="120400" defTabSz="1106217">
              <a:lnSpc>
                <a:spcPts val="2355"/>
              </a:lnSpc>
              <a:spcBef>
                <a:spcPts val="636"/>
              </a:spcBef>
            </a:pP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{B} </a:t>
            </a:r>
            <a:r>
              <a:rPr lang="is-IS" sz="198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</a:t>
            </a: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{D}</a:t>
            </a:r>
            <a:r>
              <a:rPr lang="is-IS" sz="1981" kern="1200" spc="-7">
                <a:solidFill>
                  <a:srgbClr val="000000"/>
                </a:solidFill>
                <a:latin typeface="Arial"/>
                <a:ea typeface="+mn-ea"/>
                <a:cs typeface="Arial"/>
              </a:rPr>
              <a:t>, </a:t>
            </a: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{A,B} </a:t>
            </a:r>
            <a:r>
              <a:rPr lang="is-IS" sz="198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</a:t>
            </a: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{C,D}</a:t>
            </a:r>
            <a:r>
              <a:rPr lang="is-IS" sz="198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 </a:t>
            </a: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{A,D} </a:t>
            </a:r>
            <a:r>
              <a:rPr lang="is-IS" sz="198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is-IS" sz="1981" kern="1200" spc="-85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{B,C}</a:t>
            </a:r>
            <a:r>
              <a:rPr lang="is-IS" sz="198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</a:t>
            </a:r>
            <a:endParaRPr lang="is-IS" sz="1981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0400" defTabSz="1106217">
              <a:lnSpc>
                <a:spcPts val="2335"/>
              </a:lnSpc>
            </a:pP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{A,B,C} </a:t>
            </a:r>
            <a:r>
              <a:rPr lang="is-IS" sz="198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 </a:t>
            </a: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{D}</a:t>
            </a:r>
            <a:r>
              <a:rPr lang="is-IS" sz="198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 </a:t>
            </a: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{A,B,D} </a:t>
            </a:r>
            <a:r>
              <a:rPr lang="is-IS" sz="198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is-IS" sz="1981" kern="1200" spc="-7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{C}</a:t>
            </a:r>
            <a:r>
              <a:rPr lang="is-IS" sz="1981" kern="1200" spc="-7">
                <a:solidFill>
                  <a:schemeClr val="tx1"/>
                </a:solidFill>
                <a:latin typeface="Arial"/>
                <a:ea typeface="+mn-ea"/>
                <a:cs typeface="Arial"/>
              </a:rPr>
              <a:t>,</a:t>
            </a:r>
            <a:endParaRPr lang="is-IS" sz="1981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0400" defTabSz="1106217">
              <a:lnSpc>
                <a:spcPts val="2355"/>
              </a:lnSpc>
            </a:pP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{A,C,D} </a:t>
            </a:r>
            <a:r>
              <a:rPr lang="is-IS" sz="198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is-IS" sz="1981" kern="1200" spc="7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is-IS" sz="1981" kern="1200" spc="-7">
                <a:solidFill>
                  <a:srgbClr val="BF0000"/>
                </a:solidFill>
                <a:latin typeface="Arial"/>
                <a:ea typeface="+mn-ea"/>
                <a:cs typeface="Arial"/>
              </a:rPr>
              <a:t>{B}</a:t>
            </a:r>
            <a:endParaRPr lang="is-IS" sz="1637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4374" y="2976482"/>
            <a:ext cx="7200938" cy="2102676"/>
          </a:xfrm>
          <a:custGeom>
            <a:avLst/>
            <a:gdLst/>
            <a:ahLst/>
            <a:cxnLst/>
            <a:rect l="l" t="t" r="r" b="b"/>
            <a:pathLst>
              <a:path w="5085715" h="1274445">
                <a:moveTo>
                  <a:pt x="0" y="0"/>
                </a:moveTo>
                <a:lnTo>
                  <a:pt x="5085304" y="0"/>
                </a:lnTo>
                <a:lnTo>
                  <a:pt x="5085304" y="1274017"/>
                </a:lnTo>
                <a:lnTo>
                  <a:pt x="0" y="12740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  <p:sp>
        <p:nvSpPr>
          <p:cNvPr id="12" name="object 12"/>
          <p:cNvSpPr txBox="1"/>
          <p:nvPr/>
        </p:nvSpPr>
        <p:spPr>
          <a:xfrm>
            <a:off x="8245399" y="4921250"/>
            <a:ext cx="1883626" cy="1785069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30445" rIns="0" bIns="0" rtlCol="0">
            <a:spAutoFit/>
          </a:bodyPr>
          <a:lstStyle/>
          <a:p>
            <a:pPr marL="121299" marR="155441" defTabSz="1106217">
              <a:lnSpc>
                <a:spcPct val="101600"/>
              </a:lnSpc>
              <a:spcBef>
                <a:spcPts val="289"/>
              </a:spcBef>
            </a:pPr>
            <a:r>
              <a:rPr lang="en-GB" sz="2264" i="1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Immer </a:t>
            </a:r>
            <a:r>
              <a:rPr lang="en-GB" sz="2264" i="1" kern="1200" spc="-7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noch</a:t>
            </a:r>
            <a:r>
              <a:rPr lang="en-GB" sz="2264" i="1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64" i="1" kern="1200" spc="-7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große</a:t>
            </a:r>
            <a:r>
              <a:rPr lang="en-GB" sz="2264" i="1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64" i="1" kern="1200" spc="-7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Anzahl</a:t>
            </a:r>
            <a:r>
              <a:rPr lang="en-GB" sz="2264" i="1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64" i="1" kern="1200" spc="-7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im</a:t>
            </a:r>
            <a:r>
              <a:rPr lang="en-GB" sz="2264" i="1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64" i="1" kern="1200" spc="-7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Vergleich</a:t>
            </a:r>
            <a:r>
              <a:rPr lang="en-GB" sz="2264" i="1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64" i="1" kern="1200" spc="-7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zu</a:t>
            </a:r>
            <a:r>
              <a:rPr lang="en-GB" sz="2264" i="1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264" i="1" kern="1200" spc="-7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oben</a:t>
            </a:r>
            <a:r>
              <a:rPr lang="en-GB" sz="2264" i="1" kern="1200" spc="-7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…</a:t>
            </a:r>
            <a:endParaRPr lang="en-GB" sz="1871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0883" y="2517105"/>
            <a:ext cx="5676954" cy="3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106217">
              <a:lnSpc>
                <a:spcPts val="2433"/>
              </a:lnSpc>
              <a:spcAft>
                <a:spcPts val="600"/>
              </a:spcAft>
            </a:pPr>
            <a:r>
              <a:rPr lang="en-GB" sz="2264" kern="1200" spc="-9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Step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14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1: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9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Compute</a:t>
            </a:r>
            <a:r>
              <a:rPr lang="en-GB" sz="2264" kern="1200" spc="-16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12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</a:t>
            </a:r>
            <a:r>
              <a:rPr lang="en-GB" sz="2229" kern="1200" spc="-191" baseline="31746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+</a:t>
            </a:r>
            <a:r>
              <a:rPr lang="en-GB" sz="2264" kern="1200" spc="-12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,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9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for</a:t>
            </a:r>
            <a:r>
              <a:rPr lang="en-GB" sz="2264" kern="1200" spc="-16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106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every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9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set</a:t>
            </a:r>
            <a:r>
              <a:rPr lang="en-GB" sz="2264" kern="1200" spc="-16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92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of</a:t>
            </a:r>
            <a:r>
              <a:rPr lang="en-GB" sz="2264" kern="1200" spc="-177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106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attributes</a:t>
            </a:r>
            <a:r>
              <a:rPr lang="en-GB" sz="2264" kern="1200" spc="-169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 </a:t>
            </a:r>
            <a:r>
              <a:rPr lang="en-GB" sz="2264" kern="1200" spc="-16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X:</a:t>
            </a:r>
            <a:endParaRPr lang="en-GB" sz="1871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6695" y="2392733"/>
            <a:ext cx="6091442" cy="536767"/>
          </a:xfrm>
          <a:custGeom>
            <a:avLst/>
            <a:gdLst/>
            <a:ahLst/>
            <a:cxnLst/>
            <a:rect l="l" t="t" r="r" b="b"/>
            <a:pathLst>
              <a:path w="4302125" h="379094">
                <a:moveTo>
                  <a:pt x="0" y="0"/>
                </a:moveTo>
                <a:lnTo>
                  <a:pt x="4301816" y="0"/>
                </a:lnTo>
                <a:lnTo>
                  <a:pt x="4301816" y="378861"/>
                </a:lnTo>
                <a:lnTo>
                  <a:pt x="0" y="3788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</p:spPr>
        <p:txBody>
          <a:bodyPr wrap="square" lIns="0" tIns="0" rIns="0" bIns="0" rtlCol="0"/>
          <a:lstStyle/>
          <a:p>
            <a:endParaRPr sz="2105"/>
          </a:p>
        </p:txBody>
      </p:sp>
    </p:spTree>
    <p:extLst>
      <p:ext uri="{BB962C8B-B14F-4D97-AF65-F5344CB8AC3E}">
        <p14:creationId xmlns:p14="http://schemas.microsoft.com/office/powerpoint/2010/main" val="225349763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0379" y="1140129"/>
            <a:ext cx="8012642" cy="1007797"/>
          </a:xfrm>
        </p:spPr>
        <p:txBody>
          <a:bodyPr/>
          <a:lstStyle/>
          <a:p>
            <a:r>
              <a:rPr lang="en-US" dirty="0"/>
              <a:t>Find a basis for all dependencies (canonical cover)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191" y="2390964"/>
            <a:ext cx="8947015" cy="12957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i="1" dirty="0"/>
              <a:t>canonical cover</a:t>
            </a:r>
            <a:r>
              <a:rPr lang="en-US" dirty="0"/>
              <a:t> of a set of functional dependencies F is a simplified set of functional dependencies that has the same closure as the original set F.</a:t>
            </a:r>
          </a:p>
          <a:p>
            <a:endParaRPr lang="en-US" b="1" dirty="0"/>
          </a:p>
          <a:p>
            <a:r>
              <a:rPr lang="en-US" b="1" dirty="0"/>
              <a:t>Definitions: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270" y="3776577"/>
            <a:ext cx="8034902" cy="2942358"/>
          </a:xfrm>
          <a:prstGeom prst="rect">
            <a:avLst/>
          </a:prstGeom>
        </p:spPr>
      </p:pic>
      <p:sp>
        <p:nvSpPr>
          <p:cNvPr id="5" name="object 12"/>
          <p:cNvSpPr txBox="1"/>
          <p:nvPr/>
        </p:nvSpPr>
        <p:spPr>
          <a:xfrm>
            <a:off x="89112" y="3956474"/>
            <a:ext cx="1555741" cy="892901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30445" rIns="0" bIns="0" rtlCol="0">
            <a:spAutoFit/>
          </a:bodyPr>
          <a:lstStyle/>
          <a:p>
            <a:pPr marL="100247" marR="128464">
              <a:lnSpc>
                <a:spcPct val="101600"/>
              </a:lnSpc>
              <a:spcBef>
                <a:spcPts val="239"/>
              </a:spcBef>
            </a:pPr>
            <a:r>
              <a:rPr lang="en-GB" sz="1871" i="1" spc="-6" dirty="0">
                <a:latin typeface="Arial"/>
                <a:cs typeface="Arial"/>
              </a:rPr>
              <a:t>So must already be implied</a:t>
            </a:r>
            <a:endParaRPr sz="1871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E26B1-1DF7-474C-A591-2749A673246D}"/>
              </a:ext>
            </a:extLst>
          </p:cNvPr>
          <p:cNvSpPr txBox="1"/>
          <p:nvPr/>
        </p:nvSpPr>
        <p:spPr>
          <a:xfrm>
            <a:off x="5346700" y="6286185"/>
            <a:ext cx="2944389" cy="41626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2105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78E345-4D47-244D-8D8D-BE71CA87E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360" y="6332785"/>
            <a:ext cx="356447" cy="23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2168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C65A5-496B-154E-903F-FA362F257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71" y="577850"/>
            <a:ext cx="7098030" cy="656921"/>
          </a:xfrm>
        </p:spPr>
        <p:txBody>
          <a:bodyPr/>
          <a:lstStyle/>
          <a:p>
            <a:r>
              <a:rPr lang="en-US" dirty="0" err="1"/>
              <a:t>Formale</a:t>
            </a:r>
            <a:r>
              <a:rPr lang="en-US" dirty="0"/>
              <a:t> Definition der </a:t>
            </a:r>
            <a:r>
              <a:rPr lang="en-US" dirty="0" err="1"/>
              <a:t>kanonischen</a:t>
            </a:r>
            <a:r>
              <a:rPr lang="en-US" dirty="0"/>
              <a:t> </a:t>
            </a:r>
            <a:r>
              <a:rPr lang="en-US" dirty="0" err="1"/>
              <a:t>Überdeckung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A56FAC-3246-C444-AF7C-D9872AC6C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58" y="2147926"/>
            <a:ext cx="7240323" cy="41163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4218FE-80E9-CE4C-AE7D-ED74CC740D53}"/>
              </a:ext>
            </a:extLst>
          </p:cNvPr>
          <p:cNvSpPr txBox="1"/>
          <p:nvPr/>
        </p:nvSpPr>
        <p:spPr>
          <a:xfrm>
            <a:off x="7930938" y="1728681"/>
            <a:ext cx="2406015" cy="29710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69" dirty="0"/>
              <a:t>Attribute </a:t>
            </a:r>
            <a:r>
              <a:rPr lang="en-US" sz="1169" dirty="0" err="1"/>
              <a:t>eliminieren</a:t>
            </a:r>
            <a:r>
              <a:rPr lang="en-US" sz="1169" dirty="0"/>
              <a:t> </a:t>
            </a:r>
            <a:r>
              <a:rPr lang="en-US" sz="1169" dirty="0" err="1"/>
              <a:t>ohne</a:t>
            </a:r>
            <a:r>
              <a:rPr lang="en-US" sz="1169" dirty="0"/>
              <a:t> die die Closure </a:t>
            </a:r>
            <a:r>
              <a:rPr lang="en-US" sz="1169" dirty="0" err="1"/>
              <a:t>bereits</a:t>
            </a:r>
            <a:r>
              <a:rPr lang="en-US" sz="1169" dirty="0"/>
              <a:t> </a:t>
            </a:r>
            <a:r>
              <a:rPr lang="en-US" sz="1169" dirty="0" err="1"/>
              <a:t>existiert</a:t>
            </a:r>
            <a:r>
              <a:rPr lang="en-US" sz="1169" dirty="0"/>
              <a:t> (in </a:t>
            </a:r>
            <a:r>
              <a:rPr lang="en-US" sz="1169" dirty="0" err="1"/>
              <a:t>einer</a:t>
            </a:r>
            <a:r>
              <a:rPr lang="en-US" sz="1169" dirty="0"/>
              <a:t> der </a:t>
            </a:r>
            <a:r>
              <a:rPr lang="en-US" sz="1169" dirty="0" err="1"/>
              <a:t>anderen</a:t>
            </a:r>
            <a:r>
              <a:rPr lang="en-US" sz="1169" dirty="0"/>
              <a:t> FDs und </a:t>
            </a:r>
            <a:r>
              <a:rPr lang="en-US" sz="1169" dirty="0" err="1"/>
              <a:t>kann</a:t>
            </a:r>
            <a:r>
              <a:rPr lang="en-US" sz="1169" dirty="0"/>
              <a:t> </a:t>
            </a:r>
            <a:r>
              <a:rPr lang="en-US" sz="1169" dirty="0" err="1"/>
              <a:t>groesser</a:t>
            </a:r>
            <a:r>
              <a:rPr lang="en-US" sz="1169" dirty="0"/>
              <a:t> sein, </a:t>
            </a:r>
            <a:r>
              <a:rPr lang="en-US" sz="1169" dirty="0" err="1"/>
              <a:t>ist</a:t>
            </a:r>
            <a:r>
              <a:rPr lang="en-US" sz="1169" dirty="0"/>
              <a:t> </a:t>
            </a:r>
            <a:r>
              <a:rPr lang="en-US" sz="1169" dirty="0" err="1"/>
              <a:t>hier</a:t>
            </a:r>
            <a:r>
              <a:rPr lang="en-US" sz="1169" dirty="0"/>
              <a:t> </a:t>
            </a:r>
            <a:r>
              <a:rPr lang="en-US" sz="1169" dirty="0" err="1"/>
              <a:t>nur</a:t>
            </a:r>
            <a:r>
              <a:rPr lang="en-US" sz="1169" dirty="0"/>
              <a:t> </a:t>
            </a:r>
            <a:r>
              <a:rPr lang="en-US" sz="1169" dirty="0" err="1"/>
              <a:t>dass</a:t>
            </a:r>
            <a:r>
              <a:rPr lang="en-US" sz="1169" dirty="0"/>
              <a:t> minimal die </a:t>
            </a:r>
            <a:r>
              <a:rPr lang="en-US" sz="1169" dirty="0" err="1"/>
              <a:t>vorherige</a:t>
            </a:r>
            <a:r>
              <a:rPr lang="en-US" sz="1169" dirty="0"/>
              <a:t> Closure </a:t>
            </a:r>
            <a:r>
              <a:rPr lang="en-US" sz="1169" dirty="0" err="1"/>
              <a:t>enthalten</a:t>
            </a:r>
            <a:r>
              <a:rPr lang="en-US" sz="1169" dirty="0"/>
              <a:t> </a:t>
            </a:r>
            <a:r>
              <a:rPr lang="en-US" sz="1169" dirty="0" err="1"/>
              <a:t>ist</a:t>
            </a:r>
            <a:r>
              <a:rPr lang="en-US" sz="1169" dirty="0"/>
              <a:t>). </a:t>
            </a:r>
          </a:p>
          <a:p>
            <a:r>
              <a:rPr lang="en-US" sz="1169" dirty="0"/>
              <a:t>In </a:t>
            </a:r>
            <a:r>
              <a:rPr lang="en-US" sz="1169" dirty="0" err="1"/>
              <a:t>allen</a:t>
            </a:r>
            <a:r>
              <a:rPr lang="en-US" sz="1169" dirty="0"/>
              <a:t> </a:t>
            </a:r>
            <a:r>
              <a:rPr lang="en-US" sz="1169" dirty="0" err="1"/>
              <a:t>anderen</a:t>
            </a:r>
            <a:r>
              <a:rPr lang="en-US" sz="1169" dirty="0"/>
              <a:t> </a:t>
            </a:r>
            <a:r>
              <a:rPr lang="en-US" sz="1169" dirty="0" err="1"/>
              <a:t>Beziehungen</a:t>
            </a:r>
            <a:r>
              <a:rPr lang="en-US" sz="1169" dirty="0"/>
              <a:t> </a:t>
            </a:r>
            <a:r>
              <a:rPr lang="en-US" sz="1169" dirty="0" err="1"/>
              <a:t>benutzen</a:t>
            </a:r>
            <a:r>
              <a:rPr lang="en-US" sz="1169" dirty="0"/>
              <a:t> </a:t>
            </a:r>
            <a:r>
              <a:rPr lang="en-US" sz="1169" dirty="0" err="1"/>
              <a:t>wir</a:t>
            </a:r>
            <a:r>
              <a:rPr lang="en-US" sz="1169" dirty="0"/>
              <a:t>  </a:t>
            </a:r>
          </a:p>
          <a:p>
            <a:endParaRPr lang="en-US" sz="1169" dirty="0"/>
          </a:p>
          <a:p>
            <a:endParaRPr lang="en-US" sz="1169" dirty="0"/>
          </a:p>
          <a:p>
            <a:endParaRPr lang="en-US" sz="1169" dirty="0"/>
          </a:p>
          <a:p>
            <a:r>
              <a:rPr lang="en-US" sz="1169" dirty="0" err="1"/>
              <a:t>d.h.</a:t>
            </a:r>
            <a:r>
              <a:rPr lang="en-US" sz="1169" dirty="0"/>
              <a:t> es </a:t>
            </a:r>
            <a:r>
              <a:rPr lang="en-US" sz="1169" dirty="0" err="1"/>
              <a:t>aendert</a:t>
            </a:r>
            <a:r>
              <a:rPr lang="en-US" sz="1169" dirty="0"/>
              <a:t> </a:t>
            </a:r>
            <a:r>
              <a:rPr lang="en-US" sz="1169" dirty="0" err="1"/>
              <a:t>sich</a:t>
            </a:r>
            <a:r>
              <a:rPr lang="en-US" sz="1169" dirty="0"/>
              <a:t> </a:t>
            </a:r>
            <a:r>
              <a:rPr lang="en-US" sz="1169" dirty="0" err="1"/>
              <a:t>nichts</a:t>
            </a:r>
            <a:r>
              <a:rPr lang="en-US" sz="1169" dirty="0"/>
              <a:t> (</a:t>
            </a:r>
            <a:r>
              <a:rPr lang="en-US" sz="1169" dirty="0" err="1"/>
              <a:t>gleiche</a:t>
            </a:r>
            <a:r>
              <a:rPr lang="en-US" sz="1169" dirty="0"/>
              <a:t> FD </a:t>
            </a:r>
          </a:p>
          <a:p>
            <a:endParaRPr lang="en-US" sz="1169" dirty="0"/>
          </a:p>
          <a:p>
            <a:r>
              <a:rPr lang="en-US" sz="1169" dirty="0"/>
              <a:t>gilt. [</a:t>
            </a:r>
            <a:r>
              <a:rPr lang="en-US" sz="1169" dirty="0" err="1"/>
              <a:t>Kein</a:t>
            </a:r>
            <a:r>
              <a:rPr lang="en-US" sz="1169" dirty="0"/>
              <a:t> Problem, </a:t>
            </a:r>
            <a:r>
              <a:rPr lang="en-US" sz="1169" dirty="0" err="1"/>
              <a:t>dass</a:t>
            </a:r>
            <a:r>
              <a:rPr lang="en-US" sz="1169" dirty="0"/>
              <a:t> </a:t>
            </a:r>
            <a:r>
              <a:rPr lang="en-US" sz="1169" dirty="0" err="1"/>
              <a:t>diese</a:t>
            </a:r>
            <a:r>
              <a:rPr lang="en-US" sz="1169" dirty="0"/>
              <a:t> Closures grosser </a:t>
            </a:r>
            <a:r>
              <a:rPr lang="en-US" sz="1169" dirty="0" err="1"/>
              <a:t>sind</a:t>
            </a:r>
            <a:r>
              <a:rPr lang="en-US" sz="1169" dirty="0"/>
              <a:t> – </a:t>
            </a:r>
            <a:r>
              <a:rPr lang="en-US" sz="1169" dirty="0" err="1"/>
              <a:t>sind</a:t>
            </a:r>
            <a:r>
              <a:rPr lang="en-US" sz="1169" dirty="0"/>
              <a:t> ja </a:t>
            </a:r>
            <a:r>
              <a:rPr lang="en-US" sz="1169" dirty="0" err="1"/>
              <a:t>auch</a:t>
            </a:r>
            <a:r>
              <a:rPr lang="en-US" sz="1169" dirty="0"/>
              <a:t> </a:t>
            </a:r>
            <a:r>
              <a:rPr lang="en-US" sz="1169" dirty="0" err="1"/>
              <a:t>andere</a:t>
            </a:r>
            <a:r>
              <a:rPr lang="en-US" sz="1169" dirty="0"/>
              <a:t> </a:t>
            </a:r>
            <a:r>
              <a:rPr lang="en-US" sz="1169" dirty="0" err="1"/>
              <a:t>Ausgangs-Attributmengen</a:t>
            </a:r>
            <a:r>
              <a:rPr lang="en-US" sz="1169" dirty="0"/>
              <a:t>].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8EF56C-FA5B-5E45-83C3-856456249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42" y="3210487"/>
            <a:ext cx="445558" cy="2121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BC8078-650F-DE4C-B6F3-0535D4974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4720" y="3185340"/>
            <a:ext cx="980228" cy="2756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4F015E-EE69-9049-9FED-D9A6DB986F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720" y="3832854"/>
            <a:ext cx="623782" cy="2366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C3EDCD-D367-4541-9D20-1B0B78628696}"/>
              </a:ext>
            </a:extLst>
          </p:cNvPr>
          <p:cNvSpPr txBox="1"/>
          <p:nvPr/>
        </p:nvSpPr>
        <p:spPr>
          <a:xfrm>
            <a:off x="7930938" y="5083875"/>
            <a:ext cx="2406015" cy="1351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69" dirty="0"/>
              <a:t>Also muss</a:t>
            </a:r>
          </a:p>
          <a:p>
            <a:r>
              <a:rPr lang="en-US" sz="1169" dirty="0"/>
              <a:t> </a:t>
            </a:r>
          </a:p>
          <a:p>
            <a:endParaRPr lang="en-US" sz="1169" dirty="0"/>
          </a:p>
          <a:p>
            <a:r>
              <a:rPr lang="en-US" sz="1169" dirty="0" err="1"/>
              <a:t>schon</a:t>
            </a:r>
            <a:r>
              <a:rPr lang="en-US" sz="1169" dirty="0"/>
              <a:t> </a:t>
            </a:r>
            <a:r>
              <a:rPr lang="en-US" sz="1169" dirty="0" err="1"/>
              <a:t>irgendwo</a:t>
            </a:r>
            <a:r>
              <a:rPr lang="en-US" sz="1169" dirty="0"/>
              <a:t> </a:t>
            </a:r>
            <a:r>
              <a:rPr lang="en-US" sz="1169" dirty="0" err="1"/>
              <a:t>anders</a:t>
            </a:r>
            <a:r>
              <a:rPr lang="en-US" sz="1169" dirty="0"/>
              <a:t> </a:t>
            </a:r>
            <a:r>
              <a:rPr lang="en-US" sz="1169" dirty="0" err="1"/>
              <a:t>existieren</a:t>
            </a:r>
            <a:r>
              <a:rPr lang="en-US" sz="1169" dirty="0"/>
              <a:t>. </a:t>
            </a:r>
            <a:r>
              <a:rPr lang="en-US" sz="1169" dirty="0" err="1"/>
              <a:t>Alle</a:t>
            </a:r>
            <a:r>
              <a:rPr lang="en-US" sz="1169" dirty="0"/>
              <a:t> </a:t>
            </a:r>
            <a:r>
              <a:rPr lang="en-US" sz="1169" dirty="0" err="1"/>
              <a:t>bereits</a:t>
            </a:r>
            <a:r>
              <a:rPr lang="en-US" sz="1169" dirty="0"/>
              <a:t> </a:t>
            </a:r>
            <a:r>
              <a:rPr lang="en-US" sz="1169" dirty="0" err="1"/>
              <a:t>existierenden</a:t>
            </a:r>
            <a:r>
              <a:rPr lang="en-US" sz="1169" dirty="0"/>
              <a:t> / </a:t>
            </a:r>
            <a:r>
              <a:rPr lang="en-US" sz="1169" dirty="0" err="1"/>
              <a:t>berechneten</a:t>
            </a:r>
            <a:r>
              <a:rPr lang="en-US" sz="1169" dirty="0"/>
              <a:t> Closures </a:t>
            </a:r>
            <a:r>
              <a:rPr lang="en-US" sz="1169" dirty="0" err="1"/>
              <a:t>bleiben</a:t>
            </a:r>
            <a:r>
              <a:rPr lang="en-US" sz="1169" dirty="0"/>
              <a:t> </a:t>
            </a:r>
            <a:r>
              <a:rPr lang="en-US" sz="1169" dirty="0" err="1"/>
              <a:t>daher</a:t>
            </a:r>
            <a:r>
              <a:rPr lang="en-US" sz="1169" dirty="0"/>
              <a:t> </a:t>
            </a:r>
            <a:r>
              <a:rPr lang="en-US" sz="1169" dirty="0" err="1"/>
              <a:t>gleich</a:t>
            </a:r>
            <a:r>
              <a:rPr lang="en-US" sz="1169" dirty="0"/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23A69A-84B5-F04F-8768-5AF84EC38E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1554" y="5380520"/>
            <a:ext cx="417386" cy="2354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D07964-7951-5048-BD09-26EC020982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3570" y="5408346"/>
            <a:ext cx="214043" cy="224746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3DFB2C2-6E30-2B40-8AF5-85CDFCDF325D}"/>
              </a:ext>
            </a:extLst>
          </p:cNvPr>
          <p:cNvCxnSpPr/>
          <p:nvPr/>
        </p:nvCxnSpPr>
        <p:spPr>
          <a:xfrm>
            <a:off x="6772487" y="2887133"/>
            <a:ext cx="1002506" cy="0"/>
          </a:xfrm>
          <a:prstGeom prst="line">
            <a:avLst/>
          </a:prstGeom>
          <a:ln w="31750">
            <a:solidFill>
              <a:srgbClr val="FF0000"/>
            </a:solidFill>
            <a:headEnd type="triangle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0A0C8A-9D3E-7342-9C19-C95BBD8D78F4}"/>
              </a:ext>
            </a:extLst>
          </p:cNvPr>
          <p:cNvCxnSpPr>
            <a:cxnSpLocks/>
          </p:cNvCxnSpPr>
          <p:nvPr/>
        </p:nvCxnSpPr>
        <p:spPr>
          <a:xfrm>
            <a:off x="7128933" y="4936702"/>
            <a:ext cx="646060" cy="471644"/>
          </a:xfrm>
          <a:prstGeom prst="line">
            <a:avLst/>
          </a:prstGeom>
          <a:ln w="31750">
            <a:solidFill>
              <a:srgbClr val="FF0000"/>
            </a:solidFill>
            <a:headEnd type="triangle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60734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0379" y="1140129"/>
            <a:ext cx="8012642" cy="1007797"/>
          </a:xfrm>
        </p:spPr>
        <p:txBody>
          <a:bodyPr/>
          <a:lstStyle/>
          <a:p>
            <a:r>
              <a:rPr lang="en-US" dirty="0"/>
              <a:t>Algorithm to determine canonical cover</a:t>
            </a:r>
          </a:p>
        </p:txBody>
      </p:sp>
      <p:sp>
        <p:nvSpPr>
          <p:cNvPr id="5" name="object 12"/>
          <p:cNvSpPr txBox="1"/>
          <p:nvPr/>
        </p:nvSpPr>
        <p:spPr>
          <a:xfrm>
            <a:off x="8465609" y="5471372"/>
            <a:ext cx="1555741" cy="599231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30445" rIns="0" bIns="0" rtlCol="0">
            <a:spAutoFit/>
          </a:bodyPr>
          <a:lstStyle/>
          <a:p>
            <a:pPr marL="100247" marR="128464">
              <a:lnSpc>
                <a:spcPct val="101600"/>
              </a:lnSpc>
              <a:spcBef>
                <a:spcPts val="239"/>
              </a:spcBef>
            </a:pPr>
            <a:r>
              <a:rPr lang="en-GB" sz="1871" i="1" spc="-6" dirty="0">
                <a:latin typeface="Arial"/>
                <a:cs typeface="Arial"/>
              </a:rPr>
              <a:t>Let’s try it out </a:t>
            </a:r>
            <a:r>
              <a:rPr lang="mr-IN" sz="1871" i="1" spc="-6" dirty="0">
                <a:latin typeface="Arial"/>
                <a:cs typeface="Arial"/>
              </a:rPr>
              <a:t>…</a:t>
            </a:r>
            <a:endParaRPr sz="1871" dirty="0">
              <a:latin typeface="Arial"/>
              <a:cs typeface="Arial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51" y="2530687"/>
            <a:ext cx="8658684" cy="254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82503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0379" y="1140130"/>
            <a:ext cx="8012642" cy="503898"/>
          </a:xfrm>
        </p:spPr>
        <p:txBody>
          <a:bodyPr/>
          <a:lstStyle/>
          <a:p>
            <a:r>
              <a:rPr lang="en-US" dirty="0" err="1"/>
              <a:t>Beispiel</a:t>
            </a:r>
            <a:r>
              <a:rPr lang="en-US" dirty="0"/>
              <a:t>: </a:t>
            </a:r>
            <a:r>
              <a:rPr lang="en-US" dirty="0" err="1"/>
              <a:t>Bestimmung</a:t>
            </a:r>
            <a:r>
              <a:rPr lang="en-US" dirty="0"/>
              <a:t> der </a:t>
            </a:r>
            <a:r>
              <a:rPr lang="en-US" dirty="0" err="1"/>
              <a:t>kanonischen</a:t>
            </a:r>
            <a:r>
              <a:rPr lang="en-US" dirty="0"/>
              <a:t> </a:t>
            </a:r>
            <a:r>
              <a:rPr lang="en-US" dirty="0" err="1"/>
              <a:t>Überdeckung</a:t>
            </a:r>
            <a:endParaRPr lang="en-US" dirty="0"/>
          </a:p>
        </p:txBody>
      </p:sp>
      <p:sp>
        <p:nvSpPr>
          <p:cNvPr id="5" name="object 12"/>
          <p:cNvSpPr txBox="1"/>
          <p:nvPr/>
        </p:nvSpPr>
        <p:spPr>
          <a:xfrm>
            <a:off x="8376497" y="3600027"/>
            <a:ext cx="1694603" cy="1186572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30445" rIns="0" bIns="0" rtlCol="0">
            <a:spAutoFit/>
          </a:bodyPr>
          <a:lstStyle/>
          <a:p>
            <a:pPr marL="100247" marR="128464">
              <a:lnSpc>
                <a:spcPct val="101600"/>
              </a:lnSpc>
              <a:spcBef>
                <a:spcPts val="239"/>
              </a:spcBef>
            </a:pPr>
            <a:r>
              <a:rPr lang="en-GB" sz="1871" i="1" spc="-6" dirty="0">
                <a:latin typeface="Arial"/>
                <a:cs typeface="Arial"/>
              </a:rPr>
              <a:t>Wie </a:t>
            </a:r>
            <a:r>
              <a:rPr lang="en-GB" sz="1871" i="1" spc="-6" dirty="0" err="1">
                <a:latin typeface="Arial"/>
                <a:cs typeface="Arial"/>
              </a:rPr>
              <a:t>können</a:t>
            </a:r>
            <a:r>
              <a:rPr lang="en-GB" sz="1871" i="1" spc="-6" dirty="0">
                <a:latin typeface="Arial"/>
                <a:cs typeface="Arial"/>
              </a:rPr>
              <a:t> </a:t>
            </a:r>
            <a:r>
              <a:rPr lang="en-GB" sz="1871" i="1" spc="-6" dirty="0" err="1">
                <a:latin typeface="Arial"/>
                <a:cs typeface="Arial"/>
              </a:rPr>
              <a:t>wir</a:t>
            </a:r>
            <a:r>
              <a:rPr lang="en-GB" sz="1871" i="1" spc="-6" dirty="0">
                <a:latin typeface="Arial"/>
                <a:cs typeface="Arial"/>
              </a:rPr>
              <a:t> das </a:t>
            </a:r>
            <a:r>
              <a:rPr lang="en-GB" sz="1871" i="1" spc="-6" dirty="0" err="1">
                <a:latin typeface="Arial"/>
                <a:cs typeface="Arial"/>
              </a:rPr>
              <a:t>vereinfachen</a:t>
            </a:r>
            <a:r>
              <a:rPr lang="en-GB" sz="1871" i="1" spc="-6" dirty="0">
                <a:latin typeface="Arial"/>
                <a:cs typeface="Arial"/>
              </a:rPr>
              <a:t>?</a:t>
            </a:r>
            <a:endParaRPr sz="1871" dirty="0"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675" y="2226222"/>
            <a:ext cx="6817043" cy="308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3804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0379" y="1140130"/>
            <a:ext cx="8012642" cy="503898"/>
          </a:xfrm>
        </p:spPr>
        <p:txBody>
          <a:bodyPr/>
          <a:lstStyle/>
          <a:p>
            <a:r>
              <a:rPr lang="en-US" dirty="0" err="1"/>
              <a:t>Beispiel</a:t>
            </a:r>
            <a:r>
              <a:rPr lang="en-US" dirty="0"/>
              <a:t>: </a:t>
            </a:r>
            <a:r>
              <a:rPr lang="en-US" dirty="0" err="1"/>
              <a:t>Bestimmung</a:t>
            </a:r>
            <a:r>
              <a:rPr lang="en-US" dirty="0"/>
              <a:t> der </a:t>
            </a:r>
            <a:r>
              <a:rPr lang="en-US" dirty="0" err="1"/>
              <a:t>kanonischen</a:t>
            </a:r>
            <a:r>
              <a:rPr lang="en-US" dirty="0"/>
              <a:t> </a:t>
            </a:r>
            <a:r>
              <a:rPr lang="en-US" dirty="0" err="1"/>
              <a:t>Überdeckung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52" y="2264170"/>
            <a:ext cx="8465608" cy="4187430"/>
          </a:xfrm>
          <a:prstGeom prst="rect">
            <a:avLst/>
          </a:prstGeom>
        </p:spPr>
      </p:pic>
      <p:sp>
        <p:nvSpPr>
          <p:cNvPr id="5" name="object 12"/>
          <p:cNvSpPr txBox="1"/>
          <p:nvPr/>
        </p:nvSpPr>
        <p:spPr>
          <a:xfrm>
            <a:off x="8198274" y="5114925"/>
            <a:ext cx="1555741" cy="624879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30445" rIns="0" bIns="0" rtlCol="0">
            <a:spAutoFit/>
          </a:bodyPr>
          <a:lstStyle/>
          <a:p>
            <a:pPr marL="100247" marR="128464">
              <a:lnSpc>
                <a:spcPct val="101600"/>
              </a:lnSpc>
              <a:spcBef>
                <a:spcPts val="239"/>
              </a:spcBef>
            </a:pPr>
            <a:r>
              <a:rPr lang="en-GB" sz="1871" i="1" spc="-6" dirty="0">
                <a:latin typeface="Arial"/>
                <a:cs typeface="Arial"/>
              </a:rPr>
              <a:t>Von 4 </a:t>
            </a:r>
          </a:p>
          <a:p>
            <a:pPr marL="100247" marR="128464">
              <a:lnSpc>
                <a:spcPct val="101600"/>
              </a:lnSpc>
              <a:spcBef>
                <a:spcPts val="239"/>
              </a:spcBef>
            </a:pPr>
            <a:r>
              <a:rPr lang="en-GB" sz="1871" i="1" spc="-6" dirty="0" err="1">
                <a:latin typeface="Arial"/>
                <a:cs typeface="Arial"/>
              </a:rPr>
              <a:t>zu</a:t>
            </a:r>
            <a:r>
              <a:rPr lang="en-GB" sz="1871" i="1" spc="-6" dirty="0">
                <a:latin typeface="Arial"/>
                <a:cs typeface="Arial"/>
              </a:rPr>
              <a:t> 3 FDs</a:t>
            </a:r>
            <a:endParaRPr sz="187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504545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0378" y="1140130"/>
            <a:ext cx="8197322" cy="503898"/>
          </a:xfrm>
        </p:spPr>
        <p:txBody>
          <a:bodyPr/>
          <a:lstStyle/>
          <a:p>
            <a:r>
              <a:rPr lang="en-US" dirty="0" err="1"/>
              <a:t>Beispiel</a:t>
            </a:r>
            <a:r>
              <a:rPr lang="en-US" dirty="0"/>
              <a:t>: </a:t>
            </a:r>
            <a:r>
              <a:rPr lang="en-US" dirty="0" err="1"/>
              <a:t>Bestimmung</a:t>
            </a:r>
            <a:r>
              <a:rPr lang="en-US" dirty="0"/>
              <a:t> der </a:t>
            </a:r>
            <a:r>
              <a:rPr lang="en-US" dirty="0" err="1"/>
              <a:t>kanonischen</a:t>
            </a:r>
            <a:r>
              <a:rPr lang="en-US" dirty="0"/>
              <a:t> </a:t>
            </a:r>
            <a:r>
              <a:rPr lang="en-US" dirty="0" err="1"/>
              <a:t>Überdeckung</a:t>
            </a:r>
            <a:r>
              <a:rPr lang="en-US" dirty="0"/>
              <a:t> (</a:t>
            </a:r>
            <a:r>
              <a:rPr lang="en-US" dirty="0" err="1"/>
              <a:t>Linksreduktion</a:t>
            </a:r>
            <a:r>
              <a:rPr lang="en-US" dirty="0"/>
              <a:t>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330" y="2164753"/>
            <a:ext cx="8551953" cy="2593725"/>
          </a:xfrm>
          <a:prstGeom prst="rect">
            <a:avLst/>
          </a:prstGeom>
        </p:spPr>
      </p:pic>
      <p:sp>
        <p:nvSpPr>
          <p:cNvPr id="5" name="object 12"/>
          <p:cNvSpPr txBox="1"/>
          <p:nvPr/>
        </p:nvSpPr>
        <p:spPr>
          <a:xfrm>
            <a:off x="5435812" y="3778250"/>
            <a:ext cx="4544695" cy="1825336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30445" rIns="0" bIns="0" rtlCol="0">
            <a:spAutoFit/>
          </a:bodyPr>
          <a:lstStyle/>
          <a:p>
            <a:pPr marL="100247" marR="128464">
              <a:lnSpc>
                <a:spcPct val="101600"/>
              </a:lnSpc>
              <a:spcBef>
                <a:spcPts val="239"/>
              </a:spcBef>
            </a:pPr>
            <a:r>
              <a:rPr lang="en-GB" sz="1871" i="1" spc="-6" dirty="0" err="1">
                <a:latin typeface="Arial"/>
                <a:cs typeface="Arial"/>
              </a:rPr>
              <a:t>Reduziere</a:t>
            </a:r>
            <a:r>
              <a:rPr lang="en-GB" sz="1871" i="1" spc="-6" dirty="0">
                <a:latin typeface="Arial"/>
                <a:cs typeface="Arial"/>
              </a:rPr>
              <a:t>/</a:t>
            </a:r>
            <a:r>
              <a:rPr lang="en-GB" sz="1871" i="1" spc="-6" dirty="0" err="1">
                <a:latin typeface="Arial"/>
                <a:cs typeface="Arial"/>
              </a:rPr>
              <a:t>Eliminiere</a:t>
            </a:r>
            <a:r>
              <a:rPr lang="en-GB" sz="1871" i="1" spc="-6" dirty="0">
                <a:latin typeface="Arial"/>
                <a:cs typeface="Arial"/>
              </a:rPr>
              <a:t> AB </a:t>
            </a:r>
            <a:r>
              <a:rPr lang="en-GB" sz="1871" i="1" spc="-6" dirty="0">
                <a:latin typeface="Arial"/>
                <a:cs typeface="Arial"/>
                <a:sym typeface="Wingdings"/>
              </a:rPr>
              <a:t> C</a:t>
            </a:r>
          </a:p>
          <a:p>
            <a:pPr marL="434403" marR="128464" indent="-334156">
              <a:lnSpc>
                <a:spcPct val="101600"/>
              </a:lnSpc>
              <a:spcBef>
                <a:spcPts val="239"/>
              </a:spcBef>
              <a:buFontTx/>
              <a:buChar char="-"/>
            </a:pPr>
            <a:r>
              <a:rPr lang="en-GB" sz="1871" i="1" spc="-6" dirty="0" err="1">
                <a:latin typeface="Arial"/>
                <a:cs typeface="Arial"/>
                <a:sym typeface="Wingdings"/>
              </a:rPr>
              <a:t>Eliminieren</a:t>
            </a:r>
            <a:r>
              <a:rPr lang="en-GB" sz="1871" i="1" spc="-6" dirty="0">
                <a:latin typeface="Arial"/>
                <a:cs typeface="Arial"/>
                <a:sym typeface="Wingdings"/>
              </a:rPr>
              <a:t> von A: </a:t>
            </a:r>
            <a:r>
              <a:rPr lang="en-GB" sz="1871" i="1" spc="-6" dirty="0" err="1">
                <a:latin typeface="Arial"/>
                <a:cs typeface="Arial"/>
                <a:sym typeface="Wingdings"/>
              </a:rPr>
              <a:t>ist</a:t>
            </a:r>
            <a:r>
              <a:rPr lang="en-GB" sz="1871" i="1" spc="-6" dirty="0">
                <a:latin typeface="Arial"/>
                <a:cs typeface="Arial"/>
                <a:sym typeface="Wingdings"/>
              </a:rPr>
              <a:t> also B  C </a:t>
            </a:r>
            <a:r>
              <a:rPr lang="en-GB" sz="1871" i="1" spc="-6" dirty="0" err="1">
                <a:latin typeface="Arial"/>
                <a:cs typeface="Arial"/>
                <a:sym typeface="Wingdings"/>
              </a:rPr>
              <a:t>genug</a:t>
            </a:r>
            <a:r>
              <a:rPr lang="en-GB" sz="1871" i="1" spc="-6" dirty="0">
                <a:latin typeface="Arial"/>
                <a:cs typeface="Arial"/>
                <a:sym typeface="Wingdings"/>
              </a:rPr>
              <a:t>? Trivial, </a:t>
            </a:r>
            <a:r>
              <a:rPr lang="en-GB" sz="1871" i="1" spc="-6" dirty="0" err="1">
                <a:latin typeface="Arial"/>
                <a:cs typeface="Arial"/>
                <a:sym typeface="Wingdings"/>
              </a:rPr>
              <a:t>daß</a:t>
            </a:r>
            <a:r>
              <a:rPr lang="en-GB" sz="1871" i="1" spc="-6" dirty="0">
                <a:latin typeface="Arial"/>
                <a:cs typeface="Arial"/>
                <a:sym typeface="Wingdings"/>
              </a:rPr>
              <a:t> AB  B und </a:t>
            </a:r>
            <a:r>
              <a:rPr lang="en-GB" sz="1871" i="1" spc="-6" dirty="0" err="1">
                <a:latin typeface="Arial"/>
                <a:cs typeface="Arial"/>
                <a:sym typeface="Wingdings"/>
              </a:rPr>
              <a:t>dann</a:t>
            </a:r>
            <a:r>
              <a:rPr lang="en-GB" sz="1871" i="1" spc="-6" dirty="0">
                <a:latin typeface="Arial"/>
                <a:cs typeface="Arial"/>
                <a:sym typeface="Wingdings"/>
              </a:rPr>
              <a:t> </a:t>
            </a:r>
            <a:r>
              <a:rPr lang="en-GB" sz="1871" i="1" spc="-6" dirty="0" err="1">
                <a:latin typeface="Arial"/>
                <a:cs typeface="Arial"/>
                <a:sym typeface="Wingdings"/>
              </a:rPr>
              <a:t>mit</a:t>
            </a:r>
            <a:r>
              <a:rPr lang="en-GB" sz="1871" i="1" spc="-6" dirty="0">
                <a:latin typeface="Arial"/>
                <a:cs typeface="Arial"/>
                <a:sym typeface="Wingdings"/>
              </a:rPr>
              <a:t> </a:t>
            </a:r>
            <a:r>
              <a:rPr lang="en-GB" sz="1871" i="1" spc="-6" dirty="0" err="1">
                <a:latin typeface="Arial"/>
                <a:cs typeface="Arial"/>
                <a:sym typeface="Wingdings"/>
              </a:rPr>
              <a:t>Transitivität</a:t>
            </a:r>
            <a:r>
              <a:rPr lang="en-GB" sz="1871" i="1" spc="-6" dirty="0">
                <a:latin typeface="Arial"/>
                <a:cs typeface="Arial"/>
                <a:sym typeface="Wingdings"/>
              </a:rPr>
              <a:t> B C </a:t>
            </a:r>
            <a:r>
              <a:rPr lang="en-GB" sz="1871" i="1" spc="-6" dirty="0" err="1">
                <a:latin typeface="Arial"/>
                <a:cs typeface="Arial"/>
                <a:sym typeface="Wingdings"/>
              </a:rPr>
              <a:t>haben</a:t>
            </a:r>
            <a:r>
              <a:rPr lang="en-GB" sz="1871" i="1" spc="-6" dirty="0">
                <a:latin typeface="Arial"/>
                <a:cs typeface="Arial"/>
                <a:sym typeface="Wingdings"/>
              </a:rPr>
              <a:t> </a:t>
            </a:r>
            <a:r>
              <a:rPr lang="en-GB" sz="1871" i="1" spc="-6" dirty="0" err="1">
                <a:latin typeface="Arial"/>
                <a:cs typeface="Arial"/>
                <a:sym typeface="Wingdings"/>
              </a:rPr>
              <a:t>wir</a:t>
            </a:r>
            <a:r>
              <a:rPr lang="en-GB" sz="1871" i="1" spc="-6" dirty="0">
                <a:latin typeface="Arial"/>
                <a:cs typeface="Arial"/>
                <a:sym typeface="Wingdings"/>
              </a:rPr>
              <a:t> AB  C</a:t>
            </a:r>
          </a:p>
          <a:p>
            <a:pPr marL="434403" marR="128464" indent="-334156">
              <a:lnSpc>
                <a:spcPct val="101600"/>
              </a:lnSpc>
              <a:spcBef>
                <a:spcPts val="239"/>
              </a:spcBef>
              <a:buFontTx/>
              <a:buChar char="-"/>
            </a:pPr>
            <a:r>
              <a:rPr lang="en-GB" sz="1871" i="1" spc="-6" dirty="0" err="1">
                <a:latin typeface="Arial"/>
                <a:cs typeface="Arial"/>
                <a:sym typeface="Wingdings"/>
              </a:rPr>
              <a:t>Alternativ</a:t>
            </a:r>
            <a:r>
              <a:rPr lang="en-GB" sz="1871" i="1" spc="-6" dirty="0">
                <a:latin typeface="Arial"/>
                <a:cs typeface="Arial"/>
                <a:sym typeface="Wingdings"/>
              </a:rPr>
              <a:t>: </a:t>
            </a:r>
            <a:r>
              <a:rPr lang="en-GB" sz="1871" i="1" spc="-6" dirty="0" err="1">
                <a:latin typeface="Arial"/>
                <a:cs typeface="Arial"/>
                <a:sym typeface="Wingdings"/>
              </a:rPr>
              <a:t>nutze</a:t>
            </a:r>
            <a:r>
              <a:rPr lang="en-GB" sz="1871" i="1" spc="-6" dirty="0">
                <a:latin typeface="Arial"/>
                <a:cs typeface="Arial"/>
                <a:sym typeface="Wingdings"/>
              </a:rPr>
              <a:t> die Closures</a:t>
            </a:r>
            <a:endParaRPr sz="1871" i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337968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0379" y="1140130"/>
            <a:ext cx="8283682" cy="503898"/>
          </a:xfrm>
        </p:spPr>
        <p:txBody>
          <a:bodyPr/>
          <a:lstStyle/>
          <a:p>
            <a:r>
              <a:rPr lang="en-US" dirty="0" err="1"/>
              <a:t>Beispiel</a:t>
            </a:r>
            <a:r>
              <a:rPr lang="en-US" dirty="0"/>
              <a:t>: </a:t>
            </a:r>
            <a:r>
              <a:rPr lang="en-US" dirty="0" err="1"/>
              <a:t>Bestimmung</a:t>
            </a:r>
            <a:r>
              <a:rPr lang="en-US" dirty="0"/>
              <a:t> der </a:t>
            </a:r>
            <a:r>
              <a:rPr lang="en-US" dirty="0" err="1"/>
              <a:t>kanonischen</a:t>
            </a:r>
            <a:r>
              <a:rPr lang="en-US" dirty="0"/>
              <a:t> </a:t>
            </a:r>
            <a:r>
              <a:rPr lang="en-US" dirty="0" err="1"/>
              <a:t>Überdeckun</a:t>
            </a:r>
            <a:r>
              <a:rPr lang="en-US" dirty="0"/>
              <a:t>) (</a:t>
            </a:r>
            <a:r>
              <a:rPr lang="en-US" dirty="0" err="1"/>
              <a:t>Rechtsreduktion</a:t>
            </a:r>
            <a:r>
              <a:rPr lang="en-US" dirty="0"/>
              <a:t>)</a:t>
            </a:r>
          </a:p>
        </p:txBody>
      </p:sp>
      <p:sp>
        <p:nvSpPr>
          <p:cNvPr id="5" name="object 12"/>
          <p:cNvSpPr txBox="1"/>
          <p:nvPr/>
        </p:nvSpPr>
        <p:spPr>
          <a:xfrm>
            <a:off x="6946900" y="4491143"/>
            <a:ext cx="3390053" cy="2221470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30445" rIns="0" bIns="0" rtlCol="0">
            <a:spAutoFit/>
          </a:bodyPr>
          <a:lstStyle/>
          <a:p>
            <a:pPr marL="100247" marR="128464">
              <a:lnSpc>
                <a:spcPct val="101600"/>
              </a:lnSpc>
              <a:spcBef>
                <a:spcPts val="239"/>
              </a:spcBef>
            </a:pPr>
            <a:r>
              <a:rPr lang="en-GB" sz="1871" i="1" spc="-6" dirty="0" err="1">
                <a:latin typeface="Arial"/>
                <a:cs typeface="Arial"/>
              </a:rPr>
              <a:t>Reduziere</a:t>
            </a:r>
            <a:r>
              <a:rPr lang="en-GB" sz="1871" i="1" spc="-6" dirty="0">
                <a:latin typeface="Arial"/>
                <a:cs typeface="Arial"/>
              </a:rPr>
              <a:t> </a:t>
            </a:r>
            <a:r>
              <a:rPr lang="en-GB" sz="1871" i="1" spc="-6" dirty="0" err="1">
                <a:latin typeface="Arial"/>
                <a:cs typeface="Arial"/>
              </a:rPr>
              <a:t>rechts</a:t>
            </a:r>
            <a:endParaRPr lang="en-GB" sz="1871" i="1" spc="-6" dirty="0">
              <a:latin typeface="Arial"/>
              <a:cs typeface="Arial"/>
            </a:endParaRPr>
          </a:p>
          <a:p>
            <a:pPr marL="100247" marR="128464">
              <a:lnSpc>
                <a:spcPct val="101600"/>
              </a:lnSpc>
              <a:spcBef>
                <a:spcPts val="239"/>
              </a:spcBef>
            </a:pPr>
            <a:r>
              <a:rPr lang="en-GB" sz="1871" i="1" spc="-6" dirty="0">
                <a:latin typeface="Arial"/>
                <a:cs typeface="Arial"/>
              </a:rPr>
              <a:t>-  A -&gt; B und</a:t>
            </a:r>
          </a:p>
          <a:p>
            <a:pPr marL="100247" marR="128464">
              <a:lnSpc>
                <a:spcPct val="101600"/>
              </a:lnSpc>
              <a:spcBef>
                <a:spcPts val="239"/>
              </a:spcBef>
            </a:pPr>
            <a:r>
              <a:rPr lang="en-GB" sz="1871" i="1" spc="-6" dirty="0">
                <a:latin typeface="Arial"/>
                <a:cs typeface="Arial"/>
              </a:rPr>
              <a:t>   A -&gt; B, B -&gt; C also </a:t>
            </a:r>
          </a:p>
          <a:p>
            <a:pPr marL="100247" marR="128464">
              <a:lnSpc>
                <a:spcPct val="101600"/>
              </a:lnSpc>
              <a:spcBef>
                <a:spcPts val="239"/>
              </a:spcBef>
            </a:pPr>
            <a:r>
              <a:rPr lang="en-GB" sz="1871" i="1" spc="-6" dirty="0">
                <a:latin typeface="Arial"/>
                <a:cs typeface="Arial"/>
              </a:rPr>
              <a:t>   A -&gt; C und</a:t>
            </a:r>
          </a:p>
          <a:p>
            <a:pPr marL="100247" marR="128464">
              <a:lnSpc>
                <a:spcPct val="101600"/>
              </a:lnSpc>
              <a:spcBef>
                <a:spcPts val="239"/>
              </a:spcBef>
            </a:pPr>
            <a:r>
              <a:rPr lang="en-GB" sz="1871" i="1" spc="-6" dirty="0">
                <a:latin typeface="Arial"/>
                <a:cs typeface="Arial"/>
              </a:rPr>
              <a:t>   </a:t>
            </a:r>
            <a:r>
              <a:rPr lang="en-GB" sz="1871" i="1" spc="-6" dirty="0" err="1">
                <a:latin typeface="Arial"/>
                <a:cs typeface="Arial"/>
              </a:rPr>
              <a:t>kombinieren</a:t>
            </a:r>
            <a:r>
              <a:rPr lang="en-GB" sz="1871" i="1" spc="-6" dirty="0">
                <a:latin typeface="Arial"/>
                <a:cs typeface="Arial"/>
              </a:rPr>
              <a:t> </a:t>
            </a:r>
            <a:r>
              <a:rPr lang="en-GB" sz="1871" i="1" spc="-6" dirty="0" err="1">
                <a:latin typeface="Arial"/>
                <a:cs typeface="Arial"/>
              </a:rPr>
              <a:t>gibt</a:t>
            </a:r>
            <a:endParaRPr lang="en-GB" sz="1871" i="1" spc="-6" dirty="0">
              <a:latin typeface="Arial"/>
              <a:cs typeface="Arial"/>
            </a:endParaRPr>
          </a:p>
          <a:p>
            <a:pPr marL="100247" marR="128464">
              <a:lnSpc>
                <a:spcPct val="101600"/>
              </a:lnSpc>
              <a:spcBef>
                <a:spcPts val="239"/>
              </a:spcBef>
            </a:pPr>
            <a:r>
              <a:rPr lang="en-GB" sz="1871" i="1" spc="-6" dirty="0">
                <a:latin typeface="Arial"/>
                <a:cs typeface="Arial"/>
              </a:rPr>
              <a:t>   A -&gt; BC</a:t>
            </a:r>
          </a:p>
          <a:p>
            <a:pPr marL="100247" marR="128464">
              <a:lnSpc>
                <a:spcPct val="101600"/>
              </a:lnSpc>
              <a:spcBef>
                <a:spcPts val="239"/>
              </a:spcBef>
            </a:pPr>
            <a:r>
              <a:rPr lang="en-GB" sz="1871" i="1" spc="-6" dirty="0">
                <a:latin typeface="Arial"/>
                <a:cs typeface="Arial"/>
              </a:rPr>
              <a:t>- </a:t>
            </a:r>
            <a:r>
              <a:rPr lang="en-GB" sz="1871" i="1" spc="-6" dirty="0" err="1">
                <a:latin typeface="Arial"/>
                <a:cs typeface="Arial"/>
              </a:rPr>
              <a:t>Alternativ</a:t>
            </a:r>
            <a:r>
              <a:rPr lang="en-GB" sz="1871" i="1" spc="-6" dirty="0">
                <a:latin typeface="Arial"/>
                <a:cs typeface="Arial"/>
              </a:rPr>
              <a:t>: </a:t>
            </a:r>
            <a:r>
              <a:rPr lang="en-GB" sz="1871" i="1" spc="-6" dirty="0" err="1">
                <a:latin typeface="Arial"/>
                <a:cs typeface="Arial"/>
              </a:rPr>
              <a:t>nutze</a:t>
            </a:r>
            <a:r>
              <a:rPr lang="en-GB" sz="1871" i="1" spc="-6" dirty="0">
                <a:latin typeface="Arial"/>
                <a:cs typeface="Arial"/>
              </a:rPr>
              <a:t> Closures</a:t>
            </a:r>
            <a:endParaRPr sz="1871" i="1" dirty="0">
              <a:latin typeface="Arial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564" y="2286073"/>
            <a:ext cx="8376497" cy="20605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4152F7-93FD-6A4C-9255-BC9F9A1C4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583" y="2694058"/>
            <a:ext cx="2391163" cy="816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48D2CE-B91E-CD4B-A334-2829A2A59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064" y="2352463"/>
            <a:ext cx="219326" cy="23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315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0379" y="1140130"/>
            <a:ext cx="8012642" cy="503898"/>
          </a:xfrm>
        </p:spPr>
        <p:txBody>
          <a:bodyPr/>
          <a:lstStyle/>
          <a:p>
            <a:r>
              <a:rPr lang="en-US" dirty="0" err="1"/>
              <a:t>Beispiel</a:t>
            </a:r>
            <a:r>
              <a:rPr lang="en-US" dirty="0"/>
              <a:t>: </a:t>
            </a:r>
            <a:r>
              <a:rPr lang="en-US" dirty="0" err="1"/>
              <a:t>Bestimmung</a:t>
            </a:r>
            <a:r>
              <a:rPr lang="en-US" dirty="0"/>
              <a:t> der </a:t>
            </a:r>
            <a:r>
              <a:rPr lang="en-US" dirty="0" err="1"/>
              <a:t>kanonischen</a:t>
            </a:r>
            <a:r>
              <a:rPr lang="en-US" dirty="0"/>
              <a:t> </a:t>
            </a:r>
            <a:r>
              <a:rPr lang="en-US" dirty="0" err="1"/>
              <a:t>Überdeckung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675" y="2207656"/>
            <a:ext cx="8643832" cy="20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82465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1140129"/>
            <a:ext cx="8578321" cy="733121"/>
          </a:xfrm>
        </p:spPr>
        <p:txBody>
          <a:bodyPr/>
          <a:lstStyle/>
          <a:p>
            <a:r>
              <a:rPr lang="en-US" dirty="0" err="1"/>
              <a:t>Bestimmung</a:t>
            </a:r>
            <a:r>
              <a:rPr lang="en-US" dirty="0"/>
              <a:t> der Basis der FDs (</a:t>
            </a:r>
            <a:r>
              <a:rPr lang="en-US" dirty="0" err="1"/>
              <a:t>kanonische</a:t>
            </a:r>
            <a:r>
              <a:rPr lang="en-US" dirty="0"/>
              <a:t> </a:t>
            </a:r>
            <a:r>
              <a:rPr lang="en-US" dirty="0" err="1"/>
              <a:t>Überdeckung</a:t>
            </a:r>
            <a:r>
              <a:rPr lang="en-US" dirty="0"/>
              <a:t>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191" y="2390964"/>
            <a:ext cx="8947015" cy="16196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Eine </a:t>
            </a:r>
            <a:r>
              <a:rPr lang="en-US" dirty="0" err="1"/>
              <a:t>kanonische</a:t>
            </a:r>
            <a:r>
              <a:rPr lang="en-US" dirty="0"/>
              <a:t> </a:t>
            </a:r>
            <a:r>
              <a:rPr lang="en-US" dirty="0" err="1"/>
              <a:t>Überdeckung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eindeutig</a:t>
            </a:r>
            <a:r>
              <a:rPr lang="en-US" dirty="0"/>
              <a:t> -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allgemeinen</a:t>
            </a:r>
            <a:r>
              <a:rPr lang="en-US" dirty="0"/>
              <a:t> </a:t>
            </a:r>
            <a:r>
              <a:rPr lang="en-US" dirty="0" err="1"/>
              <a:t>existieren</a:t>
            </a:r>
            <a:r>
              <a:rPr lang="en-US" dirty="0"/>
              <a:t> </a:t>
            </a:r>
            <a:r>
              <a:rPr lang="en-US" dirty="0" err="1"/>
              <a:t>mehrere</a:t>
            </a:r>
            <a:r>
              <a:rPr lang="en-US" dirty="0"/>
              <a:t> </a:t>
            </a:r>
            <a:r>
              <a:rPr lang="en-US" dirty="0" err="1"/>
              <a:t>Möglichkeiten</a:t>
            </a:r>
            <a:r>
              <a:rPr lang="en-US" dirty="0"/>
              <a:t> (</a:t>
            </a:r>
            <a:r>
              <a:rPr lang="en-US" dirty="0" err="1"/>
              <a:t>siehe</a:t>
            </a:r>
            <a:r>
              <a:rPr lang="en-US" dirty="0"/>
              <a:t> </a:t>
            </a:r>
            <a:r>
              <a:rPr lang="en-US" dirty="0" err="1"/>
              <a:t>Übungen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Die </a:t>
            </a:r>
            <a:r>
              <a:rPr lang="en-US" dirty="0" err="1"/>
              <a:t>kanonischen</a:t>
            </a:r>
            <a:r>
              <a:rPr lang="en-US" dirty="0"/>
              <a:t> </a:t>
            </a:r>
            <a:r>
              <a:rPr lang="en-US" dirty="0" err="1"/>
              <a:t>Überdeckungen</a:t>
            </a:r>
            <a:r>
              <a:rPr lang="en-US" dirty="0"/>
              <a:t> </a:t>
            </a:r>
            <a:r>
              <a:rPr lang="en-US" dirty="0" err="1"/>
              <a:t>generieren</a:t>
            </a:r>
            <a:r>
              <a:rPr lang="en-US" dirty="0"/>
              <a:t> die </a:t>
            </a:r>
            <a:r>
              <a:rPr lang="en-US" dirty="0" err="1"/>
              <a:t>gleichen</a:t>
            </a:r>
            <a:r>
              <a:rPr lang="en-US" dirty="0"/>
              <a:t> Closures für alle </a:t>
            </a:r>
            <a:r>
              <a:rPr lang="en-US" dirty="0" err="1"/>
              <a:t>Attributkombinationen</a:t>
            </a:r>
            <a:r>
              <a:rPr lang="en-US" dirty="0"/>
              <a:t>. Z.B. </a:t>
            </a:r>
            <a:r>
              <a:rPr lang="mr-IN" dirty="0">
                <a:solidFill>
                  <a:srgbClr val="000000"/>
                </a:solidFill>
              </a:rPr>
              <a:t>{A</a:t>
            </a:r>
            <a:r>
              <a:rPr lang="en-GB" dirty="0">
                <a:solidFill>
                  <a:srgbClr val="000000"/>
                </a:solidFill>
              </a:rPr>
              <a:t>,B</a:t>
            </a:r>
            <a:r>
              <a:rPr lang="mr-IN" dirty="0">
                <a:solidFill>
                  <a:srgbClr val="000000"/>
                </a:solidFill>
              </a:rPr>
              <a:t>}</a:t>
            </a:r>
            <a:r>
              <a:rPr lang="mr-IN" baseline="30864" dirty="0">
                <a:solidFill>
                  <a:srgbClr val="000000"/>
                </a:solidFill>
              </a:rPr>
              <a:t>+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ist</a:t>
            </a:r>
            <a:r>
              <a:rPr lang="en-GB" dirty="0">
                <a:solidFill>
                  <a:srgbClr val="000000"/>
                </a:solidFill>
              </a:rPr>
              <a:t> immer Gleich für </a:t>
            </a:r>
            <a:r>
              <a:rPr lang="en-GB" dirty="0" err="1">
                <a:solidFill>
                  <a:srgbClr val="000000"/>
                </a:solidFill>
              </a:rPr>
              <a:t>verschiedene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Überdeckungen</a:t>
            </a:r>
            <a:r>
              <a:rPr lang="en-GB" dirty="0">
                <a:solidFill>
                  <a:srgbClr val="000000"/>
                </a:solidFill>
              </a:rPr>
              <a:t>.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08083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6CC50-185C-008D-10D3-E3D850CB8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6493996C-ECBD-85D9-3D59-5053D37629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4374" y="740872"/>
            <a:ext cx="6306326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20049" defTabSz="1082626">
              <a:lnSpc>
                <a:spcPct val="100000"/>
              </a:lnSpc>
              <a:spcBef>
                <a:spcPts val="158"/>
              </a:spcBef>
            </a:pPr>
            <a:r>
              <a:rPr lang="en-GB" sz="2961" spc="-213" dirty="0" err="1"/>
              <a:t>Superkeys</a:t>
            </a:r>
            <a:r>
              <a:rPr lang="en-GB" sz="2961" spc="-213" dirty="0"/>
              <a:t> und Keys</a:t>
            </a:r>
            <a:endParaRPr lang="en-GB" spc="-88" dirty="0"/>
          </a:p>
        </p:txBody>
      </p:sp>
    </p:spTree>
    <p:extLst>
      <p:ext uri="{BB962C8B-B14F-4D97-AF65-F5344CB8AC3E}">
        <p14:creationId xmlns:p14="http://schemas.microsoft.com/office/powerpoint/2010/main" val="123388287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6126" y="759970"/>
            <a:ext cx="4835293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0">
              <a:buClr>
                <a:schemeClr val="accent1"/>
              </a:buClr>
              <a:buSzPct val="170000"/>
            </a:pPr>
            <a:r>
              <a:rPr lang="en-US" sz="2200" dirty="0" err="1"/>
              <a:t>Superkeys</a:t>
            </a:r>
            <a:r>
              <a:rPr lang="en-US" sz="2200" dirty="0"/>
              <a:t> &amp; Keys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36701" y="2902062"/>
            <a:ext cx="4835294" cy="806917"/>
          </a:xfrm>
          <a:prstGeom prst="rect">
            <a:avLst/>
          </a:prstGeom>
          <a:solidFill>
            <a:srgbClr val="D4E4F2"/>
          </a:solidFill>
        </p:spPr>
        <p:txBody>
          <a:bodyPr vert="horz" wrap="square" lIns="0" tIns="30445" rIns="0" bIns="0" rtlCol="0">
            <a:spAutoFit/>
          </a:bodyPr>
          <a:lstStyle/>
          <a:p>
            <a:pPr marL="90222" marR="302077" defTabSz="822806">
              <a:lnSpc>
                <a:spcPct val="101600"/>
              </a:lnSpc>
              <a:spcBef>
                <a:spcPts val="215"/>
              </a:spcBef>
            </a:pPr>
            <a:r>
              <a:rPr lang="en-GB" sz="1684" dirty="0">
                <a:latin typeface="Arial"/>
                <a:cs typeface="Arial"/>
              </a:rPr>
              <a:t>Ein</a:t>
            </a:r>
            <a:r>
              <a:rPr lang="en-GB" sz="1684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84" b="1" u="heavy" spc="-5" dirty="0" err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</a:t>
            </a:r>
            <a:r>
              <a:rPr lang="en-GB" sz="1684" b="1" u="heavy" kern="1200" spc="-5" dirty="0" err="1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uperkey</a:t>
            </a:r>
            <a:r>
              <a:rPr lang="en-GB" sz="1684" b="1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84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ist</a:t>
            </a:r>
            <a:r>
              <a:rPr lang="en-GB" sz="1684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84" spc="-5" dirty="0" err="1">
                <a:latin typeface="Arial"/>
                <a:cs typeface="Arial"/>
              </a:rPr>
              <a:t>eine</a:t>
            </a:r>
            <a:r>
              <a:rPr lang="en-GB" sz="1684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84" kern="1200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Menge</a:t>
            </a:r>
            <a:r>
              <a:rPr lang="en-GB" sz="1684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84" spc="-5" dirty="0">
                <a:latin typeface="Arial"/>
                <a:cs typeface="Arial"/>
              </a:rPr>
              <a:t>von</a:t>
            </a:r>
            <a:r>
              <a:rPr lang="en-GB" sz="1684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84" spc="-5" dirty="0" err="1">
                <a:latin typeface="Arial"/>
                <a:cs typeface="Arial"/>
              </a:rPr>
              <a:t>A</a:t>
            </a:r>
            <a:r>
              <a:rPr lang="en-GB" sz="1684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ttributen</a:t>
            </a:r>
            <a:r>
              <a:rPr lang="en-GB" sz="1684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84" b="1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</a:t>
            </a:r>
            <a:r>
              <a:rPr lang="en-GB" sz="1658" b="1" kern="1200" spc="-7" baseline="-3174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1684" b="1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, </a:t>
            </a:r>
            <a:r>
              <a:rPr lang="en-GB" sz="1684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…, </a:t>
            </a:r>
            <a:r>
              <a:rPr lang="en-GB" sz="1684" b="1" kern="1200" spc="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</a:t>
            </a:r>
            <a:r>
              <a:rPr lang="en-GB" sz="1658" b="1" kern="1200" spc="7" baseline="-3174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 </a:t>
            </a:r>
            <a:r>
              <a:rPr lang="en-GB" sz="1684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, so </a:t>
            </a:r>
            <a:r>
              <a:rPr lang="en-GB" sz="1684" kern="1200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daß</a:t>
            </a:r>
            <a:r>
              <a:rPr lang="en-GB" sz="1684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84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für alle </a:t>
            </a:r>
            <a:r>
              <a:rPr lang="en-GB" sz="1684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anderen</a:t>
            </a:r>
            <a:r>
              <a:rPr lang="en-GB" sz="1684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Attribute </a:t>
            </a:r>
            <a:r>
              <a:rPr lang="en-GB" sz="1684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B </a:t>
            </a:r>
            <a:r>
              <a:rPr lang="en-GB" sz="1684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in</a:t>
            </a:r>
            <a:r>
              <a:rPr lang="en-GB" sz="1684" kern="1200" spc="-11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84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R gilt: </a:t>
            </a:r>
            <a:r>
              <a:rPr lang="en-GB" sz="1684" b="1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{A</a:t>
            </a:r>
            <a:r>
              <a:rPr lang="en-GB" sz="1658" b="1" kern="1200" spc="-7" baseline="-3174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1</a:t>
            </a:r>
            <a:r>
              <a:rPr lang="en-GB" sz="1684" b="1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, </a:t>
            </a:r>
            <a:r>
              <a:rPr lang="en-GB" sz="1684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…, A</a:t>
            </a:r>
            <a:r>
              <a:rPr lang="en-GB" sz="1658" b="1" kern="1200" baseline="-3174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</a:t>
            </a:r>
            <a:r>
              <a:rPr lang="en-GB" sz="1684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} →</a:t>
            </a:r>
            <a:r>
              <a:rPr lang="en-GB" sz="1684" b="1" kern="1200" spc="-21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84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B</a:t>
            </a:r>
            <a:endParaRPr lang="en-GB" sz="1871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6700" y="4575120"/>
            <a:ext cx="3110091" cy="553590"/>
          </a:xfrm>
          <a:prstGeom prst="rect">
            <a:avLst/>
          </a:prstGeom>
          <a:solidFill>
            <a:srgbClr val="D4E4F2"/>
          </a:solidFill>
        </p:spPr>
        <p:txBody>
          <a:bodyPr vert="horz" wrap="square" lIns="0" tIns="34902" rIns="0" bIns="0" rtlCol="0">
            <a:spAutoFit/>
          </a:bodyPr>
          <a:lstStyle/>
          <a:p>
            <a:pPr marL="90222" defTabSz="822806">
              <a:spcBef>
                <a:spcPts val="248"/>
              </a:spcBef>
            </a:pPr>
            <a:r>
              <a:rPr lang="en-GB" sz="1684" dirty="0">
                <a:latin typeface="Arial"/>
                <a:cs typeface="Arial"/>
              </a:rPr>
              <a:t>Ein</a:t>
            </a:r>
            <a:r>
              <a:rPr lang="en-GB" sz="1684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84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</a:t>
            </a:r>
            <a:r>
              <a:rPr lang="en-GB" sz="1684" b="1" u="heavy" kern="1200" spc="-5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ey</a:t>
            </a:r>
            <a:r>
              <a:rPr lang="en-GB" sz="1684" b="1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84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ist</a:t>
            </a:r>
            <a:r>
              <a:rPr lang="en-GB" sz="1684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84" spc="-5" dirty="0" err="1">
                <a:latin typeface="Arial"/>
                <a:cs typeface="Arial"/>
              </a:rPr>
              <a:t>ein</a:t>
            </a:r>
            <a:r>
              <a:rPr lang="en-GB" sz="1684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84" i="1" kern="1200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minimaler</a:t>
            </a:r>
            <a:r>
              <a:rPr lang="en-GB" sz="1684" i="1" kern="1200" spc="-52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684" i="1" spc="-52" dirty="0" err="1">
                <a:latin typeface="Arial"/>
                <a:cs typeface="Arial"/>
              </a:rPr>
              <a:t>S</a:t>
            </a:r>
            <a:r>
              <a:rPr lang="en-GB" sz="1684" kern="1200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uperkey</a:t>
            </a:r>
            <a:endParaRPr lang="en-GB" sz="1871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46900" y="3019878"/>
            <a:ext cx="1982463" cy="816682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46784" rIns="0" bIns="0" rtlCol="0">
            <a:spAutoFit/>
          </a:bodyPr>
          <a:lstStyle/>
          <a:p>
            <a:pPr marL="89554" marR="217869" defTabSz="822806">
              <a:lnSpc>
                <a:spcPts val="1495"/>
              </a:lnSpc>
              <a:spcBef>
                <a:spcPts val="331"/>
              </a:spcBef>
            </a:pPr>
            <a:r>
              <a:rPr lang="en-GB" sz="1263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D.h.</a:t>
            </a:r>
            <a:r>
              <a:rPr lang="en-GB" sz="1263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alle Attribute </a:t>
            </a:r>
            <a:r>
              <a:rPr lang="en-GB" sz="1263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sind</a:t>
            </a:r>
            <a:r>
              <a:rPr lang="en-GB" sz="1263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263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vom</a:t>
            </a:r>
            <a:r>
              <a:rPr lang="en-GB" sz="1263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263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Superkey</a:t>
            </a:r>
            <a:r>
              <a:rPr lang="en-GB" sz="1263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(</a:t>
            </a:r>
            <a:r>
              <a:rPr lang="en-GB" sz="1263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Superschlüssel</a:t>
            </a:r>
            <a:r>
              <a:rPr lang="en-GB" sz="1263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)   </a:t>
            </a:r>
            <a:r>
              <a:rPr lang="en-GB" sz="1263" i="1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funktional</a:t>
            </a:r>
            <a:r>
              <a:rPr lang="en-GB" sz="1263" i="1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263" i="1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abhängig</a:t>
            </a:r>
            <a:endParaRPr lang="en-GB" sz="1403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29214" y="4496565"/>
            <a:ext cx="2745469" cy="1009043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46784" rIns="0" bIns="0" rtlCol="0">
            <a:spAutoFit/>
          </a:bodyPr>
          <a:lstStyle/>
          <a:p>
            <a:pPr marL="90222" marR="134330" defTabSz="822806">
              <a:lnSpc>
                <a:spcPts val="1495"/>
              </a:lnSpc>
              <a:spcBef>
                <a:spcPts val="331"/>
              </a:spcBef>
            </a:pPr>
            <a:r>
              <a:rPr lang="en-GB" sz="1263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Das </a:t>
            </a:r>
            <a:r>
              <a:rPr lang="en-GB" sz="1263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bedeutet</a:t>
            </a:r>
            <a:r>
              <a:rPr lang="en-GB" sz="1263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, </a:t>
            </a:r>
            <a:r>
              <a:rPr lang="en-GB" sz="1263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daß</a:t>
            </a:r>
            <a:r>
              <a:rPr lang="en-GB" sz="1263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263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keine</a:t>
            </a:r>
            <a:r>
              <a:rPr lang="en-GB" sz="1263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1263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Untermenge</a:t>
            </a:r>
            <a:r>
              <a:rPr lang="en-GB" sz="1263" kern="1200" spc="-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der Attribute des Key (</a:t>
            </a:r>
            <a:r>
              <a:rPr lang="en-GB" sz="1263" kern="1200" spc="-5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Schlüssels</a:t>
            </a:r>
            <a:r>
              <a:rPr lang="en-GB" sz="1263" spc="-5" dirty="0">
                <a:latin typeface="Arial"/>
                <a:cs typeface="Arial"/>
              </a:rPr>
              <a:t>) </a:t>
            </a:r>
            <a:r>
              <a:rPr lang="en-GB" sz="1263" spc="-5" dirty="0" err="1">
                <a:latin typeface="Arial"/>
                <a:cs typeface="Arial"/>
              </a:rPr>
              <a:t>einen</a:t>
            </a:r>
            <a:r>
              <a:rPr lang="en-GB" sz="1263" spc="-5" dirty="0">
                <a:latin typeface="Arial"/>
                <a:cs typeface="Arial"/>
              </a:rPr>
              <a:t> </a:t>
            </a:r>
            <a:r>
              <a:rPr lang="en-GB" sz="1263" spc="-5" dirty="0" err="1">
                <a:latin typeface="Arial"/>
                <a:cs typeface="Arial"/>
              </a:rPr>
              <a:t>Superschlüssel</a:t>
            </a:r>
            <a:r>
              <a:rPr lang="en-GB" sz="1263" spc="-5" dirty="0">
                <a:latin typeface="Arial"/>
                <a:cs typeface="Arial"/>
              </a:rPr>
              <a:t> </a:t>
            </a:r>
            <a:r>
              <a:rPr lang="en-GB" sz="1263" spc="-5" dirty="0" err="1">
                <a:latin typeface="Arial"/>
                <a:cs typeface="Arial"/>
              </a:rPr>
              <a:t>bildet</a:t>
            </a:r>
            <a:r>
              <a:rPr lang="en-GB" sz="1263" spc="-5" dirty="0">
                <a:latin typeface="Arial"/>
                <a:cs typeface="Arial"/>
              </a:rPr>
              <a:t> (</a:t>
            </a:r>
            <a:r>
              <a:rPr lang="en-GB" sz="1263" spc="-5" dirty="0" err="1">
                <a:latin typeface="Arial"/>
                <a:cs typeface="Arial"/>
              </a:rPr>
              <a:t>kann</a:t>
            </a:r>
            <a:r>
              <a:rPr lang="en-GB" sz="1263" spc="-5" dirty="0">
                <a:latin typeface="Arial"/>
                <a:cs typeface="Arial"/>
              </a:rPr>
              <a:t> </a:t>
            </a:r>
            <a:r>
              <a:rPr lang="en-GB" sz="1263" spc="-5" dirty="0" err="1">
                <a:latin typeface="Arial"/>
                <a:cs typeface="Arial"/>
              </a:rPr>
              <a:t>keine</a:t>
            </a:r>
            <a:r>
              <a:rPr lang="en-GB" sz="1263" spc="-5" dirty="0">
                <a:latin typeface="Arial"/>
                <a:cs typeface="Arial"/>
              </a:rPr>
              <a:t> Attribute </a:t>
            </a:r>
            <a:r>
              <a:rPr lang="en-GB" sz="1263" spc="-5" dirty="0" err="1">
                <a:latin typeface="Arial"/>
                <a:cs typeface="Arial"/>
              </a:rPr>
              <a:t>mehr</a:t>
            </a:r>
            <a:r>
              <a:rPr lang="en-GB" sz="1263" spc="-5" dirty="0">
                <a:latin typeface="Arial"/>
                <a:cs typeface="Arial"/>
              </a:rPr>
              <a:t> </a:t>
            </a:r>
            <a:r>
              <a:rPr lang="en-GB" sz="1263" spc="-5" dirty="0" err="1">
                <a:latin typeface="Arial"/>
                <a:cs typeface="Arial"/>
              </a:rPr>
              <a:t>weglassen</a:t>
            </a:r>
            <a:r>
              <a:rPr lang="en-GB" sz="1263" spc="-5" dirty="0">
                <a:latin typeface="Arial"/>
                <a:cs typeface="Arial"/>
              </a:rPr>
              <a:t>)</a:t>
            </a:r>
            <a:endParaRPr lang="en-GB" sz="1403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156171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612900" y="2362493"/>
            <a:ext cx="6603816" cy="2384556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15148" defTabSz="932514">
              <a:spcBef>
                <a:spcPts val="119"/>
              </a:spcBef>
              <a:tabLst>
                <a:tab pos="382497" algn="l"/>
                <a:tab pos="384012" algn="l"/>
              </a:tabLst>
            </a:pP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For each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set </a:t>
            </a: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of attributes</a:t>
            </a:r>
            <a:r>
              <a:rPr lang="en-GB" sz="2147" kern="1200" spc="-23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X</a:t>
            </a:r>
          </a:p>
          <a:p>
            <a:pPr defTabSz="932514">
              <a:spcBef>
                <a:spcPts val="6"/>
              </a:spcBef>
              <a:buFont typeface="Arial"/>
              <a:buChar char="•"/>
            </a:pPr>
            <a:endParaRPr lang="en-GB" sz="2266" kern="1200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933900" lvl="1" indent="-636233" defTabSz="932514">
              <a:buAutoNum type="arabicPeriod"/>
              <a:tabLst>
                <a:tab pos="933900" algn="l"/>
                <a:tab pos="934657" algn="l"/>
              </a:tabLst>
            </a:pP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Compute</a:t>
            </a:r>
            <a:r>
              <a:rPr lang="en-GB" sz="2147" kern="1200" spc="-12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X</a:t>
            </a:r>
            <a:r>
              <a:rPr lang="en-GB" sz="2147" kern="1200" baseline="30092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+</a:t>
            </a:r>
          </a:p>
          <a:p>
            <a:pPr marL="466259" lvl="1" defTabSz="932514">
              <a:spcBef>
                <a:spcPts val="6"/>
              </a:spcBef>
              <a:buFont typeface="Arial"/>
              <a:buAutoNum type="arabicPeriod"/>
            </a:pPr>
            <a:endParaRPr lang="en-GB" sz="2266" kern="1200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933900" lvl="1" indent="-636233" defTabSz="932514">
              <a:buAutoNum type="arabicPeriod"/>
              <a:tabLst>
                <a:tab pos="933900" algn="l"/>
                <a:tab pos="934657" algn="l"/>
              </a:tabLst>
            </a:pP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If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X</a:t>
            </a:r>
            <a:r>
              <a:rPr lang="en-GB" sz="2147" kern="1200" baseline="30092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+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= set </a:t>
            </a: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of all attributes then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X </a:t>
            </a: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is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</a:t>
            </a:r>
            <a:r>
              <a:rPr lang="en-GB" sz="2147" kern="1200" spc="-191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147" b="1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superkey</a:t>
            </a:r>
            <a:endParaRPr lang="en-GB" sz="2147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466259" lvl="1" defTabSz="932514">
              <a:spcBef>
                <a:spcPts val="6"/>
              </a:spcBef>
              <a:buFont typeface="Arial"/>
              <a:buAutoNum type="arabicPeriod"/>
            </a:pPr>
            <a:endParaRPr lang="en-GB" sz="2266" kern="1200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933900" lvl="1" indent="-636233" defTabSz="932514">
              <a:buAutoNum type="arabicPeriod"/>
              <a:tabLst>
                <a:tab pos="933900" algn="l"/>
                <a:tab pos="934657" algn="l"/>
              </a:tabLst>
            </a:pP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If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X </a:t>
            </a: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is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minimal, </a:t>
            </a:r>
            <a:r>
              <a:rPr lang="en-GB" sz="2147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then it is </a:t>
            </a:r>
            <a:r>
              <a:rPr lang="en-GB" sz="2147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 </a:t>
            </a:r>
            <a:r>
              <a:rPr lang="en-GB" sz="2147" b="1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key</a:t>
            </a:r>
            <a:endParaRPr lang="en-GB" sz="2105" dirty="0">
              <a:latin typeface="Arial"/>
              <a:cs typeface="Arial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FC2742A5-63AB-4D41-F404-401C1883B5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0900" y="942090"/>
            <a:ext cx="5562600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0">
              <a:buClr>
                <a:schemeClr val="accent1"/>
              </a:buClr>
              <a:buSzPct val="170000"/>
            </a:pPr>
            <a:r>
              <a:rPr lang="en-US" sz="2200" dirty="0" err="1"/>
              <a:t>Superkeys</a:t>
            </a:r>
            <a:r>
              <a:rPr lang="en-US" sz="2200" dirty="0"/>
              <a:t> &amp; Keys - </a:t>
            </a:r>
            <a:r>
              <a:rPr lang="en-US" sz="2200" dirty="0" err="1"/>
              <a:t>Bestimmungsalgorithmus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2060231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11031" y="2824344"/>
            <a:ext cx="9329874" cy="504602"/>
          </a:xfrm>
          <a:prstGeom prst="rect">
            <a:avLst/>
          </a:prstGeom>
          <a:ln w="9524">
            <a:solidFill>
              <a:srgbClr val="7E7E7E"/>
            </a:solidFill>
          </a:ln>
        </p:spPr>
        <p:txBody>
          <a:bodyPr vert="horz" wrap="square" lIns="0" tIns="34902" rIns="0" bIns="0" rtlCol="0">
            <a:spAutoFit/>
          </a:bodyPr>
          <a:lstStyle/>
          <a:p>
            <a:pPr marL="163403" defTabSz="1490193">
              <a:spcBef>
                <a:spcPts val="448"/>
              </a:spcBef>
            </a:pPr>
            <a:r>
              <a:rPr lang="en-GB" sz="3050" kern="1200" spc="-10">
                <a:solidFill>
                  <a:srgbClr val="ED7C31"/>
                </a:solidFill>
                <a:latin typeface="Arial"/>
                <a:ea typeface="+mn-ea"/>
                <a:cs typeface="Arial"/>
              </a:rPr>
              <a:t>Product(name, price, </a:t>
            </a:r>
            <a:r>
              <a:rPr lang="en-GB" sz="3050" kern="1200">
                <a:solidFill>
                  <a:srgbClr val="ED7C31"/>
                </a:solidFill>
                <a:latin typeface="Arial"/>
                <a:ea typeface="+mn-ea"/>
                <a:cs typeface="Arial"/>
              </a:rPr>
              <a:t>category,</a:t>
            </a:r>
            <a:r>
              <a:rPr lang="en-GB" sz="3050" kern="1200" spc="-29">
                <a:solidFill>
                  <a:srgbClr val="ED7C3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3050" kern="1200">
                <a:solidFill>
                  <a:srgbClr val="ED7C31"/>
                </a:solidFill>
                <a:latin typeface="Arial"/>
                <a:ea typeface="+mn-ea"/>
                <a:cs typeface="Arial"/>
              </a:rPr>
              <a:t>color)</a:t>
            </a:r>
            <a:endParaRPr lang="en-GB" sz="187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031" y="3999768"/>
            <a:ext cx="7002269" cy="1000655"/>
          </a:xfrm>
          <a:prstGeom prst="rect">
            <a:avLst/>
          </a:prstGeom>
          <a:ln w="9524">
            <a:solidFill>
              <a:srgbClr val="7E7E7E"/>
            </a:solidFill>
          </a:ln>
        </p:spPr>
        <p:txBody>
          <a:bodyPr vert="horz" wrap="square" lIns="0" tIns="34902" rIns="0" bIns="0" rtlCol="0">
            <a:spAutoFit/>
          </a:bodyPr>
          <a:lstStyle/>
          <a:p>
            <a:pPr marL="163403" defTabSz="1490193">
              <a:spcBef>
                <a:spcPts val="448"/>
              </a:spcBef>
            </a:pPr>
            <a:r>
              <a:rPr lang="en-GB" sz="3050" kern="1200" spc="-10">
                <a:solidFill>
                  <a:srgbClr val="BF0000"/>
                </a:solidFill>
                <a:latin typeface="Arial"/>
                <a:ea typeface="+mn-ea"/>
                <a:cs typeface="Arial"/>
              </a:rPr>
              <a:t>{name, </a:t>
            </a:r>
            <a:r>
              <a:rPr lang="en-GB" sz="3050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category} </a:t>
            </a:r>
            <a:r>
              <a:rPr lang="en-GB" sz="305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3050" kern="1200" spc="-1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3050" kern="1200" spc="-10">
                <a:solidFill>
                  <a:srgbClr val="BF0000"/>
                </a:solidFill>
                <a:latin typeface="Arial"/>
                <a:ea typeface="+mn-ea"/>
                <a:cs typeface="Arial"/>
              </a:rPr>
              <a:t>price</a:t>
            </a:r>
            <a:endParaRPr lang="en-GB" sz="305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63403" defTabSz="1490193">
              <a:spcBef>
                <a:spcPts val="57"/>
              </a:spcBef>
            </a:pPr>
            <a:r>
              <a:rPr lang="en-GB" sz="3050" kern="1200" spc="-10">
                <a:solidFill>
                  <a:srgbClr val="BF0000"/>
                </a:solidFill>
                <a:latin typeface="Arial"/>
                <a:ea typeface="+mn-ea"/>
                <a:cs typeface="Arial"/>
              </a:rPr>
              <a:t>{category} </a:t>
            </a:r>
            <a:r>
              <a:rPr lang="en-GB" sz="305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3050" kern="1200" spc="29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3050" kern="1200">
                <a:solidFill>
                  <a:srgbClr val="BF0000"/>
                </a:solidFill>
                <a:latin typeface="Arial"/>
                <a:ea typeface="+mn-ea"/>
                <a:cs typeface="Arial"/>
              </a:rPr>
              <a:t>color</a:t>
            </a:r>
            <a:endParaRPr lang="en-GB" sz="1871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75101" y="6233439"/>
            <a:ext cx="4393530" cy="601761"/>
          </a:xfrm>
          <a:prstGeom prst="rect">
            <a:avLst/>
          </a:prstGeom>
        </p:spPr>
        <p:txBody>
          <a:bodyPr vert="horz" wrap="square" lIns="0" tIns="14852" rIns="0" bIns="0" rtlCol="0">
            <a:spAutoFit/>
          </a:bodyPr>
          <a:lstStyle/>
          <a:p>
            <a:pPr marL="24207" defTabSz="1490193">
              <a:spcBef>
                <a:spcPts val="191"/>
              </a:spcBef>
            </a:pPr>
            <a:r>
              <a:rPr lang="en-GB" sz="3813" kern="1200" spc="-1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Was </a:t>
            </a:r>
            <a:r>
              <a:rPr lang="en-GB" sz="3813" kern="1200" spc="-10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ist</a:t>
            </a:r>
            <a:r>
              <a:rPr lang="en-GB" sz="3813" kern="1200" spc="-1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der</a:t>
            </a:r>
            <a:r>
              <a:rPr lang="en-GB" sz="3813" kern="1200" spc="-181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3813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key?</a:t>
            </a:r>
            <a:endParaRPr lang="en-GB" sz="2339" dirty="0">
              <a:latin typeface="Arial"/>
              <a:cs typeface="Arial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91D994A8-5B9A-1F28-2788-E68916E270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0900" y="730250"/>
            <a:ext cx="6862400" cy="540000"/>
          </a:xfrm>
          <a:prstGeom prst="rect">
            <a:avLst/>
          </a:prstGeom>
        </p:spPr>
        <p:txBody>
          <a:bodyPr vert="horz" wrap="square" lIns="0" tIns="14852" rIns="0" bIns="0" rtlCol="0" anchor="ctr">
            <a:spAutoFit/>
          </a:bodyPr>
          <a:lstStyle/>
          <a:p>
            <a:pPr marL="0">
              <a:buClr>
                <a:schemeClr val="accent1"/>
              </a:buClr>
              <a:buSzPct val="170000"/>
            </a:pPr>
            <a:r>
              <a:rPr lang="en-US" sz="2200" dirty="0" err="1"/>
              <a:t>Superkeys</a:t>
            </a:r>
            <a:r>
              <a:rPr lang="en-US" sz="2200" dirty="0"/>
              <a:t> &amp; Keys – </a:t>
            </a:r>
            <a:r>
              <a:rPr lang="en-US" sz="2200" dirty="0" err="1"/>
              <a:t>Bestimmungsalgorithmus</a:t>
            </a:r>
            <a:r>
              <a:rPr lang="en-US" sz="2200" dirty="0"/>
              <a:t>, </a:t>
            </a:r>
            <a:r>
              <a:rPr lang="en-US" sz="2200" dirty="0" err="1"/>
              <a:t>Beispiel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42715830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0478" y="2673267"/>
            <a:ext cx="7349679" cy="416869"/>
          </a:xfrm>
          <a:prstGeom prst="rect">
            <a:avLst/>
          </a:prstGeom>
          <a:ln w="9524">
            <a:solidFill>
              <a:srgbClr val="7E7E7E"/>
            </a:solidFill>
          </a:ln>
        </p:spPr>
        <p:txBody>
          <a:bodyPr vert="horz" wrap="square" lIns="0" tIns="34902" rIns="0" bIns="0" rtlCol="0">
            <a:spAutoFit/>
          </a:bodyPr>
          <a:lstStyle/>
          <a:p>
            <a:pPr marL="128360" defTabSz="1179355">
              <a:spcBef>
                <a:spcPts val="355"/>
              </a:spcBef>
            </a:pPr>
            <a:r>
              <a:rPr lang="en-GB" sz="2414" kern="1200" spc="-8">
                <a:solidFill>
                  <a:srgbClr val="ED7C31"/>
                </a:solidFill>
                <a:latin typeface="Arial"/>
                <a:ea typeface="+mn-ea"/>
                <a:cs typeface="Arial"/>
              </a:rPr>
              <a:t>Product(name, price, </a:t>
            </a:r>
            <a:r>
              <a:rPr lang="en-GB" sz="2414" kern="1200">
                <a:solidFill>
                  <a:srgbClr val="ED7C31"/>
                </a:solidFill>
                <a:latin typeface="Arial"/>
                <a:ea typeface="+mn-ea"/>
                <a:cs typeface="Arial"/>
              </a:rPr>
              <a:t>category,</a:t>
            </a:r>
            <a:r>
              <a:rPr lang="en-GB" sz="2414" kern="1200" spc="-23">
                <a:solidFill>
                  <a:srgbClr val="ED7C3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414" kern="1200">
                <a:solidFill>
                  <a:srgbClr val="ED7C31"/>
                </a:solidFill>
                <a:latin typeface="Arial"/>
                <a:ea typeface="+mn-ea"/>
                <a:cs typeface="Arial"/>
              </a:rPr>
              <a:t>color)</a:t>
            </a:r>
            <a:endParaRPr lang="en-GB" sz="187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0478" y="3599216"/>
            <a:ext cx="5516090" cy="788273"/>
          </a:xfrm>
          <a:prstGeom prst="rect">
            <a:avLst/>
          </a:prstGeom>
          <a:ln w="9524">
            <a:solidFill>
              <a:srgbClr val="7E7E7E"/>
            </a:solidFill>
          </a:ln>
        </p:spPr>
        <p:txBody>
          <a:bodyPr vert="horz" wrap="square" lIns="0" tIns="34902" rIns="0" bIns="0" rtlCol="0">
            <a:spAutoFit/>
          </a:bodyPr>
          <a:lstStyle/>
          <a:p>
            <a:pPr marL="128360" defTabSz="1179355">
              <a:spcBef>
                <a:spcPts val="355"/>
              </a:spcBef>
            </a:pPr>
            <a:r>
              <a:rPr lang="en-GB" sz="2414" kern="1200" spc="-8" dirty="0">
                <a:solidFill>
                  <a:srgbClr val="BF0000"/>
                </a:solidFill>
                <a:latin typeface="Arial"/>
                <a:ea typeface="+mn-ea"/>
                <a:cs typeface="Arial"/>
              </a:rPr>
              <a:t>{name, </a:t>
            </a:r>
            <a:r>
              <a:rPr lang="en-GB" sz="2414" kern="1200" dirty="0">
                <a:solidFill>
                  <a:srgbClr val="BF0000"/>
                </a:solidFill>
                <a:latin typeface="Arial"/>
                <a:ea typeface="+mn-ea"/>
                <a:cs typeface="Arial"/>
              </a:rPr>
              <a:t>category} </a:t>
            </a:r>
            <a:r>
              <a:rPr lang="en-GB" sz="2414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414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414" kern="1200" spc="-8" dirty="0">
                <a:solidFill>
                  <a:srgbClr val="BF0000"/>
                </a:solidFill>
                <a:latin typeface="Arial"/>
                <a:ea typeface="+mn-ea"/>
                <a:cs typeface="Arial"/>
              </a:rPr>
              <a:t>price</a:t>
            </a:r>
            <a:endParaRPr lang="en-GB" sz="2414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128360" defTabSz="1179355">
              <a:spcBef>
                <a:spcPts val="45"/>
              </a:spcBef>
            </a:pPr>
            <a:r>
              <a:rPr lang="en-GB" sz="2414" kern="1200" spc="-8" dirty="0">
                <a:solidFill>
                  <a:srgbClr val="BF0000"/>
                </a:solidFill>
                <a:latin typeface="Arial"/>
                <a:ea typeface="+mn-ea"/>
                <a:cs typeface="Arial"/>
              </a:rPr>
              <a:t>{category} </a:t>
            </a:r>
            <a:r>
              <a:rPr lang="en-GB" sz="2414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GB" sz="2414" kern="1200" spc="23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414" kern="1200" dirty="0" err="1">
                <a:solidFill>
                  <a:srgbClr val="BF0000"/>
                </a:solidFill>
                <a:latin typeface="Arial"/>
                <a:ea typeface="+mn-ea"/>
                <a:cs typeface="Arial"/>
              </a:rPr>
              <a:t>color</a:t>
            </a:r>
            <a:endParaRPr lang="en-GB" sz="1871" dirty="0">
              <a:latin typeface="Arial"/>
              <a:cs typeface="Arial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4AB4331D-E2AD-044E-F6CD-B062A1D00E3E}"/>
              </a:ext>
            </a:extLst>
          </p:cNvPr>
          <p:cNvSpPr txBox="1">
            <a:spLocks/>
          </p:cNvSpPr>
          <p:nvPr/>
        </p:nvSpPr>
        <p:spPr>
          <a:xfrm>
            <a:off x="622300" y="730250"/>
            <a:ext cx="68624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4852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0">
              <a:buClr>
                <a:schemeClr val="accent1"/>
              </a:buClr>
              <a:buSzPct val="170000"/>
            </a:pPr>
            <a:r>
              <a:rPr lang="en-US" sz="2200" dirty="0" err="1"/>
              <a:t>Superkeys</a:t>
            </a:r>
            <a:r>
              <a:rPr lang="en-US" sz="2200" dirty="0"/>
              <a:t> &amp; Keys – </a:t>
            </a:r>
            <a:r>
              <a:rPr lang="en-US" sz="2200" dirty="0" err="1"/>
              <a:t>Bestimmungsalgorithmus</a:t>
            </a:r>
            <a:r>
              <a:rPr lang="en-US" sz="2200" dirty="0"/>
              <a:t>, </a:t>
            </a:r>
            <a:r>
              <a:rPr lang="en-US" sz="2200" dirty="0" err="1"/>
              <a:t>Beispiel</a:t>
            </a:r>
            <a:endParaRPr lang="en-US" sz="2200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CACFD598-CBD6-5E5E-320C-90CC4447BF07}"/>
              </a:ext>
            </a:extLst>
          </p:cNvPr>
          <p:cNvSpPr txBox="1"/>
          <p:nvPr/>
        </p:nvSpPr>
        <p:spPr>
          <a:xfrm>
            <a:off x="622300" y="4919523"/>
            <a:ext cx="9164198" cy="1297127"/>
          </a:xfrm>
          <a:prstGeom prst="rect">
            <a:avLst/>
          </a:prstGeom>
          <a:ln w="9524">
            <a:solidFill>
              <a:srgbClr val="7E7E7E"/>
            </a:solidFill>
          </a:ln>
        </p:spPr>
        <p:txBody>
          <a:bodyPr vert="horz" wrap="square" lIns="0" tIns="34902" rIns="0" bIns="0" rtlCol="0">
            <a:spAutoFit/>
          </a:bodyPr>
          <a:lstStyle/>
          <a:p>
            <a:pPr marL="128360" defTabSz="1179355">
              <a:spcBef>
                <a:spcPts val="355"/>
              </a:spcBef>
            </a:pPr>
            <a:r>
              <a:rPr lang="en-GB" kern="1200" spc="-8" dirty="0">
                <a:solidFill>
                  <a:srgbClr val="BF0000"/>
                </a:solidFill>
                <a:latin typeface="Arial"/>
                <a:ea typeface="+mn-ea"/>
                <a:cs typeface="Arial"/>
              </a:rPr>
              <a:t>{name, </a:t>
            </a:r>
            <a:r>
              <a:rPr lang="en-GB" kern="1200" dirty="0">
                <a:solidFill>
                  <a:srgbClr val="BF0000"/>
                </a:solidFill>
                <a:latin typeface="Arial"/>
                <a:ea typeface="+mn-ea"/>
                <a:cs typeface="Arial"/>
              </a:rPr>
              <a:t>category}</a:t>
            </a:r>
            <a:r>
              <a:rPr lang="en-GB" baseline="30000" dirty="0">
                <a:solidFill>
                  <a:srgbClr val="BF0000"/>
                </a:solidFill>
                <a:latin typeface="Arial"/>
                <a:cs typeface="Arial"/>
              </a:rPr>
              <a:t>+</a:t>
            </a:r>
            <a:r>
              <a:rPr lang="en-GB" dirty="0">
                <a:solidFill>
                  <a:srgbClr val="BF0000"/>
                </a:solidFill>
                <a:latin typeface="Arial"/>
                <a:cs typeface="Arial"/>
              </a:rPr>
              <a:t> =</a:t>
            </a:r>
            <a:r>
              <a:rPr lang="en-GB" kern="1200" spc="-8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kern="1200" spc="-8" dirty="0">
                <a:solidFill>
                  <a:srgbClr val="BF0000"/>
                </a:solidFill>
                <a:latin typeface="Arial"/>
                <a:ea typeface="+mn-ea"/>
                <a:cs typeface="Arial"/>
              </a:rPr>
              <a:t>{name, price, </a:t>
            </a:r>
            <a:r>
              <a:rPr lang="en-GB" kern="1200" dirty="0">
                <a:solidFill>
                  <a:srgbClr val="BF0000"/>
                </a:solidFill>
                <a:latin typeface="Arial"/>
                <a:ea typeface="+mn-ea"/>
                <a:cs typeface="Arial"/>
              </a:rPr>
              <a:t>category, </a:t>
            </a:r>
            <a:r>
              <a:rPr lang="en-GB" kern="1200" dirty="0" err="1">
                <a:solidFill>
                  <a:srgbClr val="BF0000"/>
                </a:solidFill>
                <a:latin typeface="Arial"/>
                <a:ea typeface="+mn-ea"/>
                <a:cs typeface="Arial"/>
              </a:rPr>
              <a:t>color</a:t>
            </a:r>
            <a:r>
              <a:rPr lang="en-GB" kern="1200" dirty="0">
                <a:solidFill>
                  <a:srgbClr val="BF0000"/>
                </a:solidFill>
                <a:latin typeface="Arial"/>
                <a:ea typeface="+mn-ea"/>
                <a:cs typeface="Arial"/>
              </a:rPr>
              <a:t>}</a:t>
            </a:r>
            <a:r>
              <a:rPr lang="en-GB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</a:p>
          <a:p>
            <a:pPr marL="128360" defTabSz="1179355">
              <a:spcBef>
                <a:spcPts val="355"/>
              </a:spcBef>
            </a:pPr>
            <a:r>
              <a:rPr lang="en-GB" dirty="0">
                <a:latin typeface="Arial"/>
                <a:cs typeface="Arial"/>
              </a:rPr>
              <a:t>=</a:t>
            </a:r>
            <a:r>
              <a:rPr lang="en-GB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lang="en-GB" dirty="0" err="1">
                <a:latin typeface="Arial"/>
                <a:cs typeface="Arial"/>
              </a:rPr>
              <a:t>Menge</a:t>
            </a:r>
            <a:r>
              <a:rPr lang="en-GB" dirty="0">
                <a:latin typeface="Arial"/>
                <a:cs typeface="Arial"/>
              </a:rPr>
              <a:t> </a:t>
            </a:r>
            <a:r>
              <a:rPr lang="en-GB" dirty="0" err="1">
                <a:latin typeface="Arial"/>
                <a:cs typeface="Arial"/>
              </a:rPr>
              <a:t>aller</a:t>
            </a:r>
            <a:r>
              <a:rPr lang="en-GB" dirty="0">
                <a:latin typeface="Arial"/>
                <a:cs typeface="Arial"/>
              </a:rPr>
              <a:t> Attribute</a:t>
            </a:r>
          </a:p>
          <a:p>
            <a:pPr marL="414110" indent="-285750" defTabSz="1179355">
              <a:spcBef>
                <a:spcPts val="355"/>
              </a:spcBef>
              <a:buFont typeface="Wingdings" pitchFamily="2" charset="2"/>
              <a:buChar char="è"/>
            </a:pPr>
            <a:r>
              <a:rPr lang="en-GB" kern="1200" dirty="0" err="1">
                <a:latin typeface="Arial"/>
                <a:ea typeface="+mn-ea"/>
                <a:cs typeface="Arial"/>
                <a:sym typeface="Wingdings" pitchFamily="2" charset="2"/>
              </a:rPr>
              <a:t>Ist</a:t>
            </a:r>
            <a:r>
              <a:rPr lang="en-GB" kern="1200" dirty="0">
                <a:latin typeface="Arial"/>
                <a:ea typeface="+mn-ea"/>
                <a:cs typeface="Arial"/>
                <a:sym typeface="Wingdings" pitchFamily="2" charset="2"/>
              </a:rPr>
              <a:t> </a:t>
            </a:r>
            <a:r>
              <a:rPr lang="en-GB" kern="1200" dirty="0" err="1">
                <a:latin typeface="Arial"/>
                <a:ea typeface="+mn-ea"/>
                <a:cs typeface="Arial"/>
                <a:sym typeface="Wingdings" pitchFamily="2" charset="2"/>
              </a:rPr>
              <a:t>S</a:t>
            </a:r>
            <a:r>
              <a:rPr lang="en-GB" dirty="0" err="1">
                <a:latin typeface="Arial"/>
                <a:cs typeface="Arial"/>
                <a:sym typeface="Wingdings" pitchFamily="2" charset="2"/>
              </a:rPr>
              <a:t>uperkey</a:t>
            </a:r>
            <a:endParaRPr lang="en-GB" dirty="0">
              <a:latin typeface="Arial"/>
              <a:cs typeface="Arial"/>
              <a:sym typeface="Wingdings" pitchFamily="2" charset="2"/>
            </a:endParaRPr>
          </a:p>
          <a:p>
            <a:pPr marL="414110" indent="-285750" defTabSz="1179355">
              <a:spcBef>
                <a:spcPts val="355"/>
              </a:spcBef>
              <a:buFont typeface="Wingdings" pitchFamily="2" charset="2"/>
              <a:buChar char="è"/>
            </a:pPr>
            <a:r>
              <a:rPr lang="en-GB" kern="1200" dirty="0" err="1">
                <a:latin typeface="Arial"/>
                <a:ea typeface="+mn-ea"/>
                <a:cs typeface="Arial"/>
                <a:sym typeface="Wingdings" pitchFamily="2" charset="2"/>
              </a:rPr>
              <a:t>Ist</a:t>
            </a:r>
            <a:r>
              <a:rPr lang="en-GB" kern="1200" dirty="0">
                <a:latin typeface="Arial"/>
                <a:ea typeface="+mn-ea"/>
                <a:cs typeface="Arial"/>
                <a:sym typeface="Wingdings" pitchFamily="2" charset="2"/>
              </a:rPr>
              <a:t> </a:t>
            </a:r>
            <a:r>
              <a:rPr lang="en-GB" kern="1200" dirty="0" err="1">
                <a:latin typeface="Arial"/>
                <a:ea typeface="+mn-ea"/>
                <a:cs typeface="Arial"/>
                <a:sym typeface="Wingdings" pitchFamily="2" charset="2"/>
              </a:rPr>
              <a:t>auch</a:t>
            </a:r>
            <a:r>
              <a:rPr lang="en-GB" kern="1200" dirty="0">
                <a:latin typeface="Arial"/>
                <a:ea typeface="+mn-ea"/>
                <a:cs typeface="Arial"/>
                <a:sym typeface="Wingdings" pitchFamily="2" charset="2"/>
              </a:rPr>
              <a:t> Key, da </a:t>
            </a:r>
            <a:r>
              <a:rPr lang="en-GB" kern="1200" dirty="0" err="1">
                <a:latin typeface="Arial"/>
                <a:ea typeface="+mn-ea"/>
                <a:cs typeface="Arial"/>
                <a:sym typeface="Wingdings" pitchFamily="2" charset="2"/>
              </a:rPr>
              <a:t>weder</a:t>
            </a:r>
            <a:r>
              <a:rPr lang="en-GB" kern="1200" dirty="0">
                <a:latin typeface="Arial"/>
                <a:ea typeface="+mn-ea"/>
                <a:cs typeface="Arial"/>
                <a:sym typeface="Wingdings" pitchFamily="2" charset="2"/>
              </a:rPr>
              <a:t> </a:t>
            </a:r>
            <a:r>
              <a:rPr lang="en-GB" kern="1200" dirty="0">
                <a:solidFill>
                  <a:srgbClr val="C00000"/>
                </a:solidFill>
                <a:latin typeface="Arial"/>
                <a:ea typeface="+mn-ea"/>
                <a:cs typeface="Arial"/>
                <a:sym typeface="Wingdings" pitchFamily="2" charset="2"/>
              </a:rPr>
              <a:t>name </a:t>
            </a:r>
            <a:r>
              <a:rPr lang="en-GB" kern="1200" dirty="0" err="1">
                <a:latin typeface="Arial"/>
                <a:ea typeface="+mn-ea"/>
                <a:cs typeface="Arial"/>
                <a:sym typeface="Wingdings" pitchFamily="2" charset="2"/>
              </a:rPr>
              <a:t>noch</a:t>
            </a:r>
            <a:r>
              <a:rPr lang="en-GB" kern="1200" dirty="0">
                <a:latin typeface="Arial"/>
                <a:ea typeface="+mn-ea"/>
                <a:cs typeface="Arial"/>
                <a:sym typeface="Wingdings" pitchFamily="2" charset="2"/>
              </a:rPr>
              <a:t> </a:t>
            </a:r>
            <a:r>
              <a:rPr lang="en-GB" kern="1200" dirty="0">
                <a:solidFill>
                  <a:srgbClr val="C00000"/>
                </a:solidFill>
                <a:latin typeface="Arial"/>
                <a:ea typeface="+mn-ea"/>
                <a:cs typeface="Arial"/>
                <a:sym typeface="Wingdings" pitchFamily="2" charset="2"/>
              </a:rPr>
              <a:t>category </a:t>
            </a:r>
            <a:r>
              <a:rPr lang="en-GB" kern="1200" dirty="0" err="1">
                <a:latin typeface="Arial"/>
                <a:ea typeface="+mn-ea"/>
                <a:cs typeface="Arial"/>
                <a:sym typeface="Wingdings" pitchFamily="2" charset="2"/>
              </a:rPr>
              <a:t>alleine</a:t>
            </a:r>
            <a:r>
              <a:rPr lang="en-GB" kern="1200" dirty="0">
                <a:latin typeface="Arial"/>
                <a:ea typeface="+mn-ea"/>
                <a:cs typeface="Arial"/>
                <a:sym typeface="Wingdings" pitchFamily="2" charset="2"/>
              </a:rPr>
              <a:t> </a:t>
            </a:r>
            <a:r>
              <a:rPr lang="en-GB" kern="1200" dirty="0" err="1">
                <a:latin typeface="Arial"/>
                <a:ea typeface="+mn-ea"/>
                <a:cs typeface="Arial"/>
                <a:sym typeface="Wingdings" pitchFamily="2" charset="2"/>
              </a:rPr>
              <a:t>Superkeys</a:t>
            </a:r>
            <a:r>
              <a:rPr lang="en-GB" kern="1200" dirty="0">
                <a:latin typeface="Arial"/>
                <a:ea typeface="+mn-ea"/>
                <a:cs typeface="Arial"/>
                <a:sym typeface="Wingdings" pitchFamily="2" charset="2"/>
              </a:rPr>
              <a:t> </a:t>
            </a:r>
            <a:r>
              <a:rPr lang="en-GB" kern="1200" dirty="0" err="1">
                <a:latin typeface="Arial"/>
                <a:ea typeface="+mn-ea"/>
                <a:cs typeface="Arial"/>
                <a:sym typeface="Wingdings" pitchFamily="2" charset="2"/>
              </a:rPr>
              <a:t>sind</a:t>
            </a:r>
            <a:endParaRPr lang="en-GB" kern="1200" dirty="0"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502787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417979"/>
              </p:ext>
            </p:extLst>
          </p:nvPr>
        </p:nvGraphicFramePr>
        <p:xfrm>
          <a:off x="1267119" y="2328289"/>
          <a:ext cx="5675907" cy="24754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6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8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021">
                <a:tc gridSpan="4"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spc="-10" dirty="0" err="1">
                          <a:latin typeface="Tahoma"/>
                          <a:cs typeface="Tahoma"/>
                        </a:rPr>
                        <a:t>Städte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19308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28575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278"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Name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8565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BLand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856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Vorwahl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856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200" spc="-15" dirty="0">
                          <a:latin typeface="Tahoma"/>
                          <a:cs typeface="Tahoma"/>
                        </a:rPr>
                        <a:t>EW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1856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36"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Frankfurt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Hessen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069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5">
                          <a:latin typeface="Tahoma"/>
                          <a:cs typeface="Tahoma"/>
                        </a:rPr>
                        <a:t>650000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36"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Frankfurt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Brandenburg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0335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5">
                          <a:latin typeface="Tahoma"/>
                          <a:cs typeface="Tahoma"/>
                        </a:rPr>
                        <a:t>84000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536"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München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Bayern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089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1200000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536"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Passau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Bayern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0851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5">
                          <a:latin typeface="Tahoma"/>
                          <a:cs typeface="Tahoma"/>
                        </a:rPr>
                        <a:t>50000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021"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spc="-15">
                          <a:latin typeface="Tahoma"/>
                          <a:cs typeface="Tahoma"/>
                        </a:rPr>
                        <a:t>...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9308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spc="-15">
                          <a:latin typeface="Tahoma"/>
                          <a:cs typeface="Tahoma"/>
                        </a:rPr>
                        <a:t>...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9308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spc="-15">
                          <a:latin typeface="Tahoma"/>
                          <a:cs typeface="Tahoma"/>
                        </a:rPr>
                        <a:t>...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9308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spc="-10" dirty="0">
                          <a:latin typeface="Tahoma"/>
                          <a:cs typeface="Tahoma"/>
                        </a:rPr>
                        <a:t>...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19308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152608" y="3324575"/>
            <a:ext cx="2976417" cy="779015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46784" rIns="0" bIns="0" rtlCol="0">
            <a:spAutoFit/>
          </a:bodyPr>
          <a:lstStyle/>
          <a:p>
            <a:pPr marL="98242" marR="146271" defTabSz="895944">
              <a:lnSpc>
                <a:spcPts val="1628"/>
              </a:lnSpc>
              <a:spcBef>
                <a:spcPts val="361"/>
              </a:spcBef>
            </a:pPr>
            <a:r>
              <a:rPr lang="en-GB" sz="1375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Bestimme</a:t>
            </a:r>
            <a:endParaRPr lang="en-GB" sz="1375" kern="1200" spc="-6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94725" marR="146271" indent="-196484" defTabSz="895944">
              <a:lnSpc>
                <a:spcPts val="1628"/>
              </a:lnSpc>
              <a:spcBef>
                <a:spcPts val="361"/>
              </a:spcBef>
              <a:buFontTx/>
              <a:buChar char="-"/>
            </a:pPr>
            <a:r>
              <a:rPr lang="en-GB" sz="1375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Superkeys</a:t>
            </a:r>
            <a:endParaRPr lang="en-GB" sz="1375" kern="1200" spc="-6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94725" marR="146271" indent="-196484" defTabSz="895944">
              <a:lnSpc>
                <a:spcPts val="1628"/>
              </a:lnSpc>
              <a:spcBef>
                <a:spcPts val="361"/>
              </a:spcBef>
              <a:buFontTx/>
              <a:buChar char="-"/>
            </a:pPr>
            <a:r>
              <a:rPr lang="en-GB" sz="1375" spc="-6" dirty="0">
                <a:latin typeface="Arial"/>
                <a:cs typeface="Arial"/>
              </a:rPr>
              <a:t>C</a:t>
            </a:r>
            <a:r>
              <a:rPr lang="en-GB" sz="1375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andidate </a:t>
            </a:r>
            <a:r>
              <a:rPr lang="en-GB" sz="1375" spc="-6" dirty="0">
                <a:latin typeface="Arial"/>
                <a:cs typeface="Arial"/>
              </a:rPr>
              <a:t>K</a:t>
            </a:r>
            <a:r>
              <a:rPr lang="en-GB" sz="1375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eys</a:t>
            </a:r>
            <a:endParaRPr lang="en-GB" sz="1403" dirty="0">
              <a:latin typeface="Arial"/>
              <a:cs typeface="Arial"/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564374" y="5409064"/>
            <a:ext cx="8819650" cy="638647"/>
          </a:xfrm>
        </p:spPr>
        <p:txBody>
          <a:bodyPr>
            <a:normAutofit/>
          </a:bodyPr>
          <a:lstStyle/>
          <a:p>
            <a:pPr marL="0" indent="0" defTabSz="247529">
              <a:spcBef>
                <a:spcPts val="859"/>
              </a:spcBef>
              <a:buNone/>
            </a:pPr>
            <a:r>
              <a:rPr lang="en-GB" sz="1719" kern="1200" baseline="0" dirty="0">
                <a:solidFill>
                  <a:schemeClr val="tx1"/>
                </a:solidFill>
                <a:latin typeface="TheSansOffice" panose="020B0503040302060204" pitchFamily="34" charset="0"/>
                <a:ea typeface="+mn-ea"/>
                <a:cs typeface="+mn-cs"/>
              </a:rPr>
              <a:t>Es </a:t>
            </a:r>
            <a:r>
              <a:rPr lang="en-GB" sz="1719" kern="1200" baseline="0" dirty="0" err="1">
                <a:solidFill>
                  <a:schemeClr val="tx1"/>
                </a:solidFill>
                <a:latin typeface="TheSansOffice" panose="020B0503040302060204" pitchFamily="34" charset="0"/>
                <a:ea typeface="+mn-ea"/>
                <a:cs typeface="+mn-cs"/>
              </a:rPr>
              <a:t>gibt</a:t>
            </a:r>
            <a:r>
              <a:rPr lang="en-GB" sz="1719" kern="1200" baseline="0" dirty="0">
                <a:solidFill>
                  <a:schemeClr val="tx1"/>
                </a:solidFill>
                <a:latin typeface="TheSansOffice" panose="020B0503040302060204" pitchFamily="34" charset="0"/>
                <a:ea typeface="+mn-ea"/>
                <a:cs typeface="+mn-cs"/>
              </a:rPr>
              <a:t> </a:t>
            </a:r>
            <a:r>
              <a:rPr lang="en-GB" sz="1719" kern="1200" baseline="0" dirty="0" err="1">
                <a:solidFill>
                  <a:schemeClr val="tx1"/>
                </a:solidFill>
                <a:latin typeface="TheSansOffice" panose="020B0503040302060204" pitchFamily="34" charset="0"/>
                <a:ea typeface="+mn-ea"/>
                <a:cs typeface="+mn-cs"/>
              </a:rPr>
              <a:t>u.U.</a:t>
            </a:r>
            <a:r>
              <a:rPr lang="en-GB" sz="1719" kern="1200" baseline="0" dirty="0">
                <a:solidFill>
                  <a:schemeClr val="tx1"/>
                </a:solidFill>
                <a:latin typeface="TheSansOffice" panose="020B0503040302060204" pitchFamily="34" charset="0"/>
                <a:ea typeface="+mn-ea"/>
                <a:cs typeface="+mn-cs"/>
              </a:rPr>
              <a:t> </a:t>
            </a:r>
            <a:r>
              <a:rPr lang="en-GB" sz="1719" kern="1200" baseline="0" dirty="0" err="1">
                <a:solidFill>
                  <a:schemeClr val="tx1"/>
                </a:solidFill>
                <a:latin typeface="TheSansOffice" panose="020B0503040302060204" pitchFamily="34" charset="0"/>
                <a:ea typeface="+mn-ea"/>
                <a:cs typeface="+mn-cs"/>
              </a:rPr>
              <a:t>mehrere</a:t>
            </a:r>
            <a:r>
              <a:rPr lang="en-GB" sz="1719" kern="1200" baseline="0" dirty="0">
                <a:solidFill>
                  <a:schemeClr val="tx1"/>
                </a:solidFill>
                <a:latin typeface="TheSansOffice" panose="020B0503040302060204" pitchFamily="34" charset="0"/>
                <a:ea typeface="+mn-ea"/>
                <a:cs typeface="+mn-cs"/>
              </a:rPr>
              <a:t> Keys. </a:t>
            </a:r>
            <a:r>
              <a:rPr lang="en-GB" sz="1719" dirty="0"/>
              <a:t>Es </a:t>
            </a:r>
            <a:r>
              <a:rPr lang="en-GB" sz="1719" dirty="0" err="1"/>
              <a:t>wird</a:t>
            </a:r>
            <a:r>
              <a:rPr lang="en-GB" sz="1719" dirty="0"/>
              <a:t> </a:t>
            </a:r>
            <a:r>
              <a:rPr lang="en-GB" sz="1719" dirty="0" err="1"/>
              <a:t>dann</a:t>
            </a:r>
            <a:r>
              <a:rPr lang="en-GB" sz="1719" dirty="0"/>
              <a:t> von Candidate Keys (</a:t>
            </a:r>
            <a:r>
              <a:rPr lang="en-GB" sz="1719" dirty="0" err="1"/>
              <a:t>Kandidatenschlüsseln</a:t>
            </a:r>
            <a:r>
              <a:rPr lang="en-GB" sz="1719" dirty="0"/>
              <a:t>) </a:t>
            </a:r>
            <a:r>
              <a:rPr lang="en-GB" sz="1719" dirty="0" err="1"/>
              <a:t>gesprochen</a:t>
            </a:r>
            <a:r>
              <a:rPr lang="en-GB" sz="1719" dirty="0"/>
              <a:t>. Davon </a:t>
            </a:r>
            <a:r>
              <a:rPr lang="en-GB" sz="1719" dirty="0" err="1"/>
              <a:t>wird</a:t>
            </a:r>
            <a:r>
              <a:rPr lang="en-GB" sz="1719" dirty="0"/>
              <a:t> </a:t>
            </a:r>
            <a:r>
              <a:rPr lang="en-GB" sz="1719" dirty="0" err="1"/>
              <a:t>ein</a:t>
            </a:r>
            <a:r>
              <a:rPr lang="en-GB" sz="1719" dirty="0"/>
              <a:t> Candidate </a:t>
            </a:r>
            <a:r>
              <a:rPr lang="en-GB" sz="1719" dirty="0" err="1"/>
              <a:t>als</a:t>
            </a:r>
            <a:r>
              <a:rPr lang="en-GB" sz="1719" dirty="0"/>
              <a:t> Primary Key (</a:t>
            </a:r>
            <a:r>
              <a:rPr lang="en-GB" sz="1719" dirty="0" err="1"/>
              <a:t>Primärschlüssel</a:t>
            </a:r>
            <a:r>
              <a:rPr lang="en-GB" sz="1719" dirty="0"/>
              <a:t> </a:t>
            </a:r>
            <a:r>
              <a:rPr lang="en-GB" sz="1719" dirty="0" err="1"/>
              <a:t>gewählt</a:t>
            </a:r>
            <a:r>
              <a:rPr lang="en-GB" sz="1719" dirty="0"/>
              <a:t>).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F5E38183-F3D2-0EE6-E43B-8FF743CF5CD3}"/>
              </a:ext>
            </a:extLst>
          </p:cNvPr>
          <p:cNvSpPr txBox="1">
            <a:spLocks/>
          </p:cNvSpPr>
          <p:nvPr/>
        </p:nvSpPr>
        <p:spPr>
          <a:xfrm>
            <a:off x="622300" y="654050"/>
            <a:ext cx="68624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4852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0">
              <a:buClr>
                <a:schemeClr val="accent1"/>
              </a:buClr>
              <a:buSzPct val="170000"/>
            </a:pPr>
            <a:r>
              <a:rPr lang="en-US" sz="2200" dirty="0" err="1"/>
              <a:t>Superkeys</a:t>
            </a:r>
            <a:r>
              <a:rPr lang="en-US" sz="2200" dirty="0"/>
              <a:t> &amp; Keys – </a:t>
            </a:r>
            <a:r>
              <a:rPr lang="en-US" sz="2200" dirty="0" err="1"/>
              <a:t>Beispiel</a:t>
            </a:r>
            <a:r>
              <a:rPr lang="en-US" sz="2200" dirty="0"/>
              <a:t> </a:t>
            </a:r>
            <a:r>
              <a:rPr lang="en-US" sz="2200" dirty="0" err="1"/>
              <a:t>aus</a:t>
            </a:r>
            <a:r>
              <a:rPr lang="en-US" sz="2200" dirty="0"/>
              <a:t> Kemper</a:t>
            </a:r>
          </a:p>
        </p:txBody>
      </p:sp>
    </p:spTree>
    <p:extLst>
      <p:ext uri="{BB962C8B-B14F-4D97-AF65-F5344CB8AC3E}">
        <p14:creationId xmlns:p14="http://schemas.microsoft.com/office/powerpoint/2010/main" val="359367873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029764"/>
              </p:ext>
            </p:extLst>
          </p:nvPr>
        </p:nvGraphicFramePr>
        <p:xfrm>
          <a:off x="1267119" y="1886648"/>
          <a:ext cx="5675907" cy="24754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6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8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021">
                <a:tc gridSpan="4"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Städte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9308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28575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278"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Name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8565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BLand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856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Vorwahl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856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200" spc="-15" dirty="0">
                          <a:latin typeface="Tahoma"/>
                          <a:cs typeface="Tahoma"/>
                        </a:rPr>
                        <a:t>EW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1856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36"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Frankfurt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Hessen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069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5">
                          <a:latin typeface="Tahoma"/>
                          <a:cs typeface="Tahoma"/>
                        </a:rPr>
                        <a:t>650000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36"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Frankfurt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Brandenburg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0335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5">
                          <a:latin typeface="Tahoma"/>
                          <a:cs typeface="Tahoma"/>
                        </a:rPr>
                        <a:t>84000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536"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München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Bayern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089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1200000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536"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Passau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Bayern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10">
                          <a:latin typeface="Tahoma"/>
                          <a:cs typeface="Tahoma"/>
                        </a:rPr>
                        <a:t>0851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200" spc="-5">
                          <a:latin typeface="Tahoma"/>
                          <a:cs typeface="Tahoma"/>
                        </a:rPr>
                        <a:t>50000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822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021"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spc="-15">
                          <a:latin typeface="Tahoma"/>
                          <a:cs typeface="Tahoma"/>
                        </a:rPr>
                        <a:t>...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9308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spc="-15">
                          <a:latin typeface="Tahoma"/>
                          <a:cs typeface="Tahoma"/>
                        </a:rPr>
                        <a:t>...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9308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spc="-15">
                          <a:latin typeface="Tahoma"/>
                          <a:cs typeface="Tahoma"/>
                        </a:rPr>
                        <a:t>...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9308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spc="-10" dirty="0">
                          <a:latin typeface="Tahoma"/>
                          <a:cs typeface="Tahoma"/>
                        </a:rPr>
                        <a:t>...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19308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704722" y="4967424"/>
            <a:ext cx="8819650" cy="957971"/>
          </a:xfrm>
        </p:spPr>
        <p:txBody>
          <a:bodyPr>
            <a:normAutofit lnSpcReduction="10000"/>
          </a:bodyPr>
          <a:lstStyle/>
          <a:p>
            <a:pPr marL="0" indent="0" defTabSz="247529">
              <a:lnSpc>
                <a:spcPct val="90000"/>
              </a:lnSpc>
              <a:spcBef>
                <a:spcPts val="859"/>
              </a:spcBef>
              <a:buNone/>
            </a:pPr>
            <a:r>
              <a:rPr lang="en-GB" sz="1700" dirty="0" err="1"/>
              <a:t>Mögliche</a:t>
            </a:r>
            <a:r>
              <a:rPr lang="en-GB" sz="1700" kern="1200" baseline="0" dirty="0">
                <a:solidFill>
                  <a:schemeClr val="tx1"/>
                </a:solidFill>
                <a:latin typeface="TheSansOffice" panose="020B0503040302060204" pitchFamily="34" charset="0"/>
                <a:ea typeface="+mn-ea"/>
                <a:cs typeface="+mn-cs"/>
              </a:rPr>
              <a:t> </a:t>
            </a:r>
            <a:r>
              <a:rPr lang="en-GB" sz="1700" dirty="0"/>
              <a:t>C</a:t>
            </a:r>
            <a:r>
              <a:rPr lang="en-GB" sz="1700" kern="1200" baseline="0" dirty="0">
                <a:solidFill>
                  <a:schemeClr val="tx1"/>
                </a:solidFill>
                <a:latin typeface="TheSansOffice" panose="020B0503040302060204" pitchFamily="34" charset="0"/>
                <a:ea typeface="+mn-ea"/>
                <a:cs typeface="+mn-cs"/>
              </a:rPr>
              <a:t>andidate </a:t>
            </a:r>
            <a:r>
              <a:rPr lang="en-GB" sz="1700" dirty="0"/>
              <a:t>K</a:t>
            </a:r>
            <a:r>
              <a:rPr lang="en-GB" sz="1700" kern="1200" baseline="0" dirty="0">
                <a:solidFill>
                  <a:schemeClr val="tx1"/>
                </a:solidFill>
                <a:latin typeface="TheSansOffice" panose="020B0503040302060204" pitchFamily="34" charset="0"/>
                <a:ea typeface="+mn-ea"/>
                <a:cs typeface="+mn-cs"/>
              </a:rPr>
              <a:t>eys </a:t>
            </a:r>
            <a:r>
              <a:rPr lang="en-GB" sz="1700" kern="1200" baseline="0" dirty="0" err="1">
                <a:solidFill>
                  <a:schemeClr val="tx1"/>
                </a:solidFill>
                <a:latin typeface="TheSansOffice" panose="020B0503040302060204" pitchFamily="34" charset="0"/>
                <a:ea typeface="+mn-ea"/>
                <a:cs typeface="+mn-cs"/>
              </a:rPr>
              <a:t>sind</a:t>
            </a:r>
            <a:endParaRPr lang="en-GB" sz="1700" kern="1200" baseline="0" dirty="0">
              <a:solidFill>
                <a:schemeClr val="tx1"/>
              </a:solidFill>
              <a:latin typeface="TheSansOffice" panose="020B0503040302060204" pitchFamily="34" charset="0"/>
              <a:ea typeface="+mn-ea"/>
              <a:cs typeface="+mn-cs"/>
            </a:endParaRPr>
          </a:p>
          <a:p>
            <a:pPr marL="327473" indent="-327473" defTabSz="247529">
              <a:lnSpc>
                <a:spcPct val="90000"/>
              </a:lnSpc>
              <a:spcBef>
                <a:spcPts val="859"/>
              </a:spcBef>
              <a:buFont typeface="Arial"/>
              <a:buChar char="•"/>
            </a:pPr>
            <a:r>
              <a:rPr lang="en-GB" sz="1700" kern="1200" baseline="0" dirty="0">
                <a:solidFill>
                  <a:srgbClr val="000000"/>
                </a:solidFill>
                <a:latin typeface="TheSansOffice" panose="020B0503040302060204" pitchFamily="34" charset="0"/>
                <a:ea typeface="+mn-ea"/>
                <a:cs typeface="+mn-cs"/>
              </a:rPr>
              <a:t>{Name, Bland}</a:t>
            </a:r>
          </a:p>
          <a:p>
            <a:pPr marL="327473" indent="-327473" defTabSz="247529">
              <a:lnSpc>
                <a:spcPct val="90000"/>
              </a:lnSpc>
              <a:spcBef>
                <a:spcPts val="859"/>
              </a:spcBef>
              <a:buFont typeface="Arial"/>
              <a:buChar char="•"/>
            </a:pPr>
            <a:r>
              <a:rPr lang="en-GB" sz="1700" kern="1200" baseline="0" dirty="0">
                <a:solidFill>
                  <a:srgbClr val="000000"/>
                </a:solidFill>
                <a:latin typeface="TheSansOffice" panose="020B0503040302060204" pitchFamily="34" charset="0"/>
                <a:ea typeface="+mn-ea"/>
                <a:cs typeface="+mn-cs"/>
              </a:rPr>
              <a:t>{Name, </a:t>
            </a:r>
            <a:r>
              <a:rPr lang="en-GB" sz="1700" kern="1200" baseline="0" dirty="0" err="1">
                <a:solidFill>
                  <a:srgbClr val="000000"/>
                </a:solidFill>
                <a:latin typeface="TheSansOffice" panose="020B0503040302060204" pitchFamily="34" charset="0"/>
                <a:ea typeface="+mn-ea"/>
                <a:cs typeface="+mn-cs"/>
              </a:rPr>
              <a:t>Vorwahl</a:t>
            </a:r>
            <a:r>
              <a:rPr lang="en-GB" sz="1700" kern="1200" baseline="0" dirty="0">
                <a:solidFill>
                  <a:srgbClr val="000000"/>
                </a:solidFill>
                <a:latin typeface="TheSansOffice" panose="020B0503040302060204" pitchFamily="34" charset="0"/>
                <a:ea typeface="+mn-ea"/>
                <a:cs typeface="+mn-cs"/>
              </a:rPr>
              <a:t>}*</a:t>
            </a:r>
            <a:endParaRPr lang="en-US" sz="1700" dirty="0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4374" y="6220973"/>
            <a:ext cx="6851763" cy="444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95944">
              <a:spcAft>
                <a:spcPts val="600"/>
              </a:spcAft>
            </a:pPr>
            <a:r>
              <a:rPr lang="en-US" sz="1146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en-US" sz="1146" dirty="0" err="1"/>
              <a:t>Wenn</a:t>
            </a:r>
            <a:r>
              <a:rPr lang="en-US" sz="1146" dirty="0"/>
              <a:t> 2 </a:t>
            </a:r>
            <a:r>
              <a:rPr lang="en-US" sz="1146" dirty="0" err="1"/>
              <a:t>kleinere</a:t>
            </a:r>
            <a:r>
              <a:rPr lang="en-US" sz="1146" dirty="0"/>
              <a:t> </a:t>
            </a:r>
            <a:r>
              <a:rPr lang="en-US" sz="1146" dirty="0" err="1"/>
              <a:t>Städte</a:t>
            </a:r>
            <a:r>
              <a:rPr lang="en-US" sz="1146" dirty="0"/>
              <a:t> die </a:t>
            </a:r>
            <a:r>
              <a:rPr lang="en-US" sz="1146" dirty="0" err="1"/>
              <a:t>gleiche</a:t>
            </a:r>
            <a:r>
              <a:rPr lang="en-US" sz="1146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146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Vorwahl</a:t>
            </a:r>
            <a:r>
              <a:rPr lang="en-US" sz="1146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146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haben</a:t>
            </a:r>
            <a:r>
              <a:rPr lang="en-US" sz="1146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 </a:t>
            </a:r>
            <a:r>
              <a:rPr lang="en-US" sz="1146" dirty="0" err="1"/>
              <a:t>Ansonsten</a:t>
            </a:r>
            <a:r>
              <a:rPr lang="en-US" sz="1146" dirty="0"/>
              <a:t> </a:t>
            </a:r>
            <a:r>
              <a:rPr lang="en-US" sz="1146" dirty="0" err="1"/>
              <a:t>kann</a:t>
            </a:r>
            <a:r>
              <a:rPr lang="en-US" sz="1146" dirty="0"/>
              <a:t> der </a:t>
            </a:r>
            <a:r>
              <a:rPr lang="en-US" sz="1146" dirty="0" err="1"/>
              <a:t>zweite</a:t>
            </a:r>
            <a:r>
              <a:rPr lang="en-US" sz="1146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Candidate </a:t>
            </a:r>
            <a:r>
              <a:rPr lang="en-US" sz="1146" dirty="0"/>
              <a:t>K</a:t>
            </a:r>
            <a:r>
              <a:rPr lang="en-US" sz="1146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ey </a:t>
            </a:r>
            <a:r>
              <a:rPr lang="en-US" sz="1146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allein</a:t>
            </a:r>
            <a:r>
              <a:rPr lang="en-US" sz="1146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die </a:t>
            </a:r>
            <a:r>
              <a:rPr lang="en-US" sz="1146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Vorwahl</a:t>
            </a:r>
            <a:r>
              <a:rPr lang="en-US" sz="1146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sein.</a:t>
            </a:r>
            <a:endParaRPr lang="en-US" sz="1169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0A220514-7108-8DB1-5FEB-568E653BA03A}"/>
              </a:ext>
            </a:extLst>
          </p:cNvPr>
          <p:cNvSpPr txBox="1">
            <a:spLocks/>
          </p:cNvSpPr>
          <p:nvPr/>
        </p:nvSpPr>
        <p:spPr>
          <a:xfrm>
            <a:off x="622300" y="654050"/>
            <a:ext cx="68624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4852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0">
              <a:buClr>
                <a:schemeClr val="accent1"/>
              </a:buClr>
              <a:buSzPct val="170000"/>
            </a:pPr>
            <a:r>
              <a:rPr lang="en-US" sz="2200" dirty="0" err="1"/>
              <a:t>Superkeys</a:t>
            </a:r>
            <a:r>
              <a:rPr lang="en-US" sz="2200" dirty="0"/>
              <a:t> &amp; Keys – </a:t>
            </a:r>
            <a:r>
              <a:rPr lang="en-US" sz="2200" dirty="0" err="1"/>
              <a:t>Beispiel</a:t>
            </a:r>
            <a:r>
              <a:rPr lang="en-US" sz="2200" dirty="0"/>
              <a:t> </a:t>
            </a:r>
            <a:r>
              <a:rPr lang="en-US" sz="2200" dirty="0" err="1"/>
              <a:t>aus</a:t>
            </a:r>
            <a:r>
              <a:rPr lang="en-US" sz="2200" dirty="0"/>
              <a:t> Kemper</a:t>
            </a: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1D138C90-20E9-69D9-F6AB-B643FBA353C8}"/>
              </a:ext>
            </a:extLst>
          </p:cNvPr>
          <p:cNvSpPr txBox="1"/>
          <p:nvPr/>
        </p:nvSpPr>
        <p:spPr>
          <a:xfrm>
            <a:off x="7152608" y="3324575"/>
            <a:ext cx="2976417" cy="779015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46784" rIns="0" bIns="0" rtlCol="0">
            <a:spAutoFit/>
          </a:bodyPr>
          <a:lstStyle/>
          <a:p>
            <a:pPr marL="98242" marR="146271" defTabSz="895944">
              <a:lnSpc>
                <a:spcPts val="1628"/>
              </a:lnSpc>
              <a:spcBef>
                <a:spcPts val="361"/>
              </a:spcBef>
            </a:pPr>
            <a:r>
              <a:rPr lang="en-GB" sz="1375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Bestimme</a:t>
            </a:r>
            <a:endParaRPr lang="en-GB" sz="1375" kern="1200" spc="-6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94725" marR="146271" indent="-196484" defTabSz="895944">
              <a:lnSpc>
                <a:spcPts val="1628"/>
              </a:lnSpc>
              <a:spcBef>
                <a:spcPts val="361"/>
              </a:spcBef>
              <a:buFontTx/>
              <a:buChar char="-"/>
            </a:pPr>
            <a:r>
              <a:rPr lang="en-GB" sz="1375" kern="1200" spc="-6" dirty="0" err="1">
                <a:solidFill>
                  <a:schemeClr val="tx1"/>
                </a:solidFill>
                <a:latin typeface="Arial"/>
                <a:ea typeface="+mn-ea"/>
                <a:cs typeface="Arial"/>
              </a:rPr>
              <a:t>Superkeys</a:t>
            </a:r>
            <a:endParaRPr lang="en-GB" sz="1375" kern="1200" spc="-6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94725" marR="146271" indent="-196484" defTabSz="895944">
              <a:lnSpc>
                <a:spcPts val="1628"/>
              </a:lnSpc>
              <a:spcBef>
                <a:spcPts val="361"/>
              </a:spcBef>
              <a:buFontTx/>
              <a:buChar char="-"/>
            </a:pPr>
            <a:r>
              <a:rPr lang="en-GB" sz="1375" spc="-6" dirty="0">
                <a:latin typeface="Arial"/>
                <a:cs typeface="Arial"/>
              </a:rPr>
              <a:t>C</a:t>
            </a:r>
            <a:r>
              <a:rPr lang="en-GB" sz="1375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andidate </a:t>
            </a:r>
            <a:r>
              <a:rPr lang="en-GB" sz="1375" spc="-6" dirty="0">
                <a:latin typeface="Arial"/>
                <a:cs typeface="Arial"/>
              </a:rPr>
              <a:t>K</a:t>
            </a:r>
            <a:r>
              <a:rPr lang="en-GB" sz="1375" kern="1200" spc="-6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eys</a:t>
            </a:r>
            <a:endParaRPr lang="en-GB" sz="1403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0484315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AI - HS-Fulda">
      <a:dk1>
        <a:srgbClr val="000000"/>
      </a:dk1>
      <a:lt1>
        <a:sysClr val="window" lastClr="FFFFFF"/>
      </a:lt1>
      <a:dk2>
        <a:srgbClr val="889194"/>
      </a:dk2>
      <a:lt2>
        <a:srgbClr val="EDEFEF"/>
      </a:lt2>
      <a:accent1>
        <a:srgbClr val="66CC33"/>
      </a:accent1>
      <a:accent2>
        <a:srgbClr val="004C87"/>
      </a:accent2>
      <a:accent3>
        <a:srgbClr val="A5A5A5"/>
      </a:accent3>
      <a:accent4>
        <a:srgbClr val="94DB70"/>
      </a:accent4>
      <a:accent5>
        <a:srgbClr val="C2EBAD"/>
      </a:accent5>
      <a:accent6>
        <a:srgbClr val="E0F5D6"/>
      </a:accent6>
      <a:hlink>
        <a:srgbClr val="000000"/>
      </a:hlink>
      <a:folHlink>
        <a:srgbClr val="A0A7A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enutzerdefiniertes Design">
  <a:themeElements>
    <a:clrScheme name="AI - HS-Fulda">
      <a:dk1>
        <a:srgbClr val="000000"/>
      </a:dk1>
      <a:lt1>
        <a:sysClr val="window" lastClr="FFFFFF"/>
      </a:lt1>
      <a:dk2>
        <a:srgbClr val="889194"/>
      </a:dk2>
      <a:lt2>
        <a:srgbClr val="EDEFEF"/>
      </a:lt2>
      <a:accent1>
        <a:srgbClr val="66CC33"/>
      </a:accent1>
      <a:accent2>
        <a:srgbClr val="004C87"/>
      </a:accent2>
      <a:accent3>
        <a:srgbClr val="A5A5A5"/>
      </a:accent3>
      <a:accent4>
        <a:srgbClr val="94DB70"/>
      </a:accent4>
      <a:accent5>
        <a:srgbClr val="C2EBAD"/>
      </a:accent5>
      <a:accent6>
        <a:srgbClr val="E0F5D6"/>
      </a:accent6>
      <a:hlink>
        <a:srgbClr val="000000"/>
      </a:hlink>
      <a:folHlink>
        <a:srgbClr val="A0A7A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FB_Ai_Blanko</Template>
  <TotalTime>7291</TotalTime>
  <Words>6080</Words>
  <Application>Microsoft Macintosh PowerPoint</Application>
  <PresentationFormat>Custom</PresentationFormat>
  <Paragraphs>1367</Paragraphs>
  <Slides>88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88</vt:i4>
      </vt:variant>
    </vt:vector>
  </HeadingPairs>
  <TitlesOfParts>
    <vt:vector size="99" baseType="lpstr">
      <vt:lpstr>Arial</vt:lpstr>
      <vt:lpstr>Calibri</vt:lpstr>
      <vt:lpstr>DejaVu Sans</vt:lpstr>
      <vt:lpstr>Tahoma</vt:lpstr>
      <vt:lpstr>TheSansOffice</vt:lpstr>
      <vt:lpstr>Times New Roman</vt:lpstr>
      <vt:lpstr>Trebuchet MS</vt:lpstr>
      <vt:lpstr>Verdana</vt:lpstr>
      <vt:lpstr>Wingdings</vt:lpstr>
      <vt:lpstr>Benutzerdefiniertes Design</vt:lpstr>
      <vt:lpstr>1_Benutzerdefiniertes Design</vt:lpstr>
      <vt:lpstr>Datenbanksysteme</vt:lpstr>
      <vt:lpstr>Datenbanksysteme – Relationale Entwurfstheorie (insb. Normalisierung)</vt:lpstr>
      <vt:lpstr>Wiederholung und Zusammenfassung </vt:lpstr>
      <vt:lpstr>Entwurfstheorie soweit</vt:lpstr>
      <vt:lpstr>Widerholung - ER Diagramme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Entwurfstheorie – was wir brauchen</vt:lpstr>
      <vt:lpstr>Beispiel:  Enrollment  Tabelle - “v0”</vt:lpstr>
      <vt:lpstr>Beispiel:  Enrollment  Tabelle - “v1”</vt:lpstr>
      <vt:lpstr>PowerPoint Presentation</vt:lpstr>
      <vt:lpstr>Normalformen &amp; funktionale Abhängigkeiten</vt:lpstr>
      <vt:lpstr>Normalformen</vt:lpstr>
      <vt:lpstr>PowerPoint Presentation</vt:lpstr>
      <vt:lpstr>PowerPoint Presentation</vt:lpstr>
      <vt:lpstr>Datenanomalien &amp; Constraints</vt:lpstr>
      <vt:lpstr>Contraints können  (einige) Anomalien verhindern</vt:lpstr>
      <vt:lpstr>Contraints können  (einige) Anomalien verhindern</vt:lpstr>
      <vt:lpstr>Contraints können  (einige) Anomalien verhindern</vt:lpstr>
      <vt:lpstr>Contraints können  (einige) Anomalien verhindern</vt:lpstr>
      <vt:lpstr>Contraints können  Anomalien verhindern</vt:lpstr>
      <vt:lpstr>Funktionale Abhängigkeiten</vt:lpstr>
      <vt:lpstr>Transitive Hülle / Closures</vt:lpstr>
      <vt:lpstr>Funktionale Abhängigkeit (Functional Dependecies = FDs)</vt:lpstr>
      <vt:lpstr>Anschauliche Darstellung</vt:lpstr>
      <vt:lpstr>Anschauliche Darstellung</vt:lpstr>
      <vt:lpstr>Anschauliche Darstellung</vt:lpstr>
      <vt:lpstr>Anschauliche Darstellung</vt:lpstr>
      <vt:lpstr>Funktionale Abhängigkeiten zur Bestimmung von relationalen Schemata </vt:lpstr>
      <vt:lpstr>Funktionale Abhängigkeiten als Constraints</vt:lpstr>
      <vt:lpstr>Funktionale Abhängigkeiten als Constraints</vt:lpstr>
      <vt:lpstr>Funktionale Abhängigkeiten - Beispiele</vt:lpstr>
      <vt:lpstr>Funktionale Abhängigkeiten - Beispiele</vt:lpstr>
      <vt:lpstr>Funktionale Abhängigkeiten - Beispiele</vt:lpstr>
      <vt:lpstr>Funktionale Abhängigkeiten - Aufgabe</vt:lpstr>
      <vt:lpstr>Bestimmung funktionaler Abhängigkeiten</vt:lpstr>
      <vt:lpstr>“Good” vs. “Bad” FDs</vt:lpstr>
      <vt:lpstr>“Good” vs. “Bad” FDs</vt:lpstr>
      <vt:lpstr>“Good” vs. “Bad” FDs</vt:lpstr>
      <vt:lpstr>(Systematisches) Bestimmen von FDs</vt:lpstr>
      <vt:lpstr>Motivation - Beispiel</vt:lpstr>
      <vt:lpstr>(Systematisches) Bestimmen von FDs</vt:lpstr>
      <vt:lpstr>1. Split / Combine</vt:lpstr>
      <vt:lpstr>1. Split / Combine</vt:lpstr>
      <vt:lpstr>1. Split / Combine</vt:lpstr>
      <vt:lpstr>2. Reduktion / Trivialität</vt:lpstr>
      <vt:lpstr>3. Transitivität</vt:lpstr>
      <vt:lpstr>3. Transitivität</vt:lpstr>
      <vt:lpstr>(Systematisches) Bestimmen von FDs</vt:lpstr>
      <vt:lpstr>(Systematisches) Bestimmen von FDs</vt:lpstr>
      <vt:lpstr>(Systematisches) Bestimmen von FDs</vt:lpstr>
      <vt:lpstr>Transitive Hüllen / Closures</vt:lpstr>
      <vt:lpstr>Transitive Hüllen / Closures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(Kanonische) Überdeckung, Superkeys &amp; Keys</vt:lpstr>
      <vt:lpstr>Closure to zur Bestimmung  aller  FDs – noch ein Beispiel</vt:lpstr>
      <vt:lpstr>Closure to zur Bestimmung  aller  FDs - ein Ansatu</vt:lpstr>
      <vt:lpstr>Using Closure to Infer ALL FDs</vt:lpstr>
      <vt:lpstr>Using Closure to Infer ALL FDs</vt:lpstr>
      <vt:lpstr>Using Closure to Infer ALL FDs (A first level of a base)</vt:lpstr>
      <vt:lpstr>Find a basis for all dependencies (canonical cover)</vt:lpstr>
      <vt:lpstr>Formale Definition der kanonischen Überdeckung</vt:lpstr>
      <vt:lpstr>Algorithm to determine canonical cover</vt:lpstr>
      <vt:lpstr>Beispiel: Bestimmung der kanonischen Überdeckung</vt:lpstr>
      <vt:lpstr>Beispiel: Bestimmung der kanonischen Überdeckung</vt:lpstr>
      <vt:lpstr>Beispiel: Bestimmung der kanonischen Überdeckung (Linksreduktion)</vt:lpstr>
      <vt:lpstr>Beispiel: Bestimmung der kanonischen Überdeckun) (Rechtsreduktion)</vt:lpstr>
      <vt:lpstr>Beispiel: Bestimmung der kanonischen Überdeckung</vt:lpstr>
      <vt:lpstr>Bestimmung der Basis der FDs (kanonische Überdeckung)</vt:lpstr>
      <vt:lpstr>Superkeys und Keys</vt:lpstr>
      <vt:lpstr>Superkeys &amp; Keys</vt:lpstr>
      <vt:lpstr>Superkeys &amp; Keys - Bestimmungsalgorithmus</vt:lpstr>
      <vt:lpstr>Superkeys &amp; Keys – Bestimmungsalgorithmus, Beispiel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Datenbanksysteme</dc:title>
  <cp:lastModifiedBy>Christoph Scheich</cp:lastModifiedBy>
  <cp:revision>97</cp:revision>
  <dcterms:created xsi:type="dcterms:W3CDTF">2018-10-08T07:04:16Z</dcterms:created>
  <dcterms:modified xsi:type="dcterms:W3CDTF">2025-01-28T15:50:20Z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2018-10-08T00:00:00Z</vt:filetime>
  </property>
</Properties>
</file>