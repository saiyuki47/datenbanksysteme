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8"/>
  </p:notesMasterIdLst>
  <p:sldIdLst>
    <p:sldId id="394" r:id="rId2"/>
    <p:sldId id="396" r:id="rId3"/>
    <p:sldId id="256" r:id="rId4"/>
    <p:sldId id="295" r:id="rId5"/>
    <p:sldId id="296" r:id="rId6"/>
    <p:sldId id="297" r:id="rId7"/>
    <p:sldId id="298" r:id="rId8"/>
    <p:sldId id="397" r:id="rId9"/>
    <p:sldId id="302" r:id="rId10"/>
    <p:sldId id="303" r:id="rId11"/>
    <p:sldId id="304" r:id="rId12"/>
    <p:sldId id="398" r:id="rId13"/>
    <p:sldId id="308" r:id="rId14"/>
    <p:sldId id="399" r:id="rId15"/>
    <p:sldId id="400" r:id="rId16"/>
    <p:sldId id="310" r:id="rId17"/>
    <p:sldId id="311" r:id="rId18"/>
    <p:sldId id="401" r:id="rId19"/>
    <p:sldId id="313" r:id="rId20"/>
    <p:sldId id="314" r:id="rId21"/>
    <p:sldId id="315" r:id="rId22"/>
    <p:sldId id="316" r:id="rId23"/>
    <p:sldId id="317" r:id="rId24"/>
    <p:sldId id="387" r:id="rId25"/>
    <p:sldId id="388" r:id="rId26"/>
    <p:sldId id="389" r:id="rId27"/>
    <p:sldId id="390" r:id="rId28"/>
    <p:sldId id="391" r:id="rId29"/>
    <p:sldId id="318" r:id="rId30"/>
    <p:sldId id="319" r:id="rId31"/>
    <p:sldId id="320" r:id="rId32"/>
    <p:sldId id="402" r:id="rId33"/>
    <p:sldId id="322" r:id="rId34"/>
    <p:sldId id="403" r:id="rId35"/>
    <p:sldId id="404" r:id="rId36"/>
    <p:sldId id="405" r:id="rId37"/>
    <p:sldId id="326" r:id="rId38"/>
    <p:sldId id="328" r:id="rId39"/>
    <p:sldId id="386" r:id="rId40"/>
    <p:sldId id="330" r:id="rId41"/>
    <p:sldId id="331" r:id="rId42"/>
    <p:sldId id="406" r:id="rId43"/>
    <p:sldId id="407" r:id="rId44"/>
    <p:sldId id="408" r:id="rId45"/>
    <p:sldId id="337" r:id="rId46"/>
    <p:sldId id="338" r:id="rId47"/>
    <p:sldId id="339" r:id="rId48"/>
    <p:sldId id="409" r:id="rId49"/>
    <p:sldId id="341" r:id="rId50"/>
    <p:sldId id="342" r:id="rId51"/>
    <p:sldId id="410" r:id="rId52"/>
    <p:sldId id="345" r:id="rId53"/>
    <p:sldId id="346" r:id="rId54"/>
    <p:sldId id="347" r:id="rId55"/>
    <p:sldId id="348" r:id="rId56"/>
    <p:sldId id="349" r:id="rId57"/>
    <p:sldId id="350" r:id="rId58"/>
    <p:sldId id="411" r:id="rId59"/>
    <p:sldId id="352" r:id="rId60"/>
    <p:sldId id="353" r:id="rId61"/>
    <p:sldId id="354" r:id="rId62"/>
    <p:sldId id="355" r:id="rId63"/>
    <p:sldId id="370" r:id="rId64"/>
    <p:sldId id="364" r:id="rId65"/>
    <p:sldId id="392" r:id="rId66"/>
    <p:sldId id="393" r:id="rId67"/>
  </p:sldIdLst>
  <p:sldSz cx="10693400" cy="7556500"/>
  <p:notesSz cx="10693400" cy="7556500"/>
  <p:defaultTextStyle>
    <a:defPPr>
      <a:defRPr lang="de-DE"/>
    </a:defPPr>
    <a:lvl1pPr marL="0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9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6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2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8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07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3" algn="l" defTabSz="91422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/>
    <p:restoredTop sz="94789"/>
  </p:normalViewPr>
  <p:slideViewPr>
    <p:cSldViewPr>
      <p:cViewPr varScale="1">
        <p:scale>
          <a:sx n="106" d="100"/>
          <a:sy n="106" d="100"/>
        </p:scale>
        <p:origin x="141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6B53E-3F23-EE4B-9798-49038F28AEA1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A594F-E2EC-FB4A-9D60-29CEE335A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7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A594F-E2EC-FB4A-9D60-29CEE335AAA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2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7683509" y="3"/>
            <a:ext cx="2842066" cy="14773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10" y="900050"/>
            <a:ext cx="6118333" cy="647200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l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36675" y="3968914"/>
            <a:ext cx="8020050" cy="1824406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73" indent="0" algn="ctr">
              <a:buNone/>
              <a:defRPr sz="1754"/>
            </a:lvl2pPr>
            <a:lvl3pPr marL="801945" indent="0" algn="ctr">
              <a:buNone/>
              <a:defRPr sz="1579"/>
            </a:lvl3pPr>
            <a:lvl4pPr marL="1202916" indent="0" algn="ctr">
              <a:buNone/>
              <a:defRPr sz="1403"/>
            </a:lvl4pPr>
            <a:lvl5pPr marL="1603890" indent="0" algn="ctr">
              <a:buNone/>
              <a:defRPr sz="1403"/>
            </a:lvl5pPr>
            <a:lvl6pPr marL="2004861" indent="0" algn="ctr">
              <a:buNone/>
              <a:defRPr sz="1403"/>
            </a:lvl6pPr>
            <a:lvl7pPr marL="2405833" indent="0" algn="ctr">
              <a:buNone/>
              <a:defRPr sz="1403"/>
            </a:lvl7pPr>
            <a:lvl8pPr marL="2806804" indent="0" algn="ctr">
              <a:buNone/>
              <a:defRPr sz="1403"/>
            </a:lvl8pPr>
            <a:lvl9pPr marL="3207777" indent="0" algn="ctr">
              <a:buNone/>
              <a:defRPr sz="1403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988585" y="1471734"/>
            <a:ext cx="3674028" cy="402313"/>
          </a:xfrm>
          <a:solidFill>
            <a:schemeClr val="accent1"/>
          </a:solidFill>
        </p:spPr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sp>
        <p:nvSpPr>
          <p:cNvPr id="8" name="Rechteck 7"/>
          <p:cNvSpPr/>
          <p:nvPr/>
        </p:nvSpPr>
        <p:spPr>
          <a:xfrm>
            <a:off x="0" y="2826149"/>
            <a:ext cx="10693400" cy="4725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pic>
        <p:nvPicPr>
          <p:cNvPr id="7" name="Bild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9010" y="900039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0678" y="6555227"/>
            <a:ext cx="2052404" cy="58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73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77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8125609" y="607669"/>
            <a:ext cx="2399967" cy="814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79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5714" y="1561496"/>
            <a:ext cx="9276185" cy="5215887"/>
          </a:xfrm>
        </p:spPr>
        <p:txBody>
          <a:bodyPr/>
          <a:lstStyle>
            <a:lvl2pPr marL="547160" indent="-251999">
              <a:defRPr/>
            </a:lvl2pPr>
            <a:lvl3pPr marL="785238" indent="-251999">
              <a:defRPr/>
            </a:lvl3pPr>
            <a:lvl4pPr marL="1099890" indent="-251999">
              <a:defRPr/>
            </a:lvl4pPr>
            <a:lvl5pPr marL="1418718" indent="-251999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14792" y="6946334"/>
            <a:ext cx="4900009" cy="402313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420453" y="6946334"/>
            <a:ext cx="538599" cy="402313"/>
          </a:xfrm>
        </p:spPr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489412" y="289523"/>
            <a:ext cx="6057271" cy="634667"/>
          </a:xfrm>
          <a:noFill/>
        </p:spPr>
        <p:txBody>
          <a:bodyPr/>
          <a:lstStyle>
            <a:lvl1pPr>
              <a:defRPr sz="2807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999378" y="7660642"/>
            <a:ext cx="3674028" cy="402313"/>
          </a:xfrm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pic>
        <p:nvPicPr>
          <p:cNvPr id="8" name="Bild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27926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7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101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978270" y="4651023"/>
            <a:ext cx="4226089" cy="647200"/>
          </a:xfrm>
        </p:spPr>
        <p:txBody>
          <a:bodyPr anchor="ctr">
            <a:noAutofit/>
          </a:bodyPr>
          <a:lstStyle>
            <a:lvl1pPr algn="r">
              <a:defRPr sz="2193"/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662485" y="7745366"/>
            <a:ext cx="2216544" cy="402313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57296" y="7745366"/>
            <a:ext cx="4673619" cy="40231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-234670" y="7745366"/>
            <a:ext cx="475442" cy="402313"/>
          </a:xfrm>
        </p:spPr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23824" y="7946516"/>
            <a:ext cx="2486464" cy="728813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7620352" y="128513"/>
            <a:ext cx="2842066" cy="1564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  <p:sp>
        <p:nvSpPr>
          <p:cNvPr id="14" name="Rechteck 13"/>
          <p:cNvSpPr/>
          <p:nvPr/>
        </p:nvSpPr>
        <p:spPr>
          <a:xfrm>
            <a:off x="-4707" y="6441507"/>
            <a:ext cx="10701158" cy="11145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/>
          </a:p>
        </p:txBody>
      </p:sp>
    </p:spTree>
    <p:extLst>
      <p:ext uri="{BB962C8B-B14F-4D97-AF65-F5344CB8AC3E}">
        <p14:creationId xmlns:p14="http://schemas.microsoft.com/office/powerpoint/2010/main" val="198860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35171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413534" y="2011571"/>
            <a:ext cx="4544695" cy="479453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683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151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GB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GB"/>
              <a:t>Click to edit Master text styles</a:t>
            </a:r>
          </a:p>
          <a:p>
            <a:pPr lvl="1" eaLnBrk="1" latinLnBrk="0" hangingPunct="1"/>
            <a:r>
              <a:rPr lang="en-GB"/>
              <a:t>Second level</a:t>
            </a:r>
          </a:p>
          <a:p>
            <a:pPr lvl="2" eaLnBrk="1" latinLnBrk="0" hangingPunct="1"/>
            <a:r>
              <a:rPr lang="en-GB"/>
              <a:t>Third level</a:t>
            </a:r>
          </a:p>
          <a:p>
            <a:pPr lvl="3" eaLnBrk="1" latinLnBrk="0" hangingPunct="1"/>
            <a:r>
              <a:rPr lang="en-GB"/>
              <a:t>Fourth level</a:t>
            </a:r>
          </a:p>
          <a:p>
            <a:pPr lvl="4" eaLnBrk="1" latinLnBrk="0" hangingPunct="1"/>
            <a:r>
              <a:rPr lang="en-GB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533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892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6770812"/>
            <a:ext cx="10693400" cy="7804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889194">
                <a:alpha val="1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31">
              <a:latin typeface="TheSansOffice" panose="020B0503040302060204" pitchFamily="34" charset="0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634667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162000" rIns="91440" bIns="90000" rtlCol="0" anchor="ctr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25714" y="2264355"/>
            <a:ext cx="9276185" cy="43699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88585" y="1176914"/>
            <a:ext cx="3674028" cy="4023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91" baseline="0">
                <a:solidFill>
                  <a:schemeClr val="bg1"/>
                </a:solidFill>
                <a:latin typeface="TheSansOffice" charset="0"/>
                <a:ea typeface="TheSansOffice" charset="0"/>
                <a:cs typeface="TheSansOffice" charset="0"/>
              </a:defRPr>
            </a:lvl1pPr>
          </a:lstStyle>
          <a:p>
            <a:fld id="{1D8BD707-D9CF-40AE-B4C6-C98DA3205C09}" type="datetimeFigureOut">
              <a:rPr lang="en-US" smtClean="0"/>
              <a:t>4/16/23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4792" y="6946334"/>
            <a:ext cx="4900009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87110" y="6946334"/>
            <a:ext cx="475442" cy="4023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77" baseline="0">
                <a:solidFill>
                  <a:schemeClr val="tx1">
                    <a:tint val="75000"/>
                  </a:schemeClr>
                </a:solidFill>
                <a:latin typeface="TheSansOffice" panose="020B0503040302060204" pitchFamily="34" charset="0"/>
              </a:defRPr>
            </a:lvl1pPr>
          </a:lstStyle>
          <a:p>
            <a:fld id="{B6F15528-21DE-4FAA-801E-634DDDAF4B2B}" type="slidenum">
              <a:rPr lang="uk-UA" smtClean="0"/>
              <a:t>‹#›</a:t>
            </a:fld>
            <a:endParaRPr lang="uk-UA"/>
          </a:p>
        </p:txBody>
      </p:sp>
      <p:pic>
        <p:nvPicPr>
          <p:cNvPr id="8" name="Bild 7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730" y="6832026"/>
            <a:ext cx="2076489" cy="588029"/>
          </a:xfrm>
          <a:prstGeom prst="rect">
            <a:avLst/>
          </a:prstGeom>
        </p:spPr>
      </p:pic>
      <p:pic>
        <p:nvPicPr>
          <p:cNvPr id="10" name="Bild 9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1847" y="604571"/>
            <a:ext cx="2076489" cy="58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6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</p:sldLayoutIdLst>
  <p:txStyles>
    <p:titleStyle>
      <a:lvl1pPr marL="78932" algn="l" defTabSz="801945" rtl="0" eaLnBrk="1" fontAlgn="ctr" latinLnBrk="0" hangingPunct="1">
        <a:lnSpc>
          <a:spcPct val="90000"/>
        </a:lnSpc>
        <a:spcBef>
          <a:spcPct val="0"/>
        </a:spcBef>
        <a:buNone/>
        <a:defRPr sz="2193" b="0" i="0" kern="1200" baseline="0">
          <a:solidFill>
            <a:schemeClr val="bg1"/>
          </a:solidFill>
          <a:latin typeface="TheSansOffice" panose="020B0503040302060204" pitchFamily="34" charset="0"/>
          <a:ea typeface="+mj-ea"/>
          <a:cs typeface="+mj-cs"/>
        </a:defRPr>
      </a:lvl1pPr>
    </p:titleStyle>
    <p:bodyStyle>
      <a:lvl1pPr marL="251999" indent="-251999" algn="l" defTabSz="252581" rtl="0" eaLnBrk="1" latinLnBrk="0" hangingPunct="1">
        <a:lnSpc>
          <a:spcPct val="100000"/>
        </a:lnSpc>
        <a:spcBef>
          <a:spcPts val="877"/>
        </a:spcBef>
        <a:buClr>
          <a:srgbClr val="66CC33"/>
        </a:buClr>
        <a:buSzPct val="130000"/>
        <a:buFontTx/>
        <a:buBlip>
          <a:blip r:embed="rId13"/>
        </a:buBlip>
        <a:defRPr sz="1754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1pPr>
      <a:lvl2pPr marL="505162" indent="-252581" algn="l" defTabSz="252581" rtl="0" eaLnBrk="1" latinLnBrk="0" hangingPunct="1">
        <a:lnSpc>
          <a:spcPct val="9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2pPr>
      <a:lvl3pPr marL="757742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3pPr>
      <a:lvl4pPr marL="101032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4pPr>
      <a:lvl5pPr marL="1262904" indent="-252581" algn="l" defTabSz="252581" rtl="0" eaLnBrk="1" latinLnBrk="0" hangingPunct="1">
        <a:lnSpc>
          <a:spcPct val="100000"/>
        </a:lnSpc>
        <a:spcBef>
          <a:spcPts val="439"/>
        </a:spcBef>
        <a:buClr>
          <a:srgbClr val="66CC33"/>
        </a:buClr>
        <a:buSzPct val="130000"/>
        <a:buFontTx/>
        <a:buBlip>
          <a:blip r:embed="rId13"/>
        </a:buBlip>
        <a:defRPr sz="1579" kern="1200" baseline="0">
          <a:solidFill>
            <a:schemeClr val="tx1"/>
          </a:solidFill>
          <a:latin typeface="TheSansOffice" panose="020B0503040302060204" pitchFamily="34" charset="0"/>
          <a:ea typeface="+mn-ea"/>
          <a:cs typeface="+mn-cs"/>
        </a:defRPr>
      </a:lvl5pPr>
      <a:lvl6pPr marL="2205347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318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91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264" indent="-200487" algn="l" defTabSz="801945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7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45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916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90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61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833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804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77" algn="l" defTabSz="801945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0">
          <p15:clr>
            <a:srgbClr val="F26B43"/>
          </p15:clr>
        </p15:guide>
        <p15:guide id="2" pos="657">
          <p15:clr>
            <a:srgbClr val="F26B43"/>
          </p15:clr>
        </p15:guide>
        <p15:guide id="3" pos="7420">
          <p15:clr>
            <a:srgbClr val="F26B43"/>
          </p15:clr>
        </p15:guide>
        <p15:guide id="4" pos="7327">
          <p15:clr>
            <a:srgbClr val="F26B43"/>
          </p15:clr>
        </p15:guide>
        <p15:guide id="5" pos="5940">
          <p15:clr>
            <a:srgbClr val="F26B43"/>
          </p15:clr>
        </p15:guide>
        <p15:guide id="6" pos="6017">
          <p15:clr>
            <a:srgbClr val="F26B43"/>
          </p15:clr>
        </p15:guide>
        <p15:guide id="7" orient="horz" pos="386">
          <p15:clr>
            <a:srgbClr val="F26B43"/>
          </p15:clr>
        </p15:guide>
        <p15:guide id="8" orient="horz" pos="796">
          <p15:clr>
            <a:srgbClr val="F26B43"/>
          </p15:clr>
        </p15:guide>
        <p15:guide id="9" pos="353">
          <p15:clr>
            <a:srgbClr val="F26B43"/>
          </p15:clr>
        </p15:guide>
        <p15:guide id="10" pos="459">
          <p15:clr>
            <a:srgbClr val="F26B43"/>
          </p15:clr>
        </p15:guide>
        <p15:guide id="11" pos="711">
          <p15:clr>
            <a:srgbClr val="F26B43"/>
          </p15:clr>
        </p15:guide>
        <p15:guide id="12" orient="horz" pos="7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Datenbanksysteme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56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016034" y="2016033"/>
            <a:ext cx="7576133" cy="354406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28514" y="3385323"/>
            <a:ext cx="4799219" cy="354219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806415" y="2207420"/>
            <a:ext cx="7556028" cy="3141187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95870" y="1783170"/>
            <a:ext cx="5298036" cy="35861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8910" y="3048940"/>
            <a:ext cx="2526727" cy="3384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12700" defTabSz="914400">
              <a:tabLst>
                <a:tab pos="2699385" algn="l"/>
                <a:tab pos="5770880" algn="l"/>
              </a:tabLst>
            </a:pPr>
            <a:r>
              <a:rPr lang="en-US" sz="2400" b="1" dirty="0">
                <a:solidFill>
                  <a:srgbClr val="FFFFFF"/>
                </a:solidFill>
                <a:latin typeface="+mj-lt"/>
              </a:rPr>
              <a:t>SQL – Structured Query Language, Teil 2</a:t>
            </a:r>
            <a:endParaRPr lang="en-US" sz="2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8911" y="889000"/>
            <a:ext cx="2560854" cy="1646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Christoph M.A. Scheich  </a:t>
            </a:r>
          </a:p>
          <a:p>
            <a:pPr marR="5080"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Angewandte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Informatik</a:t>
            </a: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Hochschule</a:t>
            </a:r>
            <a:r>
              <a:rPr lang="en-US" kern="1200" spc="-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Fulda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kern="1200" spc="-5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Christoph.scheich@informatik.hs-fulda.de</a:t>
            </a:r>
            <a:endParaRPr lang="en-US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5D5BB-6831-35AE-ACB2-16AD7A563A6B}"/>
              </a:ext>
            </a:extLst>
          </p:cNvPr>
          <p:cNvSpPr txBox="1"/>
          <p:nvPr/>
        </p:nvSpPr>
        <p:spPr>
          <a:xfrm>
            <a:off x="4051300" y="695543"/>
            <a:ext cx="624109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600" dirty="0"/>
              <a:t>Decision-support Queries</a:t>
            </a:r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600" dirty="0" err="1"/>
              <a:t>Quantifizierung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600" dirty="0" err="1"/>
              <a:t>Nullwerte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600" dirty="0" err="1"/>
              <a:t>Jointypen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600" dirty="0" err="1"/>
              <a:t>Rekursion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600" dirty="0" err="1"/>
              <a:t>Veränderungen</a:t>
            </a:r>
            <a:r>
              <a:rPr lang="en-US" sz="3600" dirty="0"/>
              <a:t> am </a:t>
            </a:r>
            <a:r>
              <a:rPr lang="en-US" sz="3600" dirty="0" err="1"/>
              <a:t>Datenbestand</a:t>
            </a:r>
            <a:endParaRPr lang="en-US" sz="3600" dirty="0"/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600" dirty="0" err="1"/>
              <a:t>Sichten</a:t>
            </a:r>
            <a:r>
              <a:rPr lang="en-US" sz="3600" dirty="0"/>
              <a:t>/Views</a:t>
            </a:r>
          </a:p>
          <a:p>
            <a:pPr marL="285750" indent="-285750"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3600" dirty="0" err="1"/>
              <a:t>Zugang</a:t>
            </a:r>
            <a:r>
              <a:rPr lang="en-US" sz="3600" dirty="0"/>
              <a:t> </a:t>
            </a:r>
            <a:r>
              <a:rPr lang="en-US" sz="3600" dirty="0" err="1"/>
              <a:t>zu</a:t>
            </a:r>
            <a:r>
              <a:rPr lang="en-US" sz="3600" dirty="0"/>
              <a:t> DBMS </a:t>
            </a:r>
            <a:r>
              <a:rPr lang="en-US" sz="3600" dirty="0" err="1"/>
              <a:t>Anwenderprogramme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13106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10640" y="1545984"/>
            <a:ext cx="8976360" cy="1184299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lang="en-GB" sz="2400" spc="-5" dirty="0" err="1">
                <a:latin typeface="Tahoma"/>
                <a:cs typeface="Tahoma"/>
              </a:rPr>
              <a:t>Wiederholen</a:t>
            </a:r>
            <a:r>
              <a:rPr lang="en-GB" sz="2400" spc="-5" dirty="0">
                <a:latin typeface="Tahoma"/>
                <a:cs typeface="Tahoma"/>
              </a:rPr>
              <a:t> Sie </a:t>
            </a:r>
            <a:r>
              <a:rPr lang="en-GB" sz="2400" spc="-5" dirty="0" err="1">
                <a:latin typeface="Tahoma"/>
                <a:cs typeface="Tahoma"/>
              </a:rPr>
              <a:t>zuerst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noch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einmal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sorgfaeltig</a:t>
            </a:r>
            <a:r>
              <a:rPr lang="en-GB" sz="2400" spc="-5" dirty="0">
                <a:latin typeface="Tahoma"/>
                <a:cs typeface="Tahoma"/>
              </a:rPr>
              <a:t> die </a:t>
            </a:r>
            <a:r>
              <a:rPr lang="en-GB" sz="2400" spc="-5" dirty="0" err="1">
                <a:latin typeface="Tahoma"/>
                <a:cs typeface="Tahoma"/>
              </a:rPr>
              <a:t>letzte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Vorlesung</a:t>
            </a:r>
            <a:r>
              <a:rPr lang="en-GB" sz="2400" spc="-5" dirty="0">
                <a:latin typeface="Tahoma"/>
                <a:cs typeface="Tahoma"/>
              </a:rPr>
              <a:t>. Es </a:t>
            </a:r>
            <a:r>
              <a:rPr lang="en-GB" sz="2400" spc="-5" dirty="0" err="1">
                <a:latin typeface="Tahoma"/>
                <a:cs typeface="Tahoma"/>
              </a:rPr>
              <a:t>kommt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hier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jetzt</a:t>
            </a:r>
            <a:r>
              <a:rPr lang="en-GB" sz="2400" spc="-5" dirty="0">
                <a:latin typeface="Tahoma"/>
                <a:cs typeface="Tahoma"/>
              </a:rPr>
              <a:t> auf die Details an</a:t>
            </a: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03300" y="557543"/>
            <a:ext cx="60960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</a:t>
            </a:r>
            <a:r>
              <a:rPr spc="-5" dirty="0"/>
              <a:t>QL</a:t>
            </a:r>
            <a:r>
              <a:rPr lang="en-GB" spc="-5" dirty="0"/>
              <a:t> – </a:t>
            </a:r>
            <a:r>
              <a:rPr lang="en-GB" spc="-5" dirty="0" err="1"/>
              <a:t>Teil</a:t>
            </a:r>
            <a:r>
              <a:rPr lang="en-GB" spc="-5" dirty="0"/>
              <a:t> 2</a:t>
            </a:r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2114550"/>
            <a:ext cx="6688455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6800" marR="5080" indent="-1054100">
              <a:lnSpc>
                <a:spcPct val="147200"/>
              </a:lnSpc>
              <a:spcBef>
                <a:spcPts val="100"/>
              </a:spcBef>
              <a:tabLst>
                <a:tab pos="1066165" algn="l"/>
              </a:tabLst>
            </a:pPr>
            <a:r>
              <a:rPr sz="2400" b="1" spc="-5" dirty="0">
                <a:latin typeface="Tahoma"/>
                <a:cs typeface="Tahoma"/>
              </a:rPr>
              <a:t>select	</a:t>
            </a:r>
            <a:r>
              <a:rPr sz="2400" spc="-50" dirty="0">
                <a:latin typeface="Tahoma"/>
                <a:cs typeface="Tahoma"/>
              </a:rPr>
              <a:t>h.VorlNr, </a:t>
            </a:r>
            <a:r>
              <a:rPr sz="2400" spc="-15" dirty="0">
                <a:latin typeface="Tahoma"/>
                <a:cs typeface="Tahoma"/>
              </a:rPr>
              <a:t>h.AnzProVorl, </a:t>
            </a:r>
            <a:r>
              <a:rPr sz="2400" spc="-5" dirty="0">
                <a:latin typeface="Tahoma"/>
                <a:cs typeface="Tahoma"/>
              </a:rPr>
              <a:t>g.GesamtAnz,  </a:t>
            </a:r>
            <a:r>
              <a:rPr sz="2400" spc="-10" dirty="0">
                <a:latin typeface="Tahoma"/>
                <a:cs typeface="Tahoma"/>
              </a:rPr>
              <a:t>h.AnzProVorl/g.GesamtAnz 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Marktanteil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640" y="3384550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fr</a:t>
            </a:r>
            <a:r>
              <a:rPr sz="2400" b="1" dirty="0">
                <a:latin typeface="Tahoma"/>
                <a:cs typeface="Tahoma"/>
              </a:rPr>
              <a:t>om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740" y="3204210"/>
            <a:ext cx="5441950" cy="275590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65" dirty="0">
                <a:latin typeface="Tahoma"/>
                <a:cs typeface="Tahoma"/>
              </a:rPr>
              <a:t>VorlNr, </a:t>
            </a:r>
            <a:r>
              <a:rPr sz="2400" b="1" spc="-5" dirty="0">
                <a:latin typeface="Tahoma"/>
                <a:cs typeface="Tahoma"/>
              </a:rPr>
              <a:t>count</a:t>
            </a:r>
            <a:r>
              <a:rPr sz="2400" spc="-5" dirty="0">
                <a:latin typeface="Tahoma"/>
                <a:cs typeface="Tahoma"/>
              </a:rPr>
              <a:t>(*) 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AnzProVorl</a:t>
            </a:r>
            <a:endParaRPr sz="2400" dirty="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en-GB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</a:t>
            </a:r>
            <a:endParaRPr sz="2400" dirty="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group </a:t>
            </a:r>
            <a:r>
              <a:rPr sz="2400" spc="-5" dirty="0">
                <a:latin typeface="Tahoma"/>
                <a:cs typeface="Tahoma"/>
              </a:rPr>
              <a:t>by </a:t>
            </a:r>
            <a:r>
              <a:rPr sz="2400" spc="-20" dirty="0">
                <a:latin typeface="Tahoma"/>
                <a:cs typeface="Tahoma"/>
              </a:rPr>
              <a:t>VorlNr </a:t>
            </a:r>
            <a:r>
              <a:rPr sz="2400" dirty="0">
                <a:latin typeface="Tahoma"/>
                <a:cs typeface="Tahoma"/>
              </a:rPr>
              <a:t>)</a:t>
            </a:r>
            <a:r>
              <a:rPr sz="2400" spc="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h,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 count </a:t>
            </a:r>
            <a:r>
              <a:rPr sz="2400" spc="-5" dirty="0">
                <a:latin typeface="Tahoma"/>
                <a:cs typeface="Tahoma"/>
              </a:rPr>
              <a:t>(*) 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GesamtAnz</a:t>
            </a:r>
            <a:endParaRPr sz="2400" dirty="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Studenten)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1EEED100-334F-1B88-F65D-F4BBD8120B0A}"/>
              </a:ext>
            </a:extLst>
          </p:cNvPr>
          <p:cNvSpPr txBox="1">
            <a:spLocks/>
          </p:cNvSpPr>
          <p:nvPr/>
        </p:nvSpPr>
        <p:spPr>
          <a:xfrm>
            <a:off x="774700" y="577850"/>
            <a:ext cx="6477000" cy="864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Decision-Support </a:t>
            </a:r>
            <a:r>
              <a:rPr lang="en-GB" spc="-5" dirty="0" err="1"/>
              <a:t>Anfrage</a:t>
            </a:r>
            <a:r>
              <a:rPr lang="en-GB" spc="-5" dirty="0"/>
              <a:t> </a:t>
            </a:r>
            <a:r>
              <a:rPr lang="en-GB" spc="-5" dirty="0" err="1"/>
              <a:t>mit</a:t>
            </a:r>
            <a:r>
              <a:rPr lang="en-GB" spc="-5" dirty="0"/>
              <a:t> </a:t>
            </a:r>
            <a:r>
              <a:rPr lang="en-GB" spc="-5" dirty="0" err="1"/>
              <a:t>geschachtelten</a:t>
            </a:r>
            <a:r>
              <a:rPr lang="en-GB" spc="-5" dirty="0"/>
              <a:t> </a:t>
            </a:r>
            <a:r>
              <a:rPr lang="en-GB" spc="-5" dirty="0" err="1"/>
              <a:t>Unteranfragen</a:t>
            </a:r>
            <a:endParaRPr lang="en-GB"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1809635"/>
            <a:ext cx="8231505" cy="166116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060450" marR="5080" indent="-1047750">
              <a:lnSpc>
                <a:spcPct val="150000"/>
              </a:lnSpc>
              <a:spcBef>
                <a:spcPts val="20"/>
              </a:spcBef>
              <a:tabLst>
                <a:tab pos="1066165" algn="l"/>
              </a:tabLst>
            </a:pPr>
            <a:r>
              <a:rPr sz="2400" b="1" spc="-5" dirty="0">
                <a:latin typeface="Tahoma"/>
                <a:cs typeface="Tahoma"/>
              </a:rPr>
              <a:t>select		</a:t>
            </a:r>
            <a:r>
              <a:rPr sz="2400" spc="-50" dirty="0">
                <a:latin typeface="Tahoma"/>
                <a:cs typeface="Tahoma"/>
              </a:rPr>
              <a:t>h.VorlNr, </a:t>
            </a:r>
            <a:r>
              <a:rPr sz="2400" spc="-15" dirty="0">
                <a:latin typeface="Tahoma"/>
                <a:cs typeface="Tahoma"/>
              </a:rPr>
              <a:t>h.AnzProVorl, </a:t>
            </a:r>
            <a:r>
              <a:rPr sz="2400" spc="-5" dirty="0">
                <a:latin typeface="Tahoma"/>
                <a:cs typeface="Tahoma"/>
              </a:rPr>
              <a:t>g.GesamtAnz,  </a:t>
            </a:r>
            <a:r>
              <a:rPr sz="2400" b="1" spc="-10" dirty="0">
                <a:latin typeface="Tahoma"/>
                <a:cs typeface="Tahoma"/>
              </a:rPr>
              <a:t>cast(</a:t>
            </a:r>
            <a:r>
              <a:rPr sz="2400" spc="-10" dirty="0">
                <a:latin typeface="Tahoma"/>
                <a:cs typeface="Tahoma"/>
              </a:rPr>
              <a:t>h.AnzProVorl </a:t>
            </a:r>
            <a:r>
              <a:rPr sz="2400" b="1" spc="-5" dirty="0">
                <a:latin typeface="Tahoma"/>
                <a:cs typeface="Tahoma"/>
              </a:rPr>
              <a:t>as decimal(6,2)) </a:t>
            </a:r>
            <a:r>
              <a:rPr sz="2400" dirty="0">
                <a:latin typeface="Tahoma"/>
                <a:cs typeface="Tahoma"/>
              </a:rPr>
              <a:t>/ </a:t>
            </a:r>
            <a:r>
              <a:rPr sz="2400" spc="-5" dirty="0">
                <a:latin typeface="Tahoma"/>
                <a:cs typeface="Tahoma"/>
              </a:rPr>
              <a:t>g.GesamtAnz  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Marktanteil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0640" y="3625735"/>
            <a:ext cx="753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fr</a:t>
            </a:r>
            <a:r>
              <a:rPr sz="2400" b="1" dirty="0">
                <a:latin typeface="Tahoma"/>
                <a:cs typeface="Tahoma"/>
              </a:rPr>
              <a:t>om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740" y="3445395"/>
            <a:ext cx="5441950" cy="276860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65" dirty="0">
                <a:latin typeface="Tahoma"/>
                <a:cs typeface="Tahoma"/>
              </a:rPr>
              <a:t>VorlNr, </a:t>
            </a:r>
            <a:r>
              <a:rPr sz="2400" b="1" spc="-5" dirty="0">
                <a:latin typeface="Tahoma"/>
                <a:cs typeface="Tahoma"/>
              </a:rPr>
              <a:t>count</a:t>
            </a:r>
            <a:r>
              <a:rPr sz="2400" spc="-5" dirty="0">
                <a:latin typeface="Tahoma"/>
                <a:cs typeface="Tahoma"/>
              </a:rPr>
              <a:t>(*) 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AnzProVorl</a:t>
            </a:r>
            <a:endParaRPr sz="2400" dirty="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en-GB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</a:t>
            </a:r>
            <a:endParaRPr sz="2400" dirty="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group </a:t>
            </a:r>
            <a:r>
              <a:rPr sz="2400" spc="-5" dirty="0">
                <a:latin typeface="Tahoma"/>
                <a:cs typeface="Tahoma"/>
              </a:rPr>
              <a:t>by </a:t>
            </a:r>
            <a:r>
              <a:rPr sz="2400" spc="-20" dirty="0">
                <a:latin typeface="Tahoma"/>
                <a:cs typeface="Tahoma"/>
              </a:rPr>
              <a:t>VorlNr </a:t>
            </a:r>
            <a:r>
              <a:rPr sz="2400" dirty="0">
                <a:latin typeface="Tahoma"/>
                <a:cs typeface="Tahoma"/>
              </a:rPr>
              <a:t>)</a:t>
            </a:r>
            <a:r>
              <a:rPr sz="2400" spc="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h,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 count </a:t>
            </a:r>
            <a:r>
              <a:rPr sz="2400" spc="-5" dirty="0">
                <a:latin typeface="Tahoma"/>
                <a:cs typeface="Tahoma"/>
              </a:rPr>
              <a:t>(*) </a:t>
            </a:r>
            <a:r>
              <a:rPr sz="2400" b="1" spc="-5" dirty="0">
                <a:latin typeface="Tahoma"/>
                <a:cs typeface="Tahoma"/>
              </a:rPr>
              <a:t>as</a:t>
            </a:r>
            <a:r>
              <a:rPr sz="2400" b="1" spc="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GesamtAnz</a:t>
            </a:r>
            <a:endParaRPr sz="2400" dirty="0">
              <a:latin typeface="Tahoma"/>
              <a:cs typeface="Tahoma"/>
            </a:endParaRPr>
          </a:p>
          <a:p>
            <a:pPr marL="2032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Studenten)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5E5A13E8-83E6-AA97-C9AE-EBC093B95425}"/>
              </a:ext>
            </a:extLst>
          </p:cNvPr>
          <p:cNvSpPr txBox="1">
            <a:spLocks/>
          </p:cNvSpPr>
          <p:nvPr/>
        </p:nvSpPr>
        <p:spPr>
          <a:xfrm>
            <a:off x="774700" y="730250"/>
            <a:ext cx="64770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/>
              <a:t>Casting Integer </a:t>
            </a:r>
            <a:r>
              <a:rPr lang="en-GB" spc="-5" dirty="0" err="1"/>
              <a:t>zu</a:t>
            </a:r>
            <a:r>
              <a:rPr lang="en-GB" spc="-5" dirty="0"/>
              <a:t> Decimal (</a:t>
            </a:r>
            <a:r>
              <a:rPr lang="en-GB" spc="-5" dirty="0" err="1"/>
              <a:t>nicht</a:t>
            </a:r>
            <a:r>
              <a:rPr lang="en-GB" spc="-5" dirty="0"/>
              <a:t> Oracle)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749506"/>
              </p:ext>
            </p:extLst>
          </p:nvPr>
        </p:nvGraphicFramePr>
        <p:xfrm>
          <a:off x="1601643" y="3078163"/>
          <a:ext cx="6781800" cy="2818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24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VorlNr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AnzProVorl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GesamtAnz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Marktanteil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4052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5001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4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5022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8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245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...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4">
            <a:extLst>
              <a:ext uri="{FF2B5EF4-FFF2-40B4-BE49-F238E27FC236}">
                <a16:creationId xmlns:a16="http://schemas.microsoft.com/office/drawing/2014/main" id="{AF38527F-985C-6B69-0CCF-DC2518D20266}"/>
              </a:ext>
            </a:extLst>
          </p:cNvPr>
          <p:cNvSpPr txBox="1">
            <a:spLocks/>
          </p:cNvSpPr>
          <p:nvPr/>
        </p:nvSpPr>
        <p:spPr>
          <a:xfrm>
            <a:off x="927100" y="806449"/>
            <a:ext cx="61722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Ergebnis</a:t>
            </a:r>
            <a:r>
              <a:rPr lang="en-GB" spc="-5" dirty="0"/>
              <a:t> der </a:t>
            </a:r>
            <a:r>
              <a:rPr lang="en-GB" spc="-5" dirty="0" err="1"/>
              <a:t>Anfrage</a:t>
            </a:r>
            <a:r>
              <a:rPr lang="en-GB" spc="-5" dirty="0"/>
              <a:t> / Query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2254250"/>
            <a:ext cx="8455660" cy="3719034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367155" marR="1393190" indent="-1355090">
              <a:lnSpc>
                <a:spcPts val="2800"/>
              </a:lnSpc>
              <a:spcBef>
                <a:spcPts val="260"/>
              </a:spcBef>
            </a:pPr>
            <a:r>
              <a:rPr sz="2400" b="1" spc="-5" dirty="0">
                <a:latin typeface="Arial"/>
                <a:cs typeface="Arial"/>
              </a:rPr>
              <a:t>with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dirty="0">
                <a:latin typeface="Arial"/>
                <a:cs typeface="Arial"/>
              </a:rPr>
              <a:t> (</a:t>
            </a:r>
            <a:r>
              <a:rPr sz="2400" b="1" dirty="0">
                <a:latin typeface="Arial"/>
                <a:cs typeface="Arial"/>
              </a:rPr>
              <a:t>select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VorlNr, </a:t>
            </a:r>
            <a:r>
              <a:rPr sz="2400" spc="-5" dirty="0">
                <a:latin typeface="Arial"/>
                <a:cs typeface="Arial"/>
              </a:rPr>
              <a:t>count(*)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AnzProVorl  </a:t>
            </a:r>
            <a:r>
              <a:rPr sz="2400" b="1" spc="-5" dirty="0">
                <a:latin typeface="Arial"/>
                <a:cs typeface="Arial"/>
              </a:rPr>
              <a:t>from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hoeren</a:t>
            </a:r>
          </a:p>
          <a:p>
            <a:pPr marL="1367155">
              <a:lnSpc>
                <a:spcPts val="2820"/>
              </a:lnSpc>
            </a:pPr>
            <a:r>
              <a:rPr sz="2400" b="1" dirty="0">
                <a:latin typeface="Arial"/>
                <a:cs typeface="Arial"/>
              </a:rPr>
              <a:t>group by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VorlNr)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,</a:t>
            </a:r>
            <a:endParaRPr sz="2400" dirty="0">
              <a:latin typeface="Arial"/>
              <a:cs typeface="Arial"/>
            </a:endParaRPr>
          </a:p>
          <a:p>
            <a:pPr marL="1451610" marR="2172970" indent="-847090">
              <a:lnSpc>
                <a:spcPct val="100699"/>
              </a:lnSpc>
            </a:pPr>
            <a:r>
              <a:rPr lang="en-GB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dirty="0">
                <a:latin typeface="Arial"/>
                <a:cs typeface="Arial"/>
              </a:rPr>
              <a:t> (</a:t>
            </a:r>
            <a:r>
              <a:rPr sz="2400" b="1" dirty="0">
                <a:latin typeface="Arial"/>
                <a:cs typeface="Arial"/>
              </a:rPr>
              <a:t>select</a:t>
            </a:r>
            <a:r>
              <a:rPr sz="2400" dirty="0">
                <a:latin typeface="Arial"/>
                <a:cs typeface="Arial"/>
              </a:rPr>
              <a:t> count (*)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GesamtAnz  </a:t>
            </a:r>
            <a:r>
              <a:rPr sz="2400" b="1" spc="-5" dirty="0">
                <a:latin typeface="Arial"/>
                <a:cs typeface="Arial"/>
              </a:rPr>
              <a:t>from</a:t>
            </a:r>
            <a:r>
              <a:rPr sz="2400" spc="-5" dirty="0">
                <a:latin typeface="Arial"/>
                <a:cs typeface="Arial"/>
              </a:rPr>
              <a:t> Studenten)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927100" marR="5080" indent="-914400">
              <a:lnSpc>
                <a:spcPct val="100699"/>
              </a:lnSpc>
              <a:spcBef>
                <a:spcPts val="5"/>
              </a:spcBef>
            </a:pPr>
            <a:r>
              <a:rPr sz="2400" b="1" dirty="0">
                <a:latin typeface="Arial"/>
                <a:cs typeface="Arial"/>
              </a:rPr>
              <a:t>select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h.VorlNr, </a:t>
            </a:r>
            <a:r>
              <a:rPr sz="2400" spc="-15" dirty="0">
                <a:latin typeface="Arial"/>
                <a:cs typeface="Arial"/>
              </a:rPr>
              <a:t>h.AnzProVorl, </a:t>
            </a:r>
            <a:r>
              <a:rPr sz="2400" spc="-5" dirty="0">
                <a:latin typeface="Arial"/>
                <a:cs typeface="Arial"/>
              </a:rPr>
              <a:t>g.GesamtAnz,  </a:t>
            </a:r>
            <a:r>
              <a:rPr sz="2400" b="1" spc="-10" dirty="0">
                <a:latin typeface="Arial"/>
                <a:cs typeface="Arial"/>
              </a:rPr>
              <a:t>cast</a:t>
            </a:r>
            <a:r>
              <a:rPr sz="2400" spc="-10" dirty="0">
                <a:latin typeface="Arial"/>
                <a:cs typeface="Arial"/>
              </a:rPr>
              <a:t>(h.AnzProVorl </a:t>
            </a:r>
            <a:r>
              <a:rPr sz="2400" dirty="0">
                <a:latin typeface="Arial"/>
                <a:cs typeface="Arial"/>
              </a:rPr>
              <a:t>as </a:t>
            </a:r>
            <a:r>
              <a:rPr sz="2400" spc="-5" dirty="0">
                <a:latin typeface="Arial"/>
                <a:cs typeface="Arial"/>
              </a:rPr>
              <a:t>decimal(6,2)) </a:t>
            </a:r>
            <a:r>
              <a:rPr sz="2400" dirty="0">
                <a:latin typeface="Arial"/>
                <a:cs typeface="Arial"/>
              </a:rPr>
              <a:t>/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g.GesamtAnz</a:t>
            </a:r>
            <a:endParaRPr sz="2400" dirty="0">
              <a:latin typeface="Arial"/>
              <a:cs typeface="Arial"/>
            </a:endParaRPr>
          </a:p>
          <a:p>
            <a:pPr marL="2044700">
              <a:lnSpc>
                <a:spcPct val="100000"/>
              </a:lnSpc>
              <a:spcBef>
                <a:spcPts val="20"/>
              </a:spcBef>
            </a:pPr>
            <a:r>
              <a:rPr sz="2400" b="1" dirty="0">
                <a:latin typeface="Arial"/>
                <a:cs typeface="Arial"/>
              </a:rPr>
              <a:t>as</a:t>
            </a:r>
            <a:r>
              <a:rPr sz="2400" spc="-5" dirty="0">
                <a:latin typeface="Arial"/>
                <a:cs typeface="Arial"/>
              </a:rPr>
              <a:t> Marktanteil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b="1" spc="-5" dirty="0">
                <a:latin typeface="Arial"/>
                <a:cs typeface="Arial"/>
              </a:rPr>
              <a:t>from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g,h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0B7ACBE-9CA1-1D84-9BE9-74EE3D9750D5}"/>
              </a:ext>
            </a:extLst>
          </p:cNvPr>
          <p:cNvSpPr txBox="1">
            <a:spLocks/>
          </p:cNvSpPr>
          <p:nvPr/>
        </p:nvSpPr>
        <p:spPr>
          <a:xfrm>
            <a:off x="850900" y="806449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Modularisierung</a:t>
            </a:r>
            <a:r>
              <a:rPr lang="en-GB" spc="-5" dirty="0"/>
              <a:t> der Query </a:t>
            </a:r>
            <a:r>
              <a:rPr lang="en-GB" spc="-5" dirty="0" err="1"/>
              <a:t>mit</a:t>
            </a:r>
            <a:r>
              <a:rPr lang="en-GB" spc="-5" dirty="0"/>
              <a:t> ’with’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>
            <a:extLst>
              <a:ext uri="{FF2B5EF4-FFF2-40B4-BE49-F238E27FC236}">
                <a16:creationId xmlns:a16="http://schemas.microsoft.com/office/drawing/2014/main" id="{C0B7ACBE-9CA1-1D84-9BE9-74EE3D9750D5}"/>
              </a:ext>
            </a:extLst>
          </p:cNvPr>
          <p:cNvSpPr txBox="1">
            <a:spLocks/>
          </p:cNvSpPr>
          <p:nvPr/>
        </p:nvSpPr>
        <p:spPr>
          <a:xfrm>
            <a:off x="850900" y="901303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Modularisierung</a:t>
            </a:r>
            <a:r>
              <a:rPr lang="en-GB" spc="-5" dirty="0"/>
              <a:t> der Query </a:t>
            </a:r>
            <a:r>
              <a:rPr lang="en-GB" spc="-5" dirty="0" err="1"/>
              <a:t>mit</a:t>
            </a:r>
            <a:r>
              <a:rPr lang="en-GB" spc="-5" dirty="0"/>
              <a:t> ’with’, </a:t>
            </a:r>
            <a:r>
              <a:rPr lang="en-GB" spc="-5" dirty="0" err="1"/>
              <a:t>weiteres</a:t>
            </a:r>
            <a:r>
              <a:rPr lang="en-GB" spc="-5" dirty="0"/>
              <a:t> </a:t>
            </a:r>
            <a:r>
              <a:rPr lang="en-GB" spc="-5" dirty="0" err="1"/>
              <a:t>Beispiel</a:t>
            </a:r>
            <a:endParaRPr lang="en-GB" spc="-5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77401CC0-1DCF-EB63-51CC-F811F287186C}"/>
              </a:ext>
            </a:extLst>
          </p:cNvPr>
          <p:cNvSpPr txBox="1"/>
          <p:nvPr/>
        </p:nvSpPr>
        <p:spPr>
          <a:xfrm>
            <a:off x="1460500" y="1710645"/>
            <a:ext cx="8855075" cy="519180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859155" marR="2588260" indent="-847090">
              <a:lnSpc>
                <a:spcPts val="2800"/>
              </a:lnSpc>
              <a:spcBef>
                <a:spcPts val="260"/>
              </a:spcBef>
            </a:pPr>
            <a:r>
              <a:rPr sz="2400" b="1" spc="-5" dirty="0">
                <a:latin typeface="Arial"/>
                <a:cs typeface="Arial"/>
              </a:rPr>
              <a:t>with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kenntSich(ProfPersNr,</a:t>
            </a:r>
            <a:r>
              <a:rPr lang="en-GB" sz="2400" spc="-1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StudMatrNr)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dirty="0">
                <a:latin typeface="Arial"/>
                <a:cs typeface="Arial"/>
              </a:rPr>
              <a:t>  (select </a:t>
            </a:r>
            <a:r>
              <a:rPr sz="2400" spc="-5" dirty="0">
                <a:latin typeface="Arial"/>
                <a:cs typeface="Arial"/>
              </a:rPr>
              <a:t>distinct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v.gelesenVon,h.MatrNr</a:t>
            </a:r>
            <a:endParaRPr sz="2400" dirty="0">
              <a:latin typeface="Arial"/>
              <a:cs typeface="Arial"/>
            </a:endParaRPr>
          </a:p>
          <a:p>
            <a:pPr marL="266700" marR="5080" indent="676910">
              <a:lnSpc>
                <a:spcPts val="2900"/>
              </a:lnSpc>
              <a:spcBef>
                <a:spcPts val="20"/>
              </a:spcBef>
            </a:pPr>
            <a:r>
              <a:rPr sz="2400" b="1" spc="-5" dirty="0">
                <a:latin typeface="Arial"/>
                <a:cs typeface="Arial"/>
              </a:rPr>
              <a:t>from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hoeren h </a:t>
            </a:r>
            <a:r>
              <a:rPr sz="2400" b="1" spc="-5" dirty="0">
                <a:latin typeface="Arial"/>
                <a:cs typeface="Arial"/>
              </a:rPr>
              <a:t>join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Vorlesungen </a:t>
            </a:r>
            <a:r>
              <a:rPr sz="2400" dirty="0">
                <a:latin typeface="Arial"/>
                <a:cs typeface="Arial"/>
              </a:rPr>
              <a:t>v </a:t>
            </a:r>
            <a:r>
              <a:rPr sz="2400" b="1" dirty="0">
                <a:latin typeface="Arial"/>
                <a:cs typeface="Arial"/>
              </a:rPr>
              <a:t>on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h.VorlNr=v.VorlNr) </a:t>
            </a:r>
            <a:r>
              <a:rPr sz="2400" dirty="0">
                <a:latin typeface="Arial"/>
                <a:cs typeface="Arial"/>
              </a:rPr>
              <a:t>,  </a:t>
            </a:r>
            <a:r>
              <a:rPr lang="en-GB" sz="2400" dirty="0">
                <a:latin typeface="Arial"/>
                <a:cs typeface="Arial"/>
              </a:rPr>
              <a:t>  	   </a:t>
            </a:r>
            <a:r>
              <a:rPr sz="2400" spc="-10" dirty="0">
                <a:latin typeface="Arial"/>
                <a:cs typeface="Arial"/>
              </a:rPr>
              <a:t>kenntAnzahl(ProfPersNr, </a:t>
            </a:r>
            <a:r>
              <a:rPr sz="2400" spc="-5" dirty="0">
                <a:latin typeface="Arial"/>
                <a:cs typeface="Arial"/>
              </a:rPr>
              <a:t>AnzStudenten)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as</a:t>
            </a:r>
          </a:p>
          <a:p>
            <a:pPr marL="943610" marR="1583055" indent="-85090">
              <a:lnSpc>
                <a:spcPts val="2900"/>
              </a:lnSpc>
            </a:pPr>
            <a:r>
              <a:rPr sz="2400" dirty="0">
                <a:latin typeface="Arial"/>
                <a:cs typeface="Arial"/>
              </a:rPr>
              <a:t>(</a:t>
            </a:r>
            <a:r>
              <a:rPr sz="2400" b="1" dirty="0">
                <a:latin typeface="Arial"/>
                <a:cs typeface="Arial"/>
              </a:rPr>
              <a:t>select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ProfPersNr, </a:t>
            </a:r>
            <a:r>
              <a:rPr sz="2400" spc="-5" dirty="0">
                <a:latin typeface="Arial"/>
                <a:cs typeface="Arial"/>
              </a:rPr>
              <a:t>count(*)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AnzStudenten  f</a:t>
            </a:r>
            <a:r>
              <a:rPr sz="2400" b="1" spc="-5" dirty="0">
                <a:latin typeface="Arial"/>
                <a:cs typeface="Arial"/>
              </a:rPr>
              <a:t>rom</a:t>
            </a:r>
            <a:r>
              <a:rPr sz="2400" spc="-5" dirty="0">
                <a:latin typeface="Arial"/>
                <a:cs typeface="Arial"/>
              </a:rPr>
              <a:t> kenntSich</a:t>
            </a:r>
            <a:endParaRPr sz="2400" dirty="0">
              <a:latin typeface="Arial"/>
              <a:cs typeface="Arial"/>
            </a:endParaRPr>
          </a:p>
          <a:p>
            <a:pPr marL="943610">
              <a:lnSpc>
                <a:spcPts val="2700"/>
              </a:lnSpc>
            </a:pPr>
            <a:r>
              <a:rPr sz="2400" b="1" dirty="0">
                <a:latin typeface="Arial"/>
                <a:cs typeface="Arial"/>
              </a:rPr>
              <a:t>group by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ProfPersNr),</a:t>
            </a:r>
            <a:endParaRPr sz="2400" dirty="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20"/>
              </a:spcBef>
            </a:pPr>
            <a:r>
              <a:rPr lang="en-GB" sz="2400" dirty="0">
                <a:latin typeface="Arial"/>
                <a:cs typeface="Arial"/>
              </a:rPr>
              <a:t>      </a:t>
            </a:r>
            <a:r>
              <a:rPr sz="2400" dirty="0">
                <a:latin typeface="Arial"/>
                <a:cs typeface="Arial"/>
              </a:rPr>
              <a:t>wieviele </a:t>
            </a:r>
            <a:r>
              <a:rPr sz="2400" spc="-5" dirty="0">
                <a:latin typeface="Arial"/>
                <a:cs typeface="Arial"/>
              </a:rPr>
              <a:t>(GesamtAnz)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dirty="0">
                <a:latin typeface="Arial"/>
                <a:cs typeface="Arial"/>
              </a:rPr>
              <a:t> (</a:t>
            </a:r>
            <a:r>
              <a:rPr sz="2400" b="1" dirty="0">
                <a:latin typeface="Arial"/>
                <a:cs typeface="Arial"/>
              </a:rPr>
              <a:t>select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count(*) </a:t>
            </a:r>
            <a:r>
              <a:rPr sz="2400" b="1" spc="-5" dirty="0">
                <a:latin typeface="Arial"/>
                <a:cs typeface="Arial"/>
              </a:rPr>
              <a:t>from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Studenten)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Arial"/>
                <a:cs typeface="Arial"/>
              </a:rPr>
              <a:t>select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k.ProfPersNr, </a:t>
            </a:r>
            <a:r>
              <a:rPr sz="2400" spc="-5" dirty="0">
                <a:latin typeface="Arial"/>
                <a:cs typeface="Arial"/>
              </a:rPr>
              <a:t>p.Name, k.AnzStudenten,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w.GesamtAnz,</a:t>
            </a:r>
            <a:endParaRPr sz="2400" dirty="0">
              <a:latin typeface="Arial"/>
              <a:cs typeface="Arial"/>
            </a:endParaRPr>
          </a:p>
          <a:p>
            <a:pPr marL="12700" marR="666750">
              <a:lnSpc>
                <a:spcPts val="2800"/>
              </a:lnSpc>
              <a:spcBef>
                <a:spcPts val="180"/>
              </a:spcBef>
            </a:pPr>
            <a:r>
              <a:rPr sz="2400" spc="-5" dirty="0">
                <a:latin typeface="Arial"/>
                <a:cs typeface="Arial"/>
              </a:rPr>
              <a:t>1.00 </a:t>
            </a:r>
            <a:r>
              <a:rPr sz="2400" dirty="0">
                <a:latin typeface="Arial"/>
                <a:cs typeface="Arial"/>
              </a:rPr>
              <a:t>* </a:t>
            </a:r>
            <a:r>
              <a:rPr sz="2400" spc="-10" dirty="0">
                <a:latin typeface="Arial"/>
                <a:cs typeface="Arial"/>
              </a:rPr>
              <a:t>k.AnzStudenten/w.GesamtAnz </a:t>
            </a:r>
            <a:r>
              <a:rPr sz="2400" b="1" dirty="0">
                <a:latin typeface="Arial"/>
                <a:cs typeface="Arial"/>
              </a:rPr>
              <a:t>as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Bekanntheitsgrad  </a:t>
            </a:r>
            <a:r>
              <a:rPr sz="2400" b="1" spc="-5" dirty="0">
                <a:latin typeface="Arial"/>
                <a:cs typeface="Arial"/>
              </a:rPr>
              <a:t>from</a:t>
            </a:r>
            <a:r>
              <a:rPr sz="2400" spc="-5" dirty="0">
                <a:latin typeface="Arial"/>
                <a:cs typeface="Arial"/>
              </a:rPr>
              <a:t> kenntAnzahl </a:t>
            </a:r>
            <a:r>
              <a:rPr sz="2400" dirty="0">
                <a:latin typeface="Arial"/>
                <a:cs typeface="Arial"/>
              </a:rPr>
              <a:t>k, wieviele </a:t>
            </a:r>
            <a:r>
              <a:rPr sz="2400" spc="-70" dirty="0">
                <a:latin typeface="Arial"/>
                <a:cs typeface="Arial"/>
              </a:rPr>
              <a:t>w, </a:t>
            </a:r>
            <a:r>
              <a:rPr sz="2400" spc="-5" dirty="0">
                <a:latin typeface="Arial"/>
                <a:cs typeface="Arial"/>
              </a:rPr>
              <a:t>Professoren</a:t>
            </a:r>
            <a:r>
              <a:rPr sz="2400" spc="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</a:t>
            </a:r>
          </a:p>
          <a:p>
            <a:pPr marL="12700" marR="4225290">
              <a:lnSpc>
                <a:spcPts val="2900"/>
              </a:lnSpc>
              <a:spcBef>
                <a:spcPts val="20"/>
              </a:spcBef>
            </a:pPr>
            <a:r>
              <a:rPr sz="2400" b="1" dirty="0">
                <a:latin typeface="Arial"/>
                <a:cs typeface="Arial"/>
              </a:rPr>
              <a:t>where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k.ProfPErsNr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p.PersNr  </a:t>
            </a:r>
            <a:r>
              <a:rPr sz="2400" b="1" dirty="0">
                <a:latin typeface="Arial"/>
                <a:cs typeface="Arial"/>
              </a:rPr>
              <a:t>order by </a:t>
            </a:r>
            <a:r>
              <a:rPr sz="2400" spc="-5" dirty="0">
                <a:latin typeface="Arial"/>
                <a:cs typeface="Arial"/>
              </a:rPr>
              <a:t>Bekanntheitsgrad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desc</a:t>
            </a:r>
          </a:p>
        </p:txBody>
      </p:sp>
    </p:spTree>
    <p:extLst>
      <p:ext uri="{BB962C8B-B14F-4D97-AF65-F5344CB8AC3E}">
        <p14:creationId xmlns:p14="http://schemas.microsoft.com/office/powerpoint/2010/main" val="1056986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21790" y="1339850"/>
            <a:ext cx="6468110" cy="2767424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  <a:tabLst>
                <a:tab pos="304165" algn="l"/>
              </a:tabLst>
            </a:pPr>
            <a:r>
              <a:rPr sz="2400" dirty="0">
                <a:latin typeface="Tahoma"/>
                <a:cs typeface="Tahoma"/>
              </a:rPr>
              <a:t>(	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 dirty="0">
              <a:latin typeface="Tahoma"/>
              <a:cs typeface="Tahoma"/>
            </a:endParaRPr>
          </a:p>
          <a:p>
            <a:pPr marL="304165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Assistenten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</a:t>
            </a: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union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  <a:tabLst>
                <a:tab pos="304165" algn="l"/>
              </a:tabLst>
            </a:pPr>
            <a:r>
              <a:rPr sz="2400" dirty="0">
                <a:latin typeface="Tahoma"/>
                <a:cs typeface="Tahoma"/>
              </a:rPr>
              <a:t>(	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 dirty="0">
              <a:latin typeface="Tahoma"/>
              <a:cs typeface="Tahoma"/>
            </a:endParaRPr>
          </a:p>
          <a:p>
            <a:pPr marL="304165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Professoren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1393190" y="4686459"/>
            <a:ext cx="6468110" cy="2215991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317500">
              <a:lnSpc>
                <a:spcPct val="100000"/>
              </a:lnSpc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 dirty="0">
              <a:latin typeface="Tahoma"/>
              <a:cs typeface="Tahoma"/>
            </a:endParaRPr>
          </a:p>
          <a:p>
            <a:pPr marL="3175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Professoren</a:t>
            </a:r>
            <a:endParaRPr sz="2400" dirty="0">
              <a:latin typeface="Tahoma"/>
              <a:cs typeface="Tahoma"/>
            </a:endParaRPr>
          </a:p>
          <a:p>
            <a:pPr marL="3175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10" dirty="0">
                <a:latin typeface="Tahoma"/>
                <a:cs typeface="Tahoma"/>
              </a:rPr>
              <a:t>PersNr </a:t>
            </a:r>
            <a:r>
              <a:rPr sz="2400" b="1" spc="-5" dirty="0">
                <a:latin typeface="Tahoma"/>
                <a:cs typeface="Tahoma"/>
              </a:rPr>
              <a:t>not </a:t>
            </a:r>
            <a:r>
              <a:rPr sz="2400" b="1" dirty="0">
                <a:latin typeface="Tahoma"/>
                <a:cs typeface="Tahoma"/>
              </a:rPr>
              <a:t>in </a:t>
            </a: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13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gelesenVon</a:t>
            </a:r>
            <a:endParaRPr sz="2400" dirty="0">
              <a:latin typeface="Tahoma"/>
              <a:cs typeface="Tahoma"/>
            </a:endParaRPr>
          </a:p>
          <a:p>
            <a:pPr marL="36703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5" dirty="0">
                <a:latin typeface="Tahoma"/>
                <a:cs typeface="Tahoma"/>
              </a:rPr>
              <a:t>Vorlesungen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549C28A-0CF7-FAB3-6135-1C0A50C1AD58}"/>
              </a:ext>
            </a:extLst>
          </p:cNvPr>
          <p:cNvSpPr txBox="1">
            <a:spLocks/>
          </p:cNvSpPr>
          <p:nvPr/>
        </p:nvSpPr>
        <p:spPr>
          <a:xfrm>
            <a:off x="850900" y="730250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Weitere</a:t>
            </a:r>
            <a:r>
              <a:rPr lang="en-GB" spc="-5" dirty="0"/>
              <a:t> </a:t>
            </a:r>
            <a:r>
              <a:rPr lang="en-GB" spc="-5" dirty="0" err="1"/>
              <a:t>Anfragen</a:t>
            </a:r>
            <a:r>
              <a:rPr lang="en-GB" spc="-5" dirty="0"/>
              <a:t> </a:t>
            </a:r>
            <a:r>
              <a:rPr lang="en-GB" spc="-5" dirty="0" err="1"/>
              <a:t>mit</a:t>
            </a:r>
            <a:r>
              <a:rPr lang="en-GB" spc="-5" dirty="0"/>
              <a:t> </a:t>
            </a:r>
            <a:r>
              <a:rPr lang="en-GB" spc="-5" dirty="0" err="1"/>
              <a:t>Unteranfragen</a:t>
            </a:r>
            <a:endParaRPr lang="en-GB"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08100" y="1765881"/>
            <a:ext cx="7785100" cy="3764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 marR="4218305" indent="-495300">
              <a:lnSpc>
                <a:spcPct val="1472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Existenzquantor</a:t>
            </a:r>
            <a:r>
              <a:rPr sz="2400" spc="-5" dirty="0">
                <a:latin typeface="Tahoma"/>
                <a:cs typeface="Tahoma"/>
              </a:rPr>
              <a:t>: </a:t>
            </a:r>
            <a:r>
              <a:rPr sz="2400" b="1" spc="-5" dirty="0">
                <a:latin typeface="Tahoma"/>
                <a:cs typeface="Tahoma"/>
              </a:rPr>
              <a:t>exists  select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 dirty="0">
              <a:latin typeface="Tahoma"/>
              <a:cs typeface="Tahoma"/>
            </a:endParaRPr>
          </a:p>
          <a:p>
            <a:pPr marL="5080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Professoren</a:t>
            </a:r>
            <a:endParaRPr sz="2400" dirty="0">
              <a:latin typeface="Tahoma"/>
              <a:cs typeface="Tahoma"/>
            </a:endParaRPr>
          </a:p>
          <a:p>
            <a:pPr marL="5080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not exists </a:t>
            </a: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34798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34798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gelesen</a:t>
            </a:r>
            <a:r>
              <a:rPr sz="2400" spc="-40" dirty="0">
                <a:latin typeface="Tahoma"/>
                <a:cs typeface="Tahoma"/>
              </a:rPr>
              <a:t>Von </a:t>
            </a:r>
            <a:r>
              <a:rPr sz="2400" spc="-5" dirty="0">
                <a:latin typeface="Tahoma"/>
                <a:cs typeface="Tahoma"/>
              </a:rPr>
              <a:t>= </a:t>
            </a:r>
            <a:r>
              <a:rPr sz="2400" spc="-10" dirty="0">
                <a:latin typeface="Tahoma"/>
                <a:cs typeface="Tahoma"/>
              </a:rPr>
              <a:t>PersNr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EE35FEB-F11E-34CC-F5A6-4E12ECAA7A95}"/>
              </a:ext>
            </a:extLst>
          </p:cNvPr>
          <p:cNvSpPr txBox="1">
            <a:spLocks/>
          </p:cNvSpPr>
          <p:nvPr/>
        </p:nvSpPr>
        <p:spPr>
          <a:xfrm>
            <a:off x="850900" y="825104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5" dirty="0" err="1"/>
              <a:t>Quantifizierte</a:t>
            </a:r>
            <a:r>
              <a:rPr lang="en-GB" spc="-5" dirty="0"/>
              <a:t> </a:t>
            </a:r>
            <a:r>
              <a:rPr lang="en-GB" spc="-5" dirty="0" err="1"/>
              <a:t>Anfragen</a:t>
            </a:r>
            <a:r>
              <a:rPr lang="en-GB" spc="-5" dirty="0"/>
              <a:t> in SQL - </a:t>
            </a:r>
            <a:r>
              <a:rPr lang="en-GB" spc="-5" dirty="0" err="1"/>
              <a:t>Existenz</a:t>
            </a:r>
            <a:endParaRPr lang="en-GB"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6465" y="860778"/>
            <a:ext cx="6249035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Quantifizierte Anfragen in SQL - </a:t>
            </a:r>
            <a:r>
              <a:rPr spc="-5" dirty="0" err="1"/>
              <a:t>Allquantifizierung</a:t>
            </a:r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1310640" y="1992766"/>
            <a:ext cx="8890000" cy="2699884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SQL-92 </a:t>
            </a:r>
            <a:r>
              <a:rPr sz="2400" dirty="0">
                <a:latin typeface="Tahoma"/>
                <a:cs typeface="Tahoma"/>
              </a:rPr>
              <a:t>hat </a:t>
            </a:r>
            <a:r>
              <a:rPr sz="2400" spc="-5" dirty="0">
                <a:latin typeface="Tahoma"/>
                <a:cs typeface="Tahoma"/>
              </a:rPr>
              <a:t>keinen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Allquantor</a:t>
            </a:r>
            <a:endParaRPr lang="en-GB" sz="2400" spc="-5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400" dirty="0">
              <a:latin typeface="Tahoma"/>
              <a:cs typeface="Tahoma"/>
            </a:endParaRPr>
          </a:p>
          <a:p>
            <a:pPr marL="355600" marR="85090" indent="-342900">
              <a:lnSpc>
                <a:spcPts val="2620"/>
              </a:lnSpc>
              <a:spcBef>
                <a:spcPts val="5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Allquantifizierung</a:t>
            </a:r>
            <a:r>
              <a:rPr sz="2400" spc="-5" dirty="0">
                <a:latin typeface="Tahoma"/>
                <a:cs typeface="Tahoma"/>
              </a:rPr>
              <a:t> muß </a:t>
            </a:r>
            <a:r>
              <a:rPr sz="2400" dirty="0">
                <a:latin typeface="Tahoma"/>
                <a:cs typeface="Tahoma"/>
              </a:rPr>
              <a:t>also </a:t>
            </a:r>
            <a:r>
              <a:rPr sz="2400" spc="-5" dirty="0">
                <a:latin typeface="Tahoma"/>
                <a:cs typeface="Tahoma"/>
              </a:rPr>
              <a:t>durch </a:t>
            </a:r>
            <a:r>
              <a:rPr sz="2400" dirty="0">
                <a:latin typeface="Tahoma"/>
                <a:cs typeface="Tahoma"/>
              </a:rPr>
              <a:t>eine </a:t>
            </a:r>
            <a:r>
              <a:rPr sz="2400" spc="-5" dirty="0">
                <a:latin typeface="Tahoma"/>
                <a:cs typeface="Tahoma"/>
              </a:rPr>
              <a:t>äquivalente Anfrage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mit  Existenzquantifizierung ausgedrückt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werden</a:t>
            </a:r>
            <a:endParaRPr lang="en-GB" sz="2400" spc="-5" dirty="0">
              <a:latin typeface="Tahoma"/>
              <a:cs typeface="Tahoma"/>
            </a:endParaRPr>
          </a:p>
          <a:p>
            <a:pPr marL="355600" marR="85090" indent="-342900">
              <a:lnSpc>
                <a:spcPts val="2620"/>
              </a:lnSpc>
              <a:spcBef>
                <a:spcPts val="5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400" dirty="0">
              <a:latin typeface="Tahoma"/>
              <a:cs typeface="Tahoma"/>
            </a:endParaRPr>
          </a:p>
          <a:p>
            <a:pPr marL="355600" marR="518159" indent="-342900">
              <a:lnSpc>
                <a:spcPts val="2620"/>
              </a:lnSpc>
              <a:spcBef>
                <a:spcPts val="56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GB" sz="2400" spc="-5" dirty="0" err="1">
                <a:latin typeface="Tahoma"/>
                <a:cs typeface="Tahoma"/>
              </a:rPr>
              <a:t>Beispiel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einer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solchen</a:t>
            </a:r>
            <a:r>
              <a:rPr sz="2400" spc="-5" dirty="0">
                <a:latin typeface="Tahoma"/>
                <a:cs typeface="Tahoma"/>
              </a:rPr>
              <a:t> Anfrage: </a:t>
            </a:r>
            <a:r>
              <a:rPr sz="2400" u="sng" dirty="0">
                <a:latin typeface="Tahoma"/>
                <a:cs typeface="Tahoma"/>
              </a:rPr>
              <a:t>Wer hat </a:t>
            </a:r>
            <a:r>
              <a:rPr sz="2400" b="1" u="sng" dirty="0">
                <a:latin typeface="Tahoma"/>
                <a:cs typeface="Tahoma"/>
              </a:rPr>
              <a:t>alle</a:t>
            </a:r>
            <a:r>
              <a:rPr sz="2400" b="1" u="sng" spc="-235" dirty="0">
                <a:latin typeface="Tahoma"/>
                <a:cs typeface="Tahoma"/>
              </a:rPr>
              <a:t> </a:t>
            </a:r>
            <a:r>
              <a:rPr sz="2400" u="sng" spc="-5" dirty="0">
                <a:latin typeface="Tahoma"/>
                <a:cs typeface="Tahoma"/>
              </a:rPr>
              <a:t>vierstündigen  Vorlesungen gehört?</a:t>
            </a:r>
            <a:endParaRPr sz="2400" u="sng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47AF690-924E-A373-9C5C-606A3FEBC975}"/>
              </a:ext>
            </a:extLst>
          </p:cNvPr>
          <p:cNvSpPr txBox="1"/>
          <p:nvPr/>
        </p:nvSpPr>
        <p:spPr>
          <a:xfrm>
            <a:off x="1155700" y="839355"/>
            <a:ext cx="8505825" cy="561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15" dirty="0">
                <a:latin typeface="Tahoma"/>
                <a:cs typeface="Tahoma"/>
              </a:rPr>
              <a:t>SQL-</a:t>
            </a:r>
            <a:r>
              <a:rPr sz="2400" spc="-15" dirty="0" err="1">
                <a:latin typeface="Tahoma"/>
                <a:cs typeface="Tahoma"/>
              </a:rPr>
              <a:t>Umsetzung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folgt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direkt: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s.*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dirty="0">
                <a:latin typeface="Tahoma"/>
                <a:cs typeface="Tahoma"/>
              </a:rPr>
              <a:t>s</a:t>
            </a:r>
          </a:p>
          <a:p>
            <a:pPr marL="369570" marR="5938520" indent="-357505">
              <a:lnSpc>
                <a:spcPct val="1493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where not</a:t>
            </a:r>
            <a:r>
              <a:rPr sz="2400" b="1" spc="-6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exists  (select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548005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5" dirty="0">
                <a:latin typeface="Tahoma"/>
                <a:cs typeface="Tahoma"/>
              </a:rPr>
              <a:t>Vorlesungen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</a:t>
            </a:r>
          </a:p>
          <a:p>
            <a:pPr marL="927100" marR="3236595" indent="-379095">
              <a:lnSpc>
                <a:spcPct val="149300"/>
              </a:lnSpc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45" dirty="0">
                <a:latin typeface="Tahoma"/>
                <a:cs typeface="Tahoma"/>
              </a:rPr>
              <a:t>v.SWS </a:t>
            </a:r>
            <a:r>
              <a:rPr sz="2400" spc="-5" dirty="0">
                <a:latin typeface="Tahoma"/>
                <a:cs typeface="Tahoma"/>
              </a:rPr>
              <a:t>= </a:t>
            </a:r>
            <a:r>
              <a:rPr sz="2400" dirty="0">
                <a:latin typeface="Tahoma"/>
                <a:cs typeface="Tahoma"/>
              </a:rPr>
              <a:t>4 </a:t>
            </a:r>
            <a:r>
              <a:rPr sz="2400" b="1" spc="-5" dirty="0">
                <a:latin typeface="Tahoma"/>
                <a:cs typeface="Tahoma"/>
              </a:rPr>
              <a:t>and not exists  (select </a:t>
            </a:r>
            <a:r>
              <a:rPr sz="2400" b="1" dirty="0">
                <a:latin typeface="Tahoma"/>
                <a:cs typeface="Tahoma"/>
              </a:rPr>
              <a:t>*</a:t>
            </a:r>
            <a:endParaRPr sz="2400" dirty="0">
              <a:latin typeface="Tahoma"/>
              <a:cs typeface="Tahoma"/>
            </a:endParaRPr>
          </a:p>
          <a:p>
            <a:pPr marL="10160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en-GB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</a:t>
            </a:r>
            <a:endParaRPr sz="2400" dirty="0">
              <a:latin typeface="Tahoma"/>
              <a:cs typeface="Tahoma"/>
            </a:endParaRPr>
          </a:p>
          <a:p>
            <a:pPr marL="10160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20" dirty="0">
                <a:latin typeface="Tahoma"/>
                <a:cs typeface="Tahoma"/>
              </a:rPr>
              <a:t>h.VorlNr </a:t>
            </a:r>
            <a:r>
              <a:rPr sz="2400" spc="-5" dirty="0">
                <a:latin typeface="Tahoma"/>
                <a:cs typeface="Tahoma"/>
              </a:rPr>
              <a:t>= </a:t>
            </a:r>
            <a:r>
              <a:rPr sz="2400" spc="-40" dirty="0">
                <a:latin typeface="Tahoma"/>
                <a:cs typeface="Tahoma"/>
              </a:rPr>
              <a:t>v.VorlNr </a:t>
            </a:r>
            <a:r>
              <a:rPr sz="2400" b="1" spc="-5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h.MatrNr=s.MatrNr </a:t>
            </a:r>
            <a:r>
              <a:rPr sz="2400" b="1" dirty="0">
                <a:latin typeface="Tahoma"/>
                <a:cs typeface="Tahoma"/>
              </a:rPr>
              <a:t>)</a:t>
            </a:r>
            <a:r>
              <a:rPr sz="2400" b="1" spc="12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)</a:t>
            </a:r>
            <a:r>
              <a:rPr sz="2400" spc="-5" dirty="0">
                <a:latin typeface="Tahoma"/>
                <a:cs typeface="Tahoma"/>
              </a:rPr>
              <a:t>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6A8923D9-EAC3-C59F-AEBF-BEEF198D7394}"/>
              </a:ext>
            </a:extLst>
          </p:cNvPr>
          <p:cNvSpPr/>
          <p:nvPr/>
        </p:nvSpPr>
        <p:spPr>
          <a:xfrm>
            <a:off x="6945977" y="3244850"/>
            <a:ext cx="1143000" cy="5334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69EA98-31EB-A02D-62A7-2BDFB06CFACD}"/>
              </a:ext>
            </a:extLst>
          </p:cNvPr>
          <p:cNvSpPr txBox="1"/>
          <p:nvPr/>
        </p:nvSpPr>
        <p:spPr>
          <a:xfrm>
            <a:off x="8165177" y="3644721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Ab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hier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err="1">
                <a:solidFill>
                  <a:srgbClr val="FF0000"/>
                </a:solidFill>
              </a:rPr>
              <a:t>Menge</a:t>
            </a:r>
            <a:r>
              <a:rPr lang="en-US" dirty="0">
                <a:solidFill>
                  <a:srgbClr val="FF0000"/>
                </a:solidFill>
              </a:rPr>
              <a:t> der ‘</a:t>
            </a:r>
            <a:r>
              <a:rPr lang="en-US" dirty="0" err="1">
                <a:solidFill>
                  <a:srgbClr val="FF0000"/>
                </a:solidFill>
              </a:rPr>
              <a:t>unbesuchten</a:t>
            </a:r>
            <a:r>
              <a:rPr lang="en-US" dirty="0">
                <a:solidFill>
                  <a:srgbClr val="FF0000"/>
                </a:solidFill>
              </a:rPr>
              <a:t>’ 4er </a:t>
            </a:r>
            <a:r>
              <a:rPr lang="en-US" dirty="0" err="1">
                <a:solidFill>
                  <a:srgbClr val="FF0000"/>
                </a:solidFill>
              </a:rPr>
              <a:t>Vorlesungen</a:t>
            </a:r>
            <a:r>
              <a:rPr lang="en-US" dirty="0">
                <a:solidFill>
                  <a:srgbClr val="FF0000"/>
                </a:solidFill>
              </a:rPr>
              <a:t> pro Student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E5354-3B9E-5F17-9351-AB99D1F95A81}"/>
              </a:ext>
            </a:extLst>
          </p:cNvPr>
          <p:cNvSpPr txBox="1"/>
          <p:nvPr/>
        </p:nvSpPr>
        <p:spPr>
          <a:xfrm>
            <a:off x="8165177" y="1568450"/>
            <a:ext cx="213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Wo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keine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unbesuchten</a:t>
            </a:r>
            <a:r>
              <a:rPr lang="en-US" dirty="0">
                <a:solidFill>
                  <a:srgbClr val="FF0000"/>
                </a:solidFill>
              </a:rPr>
              <a:t> 4er </a:t>
            </a:r>
            <a:r>
              <a:rPr lang="en-US" dirty="0" err="1">
                <a:solidFill>
                  <a:srgbClr val="FF0000"/>
                </a:solidFill>
              </a:rPr>
              <a:t>Vorlesungen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existieren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126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1958340"/>
            <a:ext cx="9019540" cy="4631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69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Allquantifizierung</a:t>
            </a:r>
            <a:r>
              <a:rPr sz="2400" spc="-5" dirty="0">
                <a:latin typeface="Tahoma"/>
                <a:cs typeface="Tahoma"/>
              </a:rPr>
              <a:t> kann immer auch durch </a:t>
            </a:r>
            <a:r>
              <a:rPr sz="2400" dirty="0">
                <a:latin typeface="Tahoma"/>
                <a:cs typeface="Tahoma"/>
              </a:rPr>
              <a:t>eine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count-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ts val="2690"/>
              </a:lnSpc>
              <a:buClr>
                <a:schemeClr val="accent1"/>
              </a:buClr>
              <a:buSzPct val="170000"/>
            </a:pPr>
            <a:r>
              <a:rPr sz="2400" spc="-5" dirty="0">
                <a:latin typeface="Tahoma"/>
                <a:cs typeface="Tahoma"/>
              </a:rPr>
              <a:t>Aggregation ausgedrückt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werden</a:t>
            </a:r>
            <a:r>
              <a:rPr lang="en-GB" sz="2400" spc="-5" dirty="0">
                <a:latin typeface="Tahoma"/>
                <a:cs typeface="Tahoma"/>
              </a:rPr>
              <a:t> (</a:t>
            </a:r>
            <a:r>
              <a:rPr lang="en-GB" sz="2400" spc="-5" dirty="0" err="1">
                <a:latin typeface="Tahoma"/>
                <a:cs typeface="Tahoma"/>
              </a:rPr>
              <a:t>als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lang="en-GB" sz="2400" spc="-5" dirty="0" err="1">
                <a:latin typeface="Tahoma"/>
                <a:cs typeface="Tahoma"/>
              </a:rPr>
              <a:t>eine</a:t>
            </a:r>
            <a:r>
              <a:rPr lang="en-GB" sz="2400" spc="-5" dirty="0">
                <a:latin typeface="Tahoma"/>
                <a:cs typeface="Tahoma"/>
              </a:rPr>
              <a:t> Art Workaround)</a:t>
            </a:r>
            <a:endParaRPr sz="2400" dirty="0">
              <a:latin typeface="Tahoma"/>
              <a:cs typeface="Tahoma"/>
            </a:endParaRPr>
          </a:p>
          <a:p>
            <a:pPr marL="355600" marR="290195" indent="-342900">
              <a:lnSpc>
                <a:spcPct val="89800"/>
              </a:lnSpc>
              <a:spcBef>
                <a:spcPts val="59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2207895" algn="l"/>
              </a:tabLst>
            </a:pPr>
            <a:r>
              <a:rPr sz="2400" dirty="0" err="1">
                <a:latin typeface="Tahoma"/>
                <a:cs typeface="Tahoma"/>
              </a:rPr>
              <a:t>Wir</a:t>
            </a:r>
            <a:r>
              <a:rPr sz="2400" dirty="0">
                <a:latin typeface="Tahoma"/>
                <a:cs typeface="Tahoma"/>
              </a:rPr>
              <a:t> betrachten </a:t>
            </a:r>
            <a:r>
              <a:rPr sz="2400" spc="-5" dirty="0">
                <a:latin typeface="Tahoma"/>
                <a:cs typeface="Tahoma"/>
              </a:rPr>
              <a:t>dazu </a:t>
            </a:r>
            <a:r>
              <a:rPr sz="2400" dirty="0">
                <a:latin typeface="Tahoma"/>
                <a:cs typeface="Tahoma"/>
              </a:rPr>
              <a:t>eine </a:t>
            </a:r>
            <a:r>
              <a:rPr sz="2400" spc="-5" dirty="0">
                <a:latin typeface="Tahoma"/>
                <a:cs typeface="Tahoma"/>
              </a:rPr>
              <a:t>etwas </a:t>
            </a:r>
            <a:r>
              <a:rPr sz="2400" dirty="0">
                <a:latin typeface="Tahoma"/>
                <a:cs typeface="Tahoma"/>
              </a:rPr>
              <a:t>einfachere </a:t>
            </a:r>
            <a:r>
              <a:rPr sz="2400" spc="-5" dirty="0">
                <a:latin typeface="Tahoma"/>
                <a:cs typeface="Tahoma"/>
              </a:rPr>
              <a:t>Anfrage, in </a:t>
            </a:r>
            <a:r>
              <a:rPr sz="2400" dirty="0">
                <a:latin typeface="Tahoma"/>
                <a:cs typeface="Tahoma"/>
              </a:rPr>
              <a:t>der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wir  die </a:t>
            </a:r>
            <a:r>
              <a:rPr sz="2450" i="1" spc="-25" dirty="0">
                <a:latin typeface="Tahoma"/>
                <a:cs typeface="Tahoma"/>
              </a:rPr>
              <a:t>(MatrNr </a:t>
            </a:r>
            <a:r>
              <a:rPr sz="2400" spc="-5" dirty="0">
                <a:latin typeface="Tahoma"/>
                <a:cs typeface="Tahoma"/>
              </a:rPr>
              <a:t>der) Studenten ermitteln wollen, die </a:t>
            </a:r>
            <a:r>
              <a:rPr sz="2450" i="1" spc="-20" dirty="0">
                <a:latin typeface="Tahoma"/>
                <a:cs typeface="Tahoma"/>
              </a:rPr>
              <a:t>alle  </a:t>
            </a:r>
            <a:r>
              <a:rPr sz="2400" spc="-5" dirty="0">
                <a:latin typeface="Tahoma"/>
                <a:cs typeface="Tahoma"/>
              </a:rPr>
              <a:t>Vorlesungen	hören: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00" dirty="0">
              <a:latin typeface="Times New Roman"/>
              <a:cs typeface="Times New Roman"/>
            </a:endParaRPr>
          </a:p>
          <a:p>
            <a:pPr marL="165100" marR="6212205">
              <a:lnSpc>
                <a:spcPct val="150000"/>
              </a:lnSpc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h.MatrNr  </a:t>
            </a: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en-GB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 h  </a:t>
            </a:r>
            <a:r>
              <a:rPr sz="2400" b="1" spc="-5" dirty="0">
                <a:latin typeface="Tahoma"/>
                <a:cs typeface="Tahoma"/>
              </a:rPr>
              <a:t>group by </a:t>
            </a:r>
            <a:r>
              <a:rPr sz="2400" spc="-5" dirty="0">
                <a:latin typeface="Tahoma"/>
                <a:cs typeface="Tahoma"/>
              </a:rPr>
              <a:t>h.MatrNr</a:t>
            </a:r>
            <a:endParaRPr sz="2400" dirty="0">
              <a:latin typeface="Tahoma"/>
              <a:cs typeface="Tahoma"/>
            </a:endParaRPr>
          </a:p>
          <a:p>
            <a:pPr marL="10795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having </a:t>
            </a:r>
            <a:r>
              <a:rPr sz="2400" spc="-5" dirty="0">
                <a:latin typeface="Tahoma"/>
                <a:cs typeface="Tahoma"/>
              </a:rPr>
              <a:t>count </a:t>
            </a:r>
            <a:r>
              <a:rPr sz="2400" dirty="0">
                <a:latin typeface="Tahoma"/>
                <a:cs typeface="Tahoma"/>
              </a:rPr>
              <a:t>(*) </a:t>
            </a:r>
            <a:r>
              <a:rPr sz="2400" spc="-5" dirty="0">
                <a:latin typeface="Tahoma"/>
                <a:cs typeface="Tahoma"/>
              </a:rPr>
              <a:t>= (</a:t>
            </a: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count </a:t>
            </a:r>
            <a:r>
              <a:rPr sz="2400" dirty="0">
                <a:latin typeface="Tahoma"/>
                <a:cs typeface="Tahoma"/>
              </a:rPr>
              <a:t>(*) </a:t>
            </a: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1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Vorlesungen);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579EA875-AED3-AEC9-5D4F-C1FA4797202D}"/>
              </a:ext>
            </a:extLst>
          </p:cNvPr>
          <p:cNvSpPr txBox="1">
            <a:spLocks/>
          </p:cNvSpPr>
          <p:nvPr/>
        </p:nvSpPr>
        <p:spPr>
          <a:xfrm>
            <a:off x="926465" y="806449"/>
            <a:ext cx="6249035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Allquantifizierung mittels count-Aggregation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>
            <a:extLst>
              <a:ext uri="{FF2B5EF4-FFF2-40B4-BE49-F238E27FC236}">
                <a16:creationId xmlns:a16="http://schemas.microsoft.com/office/drawing/2014/main" id="{579EA875-AED3-AEC9-5D4F-C1FA4797202D}"/>
              </a:ext>
            </a:extLst>
          </p:cNvPr>
          <p:cNvSpPr txBox="1">
            <a:spLocks/>
          </p:cNvSpPr>
          <p:nvPr/>
        </p:nvSpPr>
        <p:spPr>
          <a:xfrm>
            <a:off x="926465" y="799850"/>
            <a:ext cx="6249035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Kleine Übung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54879EC-3AFA-F668-0A99-592BEA682CED}"/>
              </a:ext>
            </a:extLst>
          </p:cNvPr>
          <p:cNvSpPr txBox="1"/>
          <p:nvPr/>
        </p:nvSpPr>
        <p:spPr>
          <a:xfrm>
            <a:off x="1461427" y="2010663"/>
            <a:ext cx="8223884" cy="199618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marR="217804" indent="-342900">
              <a:lnSpc>
                <a:spcPct val="101499"/>
              </a:lnSpc>
              <a:spcBef>
                <a:spcPts val="45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Wie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formuliert man die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komplexere Anfrage: 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Wer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hat alle 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vierstündigen 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Vorlesungen</a:t>
            </a:r>
            <a:r>
              <a:rPr sz="2400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gehört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355600" marR="5080" indent="-342900">
              <a:lnSpc>
                <a:spcPct val="99400"/>
              </a:lnSpc>
              <a:spcBef>
                <a:spcPts val="61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solidFill>
                  <a:srgbClr val="FF0000"/>
                </a:solidFill>
                <a:latin typeface="Tahoma"/>
                <a:cs typeface="Tahoma"/>
              </a:rPr>
              <a:t>Grundidee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 besteht darin, vorher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durch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einen Join die 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Studenten/Vorlesungs-Paare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einzuschränken und danach das  Zählen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 durchzuführen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92475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6">
            <a:extLst>
              <a:ext uri="{FF2B5EF4-FFF2-40B4-BE49-F238E27FC236}">
                <a16:creationId xmlns:a16="http://schemas.microsoft.com/office/drawing/2014/main" id="{579EA875-AED3-AEC9-5D4F-C1FA4797202D}"/>
              </a:ext>
            </a:extLst>
          </p:cNvPr>
          <p:cNvSpPr txBox="1">
            <a:spLocks/>
          </p:cNvSpPr>
          <p:nvPr/>
        </p:nvSpPr>
        <p:spPr>
          <a:xfrm>
            <a:off x="926465" y="730250"/>
            <a:ext cx="6249035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Kleine Übung - Lösung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54879EC-3AFA-F668-0A99-592BEA682CED}"/>
              </a:ext>
            </a:extLst>
          </p:cNvPr>
          <p:cNvSpPr txBox="1"/>
          <p:nvPr/>
        </p:nvSpPr>
        <p:spPr>
          <a:xfrm>
            <a:off x="1461427" y="1705863"/>
            <a:ext cx="8223884" cy="199618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marR="217804" indent="-342900">
              <a:lnSpc>
                <a:spcPct val="101499"/>
              </a:lnSpc>
              <a:spcBef>
                <a:spcPts val="45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Wie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formuliert man die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komplexere Anfrage: 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Wer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hat alle 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vierstündigen </a:t>
            </a: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Vorlesungen</a:t>
            </a:r>
            <a:r>
              <a:rPr sz="2400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gehört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355600" marR="5080" indent="-342900">
              <a:lnSpc>
                <a:spcPct val="99400"/>
              </a:lnSpc>
              <a:spcBef>
                <a:spcPts val="61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solidFill>
                  <a:srgbClr val="FF0000"/>
                </a:solidFill>
                <a:latin typeface="Tahoma"/>
                <a:cs typeface="Tahoma"/>
              </a:rPr>
              <a:t>Grundidee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 besteht darin, vorher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durch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einen Join die 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Studenten/Vorlesungs-Paare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einzuschränken und danach das  Zählen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 durchzuführen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9207E6B3-DBBB-DFF6-D588-736232045DAE}"/>
              </a:ext>
            </a:extLst>
          </p:cNvPr>
          <p:cNvSpPr txBox="1"/>
          <p:nvPr/>
        </p:nvSpPr>
        <p:spPr>
          <a:xfrm>
            <a:off x="1308100" y="4076241"/>
            <a:ext cx="9220200" cy="2673809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GB" sz="2400" b="1" spc="-5" dirty="0">
                <a:latin typeface="Tahoma"/>
                <a:cs typeface="Tahoma"/>
              </a:rPr>
              <a:t>select </a:t>
            </a:r>
            <a:r>
              <a:rPr lang="en-GB" sz="2400" spc="-5" dirty="0" err="1">
                <a:latin typeface="Tahoma"/>
                <a:cs typeface="Tahoma"/>
              </a:rPr>
              <a:t>s.MatrNr</a:t>
            </a:r>
            <a:r>
              <a:rPr lang="en-GB" sz="2400" spc="-5" dirty="0">
                <a:latin typeface="Tahoma"/>
                <a:cs typeface="Tahoma"/>
              </a:rPr>
              <a:t>, </a:t>
            </a:r>
            <a:r>
              <a:rPr lang="en-GB" sz="2400" spc="-5" dirty="0" err="1">
                <a:latin typeface="Tahoma"/>
                <a:cs typeface="Tahoma"/>
              </a:rPr>
              <a:t>s.name</a:t>
            </a:r>
            <a:r>
              <a:rPr lang="en-GB" sz="2400" spc="-5" dirty="0">
                <a:latin typeface="Tahoma"/>
                <a:cs typeface="Tahoma"/>
              </a:rPr>
              <a:t>, count(*) as </a:t>
            </a:r>
            <a:r>
              <a:rPr lang="en-GB" sz="2400" spc="-5" dirty="0" err="1">
                <a:latin typeface="Tahoma"/>
                <a:cs typeface="Tahoma"/>
              </a:rPr>
              <a:t>VierSWSInst</a:t>
            </a:r>
            <a:endParaRPr lang="en-GB" sz="2400" spc="-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GB" sz="2400" b="1" spc="-5" dirty="0">
                <a:latin typeface="Tahoma"/>
                <a:cs typeface="Tahoma"/>
              </a:rPr>
              <a:t>from </a:t>
            </a:r>
            <a:r>
              <a:rPr lang="en-GB" sz="2400" spc="-5" dirty="0" err="1">
                <a:latin typeface="Tahoma"/>
                <a:cs typeface="Tahoma"/>
              </a:rPr>
              <a:t>Vorlesungen</a:t>
            </a:r>
            <a:r>
              <a:rPr lang="en-GB" sz="2400" spc="-5" dirty="0">
                <a:latin typeface="Tahoma"/>
                <a:cs typeface="Tahoma"/>
              </a:rPr>
              <a:t> v, </a:t>
            </a:r>
            <a:r>
              <a:rPr lang="en-GB" sz="2400" spc="-5" dirty="0" err="1">
                <a:latin typeface="Tahoma"/>
                <a:cs typeface="Tahoma"/>
              </a:rPr>
              <a:t>hoeren</a:t>
            </a:r>
            <a:r>
              <a:rPr lang="en-GB" sz="2400" spc="-5" dirty="0">
                <a:latin typeface="Tahoma"/>
                <a:cs typeface="Tahoma"/>
              </a:rPr>
              <a:t> h, </a:t>
            </a:r>
            <a:r>
              <a:rPr lang="en-GB" sz="2400" spc="-5" dirty="0" err="1">
                <a:latin typeface="Tahoma"/>
                <a:cs typeface="Tahoma"/>
              </a:rPr>
              <a:t>Studenten</a:t>
            </a:r>
            <a:r>
              <a:rPr lang="en-GB" sz="2400" spc="-5" dirty="0">
                <a:latin typeface="Tahoma"/>
                <a:cs typeface="Tahoma"/>
              </a:rPr>
              <a:t> s</a:t>
            </a: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GB" sz="2400" b="1" spc="-5" dirty="0">
                <a:latin typeface="Tahoma"/>
                <a:cs typeface="Tahoma"/>
              </a:rPr>
              <a:t>where </a:t>
            </a:r>
            <a:r>
              <a:rPr lang="en-GB" sz="2400" spc="-5" dirty="0" err="1">
                <a:latin typeface="Tahoma"/>
                <a:cs typeface="Tahoma"/>
              </a:rPr>
              <a:t>v.SWS</a:t>
            </a:r>
            <a:r>
              <a:rPr lang="en-GB" sz="2400" spc="-5" dirty="0">
                <a:latin typeface="Tahoma"/>
                <a:cs typeface="Tahoma"/>
              </a:rPr>
              <a:t> = 4 and </a:t>
            </a:r>
            <a:r>
              <a:rPr lang="en-GB" sz="2400" spc="-5" dirty="0" err="1">
                <a:latin typeface="Tahoma"/>
                <a:cs typeface="Tahoma"/>
              </a:rPr>
              <a:t>v.VorlNr</a:t>
            </a:r>
            <a:r>
              <a:rPr lang="en-GB" sz="2400" spc="-5" dirty="0">
                <a:latin typeface="Tahoma"/>
                <a:cs typeface="Tahoma"/>
              </a:rPr>
              <a:t> = </a:t>
            </a:r>
            <a:r>
              <a:rPr lang="en-GB" sz="2400" spc="-5" dirty="0" err="1">
                <a:latin typeface="Tahoma"/>
                <a:cs typeface="Tahoma"/>
              </a:rPr>
              <a:t>h.VorlNr</a:t>
            </a:r>
            <a:r>
              <a:rPr lang="en-GB" sz="2400" spc="-5" dirty="0">
                <a:latin typeface="Tahoma"/>
                <a:cs typeface="Tahoma"/>
              </a:rPr>
              <a:t> and </a:t>
            </a:r>
            <a:r>
              <a:rPr lang="en-GB" sz="2400" spc="-5" dirty="0" err="1">
                <a:latin typeface="Tahoma"/>
                <a:cs typeface="Tahoma"/>
              </a:rPr>
              <a:t>h.MatrNr</a:t>
            </a:r>
            <a:r>
              <a:rPr lang="en-GB" sz="2400" spc="-5" dirty="0">
                <a:latin typeface="Tahoma"/>
                <a:cs typeface="Tahoma"/>
              </a:rPr>
              <a:t> = s. </a:t>
            </a:r>
            <a:r>
              <a:rPr lang="en-GB" sz="2400" spc="-5" dirty="0" err="1">
                <a:latin typeface="Tahoma"/>
                <a:cs typeface="Tahoma"/>
              </a:rPr>
              <a:t>MatrNr</a:t>
            </a:r>
            <a:r>
              <a:rPr lang="en-GB" sz="2400" spc="-5" dirty="0">
                <a:latin typeface="Tahoma"/>
                <a:cs typeface="Tahom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GB" sz="2400" b="1" spc="-5" dirty="0">
                <a:latin typeface="Tahoma"/>
                <a:cs typeface="Tahoma"/>
              </a:rPr>
              <a:t>group by </a:t>
            </a:r>
            <a:r>
              <a:rPr lang="en-GB" sz="2400" spc="-5" dirty="0" err="1">
                <a:latin typeface="Tahoma"/>
                <a:cs typeface="Tahoma"/>
              </a:rPr>
              <a:t>s.MatrNr</a:t>
            </a:r>
            <a:r>
              <a:rPr lang="en-GB" sz="2400" spc="-5" dirty="0">
                <a:latin typeface="Tahoma"/>
                <a:cs typeface="Tahoma"/>
              </a:rPr>
              <a:t>, </a:t>
            </a:r>
            <a:r>
              <a:rPr lang="en-GB" sz="2400" spc="-5" dirty="0" err="1">
                <a:latin typeface="Tahoma"/>
                <a:cs typeface="Tahoma"/>
              </a:rPr>
              <a:t>s.name</a:t>
            </a:r>
            <a:r>
              <a:rPr lang="en-GB" sz="2400" b="1" spc="-5" dirty="0">
                <a:latin typeface="Tahoma"/>
                <a:cs typeface="Tahoma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GB" sz="2400" b="1" spc="-5" dirty="0">
                <a:latin typeface="Tahoma"/>
                <a:cs typeface="Tahoma"/>
              </a:rPr>
              <a:t>having  </a:t>
            </a:r>
            <a:r>
              <a:rPr lang="en-GB" sz="2400" spc="-5" dirty="0">
                <a:latin typeface="Tahoma"/>
                <a:cs typeface="Tahoma"/>
              </a:rPr>
              <a:t>count(*) = (</a:t>
            </a:r>
            <a:r>
              <a:rPr lang="en-GB" sz="2400" b="1" spc="-5" dirty="0">
                <a:latin typeface="Tahoma"/>
                <a:cs typeface="Tahoma"/>
              </a:rPr>
              <a:t>select </a:t>
            </a:r>
            <a:r>
              <a:rPr lang="en-GB" sz="2400" spc="-5" dirty="0">
                <a:latin typeface="Tahoma"/>
                <a:cs typeface="Tahoma"/>
              </a:rPr>
              <a:t>count(*)</a:t>
            </a:r>
            <a:r>
              <a:rPr lang="en-GB" sz="2400" b="1" spc="-5" dirty="0">
                <a:latin typeface="Tahoma"/>
                <a:cs typeface="Tahoma"/>
              </a:rPr>
              <a:t> from </a:t>
            </a:r>
            <a:r>
              <a:rPr lang="en-GB" sz="2400" spc="-5" dirty="0" err="1">
                <a:latin typeface="Tahoma"/>
                <a:cs typeface="Tahoma"/>
              </a:rPr>
              <a:t>Vorlesungen</a:t>
            </a:r>
            <a:endParaRPr lang="en-GB" sz="2400" spc="-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en-GB" sz="2400" b="1" spc="-5" dirty="0">
                <a:latin typeface="Tahoma"/>
                <a:cs typeface="Tahoma"/>
              </a:rPr>
              <a:t>						 where </a:t>
            </a:r>
            <a:r>
              <a:rPr lang="en-GB" sz="2400" spc="-5" dirty="0">
                <a:latin typeface="Tahoma"/>
                <a:cs typeface="Tahoma"/>
              </a:rPr>
              <a:t>SWS = 4)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771418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23365" y="1416685"/>
            <a:ext cx="8742680" cy="5713744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71475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spc="-5" dirty="0">
                <a:latin typeface="Tahoma"/>
                <a:cs typeface="Tahoma"/>
              </a:rPr>
              <a:t>U</a:t>
            </a:r>
            <a:r>
              <a:rPr sz="2400" spc="-5" dirty="0" err="1">
                <a:latin typeface="Tahoma"/>
                <a:cs typeface="Tahoma"/>
              </a:rPr>
              <a:t>nbekannter</a:t>
            </a:r>
            <a:r>
              <a:rPr sz="2400" spc="-3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Wert</a:t>
            </a:r>
          </a:p>
          <a:p>
            <a:pPr marL="371475" indent="-342900">
              <a:lnSpc>
                <a:spcPct val="100000"/>
              </a:lnSpc>
              <a:spcBef>
                <a:spcPts val="1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spc="-5" dirty="0">
                <a:latin typeface="Tahoma"/>
                <a:cs typeface="Tahoma"/>
              </a:rPr>
              <a:t>W</a:t>
            </a:r>
            <a:r>
              <a:rPr sz="2400" spc="-5" dirty="0" err="1">
                <a:latin typeface="Tahoma"/>
                <a:cs typeface="Tahoma"/>
              </a:rPr>
              <a:t>ird</a:t>
            </a:r>
            <a:r>
              <a:rPr sz="2400" spc="-5" dirty="0">
                <a:latin typeface="Tahoma"/>
                <a:cs typeface="Tahoma"/>
              </a:rPr>
              <a:t> vielleicht später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nachgereicht</a:t>
            </a:r>
            <a:endParaRPr sz="2400" dirty="0">
              <a:latin typeface="Tahoma"/>
              <a:cs typeface="Tahoma"/>
            </a:endParaRPr>
          </a:p>
          <a:p>
            <a:pPr marL="371475" marR="836930" indent="-342900">
              <a:lnSpc>
                <a:spcPts val="2620"/>
              </a:lnSpc>
              <a:spcBef>
                <a:spcPts val="62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dirty="0" err="1">
                <a:latin typeface="Tahoma"/>
                <a:cs typeface="Tahoma"/>
              </a:rPr>
              <a:t>Nullwerte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können auch im Zuge der</a:t>
            </a:r>
            <a:r>
              <a:rPr sz="2400" spc="-2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Anfrageauswertung  </a:t>
            </a:r>
            <a:r>
              <a:rPr sz="2400" dirty="0">
                <a:latin typeface="Tahoma"/>
                <a:cs typeface="Tahoma"/>
              </a:rPr>
              <a:t>entstehen </a:t>
            </a:r>
            <a:r>
              <a:rPr sz="2400" spc="-5" dirty="0">
                <a:latin typeface="Tahoma"/>
                <a:cs typeface="Tahoma"/>
              </a:rPr>
              <a:t>(Bsp. äußere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Joins)</a:t>
            </a:r>
            <a:endParaRPr sz="2400" dirty="0">
              <a:latin typeface="Tahoma"/>
              <a:cs typeface="Tahoma"/>
            </a:endParaRPr>
          </a:p>
          <a:p>
            <a:pPr marL="371475" marR="725805" indent="-342900">
              <a:lnSpc>
                <a:spcPts val="2520"/>
              </a:lnSpc>
              <a:spcBef>
                <a:spcPts val="64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de-DE" sz="2400" spc="-5" dirty="0">
                <a:latin typeface="Tahoma"/>
                <a:cs typeface="Tahoma"/>
              </a:rPr>
              <a:t>Ma</a:t>
            </a:r>
            <a:r>
              <a:rPr sz="2400" spc="-5" dirty="0" err="1">
                <a:latin typeface="Tahoma"/>
                <a:cs typeface="Tahoma"/>
              </a:rPr>
              <a:t>nchmal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sehr </a:t>
            </a:r>
            <a:r>
              <a:rPr sz="2400" spc="-5" dirty="0">
                <a:latin typeface="Tahoma"/>
                <a:cs typeface="Tahoma"/>
              </a:rPr>
              <a:t>überraschende Anfrageergebnisse,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wenn  </a:t>
            </a:r>
            <a:r>
              <a:rPr sz="2400" dirty="0">
                <a:latin typeface="Tahoma"/>
                <a:cs typeface="Tahoma"/>
              </a:rPr>
              <a:t>Nullwerte</a:t>
            </a:r>
            <a:r>
              <a:rPr sz="2400" spc="-5" dirty="0">
                <a:latin typeface="Tahoma"/>
                <a:cs typeface="Tahoma"/>
              </a:rPr>
              <a:t> vorkommen</a:t>
            </a:r>
            <a:endParaRPr sz="2400" dirty="0">
              <a:latin typeface="Tahoma"/>
              <a:cs typeface="Tahoma"/>
            </a:endParaRPr>
          </a:p>
          <a:p>
            <a:pPr marL="942975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latin typeface="Tahoma"/>
                <a:cs typeface="Tahoma"/>
              </a:rPr>
              <a:t>select count</a:t>
            </a:r>
            <a:r>
              <a:rPr sz="2400" b="1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(*)</a:t>
            </a:r>
          </a:p>
          <a:p>
            <a:pPr marL="942975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</a:t>
            </a:r>
            <a:endParaRPr sz="2400" dirty="0">
              <a:latin typeface="Tahoma"/>
              <a:cs typeface="Tahoma"/>
            </a:endParaRPr>
          </a:p>
          <a:p>
            <a:pPr marL="942975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Semester &lt; </a:t>
            </a:r>
            <a:r>
              <a:rPr sz="2400" dirty="0">
                <a:latin typeface="Tahoma"/>
                <a:cs typeface="Tahoma"/>
              </a:rPr>
              <a:t>13 </a:t>
            </a:r>
            <a:r>
              <a:rPr sz="2400" b="1" dirty="0">
                <a:latin typeface="Tahoma"/>
                <a:cs typeface="Tahoma"/>
              </a:rPr>
              <a:t>or </a:t>
            </a:r>
            <a:r>
              <a:rPr sz="2400" spc="-5" dirty="0">
                <a:latin typeface="Tahoma"/>
                <a:cs typeface="Tahoma"/>
              </a:rPr>
              <a:t>Semester &gt;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=13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20" dirty="0" err="1">
                <a:latin typeface="Tahoma"/>
                <a:cs typeface="Tahoma"/>
              </a:rPr>
              <a:t>Wenn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es </a:t>
            </a:r>
            <a:r>
              <a:rPr sz="2400" spc="-5" dirty="0">
                <a:latin typeface="Tahoma"/>
                <a:cs typeface="Tahoma"/>
              </a:rPr>
              <a:t>Studenten gibt, deren </a:t>
            </a:r>
            <a:r>
              <a:rPr sz="2450" i="1" spc="-25" dirty="0">
                <a:latin typeface="Tahoma"/>
                <a:cs typeface="Tahoma"/>
              </a:rPr>
              <a:t>Semester</a:t>
            </a:r>
            <a:r>
              <a:rPr sz="2400" spc="-25" dirty="0">
                <a:latin typeface="Tahoma"/>
                <a:cs typeface="Tahoma"/>
              </a:rPr>
              <a:t>-Attribut </a:t>
            </a:r>
            <a:r>
              <a:rPr sz="2400" spc="-5" dirty="0">
                <a:latin typeface="Tahoma"/>
                <a:cs typeface="Tahoma"/>
              </a:rPr>
              <a:t>den</a:t>
            </a:r>
            <a:r>
              <a:rPr sz="2400" spc="6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Wert</a:t>
            </a:r>
            <a:endParaRPr sz="2400" dirty="0">
              <a:latin typeface="Tahoma"/>
              <a:cs typeface="Tahoma"/>
            </a:endParaRPr>
          </a:p>
          <a:p>
            <a:pPr marL="107950">
              <a:lnSpc>
                <a:spcPct val="100000"/>
              </a:lnSpc>
              <a:spcBef>
                <a:spcPts val="489"/>
              </a:spcBef>
              <a:buClr>
                <a:schemeClr val="accent1"/>
              </a:buClr>
              <a:buSzPct val="170000"/>
            </a:pPr>
            <a:r>
              <a:rPr lang="de-DE" sz="2400" b="1" spc="-5" dirty="0">
                <a:latin typeface="Tahoma"/>
                <a:cs typeface="Tahoma"/>
              </a:rPr>
              <a:t>   </a:t>
            </a:r>
            <a:r>
              <a:rPr sz="2400" b="1" spc="-5" dirty="0">
                <a:latin typeface="Tahoma"/>
                <a:cs typeface="Tahoma"/>
              </a:rPr>
              <a:t>null </a:t>
            </a:r>
            <a:r>
              <a:rPr sz="2400" spc="-5" dirty="0">
                <a:latin typeface="Tahoma"/>
                <a:cs typeface="Tahoma"/>
              </a:rPr>
              <a:t>hat, werden diese nicht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mitgezählt</a:t>
            </a:r>
            <a:endParaRPr sz="2400" dirty="0">
              <a:latin typeface="Tahoma"/>
              <a:cs typeface="Tahoma"/>
            </a:endParaRPr>
          </a:p>
          <a:p>
            <a:pPr marL="355600" marR="5080" indent="-342900">
              <a:lnSpc>
                <a:spcPct val="118100"/>
              </a:lnSpc>
              <a:spcBef>
                <a:spcPts val="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Der Grund liegt in folgenden </a:t>
            </a:r>
            <a:r>
              <a:rPr sz="2400" spc="-10" dirty="0">
                <a:latin typeface="Tahoma"/>
                <a:cs typeface="Tahoma"/>
              </a:rPr>
              <a:t>Regeln </a:t>
            </a:r>
            <a:r>
              <a:rPr sz="2400" dirty="0">
                <a:latin typeface="Tahoma"/>
                <a:cs typeface="Tahoma"/>
              </a:rPr>
              <a:t>für </a:t>
            </a:r>
            <a:r>
              <a:rPr sz="2400" spc="-5" dirty="0">
                <a:latin typeface="Tahoma"/>
                <a:cs typeface="Tahoma"/>
              </a:rPr>
              <a:t>den Umgang mit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sz="2400" spc="-5" dirty="0">
                <a:latin typeface="Tahoma"/>
                <a:cs typeface="Tahoma"/>
              </a:rPr>
              <a:t>-  </a:t>
            </a:r>
            <a:r>
              <a:rPr sz="2400" spc="-15" dirty="0">
                <a:latin typeface="Tahoma"/>
                <a:cs typeface="Tahoma"/>
              </a:rPr>
              <a:t>Werten</a:t>
            </a:r>
            <a:r>
              <a:rPr sz="2400" spc="-5" dirty="0">
                <a:latin typeface="Tahoma"/>
                <a:cs typeface="Tahoma"/>
              </a:rPr>
              <a:t> begründet: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4ACF7920-AE11-4F13-56F3-9F372D1FD3D9}"/>
              </a:ext>
            </a:extLst>
          </p:cNvPr>
          <p:cNvSpPr txBox="1">
            <a:spLocks/>
          </p:cNvSpPr>
          <p:nvPr/>
        </p:nvSpPr>
        <p:spPr>
          <a:xfrm>
            <a:off x="926465" y="654050"/>
            <a:ext cx="6249035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Nullwerte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1723390"/>
            <a:ext cx="8738870" cy="4744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ts val="2690"/>
              </a:lnSpc>
              <a:spcBef>
                <a:spcPts val="100"/>
              </a:spcBef>
              <a:buClr>
                <a:schemeClr val="accent1"/>
              </a:buClr>
              <a:buFont typeface="+mj-lt"/>
              <a:buAutoNum type="arabicPeriod"/>
            </a:pPr>
            <a:r>
              <a:rPr sz="2400" spc="-5" dirty="0">
                <a:latin typeface="Tahoma"/>
                <a:cs typeface="Tahoma"/>
              </a:rPr>
              <a:t>In arithmetischen Ausdrücken werden </a:t>
            </a:r>
            <a:r>
              <a:rPr sz="2400" dirty="0">
                <a:latin typeface="Tahoma"/>
                <a:cs typeface="Tahoma"/>
              </a:rPr>
              <a:t>Nullwerte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propagiert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lang="de-DE" sz="2400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d.h.</a:t>
            </a:r>
            <a:r>
              <a:rPr sz="2400" spc="-5" dirty="0">
                <a:latin typeface="Tahoma"/>
                <a:cs typeface="Tahoma"/>
              </a:rPr>
              <a:t> sobald ein Operand </a:t>
            </a:r>
            <a:r>
              <a:rPr sz="2400" b="1" spc="-5" dirty="0">
                <a:latin typeface="Tahoma"/>
                <a:cs typeface="Tahoma"/>
              </a:rPr>
              <a:t>null </a:t>
            </a:r>
            <a:r>
              <a:rPr sz="2400" dirty="0">
                <a:latin typeface="Tahoma"/>
                <a:cs typeface="Tahoma"/>
              </a:rPr>
              <a:t>ist, </a:t>
            </a:r>
            <a:r>
              <a:rPr sz="2400" spc="-5" dirty="0">
                <a:latin typeface="Tahoma"/>
                <a:cs typeface="Tahoma"/>
              </a:rPr>
              <a:t>wird auch das </a:t>
            </a:r>
            <a:r>
              <a:rPr sz="2400" spc="-5" dirty="0" err="1">
                <a:latin typeface="Tahoma"/>
                <a:cs typeface="Tahoma"/>
              </a:rPr>
              <a:t>Ergebnis</a:t>
            </a:r>
            <a:r>
              <a:rPr lang="de-DE" sz="2400" spc="-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sz="2400" spc="-5" dirty="0">
                <a:latin typeface="Tahoma"/>
                <a:cs typeface="Tahoma"/>
              </a:rPr>
              <a:t>.  Dementsprechend wird z.B. </a:t>
            </a:r>
            <a:r>
              <a:rPr sz="2400" b="1" spc="-5" dirty="0">
                <a:latin typeface="Tahoma"/>
                <a:cs typeface="Tahoma"/>
              </a:rPr>
              <a:t>null </a:t>
            </a:r>
            <a:r>
              <a:rPr sz="2400" spc="-5" dirty="0">
                <a:latin typeface="Tahoma"/>
                <a:cs typeface="Tahoma"/>
              </a:rPr>
              <a:t>+ </a:t>
            </a:r>
            <a:r>
              <a:rPr sz="2400" dirty="0">
                <a:latin typeface="Tahoma"/>
                <a:cs typeface="Tahoma"/>
              </a:rPr>
              <a:t>1 </a:t>
            </a:r>
            <a:r>
              <a:rPr sz="2400" dirty="0" err="1">
                <a:latin typeface="Tahoma"/>
                <a:cs typeface="Tahoma"/>
              </a:rPr>
              <a:t>zu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lang="de-DE" sz="2400" b="1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ausgewertet</a:t>
            </a:r>
            <a:r>
              <a:rPr sz="2400" spc="-5" dirty="0">
                <a:latin typeface="Tahoma"/>
                <a:cs typeface="Tahoma"/>
              </a:rPr>
              <a:t>-  </a:t>
            </a:r>
            <a:r>
              <a:rPr sz="2400" dirty="0">
                <a:latin typeface="Tahoma"/>
                <a:cs typeface="Tahoma"/>
              </a:rPr>
              <a:t>aber </a:t>
            </a:r>
            <a:r>
              <a:rPr sz="2400" spc="-5" dirty="0">
                <a:latin typeface="Tahoma"/>
                <a:cs typeface="Tahoma"/>
              </a:rPr>
              <a:t>auch null </a:t>
            </a:r>
            <a:r>
              <a:rPr sz="2400" dirty="0">
                <a:latin typeface="Tahoma"/>
                <a:cs typeface="Tahoma"/>
              </a:rPr>
              <a:t>* 0 </a:t>
            </a:r>
            <a:r>
              <a:rPr sz="2400" spc="-5" dirty="0">
                <a:latin typeface="Tahoma"/>
                <a:cs typeface="Tahoma"/>
              </a:rPr>
              <a:t>wird zu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dirty="0" err="1">
                <a:latin typeface="Tahoma"/>
                <a:cs typeface="Tahoma"/>
              </a:rPr>
              <a:t>ausgewertet</a:t>
            </a:r>
            <a:r>
              <a:rPr sz="2400" dirty="0">
                <a:latin typeface="Tahoma"/>
                <a:cs typeface="Tahoma"/>
              </a:rPr>
              <a:t>.</a:t>
            </a:r>
            <a:endParaRPr lang="de-DE" sz="2400" dirty="0">
              <a:latin typeface="Tahoma"/>
              <a:cs typeface="Tahoma"/>
            </a:endParaRPr>
          </a:p>
          <a:p>
            <a:pPr marL="469900" indent="-457200">
              <a:lnSpc>
                <a:spcPts val="2690"/>
              </a:lnSpc>
              <a:spcBef>
                <a:spcPts val="100"/>
              </a:spcBef>
              <a:buClr>
                <a:schemeClr val="accent1"/>
              </a:buClr>
              <a:buFont typeface="+mj-lt"/>
              <a:buAutoNum type="arabicPeriod"/>
            </a:pPr>
            <a:endParaRPr lang="de-DE" sz="2400" spc="-5" dirty="0">
              <a:latin typeface="Tahoma"/>
              <a:cs typeface="Tahoma"/>
            </a:endParaRPr>
          </a:p>
          <a:p>
            <a:pPr marL="469900" indent="-457200">
              <a:lnSpc>
                <a:spcPts val="2690"/>
              </a:lnSpc>
              <a:spcBef>
                <a:spcPts val="100"/>
              </a:spcBef>
              <a:buClr>
                <a:schemeClr val="accent1"/>
              </a:buClr>
              <a:buFont typeface="+mj-lt"/>
              <a:buAutoNum type="arabicPeriod"/>
            </a:pPr>
            <a:r>
              <a:rPr sz="2400" spc="-5" dirty="0">
                <a:latin typeface="Tahoma"/>
                <a:cs typeface="Tahoma"/>
              </a:rPr>
              <a:t>SQL </a:t>
            </a:r>
            <a:r>
              <a:rPr sz="2400" dirty="0">
                <a:latin typeface="Tahoma"/>
                <a:cs typeface="Tahoma"/>
              </a:rPr>
              <a:t>hat eine </a:t>
            </a:r>
            <a:r>
              <a:rPr sz="2400" spc="-5" dirty="0">
                <a:latin typeface="Tahoma"/>
                <a:cs typeface="Tahoma"/>
              </a:rPr>
              <a:t>dreiwertige Logik, die nicht nur </a:t>
            </a:r>
            <a:r>
              <a:rPr sz="2400" b="1" spc="-5" dirty="0">
                <a:latin typeface="Tahoma"/>
                <a:cs typeface="Tahoma"/>
              </a:rPr>
              <a:t>true </a:t>
            </a:r>
            <a:r>
              <a:rPr sz="2400" spc="-5" dirty="0">
                <a:latin typeface="Tahoma"/>
                <a:cs typeface="Tahoma"/>
              </a:rPr>
              <a:t>und </a:t>
            </a:r>
            <a:r>
              <a:rPr sz="2400" b="1" spc="-5" dirty="0">
                <a:latin typeface="Tahoma"/>
                <a:cs typeface="Tahoma"/>
              </a:rPr>
              <a:t>false  </a:t>
            </a:r>
            <a:r>
              <a:rPr sz="2400" spc="-5" dirty="0">
                <a:latin typeface="Tahoma"/>
                <a:cs typeface="Tahoma"/>
              </a:rPr>
              <a:t>kennt, sondern auch einen dritten </a:t>
            </a:r>
            <a:r>
              <a:rPr sz="2400" dirty="0">
                <a:latin typeface="Tahoma"/>
                <a:cs typeface="Tahoma"/>
              </a:rPr>
              <a:t>Wert </a:t>
            </a:r>
            <a:r>
              <a:rPr sz="2400" b="1" spc="-5" dirty="0">
                <a:latin typeface="Tahoma"/>
                <a:cs typeface="Tahoma"/>
              </a:rPr>
              <a:t>unknown</a:t>
            </a:r>
            <a:r>
              <a:rPr sz="2400" spc="-5" dirty="0">
                <a:latin typeface="Tahoma"/>
                <a:cs typeface="Tahoma"/>
              </a:rPr>
              <a:t>. </a:t>
            </a:r>
            <a:r>
              <a:rPr sz="2400" dirty="0">
                <a:latin typeface="Tahoma"/>
                <a:cs typeface="Tahoma"/>
              </a:rPr>
              <a:t>Diesen  Wert liefern </a:t>
            </a:r>
            <a:r>
              <a:rPr sz="2400" spc="-5" dirty="0">
                <a:latin typeface="Tahoma"/>
                <a:cs typeface="Tahoma"/>
              </a:rPr>
              <a:t>Vergleichsoperationen zurück, wenn mindestens  eines ihrer Argumente </a:t>
            </a:r>
            <a:r>
              <a:rPr sz="2400" b="1" spc="-5" dirty="0">
                <a:latin typeface="Tahoma"/>
                <a:cs typeface="Tahoma"/>
              </a:rPr>
              <a:t>null </a:t>
            </a:r>
            <a:r>
              <a:rPr sz="2400" dirty="0">
                <a:latin typeface="Tahoma"/>
                <a:cs typeface="Tahoma"/>
              </a:rPr>
              <a:t>ist. </a:t>
            </a:r>
            <a:r>
              <a:rPr sz="2400" spc="-5" dirty="0">
                <a:latin typeface="Tahoma"/>
                <a:cs typeface="Tahoma"/>
              </a:rPr>
              <a:t>Beispielsweise </a:t>
            </a:r>
            <a:r>
              <a:rPr sz="2400" dirty="0">
                <a:latin typeface="Tahoma"/>
                <a:cs typeface="Tahoma"/>
              </a:rPr>
              <a:t>wertet </a:t>
            </a:r>
            <a:r>
              <a:rPr sz="2400" spc="-5" dirty="0">
                <a:latin typeface="Tahoma"/>
                <a:cs typeface="Tahoma"/>
              </a:rPr>
              <a:t>SQL das  Prädikat </a:t>
            </a:r>
            <a:r>
              <a:rPr sz="2450" i="1" spc="-25" dirty="0">
                <a:latin typeface="Tahoma"/>
                <a:cs typeface="Tahoma"/>
              </a:rPr>
              <a:t>(PersNr=...) </a:t>
            </a:r>
            <a:r>
              <a:rPr sz="2400" dirty="0">
                <a:latin typeface="Tahoma"/>
                <a:cs typeface="Tahoma"/>
              </a:rPr>
              <a:t>immer zu </a:t>
            </a:r>
            <a:r>
              <a:rPr sz="2400" b="1" spc="-5" dirty="0">
                <a:latin typeface="Tahoma"/>
                <a:cs typeface="Tahoma"/>
              </a:rPr>
              <a:t>unknown </a:t>
            </a:r>
            <a:r>
              <a:rPr sz="2400" spc="-5" dirty="0">
                <a:latin typeface="Tahoma"/>
                <a:cs typeface="Tahoma"/>
              </a:rPr>
              <a:t>aus, wenn die  </a:t>
            </a:r>
            <a:r>
              <a:rPr sz="2450" i="1" spc="-25" dirty="0">
                <a:latin typeface="Tahoma"/>
                <a:cs typeface="Tahoma"/>
              </a:rPr>
              <a:t>PersNr </a:t>
            </a:r>
            <a:r>
              <a:rPr sz="2400" spc="-5" dirty="0">
                <a:latin typeface="Tahoma"/>
                <a:cs typeface="Tahoma"/>
              </a:rPr>
              <a:t>des betreffenden Tupels den </a:t>
            </a:r>
            <a:r>
              <a:rPr sz="2400" dirty="0">
                <a:latin typeface="Tahoma"/>
                <a:cs typeface="Tahoma"/>
              </a:rPr>
              <a:t>Wert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sz="2400" b="1" spc="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hat.</a:t>
            </a:r>
            <a:endParaRPr sz="2400" dirty="0">
              <a:latin typeface="Tahoma"/>
              <a:cs typeface="Tahoma"/>
            </a:endParaRPr>
          </a:p>
          <a:p>
            <a:pPr marL="469900" marR="650240" indent="-457200">
              <a:lnSpc>
                <a:spcPts val="2570"/>
              </a:lnSpc>
              <a:spcBef>
                <a:spcPts val="1785"/>
              </a:spcBef>
              <a:buClr>
                <a:schemeClr val="accent1"/>
              </a:buClr>
              <a:buFont typeface="+mj-lt"/>
              <a:buAutoNum type="arabicPeriod"/>
              <a:tabLst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Logische Ausdrücke werden nach den folgenden Tabellen  berechnet: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AB61A53-A6E6-1687-43B7-DF79503B3BE8}"/>
              </a:ext>
            </a:extLst>
          </p:cNvPr>
          <p:cNvSpPr txBox="1">
            <a:spLocks/>
          </p:cNvSpPr>
          <p:nvPr/>
        </p:nvSpPr>
        <p:spPr>
          <a:xfrm>
            <a:off x="926465" y="748904"/>
            <a:ext cx="6249035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Auswertung bei Vorkommen von Nullwerten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>
            <a:extLst>
              <a:ext uri="{FF2B5EF4-FFF2-40B4-BE49-F238E27FC236}">
                <a16:creationId xmlns:a16="http://schemas.microsoft.com/office/drawing/2014/main" id="{0AB61A53-A6E6-1687-43B7-DF79503B3BE8}"/>
              </a:ext>
            </a:extLst>
          </p:cNvPr>
          <p:cNvSpPr txBox="1">
            <a:spLocks/>
          </p:cNvSpPr>
          <p:nvPr/>
        </p:nvSpPr>
        <p:spPr>
          <a:xfrm>
            <a:off x="926465" y="748904"/>
            <a:ext cx="6249035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Auswertung bei Vorkommen von Nullwerten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46CA7B1-1A6F-37A8-26BC-B025131C34FB}"/>
              </a:ext>
            </a:extLst>
          </p:cNvPr>
          <p:cNvSpPr txBox="1"/>
          <p:nvPr/>
        </p:nvSpPr>
        <p:spPr>
          <a:xfrm>
            <a:off x="1317625" y="1850390"/>
            <a:ext cx="8601075" cy="4426853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69900" marR="79375">
              <a:lnSpc>
                <a:spcPct val="89600"/>
              </a:lnSpc>
              <a:spcBef>
                <a:spcPts val="400"/>
              </a:spcBef>
            </a:pPr>
            <a:r>
              <a:rPr sz="2400" spc="-5" dirty="0">
                <a:latin typeface="Tahoma"/>
                <a:cs typeface="Tahoma"/>
              </a:rPr>
              <a:t>Diese Berechnungsvorschriften sind recht </a:t>
            </a:r>
            <a:r>
              <a:rPr sz="2400" spc="-25" dirty="0">
                <a:latin typeface="Tahoma"/>
                <a:cs typeface="Tahoma"/>
              </a:rPr>
              <a:t>intuitiv. </a:t>
            </a:r>
            <a:r>
              <a:rPr sz="2400" spc="-5" dirty="0">
                <a:latin typeface="Tahoma"/>
                <a:cs typeface="Tahoma"/>
              </a:rPr>
              <a:t>Unknown  </a:t>
            </a:r>
            <a:r>
              <a:rPr sz="2400" dirty="0">
                <a:latin typeface="Tahoma"/>
                <a:cs typeface="Tahoma"/>
              </a:rPr>
              <a:t>or true </a:t>
            </a:r>
            <a:r>
              <a:rPr sz="2400" spc="-5" dirty="0">
                <a:latin typeface="Tahoma"/>
                <a:cs typeface="Tahoma"/>
              </a:rPr>
              <a:t>wird </a:t>
            </a:r>
            <a:r>
              <a:rPr sz="2400" spc="-10" dirty="0">
                <a:latin typeface="Tahoma"/>
                <a:cs typeface="Tahoma"/>
              </a:rPr>
              <a:t>z.B. </a:t>
            </a:r>
            <a:r>
              <a:rPr sz="2400" spc="-5" dirty="0">
                <a:latin typeface="Tahoma"/>
                <a:cs typeface="Tahoma"/>
              </a:rPr>
              <a:t>zu </a:t>
            </a:r>
            <a:r>
              <a:rPr sz="2400" b="1" spc="-5" dirty="0">
                <a:latin typeface="Tahoma"/>
                <a:cs typeface="Tahoma"/>
              </a:rPr>
              <a:t>true </a:t>
            </a:r>
            <a:r>
              <a:rPr sz="2400" dirty="0">
                <a:latin typeface="Tahoma"/>
                <a:cs typeface="Tahoma"/>
              </a:rPr>
              <a:t>- </a:t>
            </a:r>
            <a:r>
              <a:rPr sz="2400" spc="-5" dirty="0">
                <a:latin typeface="Tahoma"/>
                <a:cs typeface="Tahoma"/>
              </a:rPr>
              <a:t>die Disjunktion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mit dem </a:t>
            </a:r>
            <a:r>
              <a:rPr sz="2400" b="1" spc="-5" dirty="0">
                <a:latin typeface="Tahoma"/>
                <a:cs typeface="Tahoma"/>
              </a:rPr>
              <a:t>true</a:t>
            </a:r>
            <a:r>
              <a:rPr sz="2400" spc="-5" dirty="0">
                <a:latin typeface="Tahoma"/>
                <a:cs typeface="Tahoma"/>
              </a:rPr>
              <a:t>-  </a:t>
            </a:r>
            <a:r>
              <a:rPr sz="2400" spc="-25" dirty="0">
                <a:latin typeface="Tahoma"/>
                <a:cs typeface="Tahoma"/>
              </a:rPr>
              <a:t>Wert </a:t>
            </a:r>
            <a:r>
              <a:rPr sz="2400" spc="-5" dirty="0">
                <a:latin typeface="Tahoma"/>
                <a:cs typeface="Tahoma"/>
              </a:rPr>
              <a:t>des rechten Arguments immer </a:t>
            </a:r>
            <a:r>
              <a:rPr sz="2400" dirty="0">
                <a:latin typeface="Tahoma"/>
                <a:cs typeface="Tahoma"/>
              </a:rPr>
              <a:t>erfüllt, </a:t>
            </a:r>
            <a:r>
              <a:rPr sz="2400" spc="-5" dirty="0">
                <a:latin typeface="Tahoma"/>
                <a:cs typeface="Tahoma"/>
              </a:rPr>
              <a:t>unabhängig </a:t>
            </a:r>
            <a:r>
              <a:rPr sz="2400" spc="-10" dirty="0">
                <a:latin typeface="Tahoma"/>
                <a:cs typeface="Tahoma"/>
              </a:rPr>
              <a:t>von  </a:t>
            </a:r>
            <a:r>
              <a:rPr sz="2400" spc="-5" dirty="0">
                <a:latin typeface="Tahoma"/>
                <a:cs typeface="Tahoma"/>
              </a:rPr>
              <a:t>der </a:t>
            </a:r>
            <a:r>
              <a:rPr sz="2400" dirty="0">
                <a:latin typeface="Tahoma"/>
                <a:cs typeface="Tahoma"/>
              </a:rPr>
              <a:t>Belegung </a:t>
            </a:r>
            <a:r>
              <a:rPr sz="2400" spc="-5" dirty="0">
                <a:latin typeface="Tahoma"/>
                <a:cs typeface="Tahoma"/>
              </a:rPr>
              <a:t>des linken Arguments. Analog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b="1" spc="-5" dirty="0">
                <a:latin typeface="Tahoma"/>
                <a:cs typeface="Tahoma"/>
              </a:rPr>
              <a:t>unknown  and false </a:t>
            </a:r>
            <a:r>
              <a:rPr sz="2400" spc="-5" dirty="0">
                <a:latin typeface="Tahoma"/>
                <a:cs typeface="Tahoma"/>
              </a:rPr>
              <a:t>automatisch </a:t>
            </a:r>
            <a:r>
              <a:rPr sz="2400" b="1" spc="-5" dirty="0">
                <a:latin typeface="Tahoma"/>
                <a:cs typeface="Tahoma"/>
              </a:rPr>
              <a:t>false </a:t>
            </a:r>
            <a:r>
              <a:rPr sz="2400" dirty="0">
                <a:latin typeface="Tahoma"/>
                <a:cs typeface="Tahoma"/>
              </a:rPr>
              <a:t>- </a:t>
            </a:r>
            <a:r>
              <a:rPr sz="2400" spc="-5" dirty="0">
                <a:latin typeface="Tahoma"/>
                <a:cs typeface="Tahoma"/>
              </a:rPr>
              <a:t>keine </a:t>
            </a:r>
            <a:r>
              <a:rPr sz="2400" dirty="0">
                <a:latin typeface="Tahoma"/>
                <a:cs typeface="Tahoma"/>
              </a:rPr>
              <a:t>Belegung </a:t>
            </a:r>
            <a:r>
              <a:rPr sz="2400" spc="-5" dirty="0">
                <a:latin typeface="Tahoma"/>
                <a:cs typeface="Tahoma"/>
              </a:rPr>
              <a:t>des linken  Arguments könnte die </a:t>
            </a:r>
            <a:r>
              <a:rPr sz="2400" spc="-10" dirty="0">
                <a:latin typeface="Tahoma"/>
                <a:cs typeface="Tahoma"/>
              </a:rPr>
              <a:t>Konjunktion </a:t>
            </a:r>
            <a:r>
              <a:rPr sz="2400" spc="-5" dirty="0">
                <a:latin typeface="Tahoma"/>
                <a:cs typeface="Tahoma"/>
              </a:rPr>
              <a:t>mehr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erfüllen.</a:t>
            </a:r>
          </a:p>
          <a:p>
            <a:pPr marL="469900" marR="5080" indent="-457200">
              <a:lnSpc>
                <a:spcPct val="89800"/>
              </a:lnSpc>
              <a:spcBef>
                <a:spcPts val="1450"/>
              </a:spcBef>
              <a:buClr>
                <a:schemeClr val="accent1"/>
              </a:buClr>
              <a:buAutoNum type="arabicPeriod" startAt="4"/>
              <a:tabLst>
                <a:tab pos="458470" algn="l"/>
                <a:tab pos="459105" algn="l"/>
              </a:tabLst>
            </a:pPr>
            <a:r>
              <a:rPr sz="2400" spc="-10" dirty="0">
                <a:latin typeface="Tahoma"/>
                <a:cs typeface="Tahoma"/>
              </a:rPr>
              <a:t>In </a:t>
            </a:r>
            <a:r>
              <a:rPr sz="2400" spc="-5" dirty="0">
                <a:latin typeface="Tahoma"/>
                <a:cs typeface="Tahoma"/>
              </a:rPr>
              <a:t>einer </a:t>
            </a:r>
            <a:r>
              <a:rPr sz="2400" b="1" spc="-5" dirty="0">
                <a:latin typeface="Tahoma"/>
                <a:cs typeface="Tahoma"/>
              </a:rPr>
              <a:t>where</a:t>
            </a:r>
            <a:r>
              <a:rPr sz="2400" spc="-5" dirty="0">
                <a:latin typeface="Tahoma"/>
                <a:cs typeface="Tahoma"/>
              </a:rPr>
              <a:t>-Bedingung werden nur </a:t>
            </a:r>
            <a:r>
              <a:rPr sz="2400" spc="-50" dirty="0">
                <a:latin typeface="Tahoma"/>
                <a:cs typeface="Tahoma"/>
              </a:rPr>
              <a:t>Tupel  </a:t>
            </a:r>
            <a:r>
              <a:rPr sz="2400" spc="-5" dirty="0">
                <a:latin typeface="Tahoma"/>
                <a:cs typeface="Tahoma"/>
              </a:rPr>
              <a:t>weitergereicht, für die die Bedingung </a:t>
            </a:r>
            <a:r>
              <a:rPr sz="2400" b="1" spc="-5" dirty="0">
                <a:latin typeface="Tahoma"/>
                <a:cs typeface="Tahoma"/>
              </a:rPr>
              <a:t>true </a:t>
            </a:r>
            <a:r>
              <a:rPr sz="2400" dirty="0">
                <a:latin typeface="Tahoma"/>
                <a:cs typeface="Tahoma"/>
              </a:rPr>
              <a:t>ist. </a:t>
            </a:r>
            <a:r>
              <a:rPr sz="2400" spc="-5" dirty="0">
                <a:latin typeface="Tahoma"/>
                <a:cs typeface="Tahoma"/>
              </a:rPr>
              <a:t>Insbesondere  werden </a:t>
            </a:r>
            <a:r>
              <a:rPr sz="2400" spc="-45" dirty="0">
                <a:latin typeface="Tahoma"/>
                <a:cs typeface="Tahoma"/>
              </a:rPr>
              <a:t>Tupel, </a:t>
            </a:r>
            <a:r>
              <a:rPr sz="2400" spc="-5" dirty="0">
                <a:latin typeface="Tahoma"/>
                <a:cs typeface="Tahoma"/>
              </a:rPr>
              <a:t>für die die Bedingung zu </a:t>
            </a:r>
            <a:r>
              <a:rPr sz="2400" b="1" spc="-5" dirty="0">
                <a:latin typeface="Tahoma"/>
                <a:cs typeface="Tahoma"/>
              </a:rPr>
              <a:t>unknown  </a:t>
            </a:r>
            <a:r>
              <a:rPr sz="2400" dirty="0">
                <a:latin typeface="Tahoma"/>
                <a:cs typeface="Tahoma"/>
              </a:rPr>
              <a:t>auswertet, </a:t>
            </a:r>
            <a:r>
              <a:rPr sz="2400" spc="-5" dirty="0">
                <a:latin typeface="Tahoma"/>
                <a:cs typeface="Tahoma"/>
              </a:rPr>
              <a:t>nicht ins Ergebnis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aufgenommen.</a:t>
            </a:r>
            <a:endParaRPr sz="2400" dirty="0">
              <a:latin typeface="Tahoma"/>
              <a:cs typeface="Tahoma"/>
            </a:endParaRPr>
          </a:p>
          <a:p>
            <a:pPr marL="469900" marR="97155" indent="-457200">
              <a:lnSpc>
                <a:spcPts val="2560"/>
              </a:lnSpc>
              <a:spcBef>
                <a:spcPts val="1515"/>
              </a:spcBef>
              <a:buClr>
                <a:schemeClr val="accent1"/>
              </a:buClr>
              <a:buAutoNum type="arabicPeriod" startAt="4"/>
              <a:tabLst>
                <a:tab pos="461645" algn="l"/>
                <a:tab pos="462280" algn="l"/>
              </a:tabLst>
            </a:pPr>
            <a:r>
              <a:rPr sz="2400" dirty="0">
                <a:latin typeface="Tahoma"/>
                <a:cs typeface="Tahoma"/>
              </a:rPr>
              <a:t>Bei einer </a:t>
            </a:r>
            <a:r>
              <a:rPr sz="2400" spc="-5" dirty="0">
                <a:latin typeface="Tahoma"/>
                <a:cs typeface="Tahoma"/>
              </a:rPr>
              <a:t>Gruppierung </a:t>
            </a:r>
            <a:r>
              <a:rPr sz="2400" spc="-10" dirty="0">
                <a:latin typeface="Tahoma"/>
                <a:cs typeface="Tahoma"/>
              </a:rPr>
              <a:t>wird </a:t>
            </a:r>
            <a:r>
              <a:rPr sz="2400" b="1" spc="-5" dirty="0">
                <a:latin typeface="Tahoma"/>
                <a:cs typeface="Tahoma"/>
              </a:rPr>
              <a:t>null </a:t>
            </a:r>
            <a:r>
              <a:rPr sz="2400" spc="-5" dirty="0">
                <a:latin typeface="Tahoma"/>
                <a:cs typeface="Tahoma"/>
              </a:rPr>
              <a:t>als ein eigenständiger </a:t>
            </a:r>
            <a:r>
              <a:rPr sz="2400" spc="-25" dirty="0">
                <a:latin typeface="Tahoma"/>
                <a:cs typeface="Tahoma"/>
              </a:rPr>
              <a:t>Wert  </a:t>
            </a:r>
            <a:r>
              <a:rPr sz="2400" spc="-10" dirty="0">
                <a:latin typeface="Tahoma"/>
                <a:cs typeface="Tahoma"/>
              </a:rPr>
              <a:t>aufgefaßt </a:t>
            </a:r>
            <a:r>
              <a:rPr sz="2400" spc="-5" dirty="0">
                <a:latin typeface="Tahoma"/>
                <a:cs typeface="Tahoma"/>
              </a:rPr>
              <a:t>und in </a:t>
            </a:r>
            <a:r>
              <a:rPr sz="2400" dirty="0">
                <a:latin typeface="Tahoma"/>
                <a:cs typeface="Tahoma"/>
              </a:rPr>
              <a:t>eine </a:t>
            </a:r>
            <a:r>
              <a:rPr sz="2400" spc="-5" dirty="0">
                <a:latin typeface="Tahoma"/>
                <a:cs typeface="Tahoma"/>
              </a:rPr>
              <a:t>eigene Gruppe</a:t>
            </a:r>
            <a:r>
              <a:rPr sz="2400" spc="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eingeordnet.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06273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279629"/>
              </p:ext>
            </p:extLst>
          </p:nvPr>
        </p:nvGraphicFramePr>
        <p:xfrm>
          <a:off x="1612900" y="639648"/>
          <a:ext cx="2819400" cy="1789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spc="-5" dirty="0">
                          <a:latin typeface="Tahoma"/>
                          <a:cs typeface="Tahoma"/>
                        </a:rPr>
                        <a:t>not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612001"/>
              </p:ext>
            </p:extLst>
          </p:nvPr>
        </p:nvGraphicFramePr>
        <p:xfrm>
          <a:off x="1596999" y="2773248"/>
          <a:ext cx="5562600" cy="1681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spc="-5" dirty="0">
                          <a:latin typeface="Tahoma"/>
                          <a:cs typeface="Tahoma"/>
                        </a:rPr>
                        <a:t>and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22042"/>
              </p:ext>
            </p:extLst>
          </p:nvPr>
        </p:nvGraphicFramePr>
        <p:xfrm>
          <a:off x="1596999" y="4836998"/>
          <a:ext cx="5943600" cy="17132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b="1" dirty="0">
                          <a:latin typeface="Tahoma"/>
                          <a:cs typeface="Tahoma"/>
                        </a:rPr>
                        <a:t>or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true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unknown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false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15440" y="1263650"/>
            <a:ext cx="6251575" cy="6186308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Studenten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dirty="0">
                <a:latin typeface="Tahoma"/>
                <a:cs typeface="Tahoma"/>
              </a:rPr>
              <a:t>Semester </a:t>
            </a:r>
            <a:r>
              <a:rPr sz="2400" spc="-5" dirty="0">
                <a:latin typeface="Tahoma"/>
                <a:cs typeface="Tahoma"/>
              </a:rPr>
              <a:t>&gt; = </a:t>
            </a:r>
            <a:r>
              <a:rPr sz="2400" dirty="0">
                <a:latin typeface="Tahoma"/>
                <a:cs typeface="Tahoma"/>
              </a:rPr>
              <a:t>1 </a:t>
            </a:r>
            <a:r>
              <a:rPr sz="2400" b="1" spc="-5" dirty="0">
                <a:latin typeface="Tahoma"/>
                <a:cs typeface="Tahoma"/>
              </a:rPr>
              <a:t>and </a:t>
            </a:r>
            <a:r>
              <a:rPr sz="2400" dirty="0">
                <a:latin typeface="Tahoma"/>
                <a:cs typeface="Tahoma"/>
              </a:rPr>
              <a:t>Semester </a:t>
            </a:r>
            <a:r>
              <a:rPr sz="2400" spc="-5" dirty="0">
                <a:latin typeface="Tahoma"/>
                <a:cs typeface="Tahoma"/>
              </a:rPr>
              <a:t>&lt; =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4;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GB" sz="2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Studenten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dirty="0">
                <a:latin typeface="Tahoma"/>
                <a:cs typeface="Tahoma"/>
              </a:rPr>
              <a:t>Semester </a:t>
            </a:r>
            <a:r>
              <a:rPr sz="2400" b="1" dirty="0">
                <a:latin typeface="Tahoma"/>
                <a:cs typeface="Tahoma"/>
              </a:rPr>
              <a:t>between </a:t>
            </a:r>
            <a:r>
              <a:rPr sz="2400" dirty="0">
                <a:latin typeface="Tahoma"/>
                <a:cs typeface="Tahoma"/>
              </a:rPr>
              <a:t>1 </a:t>
            </a:r>
            <a:r>
              <a:rPr sz="2400" b="1" spc="-5" dirty="0">
                <a:latin typeface="Tahoma"/>
                <a:cs typeface="Tahoma"/>
              </a:rPr>
              <a:t>and</a:t>
            </a:r>
            <a:r>
              <a:rPr sz="2400" b="1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4;</a:t>
            </a:r>
            <a:endParaRPr lang="en-GB" sz="2400" spc="-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Studenten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dirty="0">
                <a:latin typeface="Tahoma"/>
                <a:cs typeface="Tahoma"/>
              </a:rPr>
              <a:t>Semester </a:t>
            </a:r>
            <a:r>
              <a:rPr sz="2400" b="1" dirty="0">
                <a:latin typeface="Tahoma"/>
                <a:cs typeface="Tahoma"/>
              </a:rPr>
              <a:t>in</a:t>
            </a:r>
            <a:r>
              <a:rPr sz="2400" b="1" spc="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(1,2,3,4);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88A00F39-7942-DE02-D214-51644B227B6D}"/>
              </a:ext>
            </a:extLst>
          </p:cNvPr>
          <p:cNvSpPr txBox="1">
            <a:spLocks/>
          </p:cNvSpPr>
          <p:nvPr/>
        </p:nvSpPr>
        <p:spPr>
          <a:xfrm>
            <a:off x="1002665" y="654050"/>
            <a:ext cx="6249035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Spezielle </a:t>
            </a:r>
            <a:r>
              <a:rPr lang="de-DE" spc="-5" dirty="0" err="1"/>
              <a:t>Sprachkonstrukte</a:t>
            </a:r>
            <a:r>
              <a:rPr lang="de-DE" spc="-5" dirty="0"/>
              <a:t> der SQL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209071" y="6216653"/>
            <a:ext cx="4325620" cy="864869"/>
          </a:xfrm>
          <a:custGeom>
            <a:avLst/>
            <a:gdLst/>
            <a:ahLst/>
            <a:cxnLst/>
            <a:rect l="l" t="t" r="r" b="b"/>
            <a:pathLst>
              <a:path w="4325620" h="864870">
                <a:moveTo>
                  <a:pt x="2774502" y="782349"/>
                </a:moveTo>
                <a:lnTo>
                  <a:pt x="1651878" y="782349"/>
                </a:lnTo>
                <a:lnTo>
                  <a:pt x="1691763" y="797003"/>
                </a:lnTo>
                <a:lnTo>
                  <a:pt x="1736201" y="810362"/>
                </a:lnTo>
                <a:lnTo>
                  <a:pt x="1785182" y="822462"/>
                </a:lnTo>
                <a:lnTo>
                  <a:pt x="1838196" y="833185"/>
                </a:lnTo>
                <a:lnTo>
                  <a:pt x="1894856" y="842455"/>
                </a:lnTo>
                <a:lnTo>
                  <a:pt x="1954778" y="850194"/>
                </a:lnTo>
                <a:lnTo>
                  <a:pt x="2017575" y="856323"/>
                </a:lnTo>
                <a:lnTo>
                  <a:pt x="2080714" y="860659"/>
                </a:lnTo>
                <a:lnTo>
                  <a:pt x="2143917" y="863292"/>
                </a:lnTo>
                <a:lnTo>
                  <a:pt x="2206829" y="864271"/>
                </a:lnTo>
                <a:lnTo>
                  <a:pt x="2269099" y="863650"/>
                </a:lnTo>
                <a:lnTo>
                  <a:pt x="2330373" y="861479"/>
                </a:lnTo>
                <a:lnTo>
                  <a:pt x="2390299" y="857810"/>
                </a:lnTo>
                <a:lnTo>
                  <a:pt x="2448523" y="852695"/>
                </a:lnTo>
                <a:lnTo>
                  <a:pt x="2504693" y="846185"/>
                </a:lnTo>
                <a:lnTo>
                  <a:pt x="2558456" y="838331"/>
                </a:lnTo>
                <a:lnTo>
                  <a:pt x="2609459" y="829186"/>
                </a:lnTo>
                <a:lnTo>
                  <a:pt x="2657349" y="818800"/>
                </a:lnTo>
                <a:lnTo>
                  <a:pt x="2701773" y="807225"/>
                </a:lnTo>
                <a:lnTo>
                  <a:pt x="2742379" y="794514"/>
                </a:lnTo>
                <a:lnTo>
                  <a:pt x="2774502" y="782349"/>
                </a:lnTo>
                <a:close/>
              </a:path>
              <a:path w="4325620" h="864870">
                <a:moveTo>
                  <a:pt x="3591048" y="706456"/>
                </a:moveTo>
                <a:lnTo>
                  <a:pt x="584202" y="706456"/>
                </a:lnTo>
                <a:lnTo>
                  <a:pt x="589599" y="708996"/>
                </a:lnTo>
                <a:lnTo>
                  <a:pt x="625445" y="724052"/>
                </a:lnTo>
                <a:lnTo>
                  <a:pt x="661751" y="736915"/>
                </a:lnTo>
                <a:lnTo>
                  <a:pt x="701051" y="748827"/>
                </a:lnTo>
                <a:lnTo>
                  <a:pt x="743109" y="759772"/>
                </a:lnTo>
                <a:lnTo>
                  <a:pt x="787690" y="769734"/>
                </a:lnTo>
                <a:lnTo>
                  <a:pt x="834558" y="778697"/>
                </a:lnTo>
                <a:lnTo>
                  <a:pt x="883478" y="786645"/>
                </a:lnTo>
                <a:lnTo>
                  <a:pt x="934214" y="793561"/>
                </a:lnTo>
                <a:lnTo>
                  <a:pt x="986531" y="799431"/>
                </a:lnTo>
                <a:lnTo>
                  <a:pt x="1040193" y="804237"/>
                </a:lnTo>
                <a:lnTo>
                  <a:pt x="1094964" y="807964"/>
                </a:lnTo>
                <a:lnTo>
                  <a:pt x="1150609" y="810595"/>
                </a:lnTo>
                <a:lnTo>
                  <a:pt x="1206893" y="812116"/>
                </a:lnTo>
                <a:lnTo>
                  <a:pt x="1263579" y="812509"/>
                </a:lnTo>
                <a:lnTo>
                  <a:pt x="1320433" y="811758"/>
                </a:lnTo>
                <a:lnTo>
                  <a:pt x="1377218" y="809849"/>
                </a:lnTo>
                <a:lnTo>
                  <a:pt x="1433700" y="806764"/>
                </a:lnTo>
                <a:lnTo>
                  <a:pt x="1489642" y="802487"/>
                </a:lnTo>
                <a:lnTo>
                  <a:pt x="1544810" y="797003"/>
                </a:lnTo>
                <a:lnTo>
                  <a:pt x="1598967" y="790296"/>
                </a:lnTo>
                <a:lnTo>
                  <a:pt x="1651878" y="782349"/>
                </a:lnTo>
                <a:lnTo>
                  <a:pt x="2774502" y="782349"/>
                </a:lnTo>
                <a:lnTo>
                  <a:pt x="2778814" y="780716"/>
                </a:lnTo>
                <a:lnTo>
                  <a:pt x="2810724" y="765885"/>
                </a:lnTo>
                <a:lnTo>
                  <a:pt x="2837756" y="750071"/>
                </a:lnTo>
                <a:lnTo>
                  <a:pt x="2859559" y="733326"/>
                </a:lnTo>
                <a:lnTo>
                  <a:pt x="3470666" y="733326"/>
                </a:lnTo>
                <a:lnTo>
                  <a:pt x="3492676" y="729725"/>
                </a:lnTo>
                <a:lnTo>
                  <a:pt x="3546715" y="718322"/>
                </a:lnTo>
                <a:lnTo>
                  <a:pt x="3591048" y="706456"/>
                </a:lnTo>
                <a:close/>
              </a:path>
              <a:path w="4325620" h="864870">
                <a:moveTo>
                  <a:pt x="3470666" y="733326"/>
                </a:moveTo>
                <a:lnTo>
                  <a:pt x="2859559" y="733326"/>
                </a:lnTo>
                <a:lnTo>
                  <a:pt x="2905943" y="740417"/>
                </a:lnTo>
                <a:lnTo>
                  <a:pt x="2954318" y="746296"/>
                </a:lnTo>
                <a:lnTo>
                  <a:pt x="3004363" y="750939"/>
                </a:lnTo>
                <a:lnTo>
                  <a:pt x="3055757" y="754321"/>
                </a:lnTo>
                <a:lnTo>
                  <a:pt x="3108180" y="756414"/>
                </a:lnTo>
                <a:lnTo>
                  <a:pt x="3161311" y="757196"/>
                </a:lnTo>
                <a:lnTo>
                  <a:pt x="3233918" y="756128"/>
                </a:lnTo>
                <a:lnTo>
                  <a:pt x="3303905" y="752701"/>
                </a:lnTo>
                <a:lnTo>
                  <a:pt x="3370724" y="747060"/>
                </a:lnTo>
                <a:lnTo>
                  <a:pt x="3433830" y="739353"/>
                </a:lnTo>
                <a:lnTo>
                  <a:pt x="3470666" y="733326"/>
                </a:lnTo>
                <a:close/>
              </a:path>
              <a:path w="4325620" h="864870">
                <a:moveTo>
                  <a:pt x="1071820" y="75829"/>
                </a:moveTo>
                <a:lnTo>
                  <a:pt x="1021852" y="76153"/>
                </a:lnTo>
                <a:lnTo>
                  <a:pt x="971869" y="77490"/>
                </a:lnTo>
                <a:lnTo>
                  <a:pt x="899486" y="81259"/>
                </a:lnTo>
                <a:lnTo>
                  <a:pt x="830408" y="87007"/>
                </a:lnTo>
                <a:lnTo>
                  <a:pt x="764988" y="94607"/>
                </a:lnTo>
                <a:lnTo>
                  <a:pt x="703580" y="103935"/>
                </a:lnTo>
                <a:lnTo>
                  <a:pt x="646536" y="114863"/>
                </a:lnTo>
                <a:lnTo>
                  <a:pt x="594208" y="127266"/>
                </a:lnTo>
                <a:lnTo>
                  <a:pt x="546949" y="141017"/>
                </a:lnTo>
                <a:lnTo>
                  <a:pt x="505112" y="155990"/>
                </a:lnTo>
                <a:lnTo>
                  <a:pt x="469050" y="172058"/>
                </a:lnTo>
                <a:lnTo>
                  <a:pt x="415659" y="206977"/>
                </a:lnTo>
                <a:lnTo>
                  <a:pt x="389599" y="244764"/>
                </a:lnTo>
                <a:lnTo>
                  <a:pt x="387699" y="264418"/>
                </a:lnTo>
                <a:lnTo>
                  <a:pt x="393689" y="284410"/>
                </a:lnTo>
                <a:lnTo>
                  <a:pt x="390057" y="287101"/>
                </a:lnTo>
                <a:lnTo>
                  <a:pt x="332058" y="289833"/>
                </a:lnTo>
                <a:lnTo>
                  <a:pt x="276558" y="294618"/>
                </a:lnTo>
                <a:lnTo>
                  <a:pt x="224216" y="301342"/>
                </a:lnTo>
                <a:lnTo>
                  <a:pt x="175694" y="309888"/>
                </a:lnTo>
                <a:lnTo>
                  <a:pt x="131650" y="320140"/>
                </a:lnTo>
                <a:lnTo>
                  <a:pt x="92746" y="331981"/>
                </a:lnTo>
                <a:lnTo>
                  <a:pt x="26208" y="364708"/>
                </a:lnTo>
                <a:lnTo>
                  <a:pt x="0" y="405290"/>
                </a:lnTo>
                <a:lnTo>
                  <a:pt x="6346" y="425540"/>
                </a:lnTo>
                <a:lnTo>
                  <a:pt x="55745" y="463660"/>
                </a:lnTo>
                <a:lnTo>
                  <a:pt x="97919" y="480612"/>
                </a:lnTo>
                <a:lnTo>
                  <a:pt x="151159" y="495545"/>
                </a:lnTo>
                <a:lnTo>
                  <a:pt x="215026" y="508000"/>
                </a:lnTo>
                <a:lnTo>
                  <a:pt x="157988" y="528661"/>
                </a:lnTo>
                <a:lnTo>
                  <a:pt x="119155" y="551907"/>
                </a:lnTo>
                <a:lnTo>
                  <a:pt x="99574" y="576872"/>
                </a:lnTo>
                <a:lnTo>
                  <a:pt x="100294" y="602690"/>
                </a:lnTo>
                <a:lnTo>
                  <a:pt x="138442" y="639146"/>
                </a:lnTo>
                <a:lnTo>
                  <a:pt x="213876" y="669460"/>
                </a:lnTo>
                <a:lnTo>
                  <a:pt x="263086" y="681780"/>
                </a:lnTo>
                <a:lnTo>
                  <a:pt x="318628" y="691923"/>
                </a:lnTo>
                <a:lnTo>
                  <a:pt x="379507" y="699676"/>
                </a:lnTo>
                <a:lnTo>
                  <a:pt x="444726" y="704825"/>
                </a:lnTo>
                <a:lnTo>
                  <a:pt x="513290" y="707156"/>
                </a:lnTo>
                <a:lnTo>
                  <a:pt x="3591048" y="706456"/>
                </a:lnTo>
                <a:lnTo>
                  <a:pt x="3638187" y="690779"/>
                </a:lnTo>
                <a:lnTo>
                  <a:pt x="3674527" y="674930"/>
                </a:lnTo>
                <a:lnTo>
                  <a:pt x="3725682" y="639812"/>
                </a:lnTo>
                <a:lnTo>
                  <a:pt x="3744495" y="601106"/>
                </a:lnTo>
                <a:lnTo>
                  <a:pt x="3801588" y="598200"/>
                </a:lnTo>
                <a:lnTo>
                  <a:pt x="3857355" y="593991"/>
                </a:lnTo>
                <a:lnTo>
                  <a:pt x="3911503" y="588513"/>
                </a:lnTo>
                <a:lnTo>
                  <a:pt x="3963741" y="581799"/>
                </a:lnTo>
                <a:lnTo>
                  <a:pt x="4013773" y="573884"/>
                </a:lnTo>
                <a:lnTo>
                  <a:pt x="4061309" y="564801"/>
                </a:lnTo>
                <a:lnTo>
                  <a:pt x="4125501" y="549570"/>
                </a:lnTo>
                <a:lnTo>
                  <a:pt x="4181021" y="532674"/>
                </a:lnTo>
                <a:lnTo>
                  <a:pt x="4227751" y="514355"/>
                </a:lnTo>
                <a:lnTo>
                  <a:pt x="4265575" y="494855"/>
                </a:lnTo>
                <a:lnTo>
                  <a:pt x="4314038" y="453282"/>
                </a:lnTo>
                <a:lnTo>
                  <a:pt x="4325476" y="409894"/>
                </a:lnTo>
                <a:lnTo>
                  <a:pt x="4317017" y="388126"/>
                </a:lnTo>
                <a:lnTo>
                  <a:pt x="4298952" y="366630"/>
                </a:lnTo>
                <a:lnTo>
                  <a:pt x="4271163" y="345650"/>
                </a:lnTo>
                <a:lnTo>
                  <a:pt x="4233534" y="325429"/>
                </a:lnTo>
                <a:lnTo>
                  <a:pt x="4185947" y="306207"/>
                </a:lnTo>
                <a:lnTo>
                  <a:pt x="4192969" y="301518"/>
                </a:lnTo>
                <a:lnTo>
                  <a:pt x="4225507" y="265939"/>
                </a:lnTo>
                <a:lnTo>
                  <a:pt x="4229060" y="244938"/>
                </a:lnTo>
                <a:lnTo>
                  <a:pt x="4221621" y="224369"/>
                </a:lnTo>
                <a:lnTo>
                  <a:pt x="4176081" y="185631"/>
                </a:lnTo>
                <a:lnTo>
                  <a:pt x="4139140" y="168015"/>
                </a:lnTo>
                <a:lnTo>
                  <a:pt x="4093523" y="151935"/>
                </a:lnTo>
                <a:lnTo>
                  <a:pt x="4039809" y="137669"/>
                </a:lnTo>
                <a:lnTo>
                  <a:pt x="3978579" y="125492"/>
                </a:lnTo>
                <a:lnTo>
                  <a:pt x="3910411" y="115680"/>
                </a:lnTo>
                <a:lnTo>
                  <a:pt x="3835884" y="108510"/>
                </a:lnTo>
                <a:lnTo>
                  <a:pt x="3828419" y="101031"/>
                </a:lnTo>
                <a:lnTo>
                  <a:pt x="1404317" y="101031"/>
                </a:lnTo>
                <a:lnTo>
                  <a:pt x="1360073" y="94564"/>
                </a:lnTo>
                <a:lnTo>
                  <a:pt x="1314409" y="89034"/>
                </a:lnTo>
                <a:lnTo>
                  <a:pt x="1267526" y="84453"/>
                </a:lnTo>
                <a:lnTo>
                  <a:pt x="1219626" y="80831"/>
                </a:lnTo>
                <a:lnTo>
                  <a:pt x="1170907" y="78179"/>
                </a:lnTo>
                <a:lnTo>
                  <a:pt x="1121572" y="76508"/>
                </a:lnTo>
                <a:lnTo>
                  <a:pt x="1071820" y="75829"/>
                </a:lnTo>
                <a:close/>
              </a:path>
              <a:path w="4325620" h="864870">
                <a:moveTo>
                  <a:pt x="1853652" y="23959"/>
                </a:moveTo>
                <a:lnTo>
                  <a:pt x="1799091" y="25345"/>
                </a:lnTo>
                <a:lnTo>
                  <a:pt x="1745497" y="28234"/>
                </a:lnTo>
                <a:lnTo>
                  <a:pt x="1693308" y="32589"/>
                </a:lnTo>
                <a:lnTo>
                  <a:pt x="1642966" y="38373"/>
                </a:lnTo>
                <a:lnTo>
                  <a:pt x="1594910" y="45549"/>
                </a:lnTo>
                <a:lnTo>
                  <a:pt x="1549580" y="54081"/>
                </a:lnTo>
                <a:lnTo>
                  <a:pt x="1507416" y="63932"/>
                </a:lnTo>
                <a:lnTo>
                  <a:pt x="1468857" y="75065"/>
                </a:lnTo>
                <a:lnTo>
                  <a:pt x="1404317" y="101031"/>
                </a:lnTo>
                <a:lnTo>
                  <a:pt x="3828419" y="101031"/>
                </a:lnTo>
                <a:lnTo>
                  <a:pt x="3813925" y="86512"/>
                </a:lnTo>
                <a:lnTo>
                  <a:pt x="3778653" y="66012"/>
                </a:lnTo>
                <a:lnTo>
                  <a:pt x="3777666" y="65627"/>
                </a:lnTo>
                <a:lnTo>
                  <a:pt x="2249502" y="65627"/>
                </a:lnTo>
                <a:lnTo>
                  <a:pt x="2221042" y="58525"/>
                </a:lnTo>
                <a:lnTo>
                  <a:pt x="2158946" y="46114"/>
                </a:lnTo>
                <a:lnTo>
                  <a:pt x="2072757" y="34175"/>
                </a:lnTo>
                <a:lnTo>
                  <a:pt x="2018731" y="29183"/>
                </a:lnTo>
                <a:lnTo>
                  <a:pt x="1963912" y="25841"/>
                </a:lnTo>
                <a:lnTo>
                  <a:pt x="1908738" y="24112"/>
                </a:lnTo>
                <a:lnTo>
                  <a:pt x="1853652" y="23959"/>
                </a:lnTo>
                <a:close/>
              </a:path>
              <a:path w="4325620" h="864870">
                <a:moveTo>
                  <a:pt x="2667640" y="0"/>
                </a:moveTo>
                <a:lnTo>
                  <a:pt x="2611239" y="35"/>
                </a:lnTo>
                <a:lnTo>
                  <a:pt x="2555696" y="2033"/>
                </a:lnTo>
                <a:lnTo>
                  <a:pt x="2501676" y="5933"/>
                </a:lnTo>
                <a:lnTo>
                  <a:pt x="2449973" y="11661"/>
                </a:lnTo>
                <a:lnTo>
                  <a:pt x="2401188" y="19165"/>
                </a:lnTo>
                <a:lnTo>
                  <a:pt x="2356050" y="28377"/>
                </a:lnTo>
                <a:lnTo>
                  <a:pt x="2315259" y="39234"/>
                </a:lnTo>
                <a:lnTo>
                  <a:pt x="2249502" y="65627"/>
                </a:lnTo>
                <a:lnTo>
                  <a:pt x="3777666" y="65627"/>
                </a:lnTo>
                <a:lnTo>
                  <a:pt x="3731002" y="47449"/>
                </a:lnTo>
                <a:lnTo>
                  <a:pt x="3727923" y="46606"/>
                </a:lnTo>
                <a:lnTo>
                  <a:pt x="2987270" y="46606"/>
                </a:lnTo>
                <a:lnTo>
                  <a:pt x="2954805" y="36285"/>
                </a:lnTo>
                <a:lnTo>
                  <a:pt x="2878298" y="19053"/>
                </a:lnTo>
                <a:lnTo>
                  <a:pt x="2835010" y="12304"/>
                </a:lnTo>
                <a:lnTo>
                  <a:pt x="2780223" y="6070"/>
                </a:lnTo>
                <a:lnTo>
                  <a:pt x="2724200" y="1990"/>
                </a:lnTo>
                <a:lnTo>
                  <a:pt x="2667640" y="0"/>
                </a:lnTo>
                <a:close/>
              </a:path>
              <a:path w="4325620" h="864870">
                <a:moveTo>
                  <a:pt x="3371144" y="25"/>
                </a:moveTo>
                <a:lnTo>
                  <a:pt x="3317894" y="426"/>
                </a:lnTo>
                <a:lnTo>
                  <a:pt x="3265121" y="2399"/>
                </a:lnTo>
                <a:lnTo>
                  <a:pt x="3213339" y="5933"/>
                </a:lnTo>
                <a:lnTo>
                  <a:pt x="3163062" y="11015"/>
                </a:lnTo>
                <a:lnTo>
                  <a:pt x="3114803" y="17636"/>
                </a:lnTo>
                <a:lnTo>
                  <a:pt x="3069075" y="25782"/>
                </a:lnTo>
                <a:lnTo>
                  <a:pt x="3026393" y="35442"/>
                </a:lnTo>
                <a:lnTo>
                  <a:pt x="2987270" y="46606"/>
                </a:lnTo>
                <a:lnTo>
                  <a:pt x="3727923" y="46606"/>
                </a:lnTo>
                <a:lnTo>
                  <a:pt x="3671902" y="31265"/>
                </a:lnTo>
                <a:lnTo>
                  <a:pt x="3626575" y="21995"/>
                </a:lnTo>
                <a:lnTo>
                  <a:pt x="3578644" y="14366"/>
                </a:lnTo>
                <a:lnTo>
                  <a:pt x="3528622" y="8366"/>
                </a:lnTo>
                <a:lnTo>
                  <a:pt x="3477022" y="3983"/>
                </a:lnTo>
                <a:lnTo>
                  <a:pt x="3424358" y="1206"/>
                </a:lnTo>
                <a:lnTo>
                  <a:pt x="3371144" y="25"/>
                </a:lnTo>
                <a:close/>
              </a:path>
            </a:pathLst>
          </a:custGeom>
          <a:solidFill>
            <a:srgbClr val="FF7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22359" y="6262803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4003" y="0"/>
                </a:moveTo>
                <a:lnTo>
                  <a:pt x="14658" y="1885"/>
                </a:lnTo>
                <a:lnTo>
                  <a:pt x="7029" y="7029"/>
                </a:lnTo>
                <a:lnTo>
                  <a:pt x="1885" y="14657"/>
                </a:lnTo>
                <a:lnTo>
                  <a:pt x="0" y="24000"/>
                </a:lnTo>
                <a:lnTo>
                  <a:pt x="1885" y="33343"/>
                </a:lnTo>
                <a:lnTo>
                  <a:pt x="7029" y="40973"/>
                </a:lnTo>
                <a:lnTo>
                  <a:pt x="14658" y="46117"/>
                </a:lnTo>
                <a:lnTo>
                  <a:pt x="24003" y="48003"/>
                </a:lnTo>
                <a:lnTo>
                  <a:pt x="33347" y="46117"/>
                </a:lnTo>
                <a:lnTo>
                  <a:pt x="40976" y="40973"/>
                </a:lnTo>
                <a:lnTo>
                  <a:pt x="46120" y="33343"/>
                </a:lnTo>
                <a:lnTo>
                  <a:pt x="48006" y="24000"/>
                </a:lnTo>
                <a:lnTo>
                  <a:pt x="46120" y="14657"/>
                </a:lnTo>
                <a:lnTo>
                  <a:pt x="40976" y="7029"/>
                </a:lnTo>
                <a:lnTo>
                  <a:pt x="33347" y="1885"/>
                </a:lnTo>
                <a:lnTo>
                  <a:pt x="2400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63456" y="6275019"/>
            <a:ext cx="96012" cy="9601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52114" y="6293736"/>
            <a:ext cx="144017" cy="144015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9074" y="6216650"/>
            <a:ext cx="4325620" cy="864869"/>
          </a:xfrm>
          <a:custGeom>
            <a:avLst/>
            <a:gdLst/>
            <a:ahLst/>
            <a:cxnLst/>
            <a:rect l="l" t="t" r="r" b="b"/>
            <a:pathLst>
              <a:path w="4325620" h="864870">
                <a:moveTo>
                  <a:pt x="393687" y="284410"/>
                </a:moveTo>
                <a:lnTo>
                  <a:pt x="387695" y="264418"/>
                </a:lnTo>
                <a:lnTo>
                  <a:pt x="389594" y="244764"/>
                </a:lnTo>
                <a:lnTo>
                  <a:pt x="399031" y="225575"/>
                </a:lnTo>
                <a:lnTo>
                  <a:pt x="439109" y="189096"/>
                </a:lnTo>
                <a:lnTo>
                  <a:pt x="505108" y="155989"/>
                </a:lnTo>
                <a:lnTo>
                  <a:pt x="546945" y="141017"/>
                </a:lnTo>
                <a:lnTo>
                  <a:pt x="594205" y="127266"/>
                </a:lnTo>
                <a:lnTo>
                  <a:pt x="646533" y="114863"/>
                </a:lnTo>
                <a:lnTo>
                  <a:pt x="703578" y="103935"/>
                </a:lnTo>
                <a:lnTo>
                  <a:pt x="764987" y="94607"/>
                </a:lnTo>
                <a:lnTo>
                  <a:pt x="830407" y="87007"/>
                </a:lnTo>
                <a:lnTo>
                  <a:pt x="899485" y="81259"/>
                </a:lnTo>
                <a:lnTo>
                  <a:pt x="971869" y="77491"/>
                </a:lnTo>
                <a:lnTo>
                  <a:pt x="1021850" y="76153"/>
                </a:lnTo>
                <a:lnTo>
                  <a:pt x="1071816" y="75829"/>
                </a:lnTo>
                <a:lnTo>
                  <a:pt x="1121566" y="76508"/>
                </a:lnTo>
                <a:lnTo>
                  <a:pt x="1170900" y="78179"/>
                </a:lnTo>
                <a:lnTo>
                  <a:pt x="1219618" y="80831"/>
                </a:lnTo>
                <a:lnTo>
                  <a:pt x="1267519" y="84453"/>
                </a:lnTo>
                <a:lnTo>
                  <a:pt x="1314402" y="89034"/>
                </a:lnTo>
                <a:lnTo>
                  <a:pt x="1360067" y="94563"/>
                </a:lnTo>
                <a:lnTo>
                  <a:pt x="1404313" y="101030"/>
                </a:lnTo>
                <a:lnTo>
                  <a:pt x="1434339" y="87443"/>
                </a:lnTo>
                <a:lnTo>
                  <a:pt x="1507408" y="63931"/>
                </a:lnTo>
                <a:lnTo>
                  <a:pt x="1549573" y="54081"/>
                </a:lnTo>
                <a:lnTo>
                  <a:pt x="1594903" y="45549"/>
                </a:lnTo>
                <a:lnTo>
                  <a:pt x="1642959" y="38373"/>
                </a:lnTo>
                <a:lnTo>
                  <a:pt x="1693302" y="32589"/>
                </a:lnTo>
                <a:lnTo>
                  <a:pt x="1745490" y="28234"/>
                </a:lnTo>
                <a:lnTo>
                  <a:pt x="1799085" y="25345"/>
                </a:lnTo>
                <a:lnTo>
                  <a:pt x="1853646" y="23959"/>
                </a:lnTo>
                <a:lnTo>
                  <a:pt x="1908733" y="24111"/>
                </a:lnTo>
                <a:lnTo>
                  <a:pt x="1963906" y="25840"/>
                </a:lnTo>
                <a:lnTo>
                  <a:pt x="2018725" y="29181"/>
                </a:lnTo>
                <a:lnTo>
                  <a:pt x="2072751" y="34172"/>
                </a:lnTo>
                <a:lnTo>
                  <a:pt x="2125542" y="40848"/>
                </a:lnTo>
                <a:lnTo>
                  <a:pt x="2190810" y="52014"/>
                </a:lnTo>
                <a:lnTo>
                  <a:pt x="2249492" y="65627"/>
                </a:lnTo>
                <a:lnTo>
                  <a:pt x="2279500" y="51673"/>
                </a:lnTo>
                <a:lnTo>
                  <a:pt x="2356041" y="28379"/>
                </a:lnTo>
                <a:lnTo>
                  <a:pt x="2401178" y="19168"/>
                </a:lnTo>
                <a:lnTo>
                  <a:pt x="2449963" y="11664"/>
                </a:lnTo>
                <a:lnTo>
                  <a:pt x="2501698" y="5932"/>
                </a:lnTo>
                <a:lnTo>
                  <a:pt x="2555687" y="2034"/>
                </a:lnTo>
                <a:lnTo>
                  <a:pt x="2611230" y="36"/>
                </a:lnTo>
                <a:lnTo>
                  <a:pt x="2667631" y="0"/>
                </a:lnTo>
                <a:lnTo>
                  <a:pt x="2724191" y="1989"/>
                </a:lnTo>
                <a:lnTo>
                  <a:pt x="2780214" y="6067"/>
                </a:lnTo>
                <a:lnTo>
                  <a:pt x="2835002" y="12299"/>
                </a:lnTo>
                <a:lnTo>
                  <a:pt x="2878293" y="19049"/>
                </a:lnTo>
                <a:lnTo>
                  <a:pt x="2918351" y="27072"/>
                </a:lnTo>
                <a:lnTo>
                  <a:pt x="2987262" y="46601"/>
                </a:lnTo>
                <a:lnTo>
                  <a:pt x="3026385" y="35439"/>
                </a:lnTo>
                <a:lnTo>
                  <a:pt x="3069067" y="25780"/>
                </a:lnTo>
                <a:lnTo>
                  <a:pt x="3114795" y="17635"/>
                </a:lnTo>
                <a:lnTo>
                  <a:pt x="3163055" y="11016"/>
                </a:lnTo>
                <a:lnTo>
                  <a:pt x="3213333" y="5934"/>
                </a:lnTo>
                <a:lnTo>
                  <a:pt x="3265115" y="2401"/>
                </a:lnTo>
                <a:lnTo>
                  <a:pt x="3317889" y="428"/>
                </a:lnTo>
                <a:lnTo>
                  <a:pt x="3371140" y="26"/>
                </a:lnTo>
                <a:lnTo>
                  <a:pt x="3424354" y="1208"/>
                </a:lnTo>
                <a:lnTo>
                  <a:pt x="3477019" y="3985"/>
                </a:lnTo>
                <a:lnTo>
                  <a:pt x="3528619" y="8367"/>
                </a:lnTo>
                <a:lnTo>
                  <a:pt x="3578642" y="14368"/>
                </a:lnTo>
                <a:lnTo>
                  <a:pt x="3626574" y="21997"/>
                </a:lnTo>
                <a:lnTo>
                  <a:pt x="3671901" y="31267"/>
                </a:lnTo>
                <a:lnTo>
                  <a:pt x="3730996" y="47451"/>
                </a:lnTo>
                <a:lnTo>
                  <a:pt x="3778644" y="66013"/>
                </a:lnTo>
                <a:lnTo>
                  <a:pt x="3813913" y="86512"/>
                </a:lnTo>
                <a:lnTo>
                  <a:pt x="3835871" y="108510"/>
                </a:lnTo>
                <a:lnTo>
                  <a:pt x="3910399" y="115680"/>
                </a:lnTo>
                <a:lnTo>
                  <a:pt x="3978569" y="125491"/>
                </a:lnTo>
                <a:lnTo>
                  <a:pt x="4039801" y="137669"/>
                </a:lnTo>
                <a:lnTo>
                  <a:pt x="4093515" y="151935"/>
                </a:lnTo>
                <a:lnTo>
                  <a:pt x="4139133" y="168014"/>
                </a:lnTo>
                <a:lnTo>
                  <a:pt x="4176075" y="185631"/>
                </a:lnTo>
                <a:lnTo>
                  <a:pt x="4221614" y="224369"/>
                </a:lnTo>
                <a:lnTo>
                  <a:pt x="4229053" y="244938"/>
                </a:lnTo>
                <a:lnTo>
                  <a:pt x="4225498" y="265939"/>
                </a:lnTo>
                <a:lnTo>
                  <a:pt x="4199375" y="296767"/>
                </a:lnTo>
                <a:lnTo>
                  <a:pt x="4185941" y="306207"/>
                </a:lnTo>
                <a:lnTo>
                  <a:pt x="4233527" y="325428"/>
                </a:lnTo>
                <a:lnTo>
                  <a:pt x="4271156" y="345650"/>
                </a:lnTo>
                <a:lnTo>
                  <a:pt x="4298945" y="366630"/>
                </a:lnTo>
                <a:lnTo>
                  <a:pt x="4317010" y="388125"/>
                </a:lnTo>
                <a:lnTo>
                  <a:pt x="4325469" y="409894"/>
                </a:lnTo>
                <a:lnTo>
                  <a:pt x="4324438" y="431693"/>
                </a:lnTo>
                <a:lnTo>
                  <a:pt x="4294372" y="474416"/>
                </a:lnTo>
                <a:lnTo>
                  <a:pt x="4227749" y="514354"/>
                </a:lnTo>
                <a:lnTo>
                  <a:pt x="4181020" y="532674"/>
                </a:lnTo>
                <a:lnTo>
                  <a:pt x="4125501" y="549570"/>
                </a:lnTo>
                <a:lnTo>
                  <a:pt x="4061311" y="564800"/>
                </a:lnTo>
                <a:lnTo>
                  <a:pt x="4013771" y="573884"/>
                </a:lnTo>
                <a:lnTo>
                  <a:pt x="3963737" y="581799"/>
                </a:lnTo>
                <a:lnTo>
                  <a:pt x="3911500" y="588512"/>
                </a:lnTo>
                <a:lnTo>
                  <a:pt x="3857352" y="593990"/>
                </a:lnTo>
                <a:lnTo>
                  <a:pt x="3801585" y="598199"/>
                </a:lnTo>
                <a:lnTo>
                  <a:pt x="3744491" y="601105"/>
                </a:lnTo>
                <a:lnTo>
                  <a:pt x="3739402" y="620833"/>
                </a:lnTo>
                <a:lnTo>
                  <a:pt x="3703872" y="657892"/>
                </a:lnTo>
                <a:lnTo>
                  <a:pt x="3638183" y="690778"/>
                </a:lnTo>
                <a:lnTo>
                  <a:pt x="3595396" y="705290"/>
                </a:lnTo>
                <a:lnTo>
                  <a:pt x="3546710" y="718321"/>
                </a:lnTo>
                <a:lnTo>
                  <a:pt x="3492670" y="729724"/>
                </a:lnTo>
                <a:lnTo>
                  <a:pt x="3433823" y="739352"/>
                </a:lnTo>
                <a:lnTo>
                  <a:pt x="3370716" y="747060"/>
                </a:lnTo>
                <a:lnTo>
                  <a:pt x="3303896" y="752700"/>
                </a:lnTo>
                <a:lnTo>
                  <a:pt x="3233909" y="756128"/>
                </a:lnTo>
                <a:lnTo>
                  <a:pt x="3161302" y="757195"/>
                </a:lnTo>
                <a:lnTo>
                  <a:pt x="3108174" y="756414"/>
                </a:lnTo>
                <a:lnTo>
                  <a:pt x="3055753" y="754320"/>
                </a:lnTo>
                <a:lnTo>
                  <a:pt x="3004361" y="750939"/>
                </a:lnTo>
                <a:lnTo>
                  <a:pt x="2954317" y="746295"/>
                </a:lnTo>
                <a:lnTo>
                  <a:pt x="2905944" y="740416"/>
                </a:lnTo>
                <a:lnTo>
                  <a:pt x="2859562" y="733324"/>
                </a:lnTo>
                <a:lnTo>
                  <a:pt x="2837757" y="750069"/>
                </a:lnTo>
                <a:lnTo>
                  <a:pt x="2778810" y="780715"/>
                </a:lnTo>
                <a:lnTo>
                  <a:pt x="2742374" y="794513"/>
                </a:lnTo>
                <a:lnTo>
                  <a:pt x="2701767" y="807224"/>
                </a:lnTo>
                <a:lnTo>
                  <a:pt x="2657342" y="818799"/>
                </a:lnTo>
                <a:lnTo>
                  <a:pt x="2609451" y="829185"/>
                </a:lnTo>
                <a:lnTo>
                  <a:pt x="2558448" y="838330"/>
                </a:lnTo>
                <a:lnTo>
                  <a:pt x="2504685" y="846184"/>
                </a:lnTo>
                <a:lnTo>
                  <a:pt x="2448515" y="852695"/>
                </a:lnTo>
                <a:lnTo>
                  <a:pt x="2390292" y="857810"/>
                </a:lnTo>
                <a:lnTo>
                  <a:pt x="2330367" y="861479"/>
                </a:lnTo>
                <a:lnTo>
                  <a:pt x="2269093" y="863650"/>
                </a:lnTo>
                <a:lnTo>
                  <a:pt x="2206824" y="864272"/>
                </a:lnTo>
                <a:lnTo>
                  <a:pt x="2143912" y="863292"/>
                </a:lnTo>
                <a:lnTo>
                  <a:pt x="2080711" y="860660"/>
                </a:lnTo>
                <a:lnTo>
                  <a:pt x="2017572" y="856323"/>
                </a:lnTo>
                <a:lnTo>
                  <a:pt x="1954772" y="850194"/>
                </a:lnTo>
                <a:lnTo>
                  <a:pt x="1894848" y="842455"/>
                </a:lnTo>
                <a:lnTo>
                  <a:pt x="1838186" y="833185"/>
                </a:lnTo>
                <a:lnTo>
                  <a:pt x="1785172" y="822461"/>
                </a:lnTo>
                <a:lnTo>
                  <a:pt x="1736191" y="810362"/>
                </a:lnTo>
                <a:lnTo>
                  <a:pt x="1691629" y="796965"/>
                </a:lnTo>
                <a:lnTo>
                  <a:pt x="1651873" y="782348"/>
                </a:lnTo>
                <a:lnTo>
                  <a:pt x="1598963" y="790295"/>
                </a:lnTo>
                <a:lnTo>
                  <a:pt x="1544806" y="797003"/>
                </a:lnTo>
                <a:lnTo>
                  <a:pt x="1489640" y="802486"/>
                </a:lnTo>
                <a:lnTo>
                  <a:pt x="1433698" y="806763"/>
                </a:lnTo>
                <a:lnTo>
                  <a:pt x="1377217" y="809848"/>
                </a:lnTo>
                <a:lnTo>
                  <a:pt x="1320431" y="811758"/>
                </a:lnTo>
                <a:lnTo>
                  <a:pt x="1263578" y="812508"/>
                </a:lnTo>
                <a:lnTo>
                  <a:pt x="1206892" y="812115"/>
                </a:lnTo>
                <a:lnTo>
                  <a:pt x="1150608" y="810594"/>
                </a:lnTo>
                <a:lnTo>
                  <a:pt x="1094963" y="807963"/>
                </a:lnTo>
                <a:lnTo>
                  <a:pt x="1040191" y="804236"/>
                </a:lnTo>
                <a:lnTo>
                  <a:pt x="986530" y="799430"/>
                </a:lnTo>
                <a:lnTo>
                  <a:pt x="934213" y="793560"/>
                </a:lnTo>
                <a:lnTo>
                  <a:pt x="883476" y="786644"/>
                </a:lnTo>
                <a:lnTo>
                  <a:pt x="834556" y="778696"/>
                </a:lnTo>
                <a:lnTo>
                  <a:pt x="787687" y="769734"/>
                </a:lnTo>
                <a:lnTo>
                  <a:pt x="743106" y="759772"/>
                </a:lnTo>
                <a:lnTo>
                  <a:pt x="701047" y="748827"/>
                </a:lnTo>
                <a:lnTo>
                  <a:pt x="661746" y="736915"/>
                </a:lnTo>
                <a:lnTo>
                  <a:pt x="625440" y="724052"/>
                </a:lnTo>
                <a:lnTo>
                  <a:pt x="589595" y="708996"/>
                </a:lnTo>
                <a:lnTo>
                  <a:pt x="584202" y="706456"/>
                </a:lnTo>
                <a:lnTo>
                  <a:pt x="513289" y="707156"/>
                </a:lnTo>
                <a:lnTo>
                  <a:pt x="444725" y="704824"/>
                </a:lnTo>
                <a:lnTo>
                  <a:pt x="379505" y="699675"/>
                </a:lnTo>
                <a:lnTo>
                  <a:pt x="318626" y="691922"/>
                </a:lnTo>
                <a:lnTo>
                  <a:pt x="263083" y="681779"/>
                </a:lnTo>
                <a:lnTo>
                  <a:pt x="213874" y="669460"/>
                </a:lnTo>
                <a:lnTo>
                  <a:pt x="171995" y="655177"/>
                </a:lnTo>
                <a:lnTo>
                  <a:pt x="114210" y="621579"/>
                </a:lnTo>
                <a:lnTo>
                  <a:pt x="99574" y="576871"/>
                </a:lnTo>
                <a:lnTo>
                  <a:pt x="119153" y="551906"/>
                </a:lnTo>
                <a:lnTo>
                  <a:pt x="157985" y="528660"/>
                </a:lnTo>
                <a:lnTo>
                  <a:pt x="215021" y="507999"/>
                </a:lnTo>
                <a:lnTo>
                  <a:pt x="151156" y="495545"/>
                </a:lnTo>
                <a:lnTo>
                  <a:pt x="97917" y="480612"/>
                </a:lnTo>
                <a:lnTo>
                  <a:pt x="55743" y="463660"/>
                </a:lnTo>
                <a:lnTo>
                  <a:pt x="6346" y="425539"/>
                </a:lnTo>
                <a:lnTo>
                  <a:pt x="0" y="405289"/>
                </a:lnTo>
                <a:lnTo>
                  <a:pt x="6474" y="384859"/>
                </a:lnTo>
                <a:lnTo>
                  <a:pt x="59638" y="345295"/>
                </a:lnTo>
                <a:lnTo>
                  <a:pt x="131649" y="320140"/>
                </a:lnTo>
                <a:lnTo>
                  <a:pt x="175692" y="309888"/>
                </a:lnTo>
                <a:lnTo>
                  <a:pt x="224213" y="301342"/>
                </a:lnTo>
                <a:lnTo>
                  <a:pt x="276553" y="294618"/>
                </a:lnTo>
                <a:lnTo>
                  <a:pt x="332051" y="289832"/>
                </a:lnTo>
                <a:lnTo>
                  <a:pt x="390048" y="287101"/>
                </a:lnTo>
                <a:lnTo>
                  <a:pt x="393687" y="284410"/>
                </a:lnTo>
                <a:close/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03313" y="6243747"/>
            <a:ext cx="86105" cy="86105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44410" y="6255966"/>
            <a:ext cx="134109" cy="134109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33067" y="6274682"/>
            <a:ext cx="182115" cy="182115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66514" y="6725564"/>
            <a:ext cx="215900" cy="12065"/>
          </a:xfrm>
          <a:custGeom>
            <a:avLst/>
            <a:gdLst/>
            <a:ahLst/>
            <a:cxnLst/>
            <a:rect l="l" t="t" r="r" b="b"/>
            <a:pathLst>
              <a:path w="215900" h="12065">
                <a:moveTo>
                  <a:pt x="215309" y="11937"/>
                </a:moveTo>
                <a:lnTo>
                  <a:pt x="84340" y="8762"/>
                </a:ln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32540" y="6911334"/>
            <a:ext cx="73660" cy="5715"/>
          </a:xfrm>
          <a:custGeom>
            <a:avLst/>
            <a:gdLst/>
            <a:ahLst/>
            <a:cxnLst/>
            <a:rect l="l" t="t" r="r" b="b"/>
            <a:pathLst>
              <a:path w="73660" h="5715">
                <a:moveTo>
                  <a:pt x="73121" y="0"/>
                </a:moveTo>
                <a:lnTo>
                  <a:pt x="0" y="522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27617" y="6978225"/>
            <a:ext cx="33020" cy="17780"/>
          </a:xfrm>
          <a:custGeom>
            <a:avLst/>
            <a:gdLst/>
            <a:ahLst/>
            <a:cxnLst/>
            <a:rect l="l" t="t" r="r" b="b"/>
            <a:pathLst>
              <a:path w="33020" h="17779">
                <a:moveTo>
                  <a:pt x="32929" y="17246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91007" y="6908952"/>
            <a:ext cx="5080" cy="6985"/>
          </a:xfrm>
          <a:custGeom>
            <a:avLst/>
            <a:gdLst/>
            <a:ahLst/>
            <a:cxnLst/>
            <a:rect l="l" t="t" r="r" b="b"/>
            <a:pathLst>
              <a:path w="5079" h="6984">
                <a:moveTo>
                  <a:pt x="4609" y="0"/>
                </a:moveTo>
                <a:lnTo>
                  <a:pt x="0" y="670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625836" y="6672416"/>
            <a:ext cx="308610" cy="109220"/>
          </a:xfrm>
          <a:custGeom>
            <a:avLst/>
            <a:gdLst/>
            <a:ahLst/>
            <a:cxnLst/>
            <a:rect l="l" t="t" r="r" b="b"/>
            <a:pathLst>
              <a:path w="308609" h="109220">
                <a:moveTo>
                  <a:pt x="0" y="0"/>
                </a:moveTo>
                <a:lnTo>
                  <a:pt x="71439" y="11111"/>
                </a:lnTo>
                <a:lnTo>
                  <a:pt x="135739" y="25398"/>
                </a:lnTo>
                <a:lnTo>
                  <a:pt x="191299" y="41274"/>
                </a:lnTo>
                <a:lnTo>
                  <a:pt x="238919" y="58736"/>
                </a:lnTo>
                <a:lnTo>
                  <a:pt x="276229" y="78580"/>
                </a:lnTo>
                <a:lnTo>
                  <a:pt x="303219" y="99217"/>
                </a:lnTo>
                <a:lnTo>
                  <a:pt x="308159" y="10892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85106" y="6520809"/>
            <a:ext cx="107950" cy="44450"/>
          </a:xfrm>
          <a:custGeom>
            <a:avLst/>
            <a:gdLst/>
            <a:ahLst/>
            <a:cxnLst/>
            <a:rect l="l" t="t" r="r" b="b"/>
            <a:pathLst>
              <a:path w="107950" h="44450">
                <a:moveTo>
                  <a:pt x="107499" y="0"/>
                </a:moveTo>
                <a:lnTo>
                  <a:pt x="80509" y="15080"/>
                </a:lnTo>
                <a:lnTo>
                  <a:pt x="47169" y="29368"/>
                </a:lnTo>
                <a:lnTo>
                  <a:pt x="7489" y="42068"/>
                </a:lnTo>
                <a:lnTo>
                  <a:pt x="0" y="4394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045736" y="6322372"/>
            <a:ext cx="7620" cy="25400"/>
          </a:xfrm>
          <a:custGeom>
            <a:avLst/>
            <a:gdLst/>
            <a:ahLst/>
            <a:cxnLst/>
            <a:rect l="l" t="t" r="r" b="b"/>
            <a:pathLst>
              <a:path w="7620" h="25400">
                <a:moveTo>
                  <a:pt x="0" y="0"/>
                </a:moveTo>
                <a:lnTo>
                  <a:pt x="7139" y="25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21016" y="6273535"/>
            <a:ext cx="38100" cy="19685"/>
          </a:xfrm>
          <a:custGeom>
            <a:avLst/>
            <a:gdLst/>
            <a:ahLst/>
            <a:cxnLst/>
            <a:rect l="l" t="t" r="r" b="b"/>
            <a:pathLst>
              <a:path w="38100" h="19685">
                <a:moveTo>
                  <a:pt x="0" y="19468"/>
                </a:moveTo>
                <a:lnTo>
                  <a:pt x="32539" y="2005"/>
                </a:lnTo>
                <a:lnTo>
                  <a:pt x="3802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27277" y="6303694"/>
            <a:ext cx="5715" cy="4445"/>
          </a:xfrm>
          <a:custGeom>
            <a:avLst/>
            <a:gdLst/>
            <a:ahLst/>
            <a:cxnLst/>
            <a:rect l="l" t="t" r="r" b="b"/>
            <a:pathLst>
              <a:path w="5715" h="4445">
                <a:moveTo>
                  <a:pt x="0" y="4390"/>
                </a:moveTo>
                <a:lnTo>
                  <a:pt x="564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12888" y="6317609"/>
            <a:ext cx="93345" cy="19050"/>
          </a:xfrm>
          <a:custGeom>
            <a:avLst/>
            <a:gdLst/>
            <a:ahLst/>
            <a:cxnLst/>
            <a:rect l="l" t="t" r="r" b="b"/>
            <a:pathLst>
              <a:path w="93345" h="19050">
                <a:moveTo>
                  <a:pt x="0" y="0"/>
                </a:moveTo>
                <a:lnTo>
                  <a:pt x="67469" y="12699"/>
                </a:lnTo>
                <a:lnTo>
                  <a:pt x="93029" y="18523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602449" y="6500965"/>
            <a:ext cx="23495" cy="28575"/>
          </a:xfrm>
          <a:custGeom>
            <a:avLst/>
            <a:gdLst/>
            <a:ahLst/>
            <a:cxnLst/>
            <a:rect l="l" t="t" r="r" b="b"/>
            <a:pathLst>
              <a:path w="23495" h="28575">
                <a:moveTo>
                  <a:pt x="23018" y="28574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28619" y="6676599"/>
            <a:ext cx="120014" cy="114300"/>
          </a:xfrm>
          <a:custGeom>
            <a:avLst/>
            <a:gdLst/>
            <a:ahLst/>
            <a:cxnLst/>
            <a:rect l="l" t="t" r="r" b="b"/>
            <a:pathLst>
              <a:path w="120014" h="114300">
                <a:moveTo>
                  <a:pt x="119595" y="0"/>
                </a:moveTo>
                <a:lnTo>
                  <a:pt x="0" y="45031"/>
                </a:lnTo>
                <a:lnTo>
                  <a:pt x="107784" y="113687"/>
                </a:lnTo>
                <a:lnTo>
                  <a:pt x="1195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94544" y="6854126"/>
            <a:ext cx="118110" cy="114300"/>
          </a:xfrm>
          <a:custGeom>
            <a:avLst/>
            <a:gdLst/>
            <a:ahLst/>
            <a:cxnLst/>
            <a:rect l="l" t="t" r="r" b="b"/>
            <a:pathLst>
              <a:path w="118110" h="114300">
                <a:moveTo>
                  <a:pt x="109931" y="0"/>
                </a:moveTo>
                <a:lnTo>
                  <a:pt x="0" y="65148"/>
                </a:lnTo>
                <a:lnTo>
                  <a:pt x="118071" y="114010"/>
                </a:lnTo>
                <a:lnTo>
                  <a:pt x="1099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93869" y="6960551"/>
            <a:ext cx="128270" cy="104139"/>
          </a:xfrm>
          <a:custGeom>
            <a:avLst/>
            <a:gdLst/>
            <a:ahLst/>
            <a:cxnLst/>
            <a:rect l="l" t="t" r="r" b="b"/>
            <a:pathLst>
              <a:path w="128270" h="104140">
                <a:moveTo>
                  <a:pt x="0" y="0"/>
                </a:moveTo>
                <a:lnTo>
                  <a:pt x="74726" y="103659"/>
                </a:lnTo>
                <a:lnTo>
                  <a:pt x="127774" y="24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069431" y="6820491"/>
            <a:ext cx="112395" cy="127000"/>
          </a:xfrm>
          <a:custGeom>
            <a:avLst/>
            <a:gdLst/>
            <a:ahLst/>
            <a:cxnLst/>
            <a:rect l="l" t="t" r="r" b="b"/>
            <a:pathLst>
              <a:path w="112395" h="127000">
                <a:moveTo>
                  <a:pt x="17652" y="0"/>
                </a:moveTo>
                <a:lnTo>
                  <a:pt x="0" y="126564"/>
                </a:lnTo>
                <a:lnTo>
                  <a:pt x="111836" y="64754"/>
                </a:lnTo>
                <a:lnTo>
                  <a:pt x="17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848500" y="6687505"/>
            <a:ext cx="102870" cy="128270"/>
          </a:xfrm>
          <a:custGeom>
            <a:avLst/>
            <a:gdLst/>
            <a:ahLst/>
            <a:cxnLst/>
            <a:rect l="l" t="t" r="r" b="b"/>
            <a:pathLst>
              <a:path w="102870" h="128270">
                <a:moveTo>
                  <a:pt x="101854" y="0"/>
                </a:moveTo>
                <a:lnTo>
                  <a:pt x="0" y="51856"/>
                </a:lnTo>
                <a:lnTo>
                  <a:pt x="102781" y="127787"/>
                </a:lnTo>
                <a:lnTo>
                  <a:pt x="1018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248144" y="6490828"/>
            <a:ext cx="125095" cy="111125"/>
          </a:xfrm>
          <a:custGeom>
            <a:avLst/>
            <a:gdLst/>
            <a:ahLst/>
            <a:cxnLst/>
            <a:rect l="l" t="t" r="r" b="b"/>
            <a:pathLst>
              <a:path w="125095" h="111125">
                <a:moveTo>
                  <a:pt x="97027" y="0"/>
                </a:moveTo>
                <a:lnTo>
                  <a:pt x="0" y="83165"/>
                </a:lnTo>
                <a:lnTo>
                  <a:pt x="124752" y="110887"/>
                </a:lnTo>
                <a:lnTo>
                  <a:pt x="970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977240" y="6258942"/>
            <a:ext cx="110489" cy="125730"/>
          </a:xfrm>
          <a:custGeom>
            <a:avLst/>
            <a:gdLst/>
            <a:ahLst/>
            <a:cxnLst/>
            <a:rect l="l" t="t" r="r" b="b"/>
            <a:pathLst>
              <a:path w="110490" h="125729">
                <a:moveTo>
                  <a:pt x="110020" y="0"/>
                </a:moveTo>
                <a:lnTo>
                  <a:pt x="0" y="30952"/>
                </a:lnTo>
                <a:lnTo>
                  <a:pt x="85953" y="125510"/>
                </a:lnTo>
                <a:lnTo>
                  <a:pt x="1100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067869" y="6246013"/>
            <a:ext cx="127000" cy="107950"/>
          </a:xfrm>
          <a:custGeom>
            <a:avLst/>
            <a:gdLst/>
            <a:ahLst/>
            <a:cxnLst/>
            <a:rect l="l" t="t" r="r" b="b"/>
            <a:pathLst>
              <a:path w="127000" h="107950">
                <a:moveTo>
                  <a:pt x="0" y="0"/>
                </a:moveTo>
                <a:lnTo>
                  <a:pt x="39217" y="107355"/>
                </a:lnTo>
                <a:lnTo>
                  <a:pt x="126974" y="144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37695" y="6280305"/>
            <a:ext cx="125730" cy="115570"/>
          </a:xfrm>
          <a:custGeom>
            <a:avLst/>
            <a:gdLst/>
            <a:ahLst/>
            <a:cxnLst/>
            <a:rect l="l" t="t" r="r" b="b"/>
            <a:pathLst>
              <a:path w="125729" h="115570">
                <a:moveTo>
                  <a:pt x="125310" y="0"/>
                </a:moveTo>
                <a:lnTo>
                  <a:pt x="0" y="25062"/>
                </a:lnTo>
                <a:lnTo>
                  <a:pt x="70167" y="115285"/>
                </a:lnTo>
                <a:lnTo>
                  <a:pt x="1253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18926" y="6263488"/>
            <a:ext cx="124460" cy="111760"/>
          </a:xfrm>
          <a:custGeom>
            <a:avLst/>
            <a:gdLst/>
            <a:ahLst/>
            <a:cxnLst/>
            <a:rect l="l" t="t" r="r" b="b"/>
            <a:pathLst>
              <a:path w="124459" h="111760">
                <a:moveTo>
                  <a:pt x="25400" y="0"/>
                </a:moveTo>
                <a:lnTo>
                  <a:pt x="0" y="111441"/>
                </a:lnTo>
                <a:lnTo>
                  <a:pt x="124142" y="81111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578555" y="6471298"/>
            <a:ext cx="116205" cy="125095"/>
          </a:xfrm>
          <a:custGeom>
            <a:avLst/>
            <a:gdLst/>
            <a:ahLst/>
            <a:cxnLst/>
            <a:rect l="l" t="t" r="r" b="b"/>
            <a:pathLst>
              <a:path w="116204" h="125095">
                <a:moveTo>
                  <a:pt x="0" y="0"/>
                </a:moveTo>
                <a:lnTo>
                  <a:pt x="27190" y="124862"/>
                </a:lnTo>
                <a:lnTo>
                  <a:pt x="116204" y="5315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79500" y="1035050"/>
            <a:ext cx="8039734" cy="5988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Platzhalter "%" ; "_"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ts val="284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"%" steht für </a:t>
            </a:r>
            <a:r>
              <a:rPr sz="2400" spc="-5" dirty="0">
                <a:latin typeface="Tahoma"/>
                <a:cs typeface="Tahoma"/>
              </a:rPr>
              <a:t>beliebig viele (auch gar </a:t>
            </a:r>
            <a:r>
              <a:rPr sz="2400" spc="-10" dirty="0">
                <a:latin typeface="Tahoma"/>
                <a:cs typeface="Tahoma"/>
              </a:rPr>
              <a:t>kein)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Zeichen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"_" steht für genau </a:t>
            </a:r>
            <a:r>
              <a:rPr sz="2400" spc="-5" dirty="0" err="1">
                <a:latin typeface="Tahoma"/>
                <a:cs typeface="Tahoma"/>
              </a:rPr>
              <a:t>ein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15" dirty="0" err="1">
                <a:latin typeface="Tahoma"/>
                <a:cs typeface="Tahoma"/>
              </a:rPr>
              <a:t>Zeichen</a:t>
            </a:r>
            <a:endParaRPr sz="2400" dirty="0">
              <a:latin typeface="Tahoma"/>
              <a:cs typeface="Tahoma"/>
            </a:endParaRPr>
          </a:p>
          <a:p>
            <a:pPr marL="264160">
              <a:lnSpc>
                <a:spcPct val="100000"/>
              </a:lnSpc>
              <a:spcBef>
                <a:spcPts val="1625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26416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Studenten</a:t>
            </a:r>
            <a:endParaRPr sz="2400" dirty="0">
              <a:latin typeface="Tahoma"/>
              <a:cs typeface="Tahoma"/>
            </a:endParaRPr>
          </a:p>
          <a:p>
            <a:pPr marL="26416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Name </a:t>
            </a:r>
            <a:r>
              <a:rPr sz="2400" b="1" dirty="0">
                <a:latin typeface="Tahoma"/>
                <a:cs typeface="Tahoma"/>
              </a:rPr>
              <a:t>like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lang="en-GB" sz="2400" b="1" spc="-5" dirty="0">
                <a:latin typeface="Tahoma"/>
                <a:cs typeface="Tahoma"/>
              </a:rPr>
              <a:t>'</a:t>
            </a:r>
            <a:r>
              <a:rPr sz="2400" spc="-5" dirty="0" err="1">
                <a:latin typeface="Tahoma"/>
                <a:cs typeface="Tahoma"/>
              </a:rPr>
              <a:t>T%eophrastos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00" dirty="0">
              <a:latin typeface="Times New Roman"/>
              <a:cs typeface="Times New Roman"/>
            </a:endParaRPr>
          </a:p>
          <a:p>
            <a:pPr marL="264160">
              <a:lnSpc>
                <a:spcPct val="100000"/>
              </a:lnSpc>
            </a:pPr>
            <a:r>
              <a:rPr sz="2400" b="1" spc="-5" dirty="0">
                <a:latin typeface="Tahoma"/>
                <a:cs typeface="Tahoma"/>
              </a:rPr>
              <a:t>select distinct</a:t>
            </a:r>
            <a:r>
              <a:rPr sz="2400" b="1" spc="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s.Name</a:t>
            </a:r>
            <a:endParaRPr sz="2400" dirty="0">
              <a:latin typeface="Tahoma"/>
              <a:cs typeface="Tahoma"/>
            </a:endParaRPr>
          </a:p>
          <a:p>
            <a:pPr marL="26416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5" dirty="0">
                <a:latin typeface="Tahoma"/>
                <a:cs typeface="Tahoma"/>
              </a:rPr>
              <a:t>Vorlesungen </a:t>
            </a:r>
            <a:r>
              <a:rPr sz="2400" spc="-105" dirty="0">
                <a:latin typeface="Tahoma"/>
                <a:cs typeface="Tahoma"/>
              </a:rPr>
              <a:t>v,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en-GB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 h, Studenten</a:t>
            </a:r>
            <a:r>
              <a:rPr sz="2400" spc="1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</a:t>
            </a:r>
          </a:p>
          <a:p>
            <a:pPr marL="26416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s.MatrNr = </a:t>
            </a:r>
            <a:r>
              <a:rPr sz="2400" dirty="0">
                <a:latin typeface="Tahoma"/>
                <a:cs typeface="Tahoma"/>
              </a:rPr>
              <a:t>h.MatrNr </a:t>
            </a:r>
            <a:r>
              <a:rPr sz="2400" b="1" spc="-5" dirty="0">
                <a:latin typeface="Tahoma"/>
                <a:cs typeface="Tahoma"/>
              </a:rPr>
              <a:t>and </a:t>
            </a:r>
            <a:r>
              <a:rPr sz="2400" spc="-20" dirty="0">
                <a:latin typeface="Tahoma"/>
                <a:cs typeface="Tahoma"/>
              </a:rPr>
              <a:t>h.VorlNr </a:t>
            </a:r>
            <a:r>
              <a:rPr sz="2400" spc="-5" dirty="0">
                <a:latin typeface="Tahoma"/>
                <a:cs typeface="Tahoma"/>
              </a:rPr>
              <a:t>= </a:t>
            </a:r>
            <a:r>
              <a:rPr sz="2400" spc="-40" dirty="0">
                <a:latin typeface="Tahoma"/>
                <a:cs typeface="Tahoma"/>
              </a:rPr>
              <a:t>v.VorlNr</a:t>
            </a:r>
            <a:r>
              <a:rPr sz="2400" spc="9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and</a:t>
            </a:r>
            <a:endParaRPr sz="2400" dirty="0">
              <a:latin typeface="Tahoma"/>
              <a:cs typeface="Tahoma"/>
            </a:endParaRPr>
          </a:p>
          <a:p>
            <a:pPr marR="2708910" algn="ctr">
              <a:lnSpc>
                <a:spcPct val="100000"/>
              </a:lnSpc>
              <a:spcBef>
                <a:spcPts val="1420"/>
              </a:spcBef>
            </a:pPr>
            <a:r>
              <a:rPr sz="2400" spc="-30" dirty="0">
                <a:latin typeface="Tahoma"/>
                <a:cs typeface="Tahoma"/>
              </a:rPr>
              <a:t>v.Titel </a:t>
            </a:r>
            <a:r>
              <a:rPr sz="2400" b="1" dirty="0">
                <a:latin typeface="Tahoma"/>
                <a:cs typeface="Tahoma"/>
              </a:rPr>
              <a:t>like</a:t>
            </a:r>
            <a:r>
              <a:rPr sz="2400" b="1" spc="65" dirty="0">
                <a:latin typeface="Tahoma"/>
                <a:cs typeface="Tahoma"/>
              </a:rPr>
              <a:t> </a:t>
            </a:r>
            <a:r>
              <a:rPr lang="en-GB" sz="2400" b="1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%</a:t>
            </a:r>
            <a:r>
              <a:rPr sz="2400" spc="-5" dirty="0" err="1">
                <a:latin typeface="Tahoma"/>
                <a:cs typeface="Tahoma"/>
              </a:rPr>
              <a:t>thik</a:t>
            </a:r>
            <a:r>
              <a:rPr sz="2400" spc="-5" dirty="0">
                <a:latin typeface="Tahoma"/>
                <a:cs typeface="Tahoma"/>
              </a:rPr>
              <a:t>%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;</a:t>
            </a:r>
            <a:endParaRPr lang="en-GB" sz="2400" dirty="0">
              <a:latin typeface="Tahoma"/>
              <a:cs typeface="Tahoma"/>
            </a:endParaRPr>
          </a:p>
          <a:p>
            <a:pPr marL="4692650" marR="441325" indent="292100">
              <a:lnSpc>
                <a:spcPts val="2800"/>
              </a:lnSpc>
              <a:spcBef>
                <a:spcPts val="785"/>
              </a:spcBef>
            </a:pPr>
            <a:r>
              <a:rPr lang="en-GB" sz="2400" spc="-5" dirty="0" err="1">
                <a:latin typeface="Arial"/>
                <a:cs typeface="Arial"/>
              </a:rPr>
              <a:t>Suchbaum</a:t>
            </a:r>
            <a:r>
              <a:rPr lang="en-GB" sz="2400" spc="-5" dirty="0">
                <a:latin typeface="Arial"/>
                <a:cs typeface="Arial"/>
              </a:rPr>
              <a:t>-Index  </a:t>
            </a:r>
            <a:r>
              <a:rPr lang="en-GB" sz="2400" dirty="0" err="1">
                <a:latin typeface="Arial"/>
                <a:cs typeface="Arial"/>
              </a:rPr>
              <a:t>Nicht</a:t>
            </a:r>
            <a:r>
              <a:rPr lang="en-GB" sz="2400" dirty="0">
                <a:latin typeface="Arial"/>
                <a:cs typeface="Arial"/>
              </a:rPr>
              <a:t> </a:t>
            </a:r>
            <a:r>
              <a:rPr lang="en-GB" sz="2400" dirty="0" err="1">
                <a:latin typeface="Arial"/>
                <a:cs typeface="Arial"/>
              </a:rPr>
              <a:t>sinnvoll</a:t>
            </a:r>
            <a:r>
              <a:rPr lang="en-GB" sz="2400" spc="-75" dirty="0">
                <a:latin typeface="Arial"/>
                <a:cs typeface="Arial"/>
              </a:rPr>
              <a:t> </a:t>
            </a:r>
            <a:r>
              <a:rPr lang="en-GB" sz="2400" spc="-5" dirty="0" err="1">
                <a:latin typeface="Arial"/>
                <a:cs typeface="Arial"/>
              </a:rPr>
              <a:t>nutzbar</a:t>
            </a:r>
            <a:endParaRPr lang="en-GB" sz="2400" dirty="0">
              <a:latin typeface="Arial"/>
              <a:cs typeface="Arial"/>
            </a:endParaRPr>
          </a:p>
        </p:txBody>
      </p:sp>
      <p:sp>
        <p:nvSpPr>
          <p:cNvPr id="35" name="object 6">
            <a:extLst>
              <a:ext uri="{FF2B5EF4-FFF2-40B4-BE49-F238E27FC236}">
                <a16:creationId xmlns:a16="http://schemas.microsoft.com/office/drawing/2014/main" id="{8DED8A41-AB9B-5456-8131-E32BEC108CA7}"/>
              </a:ext>
            </a:extLst>
          </p:cNvPr>
          <p:cNvSpPr txBox="1">
            <a:spLocks/>
          </p:cNvSpPr>
          <p:nvPr/>
        </p:nvSpPr>
        <p:spPr>
          <a:xfrm>
            <a:off x="927100" y="425450"/>
            <a:ext cx="6249035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de-DE" spc="-5" dirty="0"/>
              <a:t>String-Vergleiche (</a:t>
            </a:r>
            <a:r>
              <a:rPr lang="de-DE" spc="-5" dirty="0" err="1"/>
              <a:t>Suchkonstrukte</a:t>
            </a:r>
            <a:r>
              <a:rPr lang="de-DE" spc="-5" dirty="0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618654"/>
            <a:ext cx="61722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</a:tabLst>
            </a:pPr>
            <a:r>
              <a:rPr lang="de-DE" spc="-5" dirty="0"/>
              <a:t>C</a:t>
            </a:r>
            <a:r>
              <a:rPr spc="-5" dirty="0" err="1"/>
              <a:t>ase-Konstrukt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310640" y="1628289"/>
            <a:ext cx="8371205" cy="5197961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0" dirty="0">
                <a:latin typeface="Tahoma"/>
                <a:cs typeface="Tahoma"/>
              </a:rPr>
              <a:t>MatrNr, </a:t>
            </a:r>
            <a:r>
              <a:rPr sz="2400" dirty="0">
                <a:latin typeface="Tahoma"/>
                <a:cs typeface="Tahoma"/>
              </a:rPr>
              <a:t>( </a:t>
            </a:r>
            <a:r>
              <a:rPr sz="2400" b="1" spc="-5" dirty="0">
                <a:latin typeface="Tahoma"/>
                <a:cs typeface="Tahoma"/>
              </a:rPr>
              <a:t>case when </a:t>
            </a:r>
            <a:r>
              <a:rPr sz="2400" dirty="0">
                <a:latin typeface="Tahoma"/>
                <a:cs typeface="Tahoma"/>
              </a:rPr>
              <a:t>Note </a:t>
            </a:r>
            <a:r>
              <a:rPr sz="2400" spc="-5" dirty="0">
                <a:latin typeface="Tahoma"/>
                <a:cs typeface="Tahoma"/>
              </a:rPr>
              <a:t>&lt; 1.5 </a:t>
            </a:r>
            <a:r>
              <a:rPr sz="2400" b="1" spc="-5" dirty="0">
                <a:latin typeface="Tahoma"/>
                <a:cs typeface="Tahoma"/>
              </a:rPr>
              <a:t>then </a:t>
            </a:r>
            <a:r>
              <a:rPr lang="en-GB" sz="2400" b="1" spc="-5" dirty="0">
                <a:latin typeface="Tahoma"/>
                <a:cs typeface="Tahoma"/>
              </a:rPr>
              <a:t>'</a:t>
            </a:r>
            <a:r>
              <a:rPr sz="2400" spc="-5" dirty="0" err="1">
                <a:latin typeface="Tahoma"/>
                <a:cs typeface="Tahoma"/>
              </a:rPr>
              <a:t>sehr</a:t>
            </a:r>
            <a:r>
              <a:rPr sz="2400" spc="204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gut</a:t>
            </a:r>
            <a:r>
              <a:rPr lang="en-GB" sz="2400" spc="-5" dirty="0">
                <a:latin typeface="Tahoma"/>
                <a:cs typeface="Tahoma"/>
              </a:rPr>
              <a:t>'</a:t>
            </a:r>
            <a:endParaRPr sz="2400" dirty="0">
              <a:latin typeface="Tahoma"/>
              <a:cs typeface="Tahoma"/>
            </a:endParaRPr>
          </a:p>
          <a:p>
            <a:pPr marL="3060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when </a:t>
            </a:r>
            <a:r>
              <a:rPr sz="2400" dirty="0">
                <a:latin typeface="Tahoma"/>
                <a:cs typeface="Tahoma"/>
              </a:rPr>
              <a:t>Note </a:t>
            </a:r>
            <a:r>
              <a:rPr sz="2400" spc="-5" dirty="0">
                <a:latin typeface="Tahoma"/>
                <a:cs typeface="Tahoma"/>
              </a:rPr>
              <a:t>&lt; 2.5 </a:t>
            </a:r>
            <a:r>
              <a:rPr sz="2400" b="1" spc="-5" dirty="0">
                <a:latin typeface="Tahoma"/>
                <a:cs typeface="Tahoma"/>
              </a:rPr>
              <a:t>then</a:t>
            </a:r>
            <a:r>
              <a:rPr sz="2400" b="1" spc="80" dirty="0">
                <a:latin typeface="Tahoma"/>
                <a:cs typeface="Tahoma"/>
              </a:rPr>
              <a:t> </a:t>
            </a:r>
            <a:r>
              <a:rPr lang="en-GB" sz="2400" b="1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gut</a:t>
            </a:r>
            <a:r>
              <a:rPr lang="en-GB" sz="2400" spc="-5" dirty="0">
                <a:latin typeface="Tahoma"/>
                <a:cs typeface="Tahoma"/>
              </a:rPr>
              <a:t>'</a:t>
            </a:r>
            <a:endParaRPr sz="2400" dirty="0">
              <a:latin typeface="Tahoma"/>
              <a:cs typeface="Tahoma"/>
            </a:endParaRPr>
          </a:p>
          <a:p>
            <a:pPr marL="3060700" marR="5080" algn="just">
              <a:lnSpc>
                <a:spcPct val="1493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when </a:t>
            </a:r>
            <a:r>
              <a:rPr sz="2400" dirty="0">
                <a:latin typeface="Tahoma"/>
                <a:cs typeface="Tahoma"/>
              </a:rPr>
              <a:t>Note </a:t>
            </a:r>
            <a:r>
              <a:rPr sz="2400" spc="-5" dirty="0">
                <a:latin typeface="Tahoma"/>
                <a:cs typeface="Tahoma"/>
              </a:rPr>
              <a:t>&lt; 3.5 </a:t>
            </a:r>
            <a:r>
              <a:rPr sz="2400" b="1" spc="-5" dirty="0">
                <a:latin typeface="Tahoma"/>
                <a:cs typeface="Tahoma"/>
              </a:rPr>
              <a:t>then </a:t>
            </a:r>
            <a:r>
              <a:rPr lang="en-GB" sz="2400" b="1" spc="-5" dirty="0">
                <a:latin typeface="Tahoma"/>
                <a:cs typeface="Tahoma"/>
              </a:rPr>
              <a:t>'</a:t>
            </a:r>
            <a:r>
              <a:rPr sz="2400" spc="-5" dirty="0" err="1">
                <a:latin typeface="Tahoma"/>
                <a:cs typeface="Tahoma"/>
              </a:rPr>
              <a:t>befriedigend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  </a:t>
            </a:r>
            <a:r>
              <a:rPr sz="2400" b="1" spc="-5" dirty="0">
                <a:latin typeface="Tahoma"/>
                <a:cs typeface="Tahoma"/>
              </a:rPr>
              <a:t>when </a:t>
            </a:r>
            <a:r>
              <a:rPr sz="2400" dirty="0">
                <a:latin typeface="Tahoma"/>
                <a:cs typeface="Tahoma"/>
              </a:rPr>
              <a:t>Note </a:t>
            </a:r>
            <a:r>
              <a:rPr sz="2400" spc="-5" dirty="0">
                <a:latin typeface="Tahoma"/>
                <a:cs typeface="Tahoma"/>
              </a:rPr>
              <a:t>&lt; </a:t>
            </a:r>
            <a:r>
              <a:rPr sz="2400" spc="-15" dirty="0">
                <a:latin typeface="Tahoma"/>
                <a:cs typeface="Tahoma"/>
              </a:rPr>
              <a:t>4.0 </a:t>
            </a:r>
            <a:r>
              <a:rPr sz="2400" b="1" spc="-5" dirty="0">
                <a:latin typeface="Tahoma"/>
                <a:cs typeface="Tahoma"/>
              </a:rPr>
              <a:t>then </a:t>
            </a:r>
            <a:r>
              <a:rPr lang="en-GB" sz="2400" b="1" spc="-5" dirty="0">
                <a:latin typeface="Tahoma"/>
                <a:cs typeface="Tahoma"/>
              </a:rPr>
              <a:t>'</a:t>
            </a:r>
            <a:r>
              <a:rPr sz="2400" spc="-5" dirty="0" err="1">
                <a:latin typeface="Tahoma"/>
                <a:cs typeface="Tahoma"/>
              </a:rPr>
              <a:t>ausreichend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  </a:t>
            </a:r>
            <a:r>
              <a:rPr sz="2400" b="1" spc="-5" dirty="0">
                <a:latin typeface="Tahoma"/>
                <a:cs typeface="Tahoma"/>
              </a:rPr>
              <a:t>else </a:t>
            </a:r>
            <a:r>
              <a:rPr lang="en-GB" sz="2400" b="1" spc="-5" dirty="0">
                <a:latin typeface="Tahoma"/>
                <a:cs typeface="Tahoma"/>
              </a:rPr>
              <a:t>'</a:t>
            </a:r>
            <a:r>
              <a:rPr sz="2400" spc="-5" dirty="0" err="1">
                <a:latin typeface="Tahoma"/>
                <a:cs typeface="Tahoma"/>
              </a:rPr>
              <a:t>nicht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bestanden</a:t>
            </a:r>
            <a:r>
              <a:rPr lang="en-GB" sz="2400" spc="-5" dirty="0">
                <a:latin typeface="Tahoma"/>
                <a:cs typeface="Tahoma"/>
              </a:rPr>
              <a:t>'</a:t>
            </a:r>
            <a:endParaRPr sz="2400" dirty="0">
              <a:latin typeface="Tahoma"/>
              <a:cs typeface="Tahoma"/>
            </a:endParaRPr>
          </a:p>
          <a:p>
            <a:pPr marL="233426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end</a:t>
            </a:r>
            <a:r>
              <a:rPr sz="2400" spc="-5" dirty="0">
                <a:latin typeface="Tahoma"/>
                <a:cs typeface="Tahoma"/>
              </a:rPr>
              <a:t>)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</a:t>
            </a:r>
            <a:r>
              <a:rPr lang="en-GB" sz="2400" spc="-10" dirty="0" err="1">
                <a:latin typeface="Tahoma"/>
                <a:cs typeface="Tahoma"/>
              </a:rPr>
              <a:t>ue</a:t>
            </a:r>
            <a:r>
              <a:rPr sz="2400" spc="-10" dirty="0">
                <a:latin typeface="Tahoma"/>
                <a:cs typeface="Tahoma"/>
              </a:rPr>
              <a:t>fen;</a:t>
            </a:r>
            <a:endParaRPr lang="de-DE" sz="2400" spc="-1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endParaRPr sz="2400" dirty="0">
              <a:latin typeface="Tahoma"/>
              <a:cs typeface="Tahoma"/>
            </a:endParaRPr>
          </a:p>
          <a:p>
            <a:pPr marL="736600" marR="1626870" indent="-342900">
              <a:lnSpc>
                <a:spcPts val="2500"/>
              </a:lnSpc>
              <a:spcBef>
                <a:spcPts val="105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Die </a:t>
            </a:r>
            <a:r>
              <a:rPr sz="2400" b="1" dirty="0">
                <a:latin typeface="Tahoma"/>
                <a:cs typeface="Tahoma"/>
              </a:rPr>
              <a:t>erste </a:t>
            </a:r>
            <a:r>
              <a:rPr sz="2400" spc="-5" dirty="0">
                <a:latin typeface="Tahoma"/>
                <a:cs typeface="Tahoma"/>
              </a:rPr>
              <a:t>qualifizierende </a:t>
            </a:r>
            <a:r>
              <a:rPr sz="2400" b="1" spc="-5" dirty="0">
                <a:latin typeface="Tahoma"/>
                <a:cs typeface="Tahoma"/>
              </a:rPr>
              <a:t>when</a:t>
            </a:r>
            <a:r>
              <a:rPr sz="2400" spc="-5" dirty="0">
                <a:latin typeface="Tahoma"/>
                <a:cs typeface="Tahoma"/>
              </a:rPr>
              <a:t>-Klausel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wird  </a:t>
            </a:r>
            <a:r>
              <a:rPr sz="2400" dirty="0">
                <a:latin typeface="Tahoma"/>
                <a:cs typeface="Tahoma"/>
              </a:rPr>
              <a:t>ausgeführt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300" y="786143"/>
            <a:ext cx="62484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20900" algn="l"/>
              </a:tabLst>
            </a:pPr>
            <a:r>
              <a:rPr dirty="0"/>
              <a:t>Join</a:t>
            </a:r>
            <a:r>
              <a:rPr lang="de-DE" dirty="0"/>
              <a:t>-Formulierungen</a:t>
            </a:r>
            <a:r>
              <a:rPr spc="-5" dirty="0"/>
              <a:t> i</a:t>
            </a:r>
            <a:r>
              <a:rPr dirty="0"/>
              <a:t>n</a:t>
            </a:r>
            <a:r>
              <a:rPr lang="de-DE" dirty="0"/>
              <a:t> </a:t>
            </a:r>
            <a:r>
              <a:rPr dirty="0"/>
              <a:t>S</a:t>
            </a:r>
            <a:r>
              <a:rPr spc="-5" dirty="0"/>
              <a:t>QL-92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3040" y="1931976"/>
            <a:ext cx="8027034" cy="3669594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cross join:</a:t>
            </a:r>
            <a:r>
              <a:rPr sz="2400" b="1" spc="-254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Kreuzprodukt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9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b="1" spc="-5" dirty="0">
                <a:latin typeface="Tahoma"/>
                <a:cs typeface="Tahoma"/>
              </a:rPr>
              <a:t>natural join: </a:t>
            </a:r>
            <a:r>
              <a:rPr sz="2400" spc="-5" dirty="0">
                <a:latin typeface="Tahoma"/>
                <a:cs typeface="Tahoma"/>
              </a:rPr>
              <a:t>natürlicher Join (nicht alle</a:t>
            </a:r>
            <a:r>
              <a:rPr sz="2400" spc="-2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DBMS)</a:t>
            </a: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Join oder inner join: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Theta-Join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left, right oder full outer join: äußerer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Join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2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>
                <a:latin typeface="Tahoma"/>
                <a:cs typeface="Tahoma"/>
              </a:rPr>
              <a:t>union join:</a:t>
            </a:r>
            <a:r>
              <a:rPr lang="en-GB" sz="2400" spc="-5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Vereinigungs</a:t>
            </a:r>
            <a:r>
              <a:rPr sz="2400" spc="-5" dirty="0">
                <a:latin typeface="Tahoma"/>
                <a:cs typeface="Tahoma"/>
              </a:rPr>
              <a:t>-Join (wird </a:t>
            </a:r>
            <a:r>
              <a:rPr sz="2400" dirty="0">
                <a:latin typeface="Tahoma"/>
                <a:cs typeface="Tahoma"/>
              </a:rPr>
              <a:t>hier </a:t>
            </a:r>
            <a:r>
              <a:rPr sz="2400" spc="-5" dirty="0">
                <a:latin typeface="Tahoma"/>
                <a:cs typeface="Tahoma"/>
              </a:rPr>
              <a:t>nicht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vorgestellt)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355600">
              <a:lnSpc>
                <a:spcPct val="100000"/>
              </a:lnSpc>
              <a:spcBef>
                <a:spcPts val="27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50" i="1" spc="-30" dirty="0">
                <a:latin typeface="Tahoma"/>
                <a:cs typeface="Tahoma"/>
              </a:rPr>
              <a:t>R</a:t>
            </a:r>
            <a:r>
              <a:rPr sz="2475" i="1" spc="-44" baseline="-20202" dirty="0">
                <a:latin typeface="Tahoma"/>
                <a:cs typeface="Tahoma"/>
              </a:rPr>
              <a:t>1</a:t>
            </a:r>
            <a:r>
              <a:rPr sz="2450" i="1" spc="-30" dirty="0">
                <a:latin typeface="Tahoma"/>
                <a:cs typeface="Tahoma"/>
              </a:rPr>
              <a:t>,</a:t>
            </a:r>
            <a:r>
              <a:rPr sz="2450" i="1" spc="30" dirty="0">
                <a:latin typeface="Tahoma"/>
                <a:cs typeface="Tahoma"/>
              </a:rPr>
              <a:t> </a:t>
            </a:r>
            <a:r>
              <a:rPr sz="2450" i="1" spc="-35" dirty="0">
                <a:latin typeface="Tahoma"/>
                <a:cs typeface="Tahoma"/>
              </a:rPr>
              <a:t>R</a:t>
            </a:r>
            <a:r>
              <a:rPr sz="2475" i="1" spc="-52" baseline="-20202" dirty="0">
                <a:latin typeface="Tahoma"/>
                <a:cs typeface="Tahoma"/>
              </a:rPr>
              <a:t>2</a:t>
            </a:r>
            <a:endParaRPr sz="2475" baseline="-20202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160"/>
              </a:spcBef>
              <a:tabLst>
                <a:tab pos="1506220" algn="l"/>
              </a:tabLst>
            </a:pPr>
            <a:r>
              <a:rPr sz="2400" b="1" spc="-5" dirty="0">
                <a:latin typeface="Tahoma"/>
                <a:cs typeface="Tahoma"/>
              </a:rPr>
              <a:t>where	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spc="-22" baseline="-20833" dirty="0">
                <a:latin typeface="Tahoma"/>
                <a:cs typeface="Tahoma"/>
              </a:rPr>
              <a:t>1</a:t>
            </a:r>
            <a:r>
              <a:rPr sz="2450" i="1" spc="-15" dirty="0">
                <a:latin typeface="Tahoma"/>
                <a:cs typeface="Tahoma"/>
              </a:rPr>
              <a:t>.A </a:t>
            </a:r>
            <a:r>
              <a:rPr sz="2450" i="1" spc="-40" dirty="0">
                <a:latin typeface="Tahoma"/>
                <a:cs typeface="Tahoma"/>
              </a:rPr>
              <a:t>=</a:t>
            </a:r>
            <a:r>
              <a:rPr sz="2450" i="1" spc="-20" dirty="0">
                <a:latin typeface="Tahoma"/>
                <a:cs typeface="Tahoma"/>
              </a:rPr>
              <a:t> </a:t>
            </a:r>
            <a:r>
              <a:rPr sz="2450" i="1" spc="-30" dirty="0">
                <a:latin typeface="Tahoma"/>
                <a:cs typeface="Tahoma"/>
              </a:rPr>
              <a:t>R</a:t>
            </a:r>
            <a:r>
              <a:rPr sz="2475" i="1" spc="-44" baseline="-20202" dirty="0">
                <a:latin typeface="Tahoma"/>
                <a:cs typeface="Tahoma"/>
              </a:rPr>
              <a:t>2</a:t>
            </a:r>
            <a:r>
              <a:rPr sz="2450" i="1" spc="-30" dirty="0">
                <a:latin typeface="Tahoma"/>
                <a:cs typeface="Tahoma"/>
              </a:rPr>
              <a:t>.B;</a:t>
            </a:r>
            <a:endParaRPr sz="245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5940" y="5979719"/>
            <a:ext cx="2256790" cy="786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50" i="1" spc="-30" dirty="0">
                <a:latin typeface="Tahoma"/>
                <a:cs typeface="Tahoma"/>
              </a:rPr>
              <a:t>R</a:t>
            </a:r>
            <a:r>
              <a:rPr sz="2475" i="1" spc="-44" baseline="-20202" dirty="0">
                <a:latin typeface="Tahoma"/>
                <a:cs typeface="Tahoma"/>
              </a:rPr>
              <a:t>1 </a:t>
            </a:r>
            <a:r>
              <a:rPr sz="2400" b="1" dirty="0">
                <a:latin typeface="Tahoma"/>
                <a:cs typeface="Tahoma"/>
              </a:rPr>
              <a:t>join</a:t>
            </a:r>
            <a:r>
              <a:rPr sz="2400" b="1" spc="-285" dirty="0">
                <a:latin typeface="Tahoma"/>
                <a:cs typeface="Tahoma"/>
              </a:rPr>
              <a:t> </a:t>
            </a:r>
            <a:r>
              <a:rPr sz="2450" i="1" spc="-30" dirty="0">
                <a:latin typeface="Tahoma"/>
                <a:cs typeface="Tahoma"/>
              </a:rPr>
              <a:t>R</a:t>
            </a:r>
            <a:r>
              <a:rPr sz="2475" i="1" spc="-44" baseline="-20202" dirty="0">
                <a:latin typeface="Tahoma"/>
                <a:cs typeface="Tahoma"/>
              </a:rPr>
              <a:t>2</a:t>
            </a:r>
            <a:endParaRPr sz="2475" baseline="-20202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5623" y="6364039"/>
            <a:ext cx="2171700" cy="4025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b="1" dirty="0">
                <a:latin typeface="Tahoma"/>
                <a:cs typeface="Tahoma"/>
              </a:rPr>
              <a:t>on 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spc="-22" baseline="-20833" dirty="0">
                <a:latin typeface="Tahoma"/>
                <a:cs typeface="Tahoma"/>
              </a:rPr>
              <a:t>1</a:t>
            </a:r>
            <a:r>
              <a:rPr sz="2450" i="1" spc="-15" dirty="0">
                <a:latin typeface="Tahoma"/>
                <a:cs typeface="Tahoma"/>
              </a:rPr>
              <a:t>.A </a:t>
            </a:r>
            <a:r>
              <a:rPr sz="2450" i="1" spc="-40" dirty="0">
                <a:latin typeface="Tahoma"/>
                <a:cs typeface="Tahoma"/>
              </a:rPr>
              <a:t>= </a:t>
            </a:r>
            <a:r>
              <a:rPr sz="2450" i="1" spc="-30" dirty="0">
                <a:latin typeface="Tahoma"/>
                <a:cs typeface="Tahoma"/>
              </a:rPr>
              <a:t>R</a:t>
            </a:r>
            <a:r>
              <a:rPr sz="2475" i="1" spc="-44" baseline="-20202" dirty="0">
                <a:latin typeface="Tahoma"/>
                <a:cs typeface="Tahoma"/>
              </a:rPr>
              <a:t>2</a:t>
            </a:r>
            <a:r>
              <a:rPr sz="2450" i="1" spc="-30" dirty="0">
                <a:latin typeface="Tahoma"/>
                <a:cs typeface="Tahoma"/>
              </a:rPr>
              <a:t>.B;</a:t>
            </a:r>
            <a:endParaRPr sz="2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65B1-9729-5E4A-BF3F-4E16A994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/>
              <a:t>Query Plans 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EE5166-159F-7F44-8BF9-0741F3227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1539" y="2263775"/>
            <a:ext cx="8083710" cy="437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46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65B1-9729-5E4A-BF3F-4E16A994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/>
              <a:t>Query Plans 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A8D59-9558-7644-B93A-6B97CCD03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299" y="1720850"/>
            <a:ext cx="9090691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29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65B1-9729-5E4A-BF3F-4E16A994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/>
              <a:t>Query Plans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BCC525-E4FC-6540-8994-2879C3702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1794972"/>
            <a:ext cx="9006390" cy="518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74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65B1-9729-5E4A-BF3F-4E16A994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/>
              <a:t>Query Plans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88FB4-62BB-9F4F-B1A3-B1DE5FD77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294" y="1720850"/>
            <a:ext cx="8951158" cy="51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63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3576-C5BD-A949-BDDC-B5C031791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412" y="614833"/>
            <a:ext cx="6057271" cy="540000"/>
          </a:xfrm>
        </p:spPr>
        <p:txBody>
          <a:bodyPr/>
          <a:lstStyle/>
          <a:p>
            <a:r>
              <a:rPr lang="en-US" dirty="0"/>
              <a:t>Query Plan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C93C9-BB32-4146-9916-E3BD5C59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799" y="3777790"/>
            <a:ext cx="4533311" cy="25875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0F6060-1201-7248-8CAF-06D5C7A0C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100" y="3781467"/>
            <a:ext cx="4495800" cy="2587583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6072FD44-A120-1D4C-B39B-0C76B4189C42}"/>
              </a:ext>
            </a:extLst>
          </p:cNvPr>
          <p:cNvSpPr txBox="1"/>
          <p:nvPr/>
        </p:nvSpPr>
        <p:spPr>
          <a:xfrm>
            <a:off x="1461427" y="1898774"/>
            <a:ext cx="8223884" cy="1727076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lang="de-DE" sz="2400" b="1" spc="-5" dirty="0">
                <a:latin typeface="Tahoma"/>
                <a:cs typeface="Tahoma"/>
              </a:rPr>
              <a:t>Beobachtung</a:t>
            </a:r>
            <a:endParaRPr sz="2400" dirty="0">
              <a:latin typeface="Tahoma"/>
              <a:cs typeface="Tahoma"/>
            </a:endParaRPr>
          </a:p>
          <a:p>
            <a:pPr marL="355600" marR="217804" indent="-342900">
              <a:lnSpc>
                <a:spcPct val="101499"/>
              </a:lnSpc>
              <a:spcBef>
                <a:spcPts val="45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GB" sz="2400" dirty="0" err="1">
                <a:latin typeface="Tahoma"/>
                <a:cs typeface="Tahoma"/>
              </a:rPr>
              <a:t>Kein</a:t>
            </a:r>
            <a:r>
              <a:rPr lang="en-GB" sz="2400" dirty="0">
                <a:latin typeface="Tahoma"/>
                <a:cs typeface="Tahoma"/>
              </a:rPr>
              <a:t> Cross-Join</a:t>
            </a:r>
          </a:p>
          <a:p>
            <a:pPr marL="355600" marR="217804" indent="-342900">
              <a:lnSpc>
                <a:spcPct val="101499"/>
              </a:lnSpc>
              <a:spcBef>
                <a:spcPts val="45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GB" sz="2400" dirty="0" err="1">
                <a:latin typeface="Tahoma"/>
                <a:cs typeface="Tahoma"/>
              </a:rPr>
              <a:t>Gleiche</a:t>
            </a:r>
            <a:r>
              <a:rPr lang="en-GB" sz="2400" dirty="0">
                <a:latin typeface="Tahoma"/>
                <a:cs typeface="Tahoma"/>
              </a:rPr>
              <a:t> </a:t>
            </a:r>
            <a:r>
              <a:rPr lang="en-GB" sz="2400" dirty="0" err="1">
                <a:latin typeface="Tahoma"/>
                <a:cs typeface="Tahoma"/>
              </a:rPr>
              <a:t>Ausführung</a:t>
            </a:r>
            <a:r>
              <a:rPr lang="en-GB" sz="2400" dirty="0">
                <a:latin typeface="Tahoma"/>
                <a:cs typeface="Tahoma"/>
              </a:rPr>
              <a:t> in alter und </a:t>
            </a:r>
            <a:r>
              <a:rPr lang="en-GB" sz="2400" dirty="0" err="1">
                <a:latin typeface="Tahoma"/>
                <a:cs typeface="Tahoma"/>
              </a:rPr>
              <a:t>neuer</a:t>
            </a:r>
            <a:r>
              <a:rPr lang="en-GB" sz="2400" dirty="0">
                <a:latin typeface="Tahoma"/>
                <a:cs typeface="Tahoma"/>
              </a:rPr>
              <a:t> Join-Syntax</a:t>
            </a:r>
          </a:p>
          <a:p>
            <a:pPr marL="12700" marR="217804">
              <a:lnSpc>
                <a:spcPct val="101499"/>
              </a:lnSpc>
              <a:spcBef>
                <a:spcPts val="450"/>
              </a:spcBef>
            </a:pPr>
            <a:r>
              <a:rPr lang="en-GB" sz="2400" dirty="0">
                <a:latin typeface="Tahoma"/>
                <a:cs typeface="Tahoma"/>
              </a:rPr>
              <a:t> 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66536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654050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spc="-5" dirty="0" err="1"/>
              <a:t>Ä</a:t>
            </a:r>
            <a:r>
              <a:rPr dirty="0" err="1"/>
              <a:t>uße</a:t>
            </a:r>
            <a:r>
              <a:rPr spc="-5" dirty="0" err="1"/>
              <a:t>r</a:t>
            </a:r>
            <a:r>
              <a:rPr dirty="0" err="1"/>
              <a:t>e</a:t>
            </a:r>
            <a:r>
              <a:rPr lang="de-DE" dirty="0"/>
              <a:t> </a:t>
            </a:r>
            <a:r>
              <a:rPr dirty="0"/>
              <a:t>Joins</a:t>
            </a:r>
            <a:r>
              <a:rPr lang="de-DE" dirty="0"/>
              <a:t> – </a:t>
            </a:r>
            <a:r>
              <a:rPr lang="de-DE" dirty="0" err="1"/>
              <a:t>Left</a:t>
            </a:r>
            <a:r>
              <a:rPr lang="de-DE" dirty="0"/>
              <a:t> Outer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463040" y="1416050"/>
            <a:ext cx="7909559" cy="2343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56615">
              <a:lnSpc>
                <a:spcPct val="1068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p.PersNr, p.Name, </a:t>
            </a:r>
            <a:r>
              <a:rPr sz="2400" dirty="0">
                <a:latin typeface="Tahoma"/>
                <a:cs typeface="Tahoma"/>
              </a:rPr>
              <a:t>f.PersNr, </a:t>
            </a:r>
            <a:r>
              <a:rPr sz="2400" spc="-5" dirty="0">
                <a:latin typeface="Tahoma"/>
                <a:cs typeface="Tahoma"/>
              </a:rPr>
              <a:t>f.Note, f.MatrNr,  s.MatrNr,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s.Name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dirty="0">
                <a:latin typeface="Tahoma"/>
                <a:cs typeface="Tahoma"/>
              </a:rPr>
              <a:t>Professoren </a:t>
            </a:r>
            <a:r>
              <a:rPr sz="2400" spc="-5" dirty="0">
                <a:latin typeface="Tahoma"/>
                <a:cs typeface="Tahoma"/>
              </a:rPr>
              <a:t>p </a:t>
            </a:r>
            <a:r>
              <a:rPr sz="2400" b="1" spc="-5" dirty="0">
                <a:latin typeface="Tahoma"/>
                <a:cs typeface="Tahoma"/>
              </a:rPr>
              <a:t>left outer</a:t>
            </a:r>
            <a:r>
              <a:rPr sz="2400" b="1" spc="4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join</a:t>
            </a:r>
            <a:endParaRPr sz="2400" dirty="0">
              <a:latin typeface="Tahoma"/>
              <a:cs typeface="Tahoma"/>
            </a:endParaRPr>
          </a:p>
          <a:p>
            <a:pPr marL="927100" marR="5080">
              <a:lnSpc>
                <a:spcPts val="2520"/>
              </a:lnSpc>
              <a:spcBef>
                <a:spcPts val="705"/>
              </a:spcBef>
            </a:pPr>
            <a:r>
              <a:rPr sz="2400" dirty="0">
                <a:latin typeface="Tahoma"/>
                <a:cs typeface="Tahoma"/>
              </a:rPr>
              <a:t>(pr</a:t>
            </a:r>
            <a:r>
              <a:rPr lang="en-GB" sz="2400" dirty="0" err="1">
                <a:latin typeface="Tahoma"/>
                <a:cs typeface="Tahoma"/>
              </a:rPr>
              <a:t>ue</a:t>
            </a:r>
            <a:r>
              <a:rPr sz="2400" dirty="0">
                <a:latin typeface="Tahoma"/>
                <a:cs typeface="Tahoma"/>
              </a:rPr>
              <a:t>fen f </a:t>
            </a:r>
            <a:r>
              <a:rPr sz="2400" b="1" spc="-5" dirty="0">
                <a:latin typeface="Tahoma"/>
                <a:cs typeface="Tahoma"/>
              </a:rPr>
              <a:t>left outer </a:t>
            </a:r>
            <a:r>
              <a:rPr sz="2400" b="1" dirty="0">
                <a:latin typeface="Tahoma"/>
                <a:cs typeface="Tahoma"/>
              </a:rPr>
              <a:t>join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dirty="0">
                <a:latin typeface="Tahoma"/>
                <a:cs typeface="Tahoma"/>
              </a:rPr>
              <a:t>s </a:t>
            </a:r>
            <a:r>
              <a:rPr sz="2400" b="1" spc="-5" dirty="0">
                <a:latin typeface="Tahoma"/>
                <a:cs typeface="Tahoma"/>
              </a:rPr>
              <a:t>on </a:t>
            </a:r>
            <a:r>
              <a:rPr sz="2400" spc="-5" dirty="0">
                <a:latin typeface="Tahoma"/>
                <a:cs typeface="Tahoma"/>
              </a:rPr>
              <a:t>f.MatrNr=  s.MatrNr)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275"/>
              </a:spcBef>
            </a:pPr>
            <a:r>
              <a:rPr sz="2400" b="1" dirty="0">
                <a:latin typeface="Tahoma"/>
                <a:cs typeface="Tahoma"/>
              </a:rPr>
              <a:t>on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p.PersNr=f.PersNr;</a:t>
            </a:r>
            <a:endParaRPr sz="2400" dirty="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800260"/>
              </p:ext>
            </p:extLst>
          </p:nvPr>
        </p:nvGraphicFramePr>
        <p:xfrm>
          <a:off x="1163329" y="4006850"/>
          <a:ext cx="8983971" cy="2851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8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PersNr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p.Name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5" dirty="0">
                          <a:latin typeface="Tahoma"/>
                          <a:cs typeface="Tahoma"/>
                        </a:rPr>
                        <a:t>f.PersNr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5" dirty="0">
                          <a:latin typeface="Tahoma"/>
                          <a:cs typeface="Tahoma"/>
                        </a:rPr>
                        <a:t>f.Note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0" dirty="0">
                          <a:latin typeface="Tahoma"/>
                          <a:cs typeface="Tahoma"/>
                        </a:rPr>
                        <a:t>f.MatrNr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s.MatrNr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s.Name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2126</a:t>
                      </a: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Russel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28106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28106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Carnap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Sokrates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25403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25403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Jonas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Kant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27550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27550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8784" marR="139065" indent="-243204">
                        <a:lnSpc>
                          <a:spcPts val="2500"/>
                        </a:lnSpc>
                        <a:spcBef>
                          <a:spcPts val="5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ho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en-  hauer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60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Curie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889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1111250"/>
            <a:ext cx="8912860" cy="264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0" marR="1829435" indent="-1047750">
              <a:lnSpc>
                <a:spcPct val="1172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0" dirty="0">
                <a:latin typeface="Tahoma"/>
                <a:cs typeface="Tahoma"/>
              </a:rPr>
              <a:t>p.PersNr, </a:t>
            </a:r>
            <a:r>
              <a:rPr sz="2400" spc="-10" dirty="0">
                <a:latin typeface="Tahoma"/>
                <a:cs typeface="Tahoma"/>
              </a:rPr>
              <a:t>p.Name, </a:t>
            </a:r>
            <a:r>
              <a:rPr sz="2400" spc="-65" dirty="0">
                <a:latin typeface="Tahoma"/>
                <a:cs typeface="Tahoma"/>
              </a:rPr>
              <a:t>f.PersNr, </a:t>
            </a:r>
            <a:r>
              <a:rPr sz="2400" spc="-30" dirty="0">
                <a:latin typeface="Tahoma"/>
                <a:cs typeface="Tahoma"/>
              </a:rPr>
              <a:t>f.Note, </a:t>
            </a:r>
            <a:r>
              <a:rPr sz="2400" spc="-60" dirty="0">
                <a:latin typeface="Tahoma"/>
                <a:cs typeface="Tahoma"/>
              </a:rPr>
              <a:t>f.MatrNr,  </a:t>
            </a:r>
            <a:r>
              <a:rPr sz="2400" spc="-40" dirty="0">
                <a:latin typeface="Tahoma"/>
                <a:cs typeface="Tahoma"/>
              </a:rPr>
              <a:t>s.MatrNr,</a:t>
            </a:r>
            <a:r>
              <a:rPr sz="2400" spc="-5" dirty="0">
                <a:latin typeface="Tahoma"/>
                <a:cs typeface="Tahoma"/>
              </a:rPr>
              <a:t> s.Name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Professoren p </a:t>
            </a:r>
            <a:r>
              <a:rPr sz="2400" b="1" spc="-5" dirty="0">
                <a:latin typeface="Tahoma"/>
                <a:cs typeface="Tahoma"/>
              </a:rPr>
              <a:t>right outer</a:t>
            </a:r>
            <a:r>
              <a:rPr sz="2400" b="1" spc="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join</a:t>
            </a:r>
            <a:endParaRPr sz="2400" dirty="0">
              <a:latin typeface="Tahoma"/>
              <a:cs typeface="Tahoma"/>
            </a:endParaRPr>
          </a:p>
          <a:p>
            <a:pPr marL="2891155"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Tahoma"/>
                <a:cs typeface="Tahoma"/>
              </a:rPr>
              <a:t>(pr</a:t>
            </a:r>
            <a:r>
              <a:rPr lang="en-GB" sz="2400" spc="-5" dirty="0" err="1">
                <a:latin typeface="Tahoma"/>
                <a:cs typeface="Tahoma"/>
              </a:rPr>
              <a:t>ue</a:t>
            </a:r>
            <a:r>
              <a:rPr sz="2400" spc="-5" dirty="0">
                <a:latin typeface="Tahoma"/>
                <a:cs typeface="Tahoma"/>
              </a:rPr>
              <a:t>fen </a:t>
            </a:r>
            <a:r>
              <a:rPr sz="2400" dirty="0">
                <a:latin typeface="Tahoma"/>
                <a:cs typeface="Tahoma"/>
              </a:rPr>
              <a:t>f </a:t>
            </a:r>
            <a:r>
              <a:rPr sz="2400" b="1" spc="-5" dirty="0">
                <a:latin typeface="Tahoma"/>
                <a:cs typeface="Tahoma"/>
              </a:rPr>
              <a:t>right outer </a:t>
            </a:r>
            <a:r>
              <a:rPr sz="2400" b="1" dirty="0">
                <a:latin typeface="Tahoma"/>
                <a:cs typeface="Tahoma"/>
              </a:rPr>
              <a:t>join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on</a:t>
            </a:r>
            <a:endParaRPr sz="2400" dirty="0">
              <a:latin typeface="Tahoma"/>
              <a:cs typeface="Tahoma"/>
            </a:endParaRPr>
          </a:p>
          <a:p>
            <a:pPr marL="92710" algn="ctr">
              <a:lnSpc>
                <a:spcPct val="100000"/>
              </a:lnSpc>
              <a:spcBef>
                <a:spcPts val="620"/>
              </a:spcBef>
            </a:pPr>
            <a:r>
              <a:rPr sz="2400" spc="-25" dirty="0">
                <a:latin typeface="Tahoma"/>
                <a:cs typeface="Tahoma"/>
              </a:rPr>
              <a:t>f.MatrNr=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s.MatrNr)</a:t>
            </a:r>
            <a:endParaRPr sz="2400" dirty="0">
              <a:latin typeface="Tahoma"/>
              <a:cs typeface="Tahoma"/>
            </a:endParaRPr>
          </a:p>
          <a:p>
            <a:pPr marL="965200">
              <a:lnSpc>
                <a:spcPct val="100000"/>
              </a:lnSpc>
              <a:spcBef>
                <a:spcPts val="620"/>
              </a:spcBef>
            </a:pPr>
            <a:r>
              <a:rPr sz="2400" b="1" dirty="0">
                <a:latin typeface="Tahoma"/>
                <a:cs typeface="Tahoma"/>
              </a:rPr>
              <a:t>on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p.PersNr=f.PersNr;</a:t>
            </a:r>
            <a:endParaRPr sz="2400" dirty="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975437"/>
              </p:ext>
            </p:extLst>
          </p:nvPr>
        </p:nvGraphicFramePr>
        <p:xfrm>
          <a:off x="1293812" y="3854450"/>
          <a:ext cx="8983971" cy="3030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79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89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PersNr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p.Name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5" dirty="0">
                          <a:latin typeface="Tahoma"/>
                          <a:cs typeface="Tahoma"/>
                        </a:rPr>
                        <a:t>f.PersNr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5" dirty="0">
                          <a:latin typeface="Tahoma"/>
                          <a:cs typeface="Tahoma"/>
                        </a:rPr>
                        <a:t>f.Note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0" dirty="0">
                          <a:latin typeface="Tahoma"/>
                          <a:cs typeface="Tahoma"/>
                        </a:rPr>
                        <a:t>f.MatrNr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s.MatrNr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s.Name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Russel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28106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28106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Carnap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Sokrates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25403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25403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Jonas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Kant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908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27550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27550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8784" marR="139065" indent="-243204">
                        <a:lnSpc>
                          <a:spcPts val="2500"/>
                        </a:lnSpc>
                        <a:spcBef>
                          <a:spcPts val="5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ho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en-  hauer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60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</a:p>
                  </a:txBody>
                  <a:tcPr marL="0" marR="0" marT="1524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26120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Fichte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19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9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9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9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9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9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9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7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mr-IN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mr-IN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mr-IN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mr-IN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mr-IN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mr-IN"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3">
            <a:extLst>
              <a:ext uri="{FF2B5EF4-FFF2-40B4-BE49-F238E27FC236}">
                <a16:creationId xmlns:a16="http://schemas.microsoft.com/office/drawing/2014/main" id="{6A5CC43F-2A1D-23B9-0507-8D6B7C5F9B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495050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spc="-5" dirty="0" err="1"/>
              <a:t>Ä</a:t>
            </a:r>
            <a:r>
              <a:rPr dirty="0" err="1"/>
              <a:t>uße</a:t>
            </a:r>
            <a:r>
              <a:rPr spc="-5" dirty="0" err="1"/>
              <a:t>r</a:t>
            </a:r>
            <a:r>
              <a:rPr dirty="0" err="1"/>
              <a:t>e</a:t>
            </a:r>
            <a:r>
              <a:rPr lang="de-DE" dirty="0"/>
              <a:t> </a:t>
            </a:r>
            <a:r>
              <a:rPr dirty="0"/>
              <a:t>Joins</a:t>
            </a:r>
            <a:r>
              <a:rPr lang="de-DE" dirty="0"/>
              <a:t> – Right Outer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1973338"/>
            <a:ext cx="7922260" cy="257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60450" marR="537210" indent="-1047750">
              <a:lnSpc>
                <a:spcPct val="1172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0" dirty="0">
                <a:latin typeface="Tahoma"/>
                <a:cs typeface="Tahoma"/>
              </a:rPr>
              <a:t>p.PersNr, </a:t>
            </a:r>
            <a:r>
              <a:rPr sz="2400" spc="-5" dirty="0">
                <a:latin typeface="Tahoma"/>
                <a:cs typeface="Tahoma"/>
              </a:rPr>
              <a:t>p.Name, </a:t>
            </a:r>
            <a:r>
              <a:rPr sz="2400" spc="-65" dirty="0">
                <a:latin typeface="Tahoma"/>
                <a:cs typeface="Tahoma"/>
              </a:rPr>
              <a:t>f.PersNr, </a:t>
            </a:r>
            <a:r>
              <a:rPr sz="2400" spc="-30" dirty="0">
                <a:latin typeface="Tahoma"/>
                <a:cs typeface="Tahoma"/>
              </a:rPr>
              <a:t>f.Note, </a:t>
            </a:r>
            <a:r>
              <a:rPr sz="2400" spc="-60" dirty="0">
                <a:latin typeface="Tahoma"/>
                <a:cs typeface="Tahoma"/>
              </a:rPr>
              <a:t>f.MatrNr,  </a:t>
            </a:r>
            <a:r>
              <a:rPr sz="2400" spc="-40" dirty="0">
                <a:latin typeface="Tahoma"/>
                <a:cs typeface="Tahoma"/>
              </a:rPr>
              <a:t>s.MatrNr,</a:t>
            </a:r>
            <a:r>
              <a:rPr sz="2400" spc="-5" dirty="0">
                <a:latin typeface="Tahoma"/>
                <a:cs typeface="Tahoma"/>
              </a:rPr>
              <a:t> s.Name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Professoren p </a:t>
            </a:r>
            <a:r>
              <a:rPr sz="2400" b="1" spc="-5" dirty="0">
                <a:latin typeface="Tahoma"/>
                <a:cs typeface="Tahoma"/>
              </a:rPr>
              <a:t>full outer</a:t>
            </a:r>
            <a:r>
              <a:rPr sz="2400" b="1" spc="5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join</a:t>
            </a:r>
            <a:endParaRPr sz="2400" dirty="0">
              <a:latin typeface="Tahoma"/>
              <a:cs typeface="Tahoma"/>
            </a:endParaRPr>
          </a:p>
          <a:p>
            <a:pPr marL="1841500"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Tahoma"/>
                <a:cs typeface="Tahoma"/>
              </a:rPr>
              <a:t>(pr</a:t>
            </a:r>
            <a:r>
              <a:rPr lang="en-GB" sz="2400" spc="-5" dirty="0" err="1">
                <a:latin typeface="Tahoma"/>
                <a:cs typeface="Tahoma"/>
              </a:rPr>
              <a:t>ue</a:t>
            </a:r>
            <a:r>
              <a:rPr sz="2400" spc="-5" dirty="0">
                <a:latin typeface="Tahoma"/>
                <a:cs typeface="Tahoma"/>
              </a:rPr>
              <a:t>fen </a:t>
            </a:r>
            <a:r>
              <a:rPr sz="2400" dirty="0">
                <a:latin typeface="Tahoma"/>
                <a:cs typeface="Tahoma"/>
              </a:rPr>
              <a:t>f </a:t>
            </a:r>
            <a:r>
              <a:rPr sz="2400" b="1" spc="-5" dirty="0">
                <a:latin typeface="Tahoma"/>
                <a:cs typeface="Tahoma"/>
              </a:rPr>
              <a:t>full outer </a:t>
            </a:r>
            <a:r>
              <a:rPr sz="2400" b="1" dirty="0">
                <a:latin typeface="Tahoma"/>
                <a:cs typeface="Tahoma"/>
              </a:rPr>
              <a:t>join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on</a:t>
            </a:r>
            <a:endParaRPr sz="2400" dirty="0">
              <a:latin typeface="Tahoma"/>
              <a:cs typeface="Tahoma"/>
            </a:endParaRPr>
          </a:p>
          <a:p>
            <a:pPr marL="3091180">
              <a:lnSpc>
                <a:spcPct val="100000"/>
              </a:lnSpc>
              <a:spcBef>
                <a:spcPts val="45"/>
              </a:spcBef>
            </a:pPr>
            <a:r>
              <a:rPr sz="2400" spc="-25" dirty="0">
                <a:latin typeface="Tahoma"/>
                <a:cs typeface="Tahoma"/>
              </a:rPr>
              <a:t>f.MatrNr=</a:t>
            </a:r>
            <a:r>
              <a:rPr sz="2400" spc="-5" dirty="0">
                <a:latin typeface="Tahoma"/>
                <a:cs typeface="Tahoma"/>
              </a:rPr>
              <a:t> s.MatrNr)</a:t>
            </a:r>
            <a:endParaRPr sz="2400" dirty="0">
              <a:latin typeface="Tahoma"/>
              <a:cs typeface="Tahoma"/>
            </a:endParaRPr>
          </a:p>
          <a:p>
            <a:pPr marL="1250950">
              <a:lnSpc>
                <a:spcPct val="100000"/>
              </a:lnSpc>
              <a:spcBef>
                <a:spcPts val="595"/>
              </a:spcBef>
            </a:pPr>
            <a:r>
              <a:rPr sz="2400" b="1" dirty="0">
                <a:latin typeface="Tahoma"/>
                <a:cs typeface="Tahoma"/>
              </a:rPr>
              <a:t>on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p.PersNr=f.PersNr;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7AF1781-6016-2234-628C-99ACB83D5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818504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spc="-5" dirty="0" err="1"/>
              <a:t>Ä</a:t>
            </a:r>
            <a:r>
              <a:rPr dirty="0" err="1"/>
              <a:t>uße</a:t>
            </a:r>
            <a:r>
              <a:rPr spc="-5" dirty="0" err="1"/>
              <a:t>r</a:t>
            </a:r>
            <a:r>
              <a:rPr dirty="0" err="1"/>
              <a:t>e</a:t>
            </a:r>
            <a:r>
              <a:rPr lang="de-DE" dirty="0"/>
              <a:t> </a:t>
            </a:r>
            <a:r>
              <a:rPr dirty="0"/>
              <a:t>Joins</a:t>
            </a:r>
            <a:r>
              <a:rPr lang="de-DE" dirty="0"/>
              <a:t> – </a:t>
            </a:r>
            <a:r>
              <a:rPr lang="de-DE" dirty="0" err="1"/>
              <a:t>Full</a:t>
            </a:r>
            <a:r>
              <a:rPr lang="de-DE" dirty="0"/>
              <a:t> Outer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37AF1781-6016-2234-628C-99ACB83D5D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818504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spc="-5" dirty="0" err="1"/>
              <a:t>Ä</a:t>
            </a:r>
            <a:r>
              <a:rPr dirty="0" err="1"/>
              <a:t>uße</a:t>
            </a:r>
            <a:r>
              <a:rPr spc="-5" dirty="0" err="1"/>
              <a:t>r</a:t>
            </a:r>
            <a:r>
              <a:rPr dirty="0" err="1"/>
              <a:t>e</a:t>
            </a:r>
            <a:r>
              <a:rPr lang="de-DE" dirty="0"/>
              <a:t> </a:t>
            </a:r>
            <a:r>
              <a:rPr dirty="0"/>
              <a:t>Joins</a:t>
            </a:r>
            <a:r>
              <a:rPr lang="de-DE" dirty="0"/>
              <a:t> – </a:t>
            </a:r>
            <a:r>
              <a:rPr lang="de-DE" dirty="0" err="1"/>
              <a:t>Full</a:t>
            </a:r>
            <a:r>
              <a:rPr lang="de-DE" dirty="0"/>
              <a:t> Outer</a:t>
            </a:r>
            <a:endParaRPr dirty="0"/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4B0173B7-65B6-BBAC-91B3-12F585F00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948342"/>
              </p:ext>
            </p:extLst>
          </p:nvPr>
        </p:nvGraphicFramePr>
        <p:xfrm>
          <a:off x="1231900" y="2303983"/>
          <a:ext cx="8991600" cy="36840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p.PersNr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p.Name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5" dirty="0">
                          <a:latin typeface="Tahoma"/>
                          <a:cs typeface="Tahoma"/>
                        </a:rPr>
                        <a:t>f.PersNr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5" dirty="0">
                          <a:latin typeface="Tahoma"/>
                          <a:cs typeface="Tahoma"/>
                        </a:rPr>
                        <a:t>f.Note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30" dirty="0">
                          <a:latin typeface="Tahoma"/>
                          <a:cs typeface="Tahoma"/>
                        </a:rPr>
                        <a:t>f.MatrNr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s.MatrNr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s.Name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Russel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28106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28106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Carnap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Sok</a:t>
                      </a:r>
                      <a:r>
                        <a:rPr sz="2400" spc="-4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ates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2125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25403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25403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Jonas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5" dirty="0">
                          <a:latin typeface="Tahoma"/>
                          <a:cs typeface="Tahoma"/>
                        </a:rPr>
                        <a:t>Kant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321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2137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27550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27550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56235" marR="70485" indent="-243204">
                        <a:lnSpc>
                          <a:spcPts val="2500"/>
                        </a:lnSpc>
                        <a:spcBef>
                          <a:spcPts val="5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ho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p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en-  hauer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660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26120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Fichte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6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17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7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7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7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7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7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r-IN" sz="1700" dirty="0">
                          <a:latin typeface="Times New Roman"/>
                          <a:cs typeface="Times New Roman"/>
                        </a:rPr>
                        <a:t>…</a:t>
                      </a: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2136</a:t>
                      </a: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Curie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8870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615440" y="1647190"/>
            <a:ext cx="4436745" cy="220726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Vorg</a:t>
            </a:r>
            <a:r>
              <a:rPr lang="en-GB" sz="2400" spc="-20" dirty="0" err="1">
                <a:latin typeface="Tahoma"/>
                <a:cs typeface="Tahoma"/>
              </a:rPr>
              <a:t>ae</a:t>
            </a:r>
            <a:r>
              <a:rPr sz="2400" spc="-20" dirty="0">
                <a:latin typeface="Tahoma"/>
                <a:cs typeface="Tahoma"/>
              </a:rPr>
              <a:t>nger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0" dirty="0">
                <a:latin typeface="Tahoma"/>
                <a:cs typeface="Tahoma"/>
              </a:rPr>
              <a:t>voraussetzen,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927100" marR="5080" indent="-914400">
              <a:lnSpc>
                <a:spcPct val="1493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Nachfolger= </a:t>
            </a:r>
            <a:r>
              <a:rPr sz="2400" spc="-20" dirty="0">
                <a:latin typeface="Tahoma"/>
                <a:cs typeface="Tahoma"/>
              </a:rPr>
              <a:t>VorlNr </a:t>
            </a:r>
            <a:r>
              <a:rPr sz="2400" spc="-5" dirty="0">
                <a:latin typeface="Tahoma"/>
                <a:cs typeface="Tahoma"/>
              </a:rPr>
              <a:t>and  Titel= 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Der </a:t>
            </a:r>
            <a:r>
              <a:rPr sz="2400" dirty="0">
                <a:latin typeface="Tahoma"/>
                <a:cs typeface="Tahoma"/>
              </a:rPr>
              <a:t>Wiener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Kreis</a:t>
            </a:r>
            <a:r>
              <a:rPr lang="en-GB" sz="2400" spc="-5" dirty="0">
                <a:latin typeface="Tahoma"/>
                <a:cs typeface="Tahoma"/>
              </a:rPr>
              <a:t>'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D24EF0F-F250-9EA3-EE77-6AC11747B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723650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Rekursion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4D24EF0F-F250-9EA3-EE77-6AC11747B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723650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Rekursion</a:t>
            </a:r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7BBAC2E-7F50-BB09-40C2-42C68D58120C}"/>
              </a:ext>
            </a:extLst>
          </p:cNvPr>
          <p:cNvSpPr txBox="1"/>
          <p:nvPr/>
        </p:nvSpPr>
        <p:spPr>
          <a:xfrm>
            <a:off x="6251747" y="2113181"/>
            <a:ext cx="127635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Vorlesungen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DCF9032-23BD-A41C-DF82-B2D89BED5197}"/>
              </a:ext>
            </a:extLst>
          </p:cNvPr>
          <p:cNvSpPr txBox="1"/>
          <p:nvPr/>
        </p:nvSpPr>
        <p:spPr>
          <a:xfrm>
            <a:off x="5122898" y="2426629"/>
            <a:ext cx="57467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VorlNr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D4FBF60-28A0-661F-2448-2009236DDA1D}"/>
              </a:ext>
            </a:extLst>
          </p:cNvPr>
          <p:cNvSpPr txBox="1"/>
          <p:nvPr/>
        </p:nvSpPr>
        <p:spPr>
          <a:xfrm>
            <a:off x="6399813" y="2426629"/>
            <a:ext cx="3956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T</a:t>
            </a:r>
            <a:r>
              <a:rPr sz="1400" b="1" spc="-5" dirty="0">
                <a:latin typeface="Tahoma"/>
                <a:cs typeface="Tahoma"/>
              </a:rPr>
              <a:t>ite</a:t>
            </a:r>
            <a:r>
              <a:rPr sz="1400" b="1" dirty="0">
                <a:latin typeface="Tahoma"/>
                <a:cs typeface="Tahoma"/>
              </a:rPr>
              <a:t>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3CF4878B-E693-2CE9-1414-77C44CE4C6A1}"/>
              </a:ext>
            </a:extLst>
          </p:cNvPr>
          <p:cNvSpPr txBox="1"/>
          <p:nvPr/>
        </p:nvSpPr>
        <p:spPr>
          <a:xfrm>
            <a:off x="7469974" y="2426629"/>
            <a:ext cx="4083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S</a:t>
            </a:r>
            <a:r>
              <a:rPr sz="1400" b="1" spc="-5" dirty="0">
                <a:latin typeface="Tahoma"/>
                <a:cs typeface="Tahoma"/>
              </a:rPr>
              <a:t>W</a:t>
            </a:r>
            <a:r>
              <a:rPr sz="1400" b="1" dirty="0"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03E35EF-8943-6255-E0F4-7AD4217AC2A1}"/>
              </a:ext>
            </a:extLst>
          </p:cNvPr>
          <p:cNvSpPr txBox="1"/>
          <p:nvPr/>
        </p:nvSpPr>
        <p:spPr>
          <a:xfrm>
            <a:off x="7912310" y="2426629"/>
            <a:ext cx="807720" cy="4051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1465" indent="-292100">
              <a:lnSpc>
                <a:spcPts val="1500"/>
              </a:lnSpc>
              <a:spcBef>
                <a:spcPts val="200"/>
              </a:spcBef>
            </a:pPr>
            <a:r>
              <a:rPr sz="1400" b="1" dirty="0">
                <a:latin typeface="Tahoma"/>
                <a:cs typeface="Tahoma"/>
              </a:rPr>
              <a:t>g</a:t>
            </a:r>
            <a:r>
              <a:rPr sz="1400" b="1" spc="-5" dirty="0">
                <a:latin typeface="Tahoma"/>
                <a:cs typeface="Tahoma"/>
              </a:rPr>
              <a:t>elese</a:t>
            </a:r>
            <a:r>
              <a:rPr sz="1400" b="1" dirty="0">
                <a:latin typeface="Tahoma"/>
                <a:cs typeface="Tahoma"/>
              </a:rPr>
              <a:t>nV  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E4F6B10-29DD-BBCD-5DEB-CF82AFA52B19}"/>
              </a:ext>
            </a:extLst>
          </p:cNvPr>
          <p:cNvSpPr txBox="1"/>
          <p:nvPr/>
        </p:nvSpPr>
        <p:spPr>
          <a:xfrm>
            <a:off x="1992833" y="3984843"/>
            <a:ext cx="135509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voraussetzen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AAD19849-8794-0369-E8EC-A428F272C32F}"/>
              </a:ext>
            </a:extLst>
          </p:cNvPr>
          <p:cNvSpPr txBox="1"/>
          <p:nvPr/>
        </p:nvSpPr>
        <p:spPr>
          <a:xfrm>
            <a:off x="1647756" y="4298292"/>
            <a:ext cx="93408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Vorgänger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F38A12AA-823B-808B-A49A-0CF838A5DF01}"/>
              </a:ext>
            </a:extLst>
          </p:cNvPr>
          <p:cNvSpPr txBox="1"/>
          <p:nvPr/>
        </p:nvSpPr>
        <p:spPr>
          <a:xfrm>
            <a:off x="2693645" y="4298292"/>
            <a:ext cx="97726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Nachfo</a:t>
            </a:r>
            <a:r>
              <a:rPr sz="1400" b="1" spc="-5" dirty="0">
                <a:latin typeface="Tahoma"/>
                <a:cs typeface="Tahoma"/>
              </a:rPr>
              <a:t>l</a:t>
            </a:r>
            <a:r>
              <a:rPr sz="1400" b="1" dirty="0">
                <a:latin typeface="Tahoma"/>
                <a:cs typeface="Tahoma"/>
              </a:rPr>
              <a:t>g</a:t>
            </a:r>
            <a:r>
              <a:rPr sz="1400" b="1" spc="-5" dirty="0">
                <a:latin typeface="Tahoma"/>
                <a:cs typeface="Tahoma"/>
              </a:rPr>
              <a:t>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AED2CEA-33FE-6200-AD6F-877FBBDD25AA}"/>
              </a:ext>
            </a:extLst>
          </p:cNvPr>
          <p:cNvSpPr txBox="1"/>
          <p:nvPr/>
        </p:nvSpPr>
        <p:spPr>
          <a:xfrm>
            <a:off x="6251747" y="2113181"/>
            <a:ext cx="127635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Vorlesungen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CB7EAD05-7508-973E-D166-D007FC1110CA}"/>
              </a:ext>
            </a:extLst>
          </p:cNvPr>
          <p:cNvSpPr txBox="1"/>
          <p:nvPr/>
        </p:nvSpPr>
        <p:spPr>
          <a:xfrm>
            <a:off x="5122898" y="2426629"/>
            <a:ext cx="57467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VorlNr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BE9ECFBE-AE9F-EF27-3FE6-B6F7579E0EDF}"/>
              </a:ext>
            </a:extLst>
          </p:cNvPr>
          <p:cNvSpPr txBox="1"/>
          <p:nvPr/>
        </p:nvSpPr>
        <p:spPr>
          <a:xfrm>
            <a:off x="6399813" y="2426629"/>
            <a:ext cx="3956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T</a:t>
            </a:r>
            <a:r>
              <a:rPr sz="1400" b="1" spc="-5" dirty="0">
                <a:latin typeface="Tahoma"/>
                <a:cs typeface="Tahoma"/>
              </a:rPr>
              <a:t>ite</a:t>
            </a:r>
            <a:r>
              <a:rPr sz="1400" b="1" dirty="0">
                <a:latin typeface="Tahoma"/>
                <a:cs typeface="Tahoma"/>
              </a:rPr>
              <a:t>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719D635B-B1F7-8B86-27BC-D055D368D333}"/>
              </a:ext>
            </a:extLst>
          </p:cNvPr>
          <p:cNvSpPr txBox="1"/>
          <p:nvPr/>
        </p:nvSpPr>
        <p:spPr>
          <a:xfrm>
            <a:off x="7469974" y="2426629"/>
            <a:ext cx="4083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S</a:t>
            </a:r>
            <a:r>
              <a:rPr sz="1400" b="1" spc="-5" dirty="0">
                <a:latin typeface="Tahoma"/>
                <a:cs typeface="Tahoma"/>
              </a:rPr>
              <a:t>W</a:t>
            </a:r>
            <a:r>
              <a:rPr sz="1400" b="1" dirty="0"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A9B991E2-724B-AAE4-454A-85D0361B9923}"/>
              </a:ext>
            </a:extLst>
          </p:cNvPr>
          <p:cNvSpPr txBox="1"/>
          <p:nvPr/>
        </p:nvSpPr>
        <p:spPr>
          <a:xfrm>
            <a:off x="7912310" y="2426629"/>
            <a:ext cx="807720" cy="4051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1465" indent="-292100">
              <a:lnSpc>
                <a:spcPts val="1500"/>
              </a:lnSpc>
              <a:spcBef>
                <a:spcPts val="200"/>
              </a:spcBef>
            </a:pPr>
            <a:r>
              <a:rPr sz="1400" b="1" dirty="0">
                <a:latin typeface="Tahoma"/>
                <a:cs typeface="Tahoma"/>
              </a:rPr>
              <a:t>g</a:t>
            </a:r>
            <a:r>
              <a:rPr sz="1400" b="1" spc="-5" dirty="0">
                <a:latin typeface="Tahoma"/>
                <a:cs typeface="Tahoma"/>
              </a:rPr>
              <a:t>elese</a:t>
            </a:r>
            <a:r>
              <a:rPr sz="1400" b="1" dirty="0">
                <a:latin typeface="Tahoma"/>
                <a:cs typeface="Tahoma"/>
              </a:rPr>
              <a:t>nV  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EBCC4E79-2583-42B8-6DF9-13D6447758C3}"/>
              </a:ext>
            </a:extLst>
          </p:cNvPr>
          <p:cNvSpPr txBox="1"/>
          <p:nvPr/>
        </p:nvSpPr>
        <p:spPr>
          <a:xfrm>
            <a:off x="1992833" y="3984843"/>
            <a:ext cx="135509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voraussetzen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701A3B47-8F36-7310-C692-DF50B0C83B07}"/>
              </a:ext>
            </a:extLst>
          </p:cNvPr>
          <p:cNvSpPr txBox="1"/>
          <p:nvPr/>
        </p:nvSpPr>
        <p:spPr>
          <a:xfrm>
            <a:off x="1647756" y="4298292"/>
            <a:ext cx="93408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Vorgänger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60F20A9E-1767-319C-157F-6083DA7F7A56}"/>
              </a:ext>
            </a:extLst>
          </p:cNvPr>
          <p:cNvSpPr txBox="1"/>
          <p:nvPr/>
        </p:nvSpPr>
        <p:spPr>
          <a:xfrm>
            <a:off x="2693645" y="4298292"/>
            <a:ext cx="97726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Nachfo</a:t>
            </a:r>
            <a:r>
              <a:rPr sz="1400" b="1" spc="-5" dirty="0">
                <a:latin typeface="Tahoma"/>
                <a:cs typeface="Tahoma"/>
              </a:rPr>
              <a:t>l</a:t>
            </a:r>
            <a:r>
              <a:rPr sz="1400" b="1" dirty="0">
                <a:latin typeface="Tahoma"/>
                <a:cs typeface="Tahoma"/>
              </a:rPr>
              <a:t>g</a:t>
            </a:r>
            <a:r>
              <a:rPr sz="1400" b="1" spc="-5" dirty="0">
                <a:latin typeface="Tahoma"/>
                <a:cs typeface="Tahoma"/>
              </a:rPr>
              <a:t>er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41A8BE82-FA15-B485-42B6-138754EBE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076636"/>
              </p:ext>
            </p:extLst>
          </p:nvPr>
        </p:nvGraphicFramePr>
        <p:xfrm>
          <a:off x="5043462" y="2073593"/>
          <a:ext cx="3960838" cy="3617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077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09245" indent="-292100">
                        <a:lnSpc>
                          <a:spcPts val="1500"/>
                        </a:lnSpc>
                        <a:spcBef>
                          <a:spcPts val="4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1" name="object 19">
            <a:extLst>
              <a:ext uri="{FF2B5EF4-FFF2-40B4-BE49-F238E27FC236}">
                <a16:creationId xmlns:a16="http://schemas.microsoft.com/office/drawing/2014/main" id="{E80559D7-EB6D-1662-6470-36B5BDBC3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18870"/>
              </p:ext>
            </p:extLst>
          </p:nvPr>
        </p:nvGraphicFramePr>
        <p:xfrm>
          <a:off x="1585887" y="3945255"/>
          <a:ext cx="2134235" cy="2576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515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0107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4D24EF0F-F250-9EA3-EE77-6AC11747B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723650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Rekursion</a:t>
            </a:r>
            <a:endParaRPr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4C67A6D-40E2-E23C-3179-B42985C8828A}"/>
              </a:ext>
            </a:extLst>
          </p:cNvPr>
          <p:cNvSpPr txBox="1"/>
          <p:nvPr/>
        </p:nvSpPr>
        <p:spPr>
          <a:xfrm>
            <a:off x="1536700" y="1781810"/>
            <a:ext cx="229044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ahoma"/>
                <a:cs typeface="Tahoma"/>
              </a:rPr>
              <a:t>Der Wiener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Kreis  </a:t>
            </a:r>
            <a:r>
              <a:rPr sz="2400" dirty="0">
                <a:latin typeface="Tahoma"/>
                <a:cs typeface="Tahoma"/>
              </a:rPr>
              <a:t>5259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827DD9AB-927C-E400-C7A1-74FFF64390C8}"/>
              </a:ext>
            </a:extLst>
          </p:cNvPr>
          <p:cNvSpPr txBox="1"/>
          <p:nvPr/>
        </p:nvSpPr>
        <p:spPr>
          <a:xfrm>
            <a:off x="1536700" y="2848610"/>
            <a:ext cx="2852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sse</a:t>
            </a:r>
            <a:r>
              <a:rPr sz="2400" spc="-5" dirty="0">
                <a:latin typeface="Tahoma"/>
                <a:cs typeface="Tahoma"/>
              </a:rPr>
              <a:t>n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ch</a:t>
            </a:r>
            <a:r>
              <a:rPr sz="2400" dirty="0">
                <a:latin typeface="Tahoma"/>
                <a:cs typeface="Tahoma"/>
              </a:rPr>
              <a:t>aftst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sz="2400" dirty="0">
                <a:latin typeface="Tahoma"/>
                <a:cs typeface="Tahoma"/>
              </a:rPr>
              <a:t>eor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67DAFFF9-0024-16E4-8D92-7E930CF4FE63}"/>
              </a:ext>
            </a:extLst>
          </p:cNvPr>
          <p:cNvSpPr txBox="1"/>
          <p:nvPr/>
        </p:nvSpPr>
        <p:spPr>
          <a:xfrm>
            <a:off x="1536700" y="3204210"/>
            <a:ext cx="691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5052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53D54226-0959-6FD8-DF05-6BC56BDFEA13}"/>
              </a:ext>
            </a:extLst>
          </p:cNvPr>
          <p:cNvSpPr txBox="1"/>
          <p:nvPr/>
        </p:nvSpPr>
        <p:spPr>
          <a:xfrm>
            <a:off x="5041902" y="2848610"/>
            <a:ext cx="1096010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oet</a:t>
            </a:r>
            <a:r>
              <a:rPr sz="2400" spc="-5" dirty="0">
                <a:latin typeface="Tahoma"/>
                <a:cs typeface="Tahoma"/>
              </a:rPr>
              <a:t>hi</a:t>
            </a:r>
            <a:r>
              <a:rPr sz="2400" dirty="0">
                <a:latin typeface="Tahoma"/>
                <a:cs typeface="Tahoma"/>
              </a:rPr>
              <a:t>k  5216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6">
            <a:extLst>
              <a:ext uri="{FF2B5EF4-FFF2-40B4-BE49-F238E27FC236}">
                <a16:creationId xmlns:a16="http://schemas.microsoft.com/office/drawing/2014/main" id="{4B54CA77-F2C2-4834-0D79-C2313CD87A68}"/>
              </a:ext>
            </a:extLst>
          </p:cNvPr>
          <p:cNvSpPr txBox="1"/>
          <p:nvPr/>
        </p:nvSpPr>
        <p:spPr>
          <a:xfrm>
            <a:off x="1536700" y="4123690"/>
            <a:ext cx="2371725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2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spc="-25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nn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ni</a:t>
            </a:r>
            <a:r>
              <a:rPr sz="2400" dirty="0">
                <a:latin typeface="Tahoma"/>
                <a:cs typeface="Tahoma"/>
              </a:rPr>
              <a:t>st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sz="2400" dirty="0">
                <a:latin typeface="Tahoma"/>
                <a:cs typeface="Tahoma"/>
              </a:rPr>
              <a:t>eor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e  5043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7">
            <a:extLst>
              <a:ext uri="{FF2B5EF4-FFF2-40B4-BE49-F238E27FC236}">
                <a16:creationId xmlns:a16="http://schemas.microsoft.com/office/drawing/2014/main" id="{A4B533C2-4670-0A57-B5F5-9049A966D177}"/>
              </a:ext>
            </a:extLst>
          </p:cNvPr>
          <p:cNvSpPr txBox="1"/>
          <p:nvPr/>
        </p:nvSpPr>
        <p:spPr>
          <a:xfrm>
            <a:off x="5194302" y="4296410"/>
            <a:ext cx="69151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hi</a:t>
            </a:r>
            <a:r>
              <a:rPr sz="2400" dirty="0">
                <a:latin typeface="Tahoma"/>
                <a:cs typeface="Tahoma"/>
              </a:rPr>
              <a:t>k  5041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8">
            <a:extLst>
              <a:ext uri="{FF2B5EF4-FFF2-40B4-BE49-F238E27FC236}">
                <a16:creationId xmlns:a16="http://schemas.microsoft.com/office/drawing/2014/main" id="{C2175BAC-A55A-7F0E-FE35-EDC35A0FF055}"/>
              </a:ext>
            </a:extLst>
          </p:cNvPr>
          <p:cNvSpPr txBox="1"/>
          <p:nvPr/>
        </p:nvSpPr>
        <p:spPr>
          <a:xfrm>
            <a:off x="7556502" y="4296410"/>
            <a:ext cx="1074420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ahoma"/>
                <a:cs typeface="Tahoma"/>
              </a:rPr>
              <a:t>Mä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ik  5049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8" name="object 9">
            <a:extLst>
              <a:ext uri="{FF2B5EF4-FFF2-40B4-BE49-F238E27FC236}">
                <a16:creationId xmlns:a16="http://schemas.microsoft.com/office/drawing/2014/main" id="{3FDCD2E2-8216-E7C7-CD79-96583BFE399B}"/>
              </a:ext>
            </a:extLst>
          </p:cNvPr>
          <p:cNvSpPr txBox="1"/>
          <p:nvPr/>
        </p:nvSpPr>
        <p:spPr>
          <a:xfrm>
            <a:off x="5118102" y="5571490"/>
            <a:ext cx="1480820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2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Gr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10" dirty="0">
                <a:latin typeface="Tahoma"/>
                <a:cs typeface="Tahoma"/>
              </a:rPr>
              <a:t>nd</a:t>
            </a:r>
            <a:r>
              <a:rPr sz="2400" dirty="0">
                <a:latin typeface="Tahoma"/>
                <a:cs typeface="Tahoma"/>
              </a:rPr>
              <a:t>z</a:t>
            </a:r>
            <a:r>
              <a:rPr sz="2400" spc="-5" dirty="0">
                <a:latin typeface="Tahoma"/>
                <a:cs typeface="Tahoma"/>
              </a:rPr>
              <a:t>ü</a:t>
            </a:r>
            <a:r>
              <a:rPr sz="2400" spc="-10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  5001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9" name="object 10">
            <a:extLst>
              <a:ext uri="{FF2B5EF4-FFF2-40B4-BE49-F238E27FC236}">
                <a16:creationId xmlns:a16="http://schemas.microsoft.com/office/drawing/2014/main" id="{6E1EAB53-586E-6120-E2D5-16B25443D78E}"/>
              </a:ext>
            </a:extLst>
          </p:cNvPr>
          <p:cNvSpPr/>
          <p:nvPr/>
        </p:nvSpPr>
        <p:spPr>
          <a:xfrm>
            <a:off x="2981962" y="2205990"/>
            <a:ext cx="0" cy="584200"/>
          </a:xfrm>
          <a:custGeom>
            <a:avLst/>
            <a:gdLst/>
            <a:ahLst/>
            <a:cxnLst/>
            <a:rect l="l" t="t" r="r" b="b"/>
            <a:pathLst>
              <a:path h="584200">
                <a:moveTo>
                  <a:pt x="0" y="0"/>
                </a:moveTo>
                <a:lnTo>
                  <a:pt x="0" y="584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>
            <a:extLst>
              <a:ext uri="{FF2B5EF4-FFF2-40B4-BE49-F238E27FC236}">
                <a16:creationId xmlns:a16="http://schemas.microsoft.com/office/drawing/2014/main" id="{E4902A29-778B-1696-3358-1496C8A9A84D}"/>
              </a:ext>
            </a:extLst>
          </p:cNvPr>
          <p:cNvSpPr/>
          <p:nvPr/>
        </p:nvSpPr>
        <p:spPr>
          <a:xfrm>
            <a:off x="2943862" y="273939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>
            <a:extLst>
              <a:ext uri="{FF2B5EF4-FFF2-40B4-BE49-F238E27FC236}">
                <a16:creationId xmlns:a16="http://schemas.microsoft.com/office/drawing/2014/main" id="{3CA4B26E-BE99-AC75-B90F-3C6B22995909}"/>
              </a:ext>
            </a:extLst>
          </p:cNvPr>
          <p:cNvSpPr/>
          <p:nvPr/>
        </p:nvSpPr>
        <p:spPr>
          <a:xfrm>
            <a:off x="2981962" y="3272790"/>
            <a:ext cx="0" cy="965200"/>
          </a:xfrm>
          <a:custGeom>
            <a:avLst/>
            <a:gdLst/>
            <a:ahLst/>
            <a:cxnLst/>
            <a:rect l="l" t="t" r="r" b="b"/>
            <a:pathLst>
              <a:path h="965200">
                <a:moveTo>
                  <a:pt x="0" y="0"/>
                </a:moveTo>
                <a:lnTo>
                  <a:pt x="0" y="965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>
            <a:extLst>
              <a:ext uri="{FF2B5EF4-FFF2-40B4-BE49-F238E27FC236}">
                <a16:creationId xmlns:a16="http://schemas.microsoft.com/office/drawing/2014/main" id="{AFF77B3B-9F61-E404-8941-87201690BCC3}"/>
              </a:ext>
            </a:extLst>
          </p:cNvPr>
          <p:cNvSpPr/>
          <p:nvPr/>
        </p:nvSpPr>
        <p:spPr>
          <a:xfrm>
            <a:off x="2943862" y="418719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>
            <a:extLst>
              <a:ext uri="{FF2B5EF4-FFF2-40B4-BE49-F238E27FC236}">
                <a16:creationId xmlns:a16="http://schemas.microsoft.com/office/drawing/2014/main" id="{91B97C6C-8F98-1CC8-CCAC-CF3065CAEE31}"/>
              </a:ext>
            </a:extLst>
          </p:cNvPr>
          <p:cNvSpPr/>
          <p:nvPr/>
        </p:nvSpPr>
        <p:spPr>
          <a:xfrm>
            <a:off x="2981962" y="3272790"/>
            <a:ext cx="2112010" cy="1207135"/>
          </a:xfrm>
          <a:custGeom>
            <a:avLst/>
            <a:gdLst/>
            <a:ahLst/>
            <a:cxnLst/>
            <a:rect l="l" t="t" r="r" b="b"/>
            <a:pathLst>
              <a:path w="2112010" h="1207135">
                <a:moveTo>
                  <a:pt x="0" y="0"/>
                </a:moveTo>
                <a:lnTo>
                  <a:pt x="2111548" y="120659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>
            <a:extLst>
              <a:ext uri="{FF2B5EF4-FFF2-40B4-BE49-F238E27FC236}">
                <a16:creationId xmlns:a16="http://schemas.microsoft.com/office/drawing/2014/main" id="{24C9746F-59A6-62BE-FD7A-25D3146E0D9A}"/>
              </a:ext>
            </a:extLst>
          </p:cNvPr>
          <p:cNvSpPr/>
          <p:nvPr/>
        </p:nvSpPr>
        <p:spPr>
          <a:xfrm>
            <a:off x="5030497" y="4421099"/>
            <a:ext cx="85090" cy="71120"/>
          </a:xfrm>
          <a:custGeom>
            <a:avLst/>
            <a:gdLst/>
            <a:ahLst/>
            <a:cxnLst/>
            <a:rect l="l" t="t" r="r" b="b"/>
            <a:pathLst>
              <a:path w="85089" h="71120">
                <a:moveTo>
                  <a:pt x="37807" y="0"/>
                </a:moveTo>
                <a:lnTo>
                  <a:pt x="0" y="66167"/>
                </a:lnTo>
                <a:lnTo>
                  <a:pt x="85064" y="70891"/>
                </a:lnTo>
                <a:lnTo>
                  <a:pt x="37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>
            <a:extLst>
              <a:ext uri="{FF2B5EF4-FFF2-40B4-BE49-F238E27FC236}">
                <a16:creationId xmlns:a16="http://schemas.microsoft.com/office/drawing/2014/main" id="{6A66DE8D-690D-EDF7-1007-C4FCF88B517D}"/>
              </a:ext>
            </a:extLst>
          </p:cNvPr>
          <p:cNvSpPr/>
          <p:nvPr/>
        </p:nvSpPr>
        <p:spPr>
          <a:xfrm>
            <a:off x="5802338" y="3272790"/>
            <a:ext cx="37465" cy="965835"/>
          </a:xfrm>
          <a:custGeom>
            <a:avLst/>
            <a:gdLst/>
            <a:ahLst/>
            <a:cxnLst/>
            <a:rect l="l" t="t" r="r" b="b"/>
            <a:pathLst>
              <a:path w="37464" h="965835">
                <a:moveTo>
                  <a:pt x="37123" y="0"/>
                </a:moveTo>
                <a:lnTo>
                  <a:pt x="0" y="9652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>
            <a:extLst>
              <a:ext uri="{FF2B5EF4-FFF2-40B4-BE49-F238E27FC236}">
                <a16:creationId xmlns:a16="http://schemas.microsoft.com/office/drawing/2014/main" id="{4BF878B5-F011-C2CD-4E78-50CC7217DE23}"/>
              </a:ext>
            </a:extLst>
          </p:cNvPr>
          <p:cNvSpPr/>
          <p:nvPr/>
        </p:nvSpPr>
        <p:spPr>
          <a:xfrm>
            <a:off x="5766221" y="4185781"/>
            <a:ext cx="76200" cy="78105"/>
          </a:xfrm>
          <a:custGeom>
            <a:avLst/>
            <a:gdLst/>
            <a:ahLst/>
            <a:cxnLst/>
            <a:rect l="l" t="t" r="r" b="b"/>
            <a:pathLst>
              <a:path w="76200" h="78104">
                <a:moveTo>
                  <a:pt x="0" y="0"/>
                </a:moveTo>
                <a:lnTo>
                  <a:pt x="35140" y="77609"/>
                </a:lnTo>
                <a:lnTo>
                  <a:pt x="76136" y="29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>
            <a:extLst>
              <a:ext uri="{FF2B5EF4-FFF2-40B4-BE49-F238E27FC236}">
                <a16:creationId xmlns:a16="http://schemas.microsoft.com/office/drawing/2014/main" id="{F4172EE4-449B-C2CA-F269-6EAC5FA09DF6}"/>
              </a:ext>
            </a:extLst>
          </p:cNvPr>
          <p:cNvSpPr/>
          <p:nvPr/>
        </p:nvSpPr>
        <p:spPr>
          <a:xfrm>
            <a:off x="2981962" y="4720590"/>
            <a:ext cx="2035810" cy="1206500"/>
          </a:xfrm>
          <a:custGeom>
            <a:avLst/>
            <a:gdLst/>
            <a:ahLst/>
            <a:cxnLst/>
            <a:rect l="l" t="t" r="r" b="b"/>
            <a:pathLst>
              <a:path w="2035810" h="1206500">
                <a:moveTo>
                  <a:pt x="0" y="0"/>
                </a:moveTo>
                <a:lnTo>
                  <a:pt x="2035548" y="120624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>
            <a:extLst>
              <a:ext uri="{FF2B5EF4-FFF2-40B4-BE49-F238E27FC236}">
                <a16:creationId xmlns:a16="http://schemas.microsoft.com/office/drawing/2014/main" id="{89060136-5EB1-536F-111B-D1D59E44021D}"/>
              </a:ext>
            </a:extLst>
          </p:cNvPr>
          <p:cNvSpPr/>
          <p:nvPr/>
        </p:nvSpPr>
        <p:spPr>
          <a:xfrm>
            <a:off x="4954386" y="5868162"/>
            <a:ext cx="85090" cy="71755"/>
          </a:xfrm>
          <a:custGeom>
            <a:avLst/>
            <a:gdLst/>
            <a:ahLst/>
            <a:cxnLst/>
            <a:rect l="l" t="t" r="r" b="b"/>
            <a:pathLst>
              <a:path w="85089" h="71754">
                <a:moveTo>
                  <a:pt x="38836" y="0"/>
                </a:moveTo>
                <a:lnTo>
                  <a:pt x="0" y="65557"/>
                </a:lnTo>
                <a:lnTo>
                  <a:pt x="84975" y="71628"/>
                </a:lnTo>
                <a:lnTo>
                  <a:pt x="388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>
            <a:extLst>
              <a:ext uri="{FF2B5EF4-FFF2-40B4-BE49-F238E27FC236}">
                <a16:creationId xmlns:a16="http://schemas.microsoft.com/office/drawing/2014/main" id="{E5DA2399-0C8B-BDC2-0B0D-35E668A9AE54}"/>
              </a:ext>
            </a:extLst>
          </p:cNvPr>
          <p:cNvSpPr/>
          <p:nvPr/>
        </p:nvSpPr>
        <p:spPr>
          <a:xfrm>
            <a:off x="5801362" y="4720590"/>
            <a:ext cx="186055" cy="965835"/>
          </a:xfrm>
          <a:custGeom>
            <a:avLst/>
            <a:gdLst/>
            <a:ahLst/>
            <a:cxnLst/>
            <a:rect l="l" t="t" r="r" b="b"/>
            <a:pathLst>
              <a:path w="186054" h="965835">
                <a:moveTo>
                  <a:pt x="0" y="0"/>
                </a:moveTo>
                <a:lnTo>
                  <a:pt x="185703" y="96565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>
            <a:extLst>
              <a:ext uri="{FF2B5EF4-FFF2-40B4-BE49-F238E27FC236}">
                <a16:creationId xmlns:a16="http://schemas.microsoft.com/office/drawing/2014/main" id="{01778267-D97B-8DE6-DD6D-7DBE8F251CB1}"/>
              </a:ext>
            </a:extLst>
          </p:cNvPr>
          <p:cNvSpPr/>
          <p:nvPr/>
        </p:nvSpPr>
        <p:spPr>
          <a:xfrm>
            <a:off x="5940059" y="5629161"/>
            <a:ext cx="74930" cy="82550"/>
          </a:xfrm>
          <a:custGeom>
            <a:avLst/>
            <a:gdLst/>
            <a:ahLst/>
            <a:cxnLst/>
            <a:rect l="l" t="t" r="r" b="b"/>
            <a:pathLst>
              <a:path w="74929" h="82550">
                <a:moveTo>
                  <a:pt x="74828" y="0"/>
                </a:moveTo>
                <a:lnTo>
                  <a:pt x="0" y="14389"/>
                </a:lnTo>
                <a:lnTo>
                  <a:pt x="51803" y="82029"/>
                </a:lnTo>
                <a:lnTo>
                  <a:pt x="74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>
            <a:extLst>
              <a:ext uri="{FF2B5EF4-FFF2-40B4-BE49-F238E27FC236}">
                <a16:creationId xmlns:a16="http://schemas.microsoft.com/office/drawing/2014/main" id="{D21564F5-C455-BE35-5012-98CDD7064180}"/>
              </a:ext>
            </a:extLst>
          </p:cNvPr>
          <p:cNvSpPr/>
          <p:nvPr/>
        </p:nvSpPr>
        <p:spPr>
          <a:xfrm>
            <a:off x="6962323" y="4720590"/>
            <a:ext cx="1201420" cy="1201420"/>
          </a:xfrm>
          <a:custGeom>
            <a:avLst/>
            <a:gdLst/>
            <a:ahLst/>
            <a:cxnLst/>
            <a:rect l="l" t="t" r="r" b="b"/>
            <a:pathLst>
              <a:path w="1201420" h="1201420">
                <a:moveTo>
                  <a:pt x="1201238" y="0"/>
                </a:moveTo>
                <a:lnTo>
                  <a:pt x="0" y="120123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3">
            <a:extLst>
              <a:ext uri="{FF2B5EF4-FFF2-40B4-BE49-F238E27FC236}">
                <a16:creationId xmlns:a16="http://schemas.microsoft.com/office/drawing/2014/main" id="{7F3CD1F3-89BD-F656-70FD-EB6CCF00DF2C}"/>
              </a:ext>
            </a:extLst>
          </p:cNvPr>
          <p:cNvSpPr/>
          <p:nvPr/>
        </p:nvSpPr>
        <p:spPr>
          <a:xfrm>
            <a:off x="6944362" y="585896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26936" y="0"/>
                </a:moveTo>
                <a:lnTo>
                  <a:pt x="0" y="80822"/>
                </a:lnTo>
                <a:lnTo>
                  <a:pt x="80822" y="53886"/>
                </a:lnTo>
                <a:lnTo>
                  <a:pt x="269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2116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4D24EF0F-F250-9EA3-EE77-6AC11747B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723650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Rekursion</a:t>
            </a:r>
            <a:endParaRPr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36215555-5221-471B-16D6-4BC011299C39}"/>
              </a:ext>
            </a:extLst>
          </p:cNvPr>
          <p:cNvSpPr txBox="1"/>
          <p:nvPr/>
        </p:nvSpPr>
        <p:spPr>
          <a:xfrm>
            <a:off x="1381544" y="3310890"/>
            <a:ext cx="7927556" cy="275336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v1</a:t>
            </a:r>
            <a:r>
              <a:rPr sz="2400" spc="-15" dirty="0">
                <a:latin typeface="Times New Roman"/>
                <a:cs typeface="Times New Roman"/>
              </a:rPr>
              <a:t>.</a:t>
            </a:r>
            <a:r>
              <a:rPr sz="2400" spc="-15" dirty="0">
                <a:latin typeface="Tahoma"/>
                <a:cs typeface="Tahoma"/>
              </a:rPr>
              <a:t>Vorg</a:t>
            </a:r>
            <a:r>
              <a:rPr lang="en-GB" sz="2400" spc="-15" dirty="0" err="1">
                <a:latin typeface="Tahoma"/>
                <a:cs typeface="Tahoma"/>
              </a:rPr>
              <a:t>ae</a:t>
            </a:r>
            <a:r>
              <a:rPr sz="2400" spc="-15" dirty="0">
                <a:latin typeface="Tahoma"/>
                <a:cs typeface="Tahoma"/>
              </a:rPr>
              <a:t>nger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0" dirty="0">
                <a:latin typeface="Tahoma"/>
                <a:cs typeface="Tahoma"/>
              </a:rPr>
              <a:t>voraussetzen </a:t>
            </a:r>
            <a:r>
              <a:rPr sz="2400" spc="-5" dirty="0">
                <a:latin typeface="Tahoma"/>
                <a:cs typeface="Tahoma"/>
              </a:rPr>
              <a:t>v1, </a:t>
            </a:r>
            <a:r>
              <a:rPr sz="2400" spc="-10" dirty="0">
                <a:latin typeface="Tahoma"/>
                <a:cs typeface="Tahoma"/>
              </a:rPr>
              <a:t>voraussetzen </a:t>
            </a:r>
            <a:r>
              <a:rPr sz="2400" spc="-5" dirty="0">
                <a:latin typeface="Tahoma"/>
                <a:cs typeface="Tahoma"/>
              </a:rPr>
              <a:t>v2, </a:t>
            </a:r>
            <a:r>
              <a:rPr sz="2400" spc="-15" dirty="0">
                <a:latin typeface="Tahoma"/>
                <a:cs typeface="Tahoma"/>
              </a:rPr>
              <a:t>Vorlesungen</a:t>
            </a:r>
            <a:r>
              <a:rPr sz="2400" spc="1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</a:t>
            </a:r>
          </a:p>
          <a:p>
            <a:pPr marL="927100" marR="1741805" indent="-914400">
              <a:lnSpc>
                <a:spcPct val="1493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v1.Nachfolger= </a:t>
            </a:r>
            <a:r>
              <a:rPr sz="2400" spc="-15" dirty="0">
                <a:latin typeface="Tahoma"/>
                <a:cs typeface="Tahoma"/>
              </a:rPr>
              <a:t>v2.Vorg</a:t>
            </a:r>
            <a:r>
              <a:rPr lang="en-GB" sz="2400" spc="-15" dirty="0" err="1">
                <a:latin typeface="Tahoma"/>
                <a:cs typeface="Tahoma"/>
              </a:rPr>
              <a:t>ae</a:t>
            </a:r>
            <a:r>
              <a:rPr sz="2400" spc="-15" dirty="0">
                <a:latin typeface="Tahoma"/>
                <a:cs typeface="Tahoma"/>
              </a:rPr>
              <a:t>nger </a:t>
            </a:r>
            <a:r>
              <a:rPr sz="2400" b="1" spc="-5" dirty="0">
                <a:latin typeface="Tahoma"/>
                <a:cs typeface="Tahoma"/>
              </a:rPr>
              <a:t>and  </a:t>
            </a:r>
            <a:r>
              <a:rPr sz="2400" spc="-5" dirty="0">
                <a:latin typeface="Tahoma"/>
                <a:cs typeface="Tahoma"/>
              </a:rPr>
              <a:t>v2.Nachfolger= </a:t>
            </a:r>
            <a:r>
              <a:rPr sz="2400" spc="-40" dirty="0">
                <a:latin typeface="Tahoma"/>
                <a:cs typeface="Tahoma"/>
              </a:rPr>
              <a:t>v.VorlNr </a:t>
            </a:r>
            <a:r>
              <a:rPr sz="2400" b="1" spc="-5" dirty="0">
                <a:latin typeface="Tahoma"/>
                <a:cs typeface="Tahoma"/>
              </a:rPr>
              <a:t>and  </a:t>
            </a:r>
            <a:r>
              <a:rPr sz="2400" spc="-20" dirty="0">
                <a:latin typeface="Tahoma"/>
                <a:cs typeface="Tahoma"/>
              </a:rPr>
              <a:t>v.Titel=</a:t>
            </a:r>
            <a:r>
              <a:rPr lang="en-GB" sz="2400" spc="-20" dirty="0">
                <a:latin typeface="Tahoma"/>
                <a:cs typeface="Tahoma"/>
              </a:rPr>
              <a:t>'</a:t>
            </a:r>
            <a:r>
              <a:rPr sz="2400" spc="-20" dirty="0">
                <a:latin typeface="Tahoma"/>
                <a:cs typeface="Tahoma"/>
              </a:rPr>
              <a:t>Der </a:t>
            </a:r>
            <a:r>
              <a:rPr sz="2400" spc="-5" dirty="0">
                <a:latin typeface="Tahoma"/>
                <a:cs typeface="Tahoma"/>
              </a:rPr>
              <a:t>Wiener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Kreis</a:t>
            </a:r>
            <a:r>
              <a:rPr lang="en-GB" sz="2400" spc="-5" dirty="0">
                <a:latin typeface="Tahoma"/>
                <a:cs typeface="Tahoma"/>
              </a:rPr>
              <a:t>'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B53F5989-5298-4AF3-D790-5565382F8F27}"/>
              </a:ext>
            </a:extLst>
          </p:cNvPr>
          <p:cNvSpPr txBox="1"/>
          <p:nvPr/>
        </p:nvSpPr>
        <p:spPr>
          <a:xfrm>
            <a:off x="1381544" y="1607914"/>
            <a:ext cx="8223884" cy="128990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endParaRPr sz="2400" dirty="0">
              <a:latin typeface="Tahoma"/>
              <a:cs typeface="Tahoma"/>
            </a:endParaRPr>
          </a:p>
          <a:p>
            <a:pPr marL="12700" marR="217804">
              <a:lnSpc>
                <a:spcPct val="101499"/>
              </a:lnSpc>
              <a:spcBef>
                <a:spcPts val="450"/>
              </a:spcBef>
              <a:buClr>
                <a:schemeClr val="accent1"/>
              </a:buClr>
              <a:buSzPct val="170000"/>
            </a:pPr>
            <a:r>
              <a:rPr lang="en-GB" sz="2400" b="1" dirty="0" err="1">
                <a:latin typeface="Tahoma"/>
                <a:cs typeface="Tahoma"/>
              </a:rPr>
              <a:t>Vor-Vorgänger-Vorlesungen</a:t>
            </a:r>
            <a:r>
              <a:rPr lang="en-GB" sz="2400" b="1" dirty="0">
                <a:latin typeface="Tahoma"/>
                <a:cs typeface="Tahoma"/>
              </a:rPr>
              <a:t> des ’Wiener </a:t>
            </a:r>
            <a:r>
              <a:rPr lang="en-GB" sz="2400" b="1" dirty="0" err="1">
                <a:latin typeface="Tahoma"/>
                <a:cs typeface="Tahoma"/>
              </a:rPr>
              <a:t>Kreises</a:t>
            </a:r>
            <a:r>
              <a:rPr lang="en-GB" sz="2400" b="1" dirty="0">
                <a:latin typeface="Tahoma"/>
                <a:cs typeface="Tahoma"/>
              </a:rPr>
              <a:t>’</a:t>
            </a:r>
          </a:p>
          <a:p>
            <a:pPr marL="12700" marR="217804">
              <a:lnSpc>
                <a:spcPct val="101499"/>
              </a:lnSpc>
              <a:spcBef>
                <a:spcPts val="450"/>
              </a:spcBef>
            </a:pPr>
            <a:r>
              <a:rPr lang="en-GB" sz="2400" b="1" dirty="0">
                <a:latin typeface="Tahoma"/>
                <a:cs typeface="Tahoma"/>
              </a:rPr>
              <a:t> </a:t>
            </a:r>
            <a:endParaRPr sz="24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90849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55700" y="1187450"/>
            <a:ext cx="7998460" cy="275336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v1</a:t>
            </a:r>
            <a:r>
              <a:rPr sz="2400" spc="-15" dirty="0">
                <a:latin typeface="Times New Roman"/>
                <a:cs typeface="Times New Roman"/>
              </a:rPr>
              <a:t>.</a:t>
            </a:r>
            <a:r>
              <a:rPr sz="2400" spc="-15" dirty="0">
                <a:latin typeface="Tahoma"/>
                <a:cs typeface="Tahoma"/>
              </a:rPr>
              <a:t>Vorg</a:t>
            </a:r>
            <a:r>
              <a:rPr lang="en-GB" sz="2400" spc="-15" dirty="0" err="1">
                <a:latin typeface="Tahoma"/>
                <a:cs typeface="Tahoma"/>
              </a:rPr>
              <a:t>ae</a:t>
            </a:r>
            <a:r>
              <a:rPr sz="2400" spc="-15" dirty="0">
                <a:latin typeface="Tahoma"/>
                <a:cs typeface="Tahoma"/>
              </a:rPr>
              <a:t>nger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0" dirty="0">
                <a:latin typeface="Tahoma"/>
                <a:cs typeface="Tahoma"/>
              </a:rPr>
              <a:t>voraussetzen </a:t>
            </a:r>
            <a:r>
              <a:rPr sz="2400" spc="-5" dirty="0">
                <a:latin typeface="Tahoma"/>
                <a:cs typeface="Tahoma"/>
              </a:rPr>
              <a:t>v1, </a:t>
            </a:r>
            <a:r>
              <a:rPr sz="2400" spc="-10" dirty="0">
                <a:latin typeface="Tahoma"/>
                <a:cs typeface="Tahoma"/>
              </a:rPr>
              <a:t>voraussetzen </a:t>
            </a:r>
            <a:r>
              <a:rPr sz="2400" spc="-5" dirty="0">
                <a:latin typeface="Tahoma"/>
                <a:cs typeface="Tahoma"/>
              </a:rPr>
              <a:t>v2, </a:t>
            </a:r>
            <a:r>
              <a:rPr sz="2400" spc="-15" dirty="0">
                <a:latin typeface="Tahoma"/>
                <a:cs typeface="Tahoma"/>
              </a:rPr>
              <a:t>Vorlesungen</a:t>
            </a:r>
            <a:r>
              <a:rPr sz="2400" spc="1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</a:t>
            </a:r>
          </a:p>
          <a:p>
            <a:pPr marL="927100" marR="1741805" indent="-914400">
              <a:lnSpc>
                <a:spcPct val="1493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v1.Nachfolger= </a:t>
            </a:r>
            <a:r>
              <a:rPr sz="2400" spc="-15" dirty="0">
                <a:latin typeface="Tahoma"/>
                <a:cs typeface="Tahoma"/>
              </a:rPr>
              <a:t>v2.Vorg</a:t>
            </a:r>
            <a:r>
              <a:rPr lang="en-GB" sz="2400" spc="-15" dirty="0" err="1">
                <a:latin typeface="Tahoma"/>
                <a:cs typeface="Tahoma"/>
              </a:rPr>
              <a:t>ae</a:t>
            </a:r>
            <a:r>
              <a:rPr sz="2400" spc="-15" dirty="0">
                <a:latin typeface="Tahoma"/>
                <a:cs typeface="Tahoma"/>
              </a:rPr>
              <a:t>nger </a:t>
            </a:r>
            <a:r>
              <a:rPr sz="2400" b="1" spc="-5" dirty="0">
                <a:latin typeface="Tahoma"/>
                <a:cs typeface="Tahoma"/>
              </a:rPr>
              <a:t>and  </a:t>
            </a:r>
            <a:r>
              <a:rPr sz="2400" spc="-5" dirty="0">
                <a:latin typeface="Tahoma"/>
                <a:cs typeface="Tahoma"/>
              </a:rPr>
              <a:t>v2.Nachfolger= </a:t>
            </a:r>
            <a:r>
              <a:rPr sz="2400" spc="-40" dirty="0">
                <a:latin typeface="Tahoma"/>
                <a:cs typeface="Tahoma"/>
              </a:rPr>
              <a:t>v.VorlNr </a:t>
            </a:r>
            <a:r>
              <a:rPr sz="2400" b="1" spc="-5" dirty="0">
                <a:latin typeface="Tahoma"/>
                <a:cs typeface="Tahoma"/>
              </a:rPr>
              <a:t>and  </a:t>
            </a:r>
            <a:r>
              <a:rPr sz="2400" spc="-20" dirty="0">
                <a:latin typeface="Tahoma"/>
                <a:cs typeface="Tahoma"/>
              </a:rPr>
              <a:t>v.Titel=</a:t>
            </a:r>
            <a:r>
              <a:rPr lang="en-GB" sz="2400" spc="-20" dirty="0">
                <a:latin typeface="Tahoma"/>
                <a:cs typeface="Tahoma"/>
              </a:rPr>
              <a:t>'</a:t>
            </a:r>
            <a:r>
              <a:rPr sz="2400" spc="-20" dirty="0">
                <a:latin typeface="Tahoma"/>
                <a:cs typeface="Tahoma"/>
              </a:rPr>
              <a:t>Der </a:t>
            </a:r>
            <a:r>
              <a:rPr sz="2400" dirty="0">
                <a:latin typeface="Tahoma"/>
                <a:cs typeface="Tahoma"/>
              </a:rPr>
              <a:t>Wiener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Kreis</a:t>
            </a:r>
            <a:r>
              <a:rPr lang="en-GB" sz="2400" spc="-5" dirty="0">
                <a:latin typeface="Tahoma"/>
                <a:cs typeface="Tahoma"/>
              </a:rPr>
              <a:t>'</a:t>
            </a:r>
            <a:endParaRPr sz="2400" dirty="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33148"/>
              </p:ext>
            </p:extLst>
          </p:nvPr>
        </p:nvGraphicFramePr>
        <p:xfrm>
          <a:off x="6704016" y="3016250"/>
          <a:ext cx="3657599" cy="3789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077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06705" indent="-292100">
                        <a:lnSpc>
                          <a:spcPts val="1500"/>
                        </a:lnSpc>
                        <a:spcBef>
                          <a:spcPts val="4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09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71017"/>
              </p:ext>
            </p:extLst>
          </p:nvPr>
        </p:nvGraphicFramePr>
        <p:xfrm>
          <a:off x="1397001" y="4250055"/>
          <a:ext cx="2133600" cy="2575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3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515">
                <a:tc gridSpan="3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 gridSpan="2"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 gridSpan="2"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 gridSpan="2"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005">
                <a:tc>
                  <a:txBody>
                    <a:bodyPr/>
                    <a:lstStyle/>
                    <a:p>
                      <a:pPr marL="334010">
                        <a:lnSpc>
                          <a:spcPts val="1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57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 gridSpan="2"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210">
                <a:tc gridSpan="2"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 gridSpan="2"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 gridSpan="2"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294909"/>
              </p:ext>
            </p:extLst>
          </p:nvPr>
        </p:nvGraphicFramePr>
        <p:xfrm>
          <a:off x="3917953" y="4250055"/>
          <a:ext cx="2134235" cy="2576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515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3">
            <a:extLst>
              <a:ext uri="{FF2B5EF4-FFF2-40B4-BE49-F238E27FC236}">
                <a16:creationId xmlns:a16="http://schemas.microsoft.com/office/drawing/2014/main" id="{0610DEAF-4D81-9B2A-0594-66DD50B336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577850"/>
            <a:ext cx="63246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Rekursion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39240" y="1644650"/>
            <a:ext cx="687197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select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v1.Vorgänger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840"/>
              </a:lnSpc>
            </a:pPr>
            <a:r>
              <a:rPr sz="2400" b="1" spc="-5" dirty="0">
                <a:latin typeface="Arial"/>
                <a:cs typeface="Arial"/>
              </a:rPr>
              <a:t>from </a:t>
            </a:r>
            <a:r>
              <a:rPr sz="2400" spc="-5" dirty="0">
                <a:latin typeface="Arial"/>
                <a:cs typeface="Arial"/>
              </a:rPr>
              <a:t>voraussetzen </a:t>
            </a:r>
            <a:r>
              <a:rPr sz="2400" dirty="0">
                <a:latin typeface="Arial"/>
                <a:cs typeface="Arial"/>
              </a:rPr>
              <a:t>v1</a:t>
            </a:r>
          </a:p>
          <a:p>
            <a:pPr marL="927100">
              <a:lnSpc>
                <a:spcPct val="100000"/>
              </a:lnSpc>
              <a:spcBef>
                <a:spcPts val="20"/>
              </a:spcBef>
            </a:pPr>
            <a:r>
              <a:rPr lang="mr-IN" sz="2400" spc="-1335" dirty="0">
                <a:latin typeface="Arial"/>
                <a:cs typeface="Arial"/>
              </a:rPr>
              <a:t>…</a:t>
            </a:r>
            <a:endParaRPr sz="2400" dirty="0">
              <a:latin typeface="Arial"/>
              <a:cs typeface="Arial"/>
            </a:endParaRPr>
          </a:p>
          <a:p>
            <a:pPr marL="927100" marR="2395220">
              <a:lnSpc>
                <a:spcPct val="100699"/>
              </a:lnSpc>
            </a:pPr>
            <a:r>
              <a:rPr sz="2400" spc="-5" dirty="0">
                <a:latin typeface="Arial"/>
                <a:cs typeface="Arial"/>
              </a:rPr>
              <a:t>voraussetzen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vn_minus_1  </a:t>
            </a:r>
            <a:r>
              <a:rPr sz="2400" spc="-5" dirty="0">
                <a:latin typeface="Arial"/>
                <a:cs typeface="Arial"/>
              </a:rPr>
              <a:t>voraussetzen </a:t>
            </a:r>
            <a:r>
              <a:rPr sz="2400" dirty="0">
                <a:latin typeface="Arial"/>
                <a:cs typeface="Arial"/>
              </a:rPr>
              <a:t>vn,</a:t>
            </a:r>
          </a:p>
          <a:p>
            <a:pPr marL="927100">
              <a:lnSpc>
                <a:spcPct val="100000"/>
              </a:lnSpc>
              <a:spcBef>
                <a:spcPts val="1460"/>
              </a:spcBef>
            </a:pPr>
            <a:r>
              <a:rPr sz="2400" spc="-15" dirty="0">
                <a:latin typeface="Tahoma"/>
                <a:cs typeface="Tahoma"/>
              </a:rPr>
              <a:t>Vorlesungen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v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v1.Nachfolger= </a:t>
            </a:r>
            <a:r>
              <a:rPr sz="2400" spc="-15" dirty="0">
                <a:latin typeface="Tahoma"/>
                <a:cs typeface="Tahoma"/>
              </a:rPr>
              <a:t>v2.Vorgänger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and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420"/>
              </a:spcBef>
            </a:pPr>
            <a:r>
              <a:rPr lang="mr-IN" sz="2400" spc="-1335" dirty="0">
                <a:latin typeface="Arial"/>
                <a:cs typeface="Arial"/>
              </a:rPr>
              <a:t>…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1420"/>
              </a:spcBef>
            </a:pPr>
            <a:r>
              <a:rPr sz="2400" spc="-5" dirty="0">
                <a:latin typeface="Tahoma"/>
                <a:cs typeface="Tahoma"/>
              </a:rPr>
              <a:t>vn_minus_1.Nachfolger= </a:t>
            </a:r>
            <a:r>
              <a:rPr sz="2400" spc="-15" dirty="0">
                <a:latin typeface="Tahoma"/>
                <a:cs typeface="Tahoma"/>
              </a:rPr>
              <a:t>vn.Vorgänger </a:t>
            </a:r>
            <a:r>
              <a:rPr sz="2400" b="1" spc="-5" dirty="0">
                <a:latin typeface="Tahoma"/>
                <a:cs typeface="Tahoma"/>
              </a:rPr>
              <a:t>and</a:t>
            </a:r>
            <a:endParaRPr sz="2400" dirty="0">
              <a:latin typeface="Tahoma"/>
              <a:cs typeface="Tahoma"/>
            </a:endParaRPr>
          </a:p>
          <a:p>
            <a:pPr marL="994410">
              <a:lnSpc>
                <a:spcPct val="100000"/>
              </a:lnSpc>
              <a:spcBef>
                <a:spcPts val="1420"/>
              </a:spcBef>
            </a:pPr>
            <a:r>
              <a:rPr sz="2400" spc="-5" dirty="0">
                <a:latin typeface="Tahoma"/>
                <a:cs typeface="Tahoma"/>
              </a:rPr>
              <a:t>vn.Nachfolger = </a:t>
            </a:r>
            <a:r>
              <a:rPr sz="2400" spc="-40" dirty="0">
                <a:latin typeface="Tahoma"/>
                <a:cs typeface="Tahoma"/>
              </a:rPr>
              <a:t>v.VorlNr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and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520"/>
              </a:spcBef>
            </a:pPr>
            <a:r>
              <a:rPr sz="2400" spc="-30" dirty="0">
                <a:latin typeface="Tahoma"/>
                <a:cs typeface="Tahoma"/>
              </a:rPr>
              <a:t>v.Titel= 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Der </a:t>
            </a:r>
            <a:r>
              <a:rPr sz="2400" dirty="0">
                <a:latin typeface="Tahoma"/>
                <a:cs typeface="Tahoma"/>
              </a:rPr>
              <a:t>Wiener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Kreis</a:t>
            </a:r>
            <a:r>
              <a:rPr lang="en-GB" sz="2400" spc="-5" dirty="0">
                <a:latin typeface="Tahoma"/>
                <a:cs typeface="Tahoma"/>
              </a:rPr>
              <a:t>'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118C658-4A06-89CF-DBE5-5D99B7FFE6FB}"/>
              </a:ext>
            </a:extLst>
          </p:cNvPr>
          <p:cNvSpPr txBox="1">
            <a:spLocks/>
          </p:cNvSpPr>
          <p:nvPr/>
        </p:nvSpPr>
        <p:spPr>
          <a:xfrm>
            <a:off x="927100" y="672704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Rekursion – Vorgänger des ‘Wiener Kreises‘ der Tiefe </a:t>
            </a:r>
            <a:r>
              <a:rPr lang="de-DE" spc="-5" dirty="0" err="1"/>
              <a:t>n</a:t>
            </a:r>
            <a:endParaRPr lang="de-DE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4033534"/>
            <a:ext cx="6518060" cy="10401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" y="5061716"/>
            <a:ext cx="9187691" cy="3929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00" y="5790832"/>
            <a:ext cx="9372600" cy="95921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197" y="1416050"/>
            <a:ext cx="2506103" cy="424815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C6C805CA-0D18-7440-B81C-1FC91DD38F41}"/>
              </a:ext>
            </a:extLst>
          </p:cNvPr>
          <p:cNvSpPr txBox="1">
            <a:spLocks/>
          </p:cNvSpPr>
          <p:nvPr/>
        </p:nvSpPr>
        <p:spPr>
          <a:xfrm>
            <a:off x="927100" y="767558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Transitive Hülle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6348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62476" y="2167890"/>
            <a:ext cx="2290445" cy="39116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Der Wiener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Kreis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2476" y="3234690"/>
            <a:ext cx="2852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sse</a:t>
            </a:r>
            <a:r>
              <a:rPr sz="2400" spc="-5" dirty="0">
                <a:latin typeface="Tahoma"/>
                <a:cs typeface="Tahoma"/>
              </a:rPr>
              <a:t>n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ch</a:t>
            </a:r>
            <a:r>
              <a:rPr sz="2400" dirty="0">
                <a:latin typeface="Tahoma"/>
                <a:cs typeface="Tahoma"/>
              </a:rPr>
              <a:t>aftst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sz="2400" dirty="0">
                <a:latin typeface="Tahoma"/>
                <a:cs typeface="Tahoma"/>
              </a:rPr>
              <a:t>eor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1480" y="3234690"/>
            <a:ext cx="1096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oet</a:t>
            </a:r>
            <a:r>
              <a:rPr sz="2400" spc="-5" dirty="0">
                <a:latin typeface="Tahoma"/>
                <a:cs typeface="Tahoma"/>
              </a:rPr>
              <a:t>hi</a:t>
            </a:r>
            <a:r>
              <a:rPr sz="2400" dirty="0">
                <a:latin typeface="Tahoma"/>
                <a:cs typeface="Tahoma"/>
              </a:rPr>
              <a:t>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2476" y="4682490"/>
            <a:ext cx="2371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Erkenntnistheorie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0080" y="4682490"/>
            <a:ext cx="690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hi</a:t>
            </a:r>
            <a:r>
              <a:rPr sz="2400" dirty="0">
                <a:latin typeface="Tahoma"/>
                <a:cs typeface="Tahoma"/>
              </a:rPr>
              <a:t>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82280" y="4682490"/>
            <a:ext cx="1074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Mäeutik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43880" y="6130290"/>
            <a:ext cx="1480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Gr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10" dirty="0">
                <a:latin typeface="Tahoma"/>
                <a:cs typeface="Tahoma"/>
              </a:rPr>
              <a:t>nd</a:t>
            </a:r>
            <a:r>
              <a:rPr sz="2400" dirty="0">
                <a:latin typeface="Tahoma"/>
                <a:cs typeface="Tahoma"/>
              </a:rPr>
              <a:t>z</a:t>
            </a:r>
            <a:r>
              <a:rPr sz="2400" spc="-5" dirty="0">
                <a:latin typeface="Tahoma"/>
                <a:cs typeface="Tahoma"/>
              </a:rPr>
              <a:t>ü</a:t>
            </a:r>
            <a:r>
              <a:rPr sz="2400" spc="-10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07739" y="2592070"/>
            <a:ext cx="0" cy="584200"/>
          </a:xfrm>
          <a:custGeom>
            <a:avLst/>
            <a:gdLst/>
            <a:ahLst/>
            <a:cxnLst/>
            <a:rect l="l" t="t" r="r" b="b"/>
            <a:pathLst>
              <a:path h="584200">
                <a:moveTo>
                  <a:pt x="0" y="0"/>
                </a:moveTo>
                <a:lnTo>
                  <a:pt x="0" y="584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69640" y="31254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07739" y="3658870"/>
            <a:ext cx="0" cy="965200"/>
          </a:xfrm>
          <a:custGeom>
            <a:avLst/>
            <a:gdLst/>
            <a:ahLst/>
            <a:cxnLst/>
            <a:rect l="l" t="t" r="r" b="b"/>
            <a:pathLst>
              <a:path h="965200">
                <a:moveTo>
                  <a:pt x="0" y="0"/>
                </a:moveTo>
                <a:lnTo>
                  <a:pt x="0" y="965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69640" y="45732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507739" y="3658870"/>
            <a:ext cx="2112010" cy="1207135"/>
          </a:xfrm>
          <a:custGeom>
            <a:avLst/>
            <a:gdLst/>
            <a:ahLst/>
            <a:cxnLst/>
            <a:rect l="l" t="t" r="r" b="b"/>
            <a:pathLst>
              <a:path w="2112010" h="1207135">
                <a:moveTo>
                  <a:pt x="0" y="0"/>
                </a:moveTo>
                <a:lnTo>
                  <a:pt x="2111548" y="120659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56275" y="4807179"/>
            <a:ext cx="85090" cy="71120"/>
          </a:xfrm>
          <a:custGeom>
            <a:avLst/>
            <a:gdLst/>
            <a:ahLst/>
            <a:cxnLst/>
            <a:rect l="l" t="t" r="r" b="b"/>
            <a:pathLst>
              <a:path w="85089" h="71120">
                <a:moveTo>
                  <a:pt x="37807" y="0"/>
                </a:moveTo>
                <a:lnTo>
                  <a:pt x="0" y="66167"/>
                </a:lnTo>
                <a:lnTo>
                  <a:pt x="85064" y="70891"/>
                </a:lnTo>
                <a:lnTo>
                  <a:pt x="37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89039" y="3658870"/>
            <a:ext cx="37465" cy="965835"/>
          </a:xfrm>
          <a:custGeom>
            <a:avLst/>
            <a:gdLst/>
            <a:ahLst/>
            <a:cxnLst/>
            <a:rect l="l" t="t" r="r" b="b"/>
            <a:pathLst>
              <a:path w="37464" h="965835">
                <a:moveTo>
                  <a:pt x="0" y="0"/>
                </a:moveTo>
                <a:lnTo>
                  <a:pt x="37123" y="9652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86131" y="4571861"/>
            <a:ext cx="76200" cy="78105"/>
          </a:xfrm>
          <a:custGeom>
            <a:avLst/>
            <a:gdLst/>
            <a:ahLst/>
            <a:cxnLst/>
            <a:rect l="l" t="t" r="r" b="b"/>
            <a:pathLst>
              <a:path w="76200" h="78104">
                <a:moveTo>
                  <a:pt x="76149" y="0"/>
                </a:moveTo>
                <a:lnTo>
                  <a:pt x="0" y="2933"/>
                </a:lnTo>
                <a:lnTo>
                  <a:pt x="41008" y="77609"/>
                </a:lnTo>
                <a:lnTo>
                  <a:pt x="761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507739" y="5106670"/>
            <a:ext cx="2035810" cy="1206500"/>
          </a:xfrm>
          <a:custGeom>
            <a:avLst/>
            <a:gdLst/>
            <a:ahLst/>
            <a:cxnLst/>
            <a:rect l="l" t="t" r="r" b="b"/>
            <a:pathLst>
              <a:path w="2035810" h="1206500">
                <a:moveTo>
                  <a:pt x="0" y="0"/>
                </a:moveTo>
                <a:lnTo>
                  <a:pt x="2035548" y="120624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80151" y="6254242"/>
            <a:ext cx="85090" cy="71755"/>
          </a:xfrm>
          <a:custGeom>
            <a:avLst/>
            <a:gdLst/>
            <a:ahLst/>
            <a:cxnLst/>
            <a:rect l="l" t="t" r="r" b="b"/>
            <a:pathLst>
              <a:path w="85089" h="71754">
                <a:moveTo>
                  <a:pt x="38849" y="0"/>
                </a:moveTo>
                <a:lnTo>
                  <a:pt x="0" y="65557"/>
                </a:lnTo>
                <a:lnTo>
                  <a:pt x="84988" y="71628"/>
                </a:lnTo>
                <a:lnTo>
                  <a:pt x="388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27139" y="5106670"/>
            <a:ext cx="186055" cy="965835"/>
          </a:xfrm>
          <a:custGeom>
            <a:avLst/>
            <a:gdLst/>
            <a:ahLst/>
            <a:cxnLst/>
            <a:rect l="l" t="t" r="r" b="b"/>
            <a:pathLst>
              <a:path w="186054" h="965835">
                <a:moveTo>
                  <a:pt x="0" y="0"/>
                </a:moveTo>
                <a:lnTo>
                  <a:pt x="185702" y="96565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65824" y="6015241"/>
            <a:ext cx="74930" cy="82550"/>
          </a:xfrm>
          <a:custGeom>
            <a:avLst/>
            <a:gdLst/>
            <a:ahLst/>
            <a:cxnLst/>
            <a:rect l="l" t="t" r="r" b="b"/>
            <a:pathLst>
              <a:path w="74929" h="82550">
                <a:moveTo>
                  <a:pt x="74841" y="0"/>
                </a:moveTo>
                <a:lnTo>
                  <a:pt x="0" y="14389"/>
                </a:lnTo>
                <a:lnTo>
                  <a:pt x="51815" y="82029"/>
                </a:lnTo>
                <a:lnTo>
                  <a:pt x="748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88100" y="5106670"/>
            <a:ext cx="1201420" cy="1201420"/>
          </a:xfrm>
          <a:custGeom>
            <a:avLst/>
            <a:gdLst/>
            <a:ahLst/>
            <a:cxnLst/>
            <a:rect l="l" t="t" r="r" b="b"/>
            <a:pathLst>
              <a:path w="1201420" h="1201420">
                <a:moveTo>
                  <a:pt x="1201238" y="0"/>
                </a:moveTo>
                <a:lnTo>
                  <a:pt x="0" y="120123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70139" y="624504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26936" y="0"/>
                </a:moveTo>
                <a:lnTo>
                  <a:pt x="0" y="80822"/>
                </a:lnTo>
                <a:lnTo>
                  <a:pt x="80822" y="53886"/>
                </a:lnTo>
                <a:lnTo>
                  <a:pt x="269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55140" y="2515870"/>
            <a:ext cx="609600" cy="1219200"/>
          </a:xfrm>
          <a:custGeom>
            <a:avLst/>
            <a:gdLst/>
            <a:ahLst/>
            <a:cxnLst/>
            <a:rect l="l" t="t" r="r" b="b"/>
            <a:pathLst>
              <a:path w="609600" h="1219200">
                <a:moveTo>
                  <a:pt x="609599" y="0"/>
                </a:moveTo>
                <a:lnTo>
                  <a:pt x="0" y="1219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55136" y="3733483"/>
            <a:ext cx="224154" cy="1120140"/>
          </a:xfrm>
          <a:custGeom>
            <a:avLst/>
            <a:gdLst/>
            <a:ahLst/>
            <a:cxnLst/>
            <a:rect l="l" t="t" r="r" b="b"/>
            <a:pathLst>
              <a:path w="224155" h="1120139">
                <a:moveTo>
                  <a:pt x="0" y="0"/>
                </a:moveTo>
                <a:lnTo>
                  <a:pt x="223624" y="1119679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31450" y="4795888"/>
            <a:ext cx="74930" cy="82550"/>
          </a:xfrm>
          <a:custGeom>
            <a:avLst/>
            <a:gdLst/>
            <a:ahLst/>
            <a:cxnLst/>
            <a:rect l="l" t="t" r="r" b="b"/>
            <a:pathLst>
              <a:path w="74930" h="82550">
                <a:moveTo>
                  <a:pt x="74724" y="0"/>
                </a:moveTo>
                <a:lnTo>
                  <a:pt x="0" y="14922"/>
                </a:lnTo>
                <a:lnTo>
                  <a:pt x="52285" y="82181"/>
                </a:lnTo>
                <a:lnTo>
                  <a:pt x="747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69739" y="251587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2999" y="11429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412739" y="3658870"/>
            <a:ext cx="447040" cy="967740"/>
          </a:xfrm>
          <a:custGeom>
            <a:avLst/>
            <a:gdLst/>
            <a:ahLst/>
            <a:cxnLst/>
            <a:rect l="l" t="t" r="r" b="b"/>
            <a:pathLst>
              <a:path w="447039" h="967739">
                <a:moveTo>
                  <a:pt x="0" y="0"/>
                </a:moveTo>
                <a:lnTo>
                  <a:pt x="446555" y="96753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803404" y="4564317"/>
            <a:ext cx="69215" cy="85725"/>
          </a:xfrm>
          <a:custGeom>
            <a:avLst/>
            <a:gdLst/>
            <a:ahLst/>
            <a:cxnLst/>
            <a:rect l="l" t="t" r="r" b="b"/>
            <a:pathLst>
              <a:path w="69214" h="85725">
                <a:moveTo>
                  <a:pt x="69189" y="0"/>
                </a:moveTo>
                <a:lnTo>
                  <a:pt x="0" y="31927"/>
                </a:lnTo>
                <a:lnTo>
                  <a:pt x="66535" y="85153"/>
                </a:lnTo>
                <a:lnTo>
                  <a:pt x="691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07739" y="3658870"/>
            <a:ext cx="2117090" cy="2419350"/>
          </a:xfrm>
          <a:custGeom>
            <a:avLst/>
            <a:gdLst/>
            <a:ahLst/>
            <a:cxnLst/>
            <a:rect l="l" t="t" r="r" b="b"/>
            <a:pathLst>
              <a:path w="2117090" h="2419350">
                <a:moveTo>
                  <a:pt x="0" y="0"/>
                </a:moveTo>
                <a:lnTo>
                  <a:pt x="2116868" y="241927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62485" y="6014835"/>
            <a:ext cx="79375" cy="82550"/>
          </a:xfrm>
          <a:custGeom>
            <a:avLst/>
            <a:gdLst/>
            <a:ahLst/>
            <a:cxnLst/>
            <a:rect l="l" t="t" r="r" b="b"/>
            <a:pathLst>
              <a:path w="79375" h="82550">
                <a:moveTo>
                  <a:pt x="57340" y="0"/>
                </a:moveTo>
                <a:lnTo>
                  <a:pt x="0" y="50177"/>
                </a:lnTo>
                <a:lnTo>
                  <a:pt x="78854" y="82435"/>
                </a:lnTo>
                <a:lnTo>
                  <a:pt x="573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27139" y="3735070"/>
            <a:ext cx="838200" cy="914400"/>
          </a:xfrm>
          <a:custGeom>
            <a:avLst/>
            <a:gdLst/>
            <a:ahLst/>
            <a:cxnLst/>
            <a:rect l="l" t="t" r="r" b="b"/>
            <a:pathLst>
              <a:path w="838200" h="914400">
                <a:moveTo>
                  <a:pt x="0" y="0"/>
                </a:moveTo>
                <a:lnTo>
                  <a:pt x="838199" y="9143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866050" y="4649470"/>
            <a:ext cx="299720" cy="1346835"/>
          </a:xfrm>
          <a:custGeom>
            <a:avLst/>
            <a:gdLst/>
            <a:ahLst/>
            <a:cxnLst/>
            <a:rect l="l" t="t" r="r" b="b"/>
            <a:pathLst>
              <a:path w="299720" h="1346835">
                <a:moveTo>
                  <a:pt x="299289" y="0"/>
                </a:moveTo>
                <a:lnTo>
                  <a:pt x="0" y="134680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39877" y="5938419"/>
            <a:ext cx="74930" cy="83185"/>
          </a:xfrm>
          <a:custGeom>
            <a:avLst/>
            <a:gdLst/>
            <a:ahLst/>
            <a:cxnLst/>
            <a:rect l="l" t="t" r="r" b="b"/>
            <a:pathLst>
              <a:path w="74929" h="83185">
                <a:moveTo>
                  <a:pt x="0" y="0"/>
                </a:moveTo>
                <a:lnTo>
                  <a:pt x="20662" y="82651"/>
                </a:lnTo>
                <a:lnTo>
                  <a:pt x="74383" y="165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498339" y="2439670"/>
            <a:ext cx="3429000" cy="1371600"/>
          </a:xfrm>
          <a:custGeom>
            <a:avLst/>
            <a:gdLst/>
            <a:ahLst/>
            <a:cxnLst/>
            <a:rect l="l" t="t" r="r" b="b"/>
            <a:pathLst>
              <a:path w="3429000" h="1371600">
                <a:moveTo>
                  <a:pt x="0" y="0"/>
                </a:moveTo>
                <a:lnTo>
                  <a:pt x="3428997" y="13715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73372" y="3811270"/>
            <a:ext cx="754380" cy="2262505"/>
          </a:xfrm>
          <a:custGeom>
            <a:avLst/>
            <a:gdLst/>
            <a:ahLst/>
            <a:cxnLst/>
            <a:rect l="l" t="t" r="r" b="b"/>
            <a:pathLst>
              <a:path w="754379" h="2262504">
                <a:moveTo>
                  <a:pt x="753967" y="0"/>
                </a:moveTo>
                <a:lnTo>
                  <a:pt x="0" y="2261898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153287" y="6012930"/>
            <a:ext cx="72390" cy="84455"/>
          </a:xfrm>
          <a:custGeom>
            <a:avLst/>
            <a:gdLst/>
            <a:ahLst/>
            <a:cxnLst/>
            <a:rect l="l" t="t" r="r" b="b"/>
            <a:pathLst>
              <a:path w="72389" h="84454">
                <a:moveTo>
                  <a:pt x="0" y="0"/>
                </a:moveTo>
                <a:lnTo>
                  <a:pt x="12052" y="84340"/>
                </a:lnTo>
                <a:lnTo>
                  <a:pt x="72288" y="2409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C3192DAB-841D-7FF7-FDED-0820ADB97382}"/>
              </a:ext>
            </a:extLst>
          </p:cNvPr>
          <p:cNvSpPr txBox="1">
            <a:spLocks/>
          </p:cNvSpPr>
          <p:nvPr/>
        </p:nvSpPr>
        <p:spPr>
          <a:xfrm>
            <a:off x="927100" y="767558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Transitive Hülle</a:t>
            </a:r>
            <a:endParaRPr lang="de-DE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461422" y="1656477"/>
            <a:ext cx="8457277" cy="3870290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Titel</a:t>
            </a: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20" dirty="0">
                <a:latin typeface="Tahoma"/>
                <a:cs typeface="Tahoma"/>
              </a:rPr>
              <a:t>VorlNr </a:t>
            </a:r>
            <a:r>
              <a:rPr sz="2400" b="1" dirty="0">
                <a:latin typeface="Tahoma"/>
                <a:cs typeface="Tahoma"/>
              </a:rPr>
              <a:t>in </a:t>
            </a: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15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Vorg</a:t>
            </a:r>
            <a:r>
              <a:rPr lang="en-GB" sz="2400" spc="-20" dirty="0" err="1">
                <a:latin typeface="Tahoma"/>
                <a:cs typeface="Tahoma"/>
              </a:rPr>
              <a:t>ae</a:t>
            </a:r>
            <a:r>
              <a:rPr sz="2400" spc="-20" dirty="0">
                <a:latin typeface="Tahoma"/>
                <a:cs typeface="Tahoma"/>
              </a:rPr>
              <a:t>nger</a:t>
            </a:r>
            <a:endParaRPr sz="2400" dirty="0">
              <a:latin typeface="Tahoma"/>
              <a:cs typeface="Tahoma"/>
            </a:endParaRPr>
          </a:p>
          <a:p>
            <a:pPr marL="22479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voraussetzen</a:t>
            </a:r>
            <a:endParaRPr sz="2400" dirty="0">
              <a:latin typeface="Tahoma"/>
              <a:cs typeface="Tahoma"/>
            </a:endParaRPr>
          </a:p>
          <a:p>
            <a:pPr marL="22479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connect by </a:t>
            </a:r>
            <a:r>
              <a:rPr sz="2400" spc="-5" dirty="0">
                <a:latin typeface="Tahoma"/>
                <a:cs typeface="Tahoma"/>
              </a:rPr>
              <a:t>Nachfolger= </a:t>
            </a:r>
            <a:r>
              <a:rPr sz="2400" b="1" spc="-5" dirty="0">
                <a:latin typeface="Tahoma"/>
                <a:cs typeface="Tahoma"/>
              </a:rPr>
              <a:t>prior</a:t>
            </a:r>
            <a:r>
              <a:rPr sz="2400" b="1" spc="-4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Vorg</a:t>
            </a:r>
            <a:r>
              <a:rPr lang="en-GB" sz="2400" spc="-20" dirty="0" err="1">
                <a:latin typeface="Tahoma"/>
                <a:cs typeface="Tahoma"/>
              </a:rPr>
              <a:t>ae</a:t>
            </a:r>
            <a:r>
              <a:rPr sz="2400" spc="-20" dirty="0">
                <a:latin typeface="Tahoma"/>
                <a:cs typeface="Tahoma"/>
              </a:rPr>
              <a:t>nger</a:t>
            </a:r>
            <a:endParaRPr sz="2400" dirty="0">
              <a:latin typeface="Tahoma"/>
              <a:cs typeface="Tahoma"/>
            </a:endParaRPr>
          </a:p>
          <a:p>
            <a:pPr marL="22479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start with </a:t>
            </a:r>
            <a:r>
              <a:rPr sz="2400" spc="-5" dirty="0">
                <a:latin typeface="Tahoma"/>
                <a:cs typeface="Tahoma"/>
              </a:rPr>
              <a:t>Nachfolger= (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8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VorlNr</a:t>
            </a:r>
            <a:endParaRPr sz="2400" dirty="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47823" y="5669677"/>
            <a:ext cx="3103880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Titel=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Der</a:t>
            </a:r>
            <a:r>
              <a:rPr lang="en-GB" sz="2400" spc="-5" dirty="0">
                <a:latin typeface="Tahoma"/>
                <a:cs typeface="Tahoma"/>
              </a:rPr>
              <a:t> </a:t>
            </a:r>
            <a:endParaRPr sz="2400" dirty="0">
              <a:latin typeface="Tahoma"/>
              <a:cs typeface="Tahoma"/>
            </a:endParaRPr>
          </a:p>
          <a:p>
            <a:pPr marL="889000">
              <a:lnSpc>
                <a:spcPts val="2870"/>
              </a:lnSpc>
            </a:pPr>
            <a:r>
              <a:rPr sz="2400" spc="-5" dirty="0">
                <a:latin typeface="Tahoma"/>
                <a:cs typeface="Tahoma"/>
              </a:rPr>
              <a:t>Wiener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Kreis</a:t>
            </a:r>
            <a:r>
              <a:rPr lang="en-GB" sz="2400" spc="-5" dirty="0">
                <a:latin typeface="Tahoma"/>
                <a:cs typeface="Tahoma"/>
              </a:rPr>
              <a:t>'</a:t>
            </a:r>
            <a:r>
              <a:rPr sz="2400" spc="-5" dirty="0">
                <a:latin typeface="Tahoma"/>
                <a:cs typeface="Tahoma"/>
              </a:rPr>
              <a:t>));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07782" y="5580379"/>
            <a:ext cx="3531235" cy="864869"/>
          </a:xfrm>
          <a:custGeom>
            <a:avLst/>
            <a:gdLst/>
            <a:ahLst/>
            <a:cxnLst/>
            <a:rect l="l" t="t" r="r" b="b"/>
            <a:pathLst>
              <a:path w="3531235" h="864870">
                <a:moveTo>
                  <a:pt x="2264492" y="782568"/>
                </a:moveTo>
                <a:lnTo>
                  <a:pt x="1348066" y="782568"/>
                </a:lnTo>
                <a:lnTo>
                  <a:pt x="1386338" y="799504"/>
                </a:lnTo>
                <a:lnTo>
                  <a:pt x="1429878" y="814762"/>
                </a:lnTo>
                <a:lnTo>
                  <a:pt x="1478186" y="828219"/>
                </a:lnTo>
                <a:lnTo>
                  <a:pt x="1530762" y="839750"/>
                </a:lnTo>
                <a:lnTo>
                  <a:pt x="1587106" y="849232"/>
                </a:lnTo>
                <a:lnTo>
                  <a:pt x="1646720" y="856541"/>
                </a:lnTo>
                <a:lnTo>
                  <a:pt x="1705168" y="861327"/>
                </a:lnTo>
                <a:lnTo>
                  <a:pt x="1763634" y="863931"/>
                </a:lnTo>
                <a:lnTo>
                  <a:pt x="1821697" y="864431"/>
                </a:lnTo>
                <a:lnTo>
                  <a:pt x="1878937" y="862901"/>
                </a:lnTo>
                <a:lnTo>
                  <a:pt x="1934936" y="859416"/>
                </a:lnTo>
                <a:lnTo>
                  <a:pt x="1989274" y="854051"/>
                </a:lnTo>
                <a:lnTo>
                  <a:pt x="2041531" y="846880"/>
                </a:lnTo>
                <a:lnTo>
                  <a:pt x="2091288" y="837980"/>
                </a:lnTo>
                <a:lnTo>
                  <a:pt x="2138125" y="827425"/>
                </a:lnTo>
                <a:lnTo>
                  <a:pt x="2181624" y="815290"/>
                </a:lnTo>
                <a:lnTo>
                  <a:pt x="2221364" y="801651"/>
                </a:lnTo>
                <a:lnTo>
                  <a:pt x="2256925" y="786581"/>
                </a:lnTo>
                <a:lnTo>
                  <a:pt x="2264492" y="782568"/>
                </a:lnTo>
                <a:close/>
              </a:path>
              <a:path w="3531235" h="864870">
                <a:moveTo>
                  <a:pt x="2931262" y="706675"/>
                </a:moveTo>
                <a:lnTo>
                  <a:pt x="476135" y="706675"/>
                </a:lnTo>
                <a:lnTo>
                  <a:pt x="478320" y="707949"/>
                </a:lnTo>
                <a:lnTo>
                  <a:pt x="514580" y="726481"/>
                </a:lnTo>
                <a:lnTo>
                  <a:pt x="549902" y="741212"/>
                </a:lnTo>
                <a:lnTo>
                  <a:pt x="588466" y="754641"/>
                </a:lnTo>
                <a:lnTo>
                  <a:pt x="629964" y="766743"/>
                </a:lnTo>
                <a:lnTo>
                  <a:pt x="674092" y="777492"/>
                </a:lnTo>
                <a:lnTo>
                  <a:pt x="720544" y="786864"/>
                </a:lnTo>
                <a:lnTo>
                  <a:pt x="769015" y="794831"/>
                </a:lnTo>
                <a:lnTo>
                  <a:pt x="819199" y="801370"/>
                </a:lnTo>
                <a:lnTo>
                  <a:pt x="870791" y="806455"/>
                </a:lnTo>
                <a:lnTo>
                  <a:pt x="923485" y="810059"/>
                </a:lnTo>
                <a:lnTo>
                  <a:pt x="976976" y="812159"/>
                </a:lnTo>
                <a:lnTo>
                  <a:pt x="1030958" y="812727"/>
                </a:lnTo>
                <a:lnTo>
                  <a:pt x="1085126" y="811740"/>
                </a:lnTo>
                <a:lnTo>
                  <a:pt x="1139175" y="809170"/>
                </a:lnTo>
                <a:lnTo>
                  <a:pt x="1192799" y="804994"/>
                </a:lnTo>
                <a:lnTo>
                  <a:pt x="1245692" y="799185"/>
                </a:lnTo>
                <a:lnTo>
                  <a:pt x="1297550" y="791718"/>
                </a:lnTo>
                <a:lnTo>
                  <a:pt x="1348066" y="782568"/>
                </a:lnTo>
                <a:lnTo>
                  <a:pt x="2264492" y="782568"/>
                </a:lnTo>
                <a:lnTo>
                  <a:pt x="2287890" y="770157"/>
                </a:lnTo>
                <a:lnTo>
                  <a:pt x="2313837" y="752453"/>
                </a:lnTo>
                <a:lnTo>
                  <a:pt x="2334348" y="733544"/>
                </a:lnTo>
                <a:lnTo>
                  <a:pt x="2834274" y="733544"/>
                </a:lnTo>
                <a:lnTo>
                  <a:pt x="2838650" y="732752"/>
                </a:lnTo>
                <a:lnTo>
                  <a:pt x="2891681" y="719647"/>
                </a:lnTo>
                <a:lnTo>
                  <a:pt x="2931262" y="706675"/>
                </a:lnTo>
                <a:close/>
              </a:path>
              <a:path w="3531235" h="864870">
                <a:moveTo>
                  <a:pt x="2834274" y="733544"/>
                </a:moveTo>
                <a:lnTo>
                  <a:pt x="2334348" y="733544"/>
                </a:lnTo>
                <a:lnTo>
                  <a:pt x="2380005" y="741909"/>
                </a:lnTo>
                <a:lnTo>
                  <a:pt x="2427929" y="748522"/>
                </a:lnTo>
                <a:lnTo>
                  <a:pt x="2477667" y="753340"/>
                </a:lnTo>
                <a:lnTo>
                  <a:pt x="2528764" y="756319"/>
                </a:lnTo>
                <a:lnTo>
                  <a:pt x="2580766" y="757414"/>
                </a:lnTo>
                <a:lnTo>
                  <a:pt x="2650628" y="755895"/>
                </a:lnTo>
                <a:lnTo>
                  <a:pt x="2717387" y="751117"/>
                </a:lnTo>
                <a:lnTo>
                  <a:pt x="2780306" y="743322"/>
                </a:lnTo>
                <a:lnTo>
                  <a:pt x="2834274" y="733544"/>
                </a:lnTo>
                <a:close/>
              </a:path>
              <a:path w="3531235" h="864870">
                <a:moveTo>
                  <a:pt x="845216" y="76180"/>
                </a:moveTo>
                <a:lnTo>
                  <a:pt x="792733" y="77715"/>
                </a:lnTo>
                <a:lnTo>
                  <a:pt x="724757" y="82241"/>
                </a:lnTo>
                <a:lnTo>
                  <a:pt x="660434" y="89377"/>
                </a:lnTo>
                <a:lnTo>
                  <a:pt x="600207" y="98928"/>
                </a:lnTo>
                <a:lnTo>
                  <a:pt x="544518" y="110701"/>
                </a:lnTo>
                <a:lnTo>
                  <a:pt x="493809" y="124501"/>
                </a:lnTo>
                <a:lnTo>
                  <a:pt x="448524" y="140135"/>
                </a:lnTo>
                <a:lnTo>
                  <a:pt x="409105" y="157409"/>
                </a:lnTo>
                <a:lnTo>
                  <a:pt x="349633" y="196100"/>
                </a:lnTo>
                <a:lnTo>
                  <a:pt x="318934" y="239022"/>
                </a:lnTo>
                <a:lnTo>
                  <a:pt x="315481" y="261585"/>
                </a:lnTo>
                <a:lnTo>
                  <a:pt x="320547" y="284624"/>
                </a:lnTo>
                <a:lnTo>
                  <a:pt x="317576" y="287316"/>
                </a:lnTo>
                <a:lnTo>
                  <a:pt x="262502" y="290706"/>
                </a:lnTo>
                <a:lnTo>
                  <a:pt x="210327" y="296866"/>
                </a:lnTo>
                <a:lnTo>
                  <a:pt x="161908" y="305612"/>
                </a:lnTo>
                <a:lnTo>
                  <a:pt x="118100" y="316759"/>
                </a:lnTo>
                <a:lnTo>
                  <a:pt x="79759" y="330124"/>
                </a:lnTo>
                <a:lnTo>
                  <a:pt x="14709" y="370634"/>
                </a:lnTo>
                <a:lnTo>
                  <a:pt x="0" y="396752"/>
                </a:lnTo>
                <a:lnTo>
                  <a:pt x="2851" y="422898"/>
                </a:lnTo>
                <a:lnTo>
                  <a:pt x="22503" y="448094"/>
                </a:lnTo>
                <a:lnTo>
                  <a:pt x="58192" y="471365"/>
                </a:lnTo>
                <a:lnTo>
                  <a:pt x="109157" y="491732"/>
                </a:lnTo>
                <a:lnTo>
                  <a:pt x="174637" y="508220"/>
                </a:lnTo>
                <a:lnTo>
                  <a:pt x="128058" y="528880"/>
                </a:lnTo>
                <a:lnTo>
                  <a:pt x="96345" y="552127"/>
                </a:lnTo>
                <a:lnTo>
                  <a:pt x="80356" y="577093"/>
                </a:lnTo>
                <a:lnTo>
                  <a:pt x="80945" y="602911"/>
                </a:lnTo>
                <a:lnTo>
                  <a:pt x="117557" y="643067"/>
                </a:lnTo>
                <a:lnTo>
                  <a:pt x="190871" y="675408"/>
                </a:lnTo>
                <a:lnTo>
                  <a:pt x="238502" y="687914"/>
                </a:lnTo>
                <a:lnTo>
                  <a:pt x="291959" y="697588"/>
                </a:lnTo>
                <a:lnTo>
                  <a:pt x="350128" y="704134"/>
                </a:lnTo>
                <a:lnTo>
                  <a:pt x="411892" y="707261"/>
                </a:lnTo>
                <a:lnTo>
                  <a:pt x="2931262" y="706675"/>
                </a:lnTo>
                <a:lnTo>
                  <a:pt x="2978857" y="686802"/>
                </a:lnTo>
                <a:lnTo>
                  <a:pt x="3035942" y="646717"/>
                </a:lnTo>
                <a:lnTo>
                  <a:pt x="3057042" y="601324"/>
                </a:lnTo>
                <a:lnTo>
                  <a:pt x="3112869" y="597680"/>
                </a:lnTo>
                <a:lnTo>
                  <a:pt x="3167069" y="592169"/>
                </a:lnTo>
                <a:lnTo>
                  <a:pt x="3219230" y="584849"/>
                </a:lnTo>
                <a:lnTo>
                  <a:pt x="3268938" y="575778"/>
                </a:lnTo>
                <a:lnTo>
                  <a:pt x="3315779" y="565014"/>
                </a:lnTo>
                <a:lnTo>
                  <a:pt x="3376973" y="546829"/>
                </a:lnTo>
                <a:lnTo>
                  <a:pt x="3428252" y="526379"/>
                </a:lnTo>
                <a:lnTo>
                  <a:pt x="3469457" y="504064"/>
                </a:lnTo>
                <a:lnTo>
                  <a:pt x="3500431" y="480286"/>
                </a:lnTo>
                <a:lnTo>
                  <a:pt x="3531056" y="429935"/>
                </a:lnTo>
                <a:lnTo>
                  <a:pt x="3530392" y="404162"/>
                </a:lnTo>
                <a:lnTo>
                  <a:pt x="3518868" y="378526"/>
                </a:lnTo>
                <a:lnTo>
                  <a:pt x="3496326" y="353425"/>
                </a:lnTo>
                <a:lnTo>
                  <a:pt x="3462608" y="329259"/>
                </a:lnTo>
                <a:lnTo>
                  <a:pt x="3417557" y="306430"/>
                </a:lnTo>
                <a:lnTo>
                  <a:pt x="3423292" y="301739"/>
                </a:lnTo>
                <a:lnTo>
                  <a:pt x="3450568" y="264048"/>
                </a:lnTo>
                <a:lnTo>
                  <a:pt x="3452251" y="241001"/>
                </a:lnTo>
                <a:lnTo>
                  <a:pt x="3443186" y="218544"/>
                </a:lnTo>
                <a:lnTo>
                  <a:pt x="3395330" y="176867"/>
                </a:lnTo>
                <a:lnTo>
                  <a:pt x="3357798" y="158384"/>
                </a:lnTo>
                <a:lnTo>
                  <a:pt x="3312037" y="141960"/>
                </a:lnTo>
                <a:lnTo>
                  <a:pt x="3258675" y="127965"/>
                </a:lnTo>
                <a:lnTo>
                  <a:pt x="3198342" y="116765"/>
                </a:lnTo>
                <a:lnTo>
                  <a:pt x="3131667" y="108729"/>
                </a:lnTo>
                <a:lnTo>
                  <a:pt x="3125570" y="101248"/>
                </a:lnTo>
                <a:lnTo>
                  <a:pt x="1145895" y="101248"/>
                </a:lnTo>
                <a:lnTo>
                  <a:pt x="1099216" y="93107"/>
                </a:lnTo>
                <a:lnTo>
                  <a:pt x="1050699" y="86520"/>
                </a:lnTo>
                <a:lnTo>
                  <a:pt x="1000692" y="81510"/>
                </a:lnTo>
                <a:lnTo>
                  <a:pt x="949544" y="78101"/>
                </a:lnTo>
                <a:lnTo>
                  <a:pt x="897602" y="76317"/>
                </a:lnTo>
                <a:lnTo>
                  <a:pt x="845216" y="76180"/>
                </a:lnTo>
                <a:close/>
              </a:path>
              <a:path w="3531235" h="864870">
                <a:moveTo>
                  <a:pt x="1512850" y="24177"/>
                </a:moveTo>
                <a:lnTo>
                  <a:pt x="1457262" y="26147"/>
                </a:lnTo>
                <a:lnTo>
                  <a:pt x="1403048" y="30451"/>
                </a:lnTo>
                <a:lnTo>
                  <a:pt x="1350908" y="37015"/>
                </a:lnTo>
                <a:lnTo>
                  <a:pt x="1301545" y="45770"/>
                </a:lnTo>
                <a:lnTo>
                  <a:pt x="1255661" y="56642"/>
                </a:lnTo>
                <a:lnTo>
                  <a:pt x="1213956" y="69560"/>
                </a:lnTo>
                <a:lnTo>
                  <a:pt x="1177134" y="84453"/>
                </a:lnTo>
                <a:lnTo>
                  <a:pt x="1145895" y="101248"/>
                </a:lnTo>
                <a:lnTo>
                  <a:pt x="3125570" y="101248"/>
                </a:lnTo>
                <a:lnTo>
                  <a:pt x="3113737" y="86730"/>
                </a:lnTo>
                <a:lnTo>
                  <a:pt x="3084934" y="66231"/>
                </a:lnTo>
                <a:lnTo>
                  <a:pt x="3084115" y="65841"/>
                </a:lnTo>
                <a:lnTo>
                  <a:pt x="1836127" y="65841"/>
                </a:lnTo>
                <a:lnTo>
                  <a:pt x="1812884" y="58744"/>
                </a:lnTo>
                <a:lnTo>
                  <a:pt x="1762168" y="46331"/>
                </a:lnTo>
                <a:lnTo>
                  <a:pt x="1680833" y="32983"/>
                </a:lnTo>
                <a:lnTo>
                  <a:pt x="1625337" y="27523"/>
                </a:lnTo>
                <a:lnTo>
                  <a:pt x="1569109" y="24612"/>
                </a:lnTo>
                <a:lnTo>
                  <a:pt x="1512850" y="24177"/>
                </a:lnTo>
                <a:close/>
              </a:path>
              <a:path w="3531235" h="864870">
                <a:moveTo>
                  <a:pt x="2149912" y="0"/>
                </a:moveTo>
                <a:lnTo>
                  <a:pt x="2095170" y="1698"/>
                </a:lnTo>
                <a:lnTo>
                  <a:pt x="2042091" y="6149"/>
                </a:lnTo>
                <a:lnTo>
                  <a:pt x="1991662" y="13242"/>
                </a:lnTo>
                <a:lnTo>
                  <a:pt x="1944866" y="22868"/>
                </a:lnTo>
                <a:lnTo>
                  <a:pt x="1902689" y="34916"/>
                </a:lnTo>
                <a:lnTo>
                  <a:pt x="1866114" y="49277"/>
                </a:lnTo>
                <a:lnTo>
                  <a:pt x="1836127" y="65841"/>
                </a:lnTo>
                <a:lnTo>
                  <a:pt x="3084115" y="65841"/>
                </a:lnTo>
                <a:lnTo>
                  <a:pt x="3046021" y="47671"/>
                </a:lnTo>
                <a:lnTo>
                  <a:pt x="3043471" y="46816"/>
                </a:lnTo>
                <a:lnTo>
                  <a:pt x="2438641" y="46816"/>
                </a:lnTo>
                <a:lnTo>
                  <a:pt x="2412127" y="36500"/>
                </a:lnTo>
                <a:lnTo>
                  <a:pt x="2349640" y="19264"/>
                </a:lnTo>
                <a:lnTo>
                  <a:pt x="2260453" y="5297"/>
                </a:lnTo>
                <a:lnTo>
                  <a:pt x="2205335" y="1163"/>
                </a:lnTo>
                <a:lnTo>
                  <a:pt x="2149912" y="0"/>
                </a:lnTo>
                <a:close/>
              </a:path>
              <a:path w="3531235" h="864870">
                <a:moveTo>
                  <a:pt x="2736302" y="209"/>
                </a:moveTo>
                <a:lnTo>
                  <a:pt x="2681148" y="1721"/>
                </a:lnTo>
                <a:lnTo>
                  <a:pt x="2627059" y="5767"/>
                </a:lnTo>
                <a:lnTo>
                  <a:pt x="2574898" y="12323"/>
                </a:lnTo>
                <a:lnTo>
                  <a:pt x="2525532" y="21365"/>
                </a:lnTo>
                <a:lnTo>
                  <a:pt x="2479824" y="32871"/>
                </a:lnTo>
                <a:lnTo>
                  <a:pt x="2438641" y="46816"/>
                </a:lnTo>
                <a:lnTo>
                  <a:pt x="3043471" y="46816"/>
                </a:lnTo>
                <a:lnTo>
                  <a:pt x="2997758" y="31487"/>
                </a:lnTo>
                <a:lnTo>
                  <a:pt x="2950258" y="19975"/>
                </a:lnTo>
                <a:lnTo>
                  <a:pt x="2899498" y="11114"/>
                </a:lnTo>
                <a:lnTo>
                  <a:pt x="2846341" y="4882"/>
                </a:lnTo>
                <a:lnTo>
                  <a:pt x="2791654" y="1255"/>
                </a:lnTo>
                <a:lnTo>
                  <a:pt x="2736302" y="209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12222" y="4999473"/>
            <a:ext cx="48260" cy="48260"/>
          </a:xfrm>
          <a:custGeom>
            <a:avLst/>
            <a:gdLst/>
            <a:ahLst/>
            <a:cxnLst/>
            <a:rect l="l" t="t" r="r" b="b"/>
            <a:pathLst>
              <a:path w="48260" h="48260">
                <a:moveTo>
                  <a:pt x="24002" y="0"/>
                </a:moveTo>
                <a:lnTo>
                  <a:pt x="14658" y="1885"/>
                </a:lnTo>
                <a:lnTo>
                  <a:pt x="7029" y="7029"/>
                </a:lnTo>
                <a:lnTo>
                  <a:pt x="1885" y="14658"/>
                </a:lnTo>
                <a:lnTo>
                  <a:pt x="0" y="24003"/>
                </a:lnTo>
                <a:lnTo>
                  <a:pt x="1885" y="33347"/>
                </a:lnTo>
                <a:lnTo>
                  <a:pt x="7029" y="40976"/>
                </a:lnTo>
                <a:lnTo>
                  <a:pt x="14658" y="46120"/>
                </a:lnTo>
                <a:lnTo>
                  <a:pt x="24002" y="48006"/>
                </a:lnTo>
                <a:lnTo>
                  <a:pt x="33347" y="46120"/>
                </a:lnTo>
                <a:lnTo>
                  <a:pt x="40976" y="40976"/>
                </a:lnTo>
                <a:lnTo>
                  <a:pt x="46120" y="33347"/>
                </a:lnTo>
                <a:lnTo>
                  <a:pt x="48005" y="24003"/>
                </a:lnTo>
                <a:lnTo>
                  <a:pt x="46120" y="14658"/>
                </a:lnTo>
                <a:lnTo>
                  <a:pt x="40976" y="7029"/>
                </a:lnTo>
                <a:lnTo>
                  <a:pt x="33347" y="1885"/>
                </a:lnTo>
                <a:lnTo>
                  <a:pt x="2400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34472" y="5151314"/>
            <a:ext cx="96012" cy="9601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25113" y="5339299"/>
            <a:ext cx="144017" cy="144018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07782" y="5580381"/>
            <a:ext cx="3531235" cy="864869"/>
          </a:xfrm>
          <a:custGeom>
            <a:avLst/>
            <a:gdLst/>
            <a:ahLst/>
            <a:cxnLst/>
            <a:rect l="l" t="t" r="r" b="b"/>
            <a:pathLst>
              <a:path w="3531235" h="864870">
                <a:moveTo>
                  <a:pt x="320547" y="284627"/>
                </a:moveTo>
                <a:lnTo>
                  <a:pt x="315480" y="261586"/>
                </a:lnTo>
                <a:lnTo>
                  <a:pt x="318934" y="239022"/>
                </a:lnTo>
                <a:lnTo>
                  <a:pt x="330466" y="217127"/>
                </a:lnTo>
                <a:lnTo>
                  <a:pt x="375994" y="176125"/>
                </a:lnTo>
                <a:lnTo>
                  <a:pt x="448524" y="140131"/>
                </a:lnTo>
                <a:lnTo>
                  <a:pt x="493809" y="124497"/>
                </a:lnTo>
                <a:lnTo>
                  <a:pt x="544517" y="110696"/>
                </a:lnTo>
                <a:lnTo>
                  <a:pt x="600205" y="98923"/>
                </a:lnTo>
                <a:lnTo>
                  <a:pt x="660432" y="89371"/>
                </a:lnTo>
                <a:lnTo>
                  <a:pt x="724754" y="82235"/>
                </a:lnTo>
                <a:lnTo>
                  <a:pt x="792730" y="77708"/>
                </a:lnTo>
                <a:lnTo>
                  <a:pt x="845215" y="76174"/>
                </a:lnTo>
                <a:lnTo>
                  <a:pt x="897602" y="76312"/>
                </a:lnTo>
                <a:lnTo>
                  <a:pt x="949544" y="78097"/>
                </a:lnTo>
                <a:lnTo>
                  <a:pt x="1000692" y="81506"/>
                </a:lnTo>
                <a:lnTo>
                  <a:pt x="1050698" y="86517"/>
                </a:lnTo>
                <a:lnTo>
                  <a:pt x="1099214" y="93105"/>
                </a:lnTo>
                <a:lnTo>
                  <a:pt x="1145892" y="101248"/>
                </a:lnTo>
                <a:lnTo>
                  <a:pt x="1177130" y="84451"/>
                </a:lnTo>
                <a:lnTo>
                  <a:pt x="1213953" y="69558"/>
                </a:lnTo>
                <a:lnTo>
                  <a:pt x="1255657" y="56639"/>
                </a:lnTo>
                <a:lnTo>
                  <a:pt x="1301542" y="45767"/>
                </a:lnTo>
                <a:lnTo>
                  <a:pt x="1350906" y="37012"/>
                </a:lnTo>
                <a:lnTo>
                  <a:pt x="1403047" y="30448"/>
                </a:lnTo>
                <a:lnTo>
                  <a:pt x="1457262" y="26145"/>
                </a:lnTo>
                <a:lnTo>
                  <a:pt x="1512851" y="24176"/>
                </a:lnTo>
                <a:lnTo>
                  <a:pt x="1569111" y="24612"/>
                </a:lnTo>
                <a:lnTo>
                  <a:pt x="1625341" y="27524"/>
                </a:lnTo>
                <a:lnTo>
                  <a:pt x="1680838" y="32985"/>
                </a:lnTo>
                <a:lnTo>
                  <a:pt x="1734901" y="41065"/>
                </a:lnTo>
                <a:lnTo>
                  <a:pt x="1788200" y="52232"/>
                </a:lnTo>
                <a:lnTo>
                  <a:pt x="1836121" y="65844"/>
                </a:lnTo>
                <a:lnTo>
                  <a:pt x="1866110" y="49279"/>
                </a:lnTo>
                <a:lnTo>
                  <a:pt x="1902685" y="34917"/>
                </a:lnTo>
                <a:lnTo>
                  <a:pt x="1944864" y="22868"/>
                </a:lnTo>
                <a:lnTo>
                  <a:pt x="1991660" y="13242"/>
                </a:lnTo>
                <a:lnTo>
                  <a:pt x="2042090" y="6149"/>
                </a:lnTo>
                <a:lnTo>
                  <a:pt x="2095169" y="1698"/>
                </a:lnTo>
                <a:lnTo>
                  <a:pt x="2149913" y="0"/>
                </a:lnTo>
                <a:lnTo>
                  <a:pt x="2205338" y="1163"/>
                </a:lnTo>
                <a:lnTo>
                  <a:pt x="2260459" y="5299"/>
                </a:lnTo>
                <a:lnTo>
                  <a:pt x="2314291" y="12516"/>
                </a:lnTo>
                <a:lnTo>
                  <a:pt x="2382357" y="27289"/>
                </a:lnTo>
                <a:lnTo>
                  <a:pt x="2438641" y="46818"/>
                </a:lnTo>
                <a:lnTo>
                  <a:pt x="2479826" y="32872"/>
                </a:lnTo>
                <a:lnTo>
                  <a:pt x="2525534" y="21366"/>
                </a:lnTo>
                <a:lnTo>
                  <a:pt x="2574901" y="12323"/>
                </a:lnTo>
                <a:lnTo>
                  <a:pt x="2627062" y="5766"/>
                </a:lnTo>
                <a:lnTo>
                  <a:pt x="2681151" y="1719"/>
                </a:lnTo>
                <a:lnTo>
                  <a:pt x="2736305" y="207"/>
                </a:lnTo>
                <a:lnTo>
                  <a:pt x="2791658" y="1252"/>
                </a:lnTo>
                <a:lnTo>
                  <a:pt x="2846345" y="4879"/>
                </a:lnTo>
                <a:lnTo>
                  <a:pt x="2899501" y="11111"/>
                </a:lnTo>
                <a:lnTo>
                  <a:pt x="2950261" y="19971"/>
                </a:lnTo>
                <a:lnTo>
                  <a:pt x="2997760" y="31484"/>
                </a:lnTo>
                <a:lnTo>
                  <a:pt x="3046020" y="47669"/>
                </a:lnTo>
                <a:lnTo>
                  <a:pt x="3084932" y="66230"/>
                </a:lnTo>
                <a:lnTo>
                  <a:pt x="3131670" y="108727"/>
                </a:lnTo>
                <a:lnTo>
                  <a:pt x="3198343" y="116764"/>
                </a:lnTo>
                <a:lnTo>
                  <a:pt x="3258675" y="127963"/>
                </a:lnTo>
                <a:lnTo>
                  <a:pt x="3312037" y="141959"/>
                </a:lnTo>
                <a:lnTo>
                  <a:pt x="3357799" y="158382"/>
                </a:lnTo>
                <a:lnTo>
                  <a:pt x="3395331" y="176865"/>
                </a:lnTo>
                <a:lnTo>
                  <a:pt x="3443189" y="218541"/>
                </a:lnTo>
                <a:lnTo>
                  <a:pt x="3452254" y="240998"/>
                </a:lnTo>
                <a:lnTo>
                  <a:pt x="3450571" y="264044"/>
                </a:lnTo>
                <a:lnTo>
                  <a:pt x="3428529" y="296984"/>
                </a:lnTo>
                <a:lnTo>
                  <a:pt x="3417560" y="306424"/>
                </a:lnTo>
                <a:lnTo>
                  <a:pt x="3462609" y="329255"/>
                </a:lnTo>
                <a:lnTo>
                  <a:pt x="3496326" y="353421"/>
                </a:lnTo>
                <a:lnTo>
                  <a:pt x="3518867" y="378523"/>
                </a:lnTo>
                <a:lnTo>
                  <a:pt x="3530390" y="404161"/>
                </a:lnTo>
                <a:lnTo>
                  <a:pt x="3531052" y="429934"/>
                </a:lnTo>
                <a:lnTo>
                  <a:pt x="3521012" y="455442"/>
                </a:lnTo>
                <a:lnTo>
                  <a:pt x="3469450" y="504066"/>
                </a:lnTo>
                <a:lnTo>
                  <a:pt x="3428245" y="526381"/>
                </a:lnTo>
                <a:lnTo>
                  <a:pt x="3376966" y="546832"/>
                </a:lnTo>
                <a:lnTo>
                  <a:pt x="3315770" y="565017"/>
                </a:lnTo>
                <a:lnTo>
                  <a:pt x="3268930" y="575779"/>
                </a:lnTo>
                <a:lnTo>
                  <a:pt x="3219224" y="584847"/>
                </a:lnTo>
                <a:lnTo>
                  <a:pt x="3167065" y="592166"/>
                </a:lnTo>
                <a:lnTo>
                  <a:pt x="3112866" y="597677"/>
                </a:lnTo>
                <a:lnTo>
                  <a:pt x="3057040" y="601322"/>
                </a:lnTo>
                <a:lnTo>
                  <a:pt x="3051356" y="624561"/>
                </a:lnTo>
                <a:lnTo>
                  <a:pt x="3011526" y="667541"/>
                </a:lnTo>
                <a:lnTo>
                  <a:pt x="2938659" y="704247"/>
                </a:lnTo>
                <a:lnTo>
                  <a:pt x="2891678" y="719644"/>
                </a:lnTo>
                <a:lnTo>
                  <a:pt x="2838648" y="732749"/>
                </a:lnTo>
                <a:lnTo>
                  <a:pt x="2780306" y="743320"/>
                </a:lnTo>
                <a:lnTo>
                  <a:pt x="2717388" y="751115"/>
                </a:lnTo>
                <a:lnTo>
                  <a:pt x="2650630" y="755893"/>
                </a:lnTo>
                <a:lnTo>
                  <a:pt x="2580771" y="757412"/>
                </a:lnTo>
                <a:lnTo>
                  <a:pt x="2528765" y="756316"/>
                </a:lnTo>
                <a:lnTo>
                  <a:pt x="2477666" y="753338"/>
                </a:lnTo>
                <a:lnTo>
                  <a:pt x="2427927" y="748520"/>
                </a:lnTo>
                <a:lnTo>
                  <a:pt x="2380001" y="741907"/>
                </a:lnTo>
                <a:lnTo>
                  <a:pt x="2334341" y="733542"/>
                </a:lnTo>
                <a:lnTo>
                  <a:pt x="2313831" y="752451"/>
                </a:lnTo>
                <a:lnTo>
                  <a:pt x="2256922" y="786579"/>
                </a:lnTo>
                <a:lnTo>
                  <a:pt x="2221361" y="801648"/>
                </a:lnTo>
                <a:lnTo>
                  <a:pt x="2181623" y="815288"/>
                </a:lnTo>
                <a:lnTo>
                  <a:pt x="2138125" y="827423"/>
                </a:lnTo>
                <a:lnTo>
                  <a:pt x="2091289" y="837978"/>
                </a:lnTo>
                <a:lnTo>
                  <a:pt x="2041533" y="846878"/>
                </a:lnTo>
                <a:lnTo>
                  <a:pt x="1989277" y="854048"/>
                </a:lnTo>
                <a:lnTo>
                  <a:pt x="1934940" y="859413"/>
                </a:lnTo>
                <a:lnTo>
                  <a:pt x="1878941" y="862899"/>
                </a:lnTo>
                <a:lnTo>
                  <a:pt x="1821701" y="864429"/>
                </a:lnTo>
                <a:lnTo>
                  <a:pt x="1763638" y="863930"/>
                </a:lnTo>
                <a:lnTo>
                  <a:pt x="1705171" y="861325"/>
                </a:lnTo>
                <a:lnTo>
                  <a:pt x="1646721" y="856540"/>
                </a:lnTo>
                <a:lnTo>
                  <a:pt x="1587108" y="849231"/>
                </a:lnTo>
                <a:lnTo>
                  <a:pt x="1530763" y="839748"/>
                </a:lnTo>
                <a:lnTo>
                  <a:pt x="1478185" y="828217"/>
                </a:lnTo>
                <a:lnTo>
                  <a:pt x="1429877" y="814760"/>
                </a:lnTo>
                <a:lnTo>
                  <a:pt x="1386339" y="799501"/>
                </a:lnTo>
                <a:lnTo>
                  <a:pt x="1348072" y="782565"/>
                </a:lnTo>
                <a:lnTo>
                  <a:pt x="1297554" y="791716"/>
                </a:lnTo>
                <a:lnTo>
                  <a:pt x="1245696" y="799183"/>
                </a:lnTo>
                <a:lnTo>
                  <a:pt x="1192801" y="804992"/>
                </a:lnTo>
                <a:lnTo>
                  <a:pt x="1139176" y="809168"/>
                </a:lnTo>
                <a:lnTo>
                  <a:pt x="1085127" y="811737"/>
                </a:lnTo>
                <a:lnTo>
                  <a:pt x="1030958" y="812725"/>
                </a:lnTo>
                <a:lnTo>
                  <a:pt x="976975" y="812156"/>
                </a:lnTo>
                <a:lnTo>
                  <a:pt x="923483" y="810057"/>
                </a:lnTo>
                <a:lnTo>
                  <a:pt x="870789" y="806452"/>
                </a:lnTo>
                <a:lnTo>
                  <a:pt x="819197" y="801368"/>
                </a:lnTo>
                <a:lnTo>
                  <a:pt x="769012" y="794829"/>
                </a:lnTo>
                <a:lnTo>
                  <a:pt x="720541" y="786861"/>
                </a:lnTo>
                <a:lnTo>
                  <a:pt x="674089" y="777490"/>
                </a:lnTo>
                <a:lnTo>
                  <a:pt x="629961" y="766740"/>
                </a:lnTo>
                <a:lnTo>
                  <a:pt x="588463" y="754638"/>
                </a:lnTo>
                <a:lnTo>
                  <a:pt x="549900" y="741209"/>
                </a:lnTo>
                <a:lnTo>
                  <a:pt x="514577" y="726478"/>
                </a:lnTo>
                <a:lnTo>
                  <a:pt x="480539" y="709213"/>
                </a:lnTo>
                <a:lnTo>
                  <a:pt x="476135" y="706673"/>
                </a:lnTo>
                <a:lnTo>
                  <a:pt x="411892" y="707260"/>
                </a:lnTo>
                <a:lnTo>
                  <a:pt x="350128" y="704133"/>
                </a:lnTo>
                <a:lnTo>
                  <a:pt x="291959" y="697587"/>
                </a:lnTo>
                <a:lnTo>
                  <a:pt x="238502" y="687914"/>
                </a:lnTo>
                <a:lnTo>
                  <a:pt x="190871" y="675407"/>
                </a:lnTo>
                <a:lnTo>
                  <a:pt x="150184" y="660360"/>
                </a:lnTo>
                <a:lnTo>
                  <a:pt x="94106" y="623817"/>
                </a:lnTo>
                <a:lnTo>
                  <a:pt x="80356" y="577088"/>
                </a:lnTo>
                <a:lnTo>
                  <a:pt x="96346" y="552123"/>
                </a:lnTo>
                <a:lnTo>
                  <a:pt x="128058" y="528877"/>
                </a:lnTo>
                <a:lnTo>
                  <a:pt x="174637" y="508216"/>
                </a:lnTo>
                <a:lnTo>
                  <a:pt x="109157" y="491728"/>
                </a:lnTo>
                <a:lnTo>
                  <a:pt x="58192" y="471360"/>
                </a:lnTo>
                <a:lnTo>
                  <a:pt x="22503" y="448089"/>
                </a:lnTo>
                <a:lnTo>
                  <a:pt x="2851" y="422892"/>
                </a:lnTo>
                <a:lnTo>
                  <a:pt x="0" y="396746"/>
                </a:lnTo>
                <a:lnTo>
                  <a:pt x="14709" y="370627"/>
                </a:lnTo>
                <a:lnTo>
                  <a:pt x="47742" y="345512"/>
                </a:lnTo>
                <a:lnTo>
                  <a:pt x="118100" y="316757"/>
                </a:lnTo>
                <a:lnTo>
                  <a:pt x="161908" y="305612"/>
                </a:lnTo>
                <a:lnTo>
                  <a:pt x="210327" y="296867"/>
                </a:lnTo>
                <a:lnTo>
                  <a:pt x="262502" y="290707"/>
                </a:lnTo>
                <a:lnTo>
                  <a:pt x="317575" y="287318"/>
                </a:lnTo>
                <a:lnTo>
                  <a:pt x="320547" y="284627"/>
                </a:lnTo>
                <a:close/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93173" y="4980422"/>
            <a:ext cx="86099" cy="86105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15413" y="5132267"/>
            <a:ext cx="134109" cy="134109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06063" y="5320249"/>
            <a:ext cx="182119" cy="182115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23804" y="6090376"/>
            <a:ext cx="169545" cy="11430"/>
          </a:xfrm>
          <a:custGeom>
            <a:avLst/>
            <a:gdLst/>
            <a:ahLst/>
            <a:cxnLst/>
            <a:rect l="l" t="t" r="r" b="b"/>
            <a:pathLst>
              <a:path w="169544" h="11429">
                <a:moveTo>
                  <a:pt x="169371" y="11074"/>
                </a:moveTo>
                <a:lnTo>
                  <a:pt x="62215" y="789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23205" y="6275282"/>
            <a:ext cx="52705" cy="5080"/>
          </a:xfrm>
          <a:custGeom>
            <a:avLst/>
            <a:gdLst/>
            <a:ahLst/>
            <a:cxnLst/>
            <a:rect l="l" t="t" r="r" b="b"/>
            <a:pathLst>
              <a:path w="52705" h="5079">
                <a:moveTo>
                  <a:pt x="52532" y="0"/>
                </a:moveTo>
                <a:lnTo>
                  <a:pt x="0" y="4608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33354" y="6344980"/>
            <a:ext cx="22860" cy="14604"/>
          </a:xfrm>
          <a:custGeom>
            <a:avLst/>
            <a:gdLst/>
            <a:ahLst/>
            <a:cxnLst/>
            <a:rect l="l" t="t" r="r" b="b"/>
            <a:pathLst>
              <a:path w="22860" h="14604">
                <a:moveTo>
                  <a:pt x="22639" y="14439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61303" y="6272901"/>
            <a:ext cx="3175" cy="5080"/>
          </a:xfrm>
          <a:custGeom>
            <a:avLst/>
            <a:gdLst/>
            <a:ahLst/>
            <a:cxnLst/>
            <a:rect l="l" t="t" r="r" b="b"/>
            <a:pathLst>
              <a:path w="3175" h="5079">
                <a:moveTo>
                  <a:pt x="2749" y="0"/>
                </a:moveTo>
                <a:lnTo>
                  <a:pt x="0" y="4892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197443" y="6036364"/>
            <a:ext cx="251460" cy="107950"/>
          </a:xfrm>
          <a:custGeom>
            <a:avLst/>
            <a:gdLst/>
            <a:ahLst/>
            <a:cxnLst/>
            <a:rect l="l" t="t" r="r" b="b"/>
            <a:pathLst>
              <a:path w="251460" h="107950">
                <a:moveTo>
                  <a:pt x="0" y="0"/>
                </a:moveTo>
                <a:lnTo>
                  <a:pt x="58739" y="11111"/>
                </a:lnTo>
                <a:lnTo>
                  <a:pt x="110329" y="25399"/>
                </a:lnTo>
                <a:lnTo>
                  <a:pt x="156369" y="41274"/>
                </a:lnTo>
                <a:lnTo>
                  <a:pt x="194469" y="58736"/>
                </a:lnTo>
                <a:lnTo>
                  <a:pt x="247649" y="99217"/>
                </a:lnTo>
                <a:lnTo>
                  <a:pt x="250959" y="107499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741462" y="5884757"/>
            <a:ext cx="82550" cy="41275"/>
          </a:xfrm>
          <a:custGeom>
            <a:avLst/>
            <a:gdLst/>
            <a:ahLst/>
            <a:cxnLst/>
            <a:rect l="l" t="t" r="r" b="b"/>
            <a:pathLst>
              <a:path w="82550" h="41275">
                <a:moveTo>
                  <a:pt x="82249" y="0"/>
                </a:moveTo>
                <a:lnTo>
                  <a:pt x="60019" y="15081"/>
                </a:lnTo>
                <a:lnTo>
                  <a:pt x="33039" y="29368"/>
                </a:lnTo>
                <a:lnTo>
                  <a:pt x="0" y="40760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539553" y="5686321"/>
            <a:ext cx="6350" cy="25400"/>
          </a:xfrm>
          <a:custGeom>
            <a:avLst/>
            <a:gdLst/>
            <a:ahLst/>
            <a:cxnLst/>
            <a:rect l="l" t="t" r="r" b="b"/>
            <a:pathLst>
              <a:path w="6350" h="25400">
                <a:moveTo>
                  <a:pt x="0" y="0"/>
                </a:moveTo>
                <a:lnTo>
                  <a:pt x="6349" y="2539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84693" y="5642498"/>
            <a:ext cx="27305" cy="14604"/>
          </a:xfrm>
          <a:custGeom>
            <a:avLst/>
            <a:gdLst/>
            <a:ahLst/>
            <a:cxnLst/>
            <a:rect l="l" t="t" r="r" b="b"/>
            <a:pathLst>
              <a:path w="27304" h="14604">
                <a:moveTo>
                  <a:pt x="0" y="14454"/>
                </a:moveTo>
                <a:lnTo>
                  <a:pt x="267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17953" y="5670434"/>
            <a:ext cx="1905" cy="1905"/>
          </a:xfrm>
          <a:custGeom>
            <a:avLst/>
            <a:gdLst/>
            <a:ahLst/>
            <a:cxnLst/>
            <a:rect l="l" t="t" r="r" b="b"/>
            <a:pathLst>
              <a:path w="1905" h="1904">
                <a:moveTo>
                  <a:pt x="0" y="1598"/>
                </a:moveTo>
                <a:lnTo>
                  <a:pt x="16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553584" y="5681558"/>
            <a:ext cx="69215" cy="17145"/>
          </a:xfrm>
          <a:custGeom>
            <a:avLst/>
            <a:gdLst/>
            <a:ahLst/>
            <a:cxnLst/>
            <a:rect l="l" t="t" r="r" b="b"/>
            <a:pathLst>
              <a:path w="69214" h="17145">
                <a:moveTo>
                  <a:pt x="0" y="0"/>
                </a:moveTo>
                <a:lnTo>
                  <a:pt x="55569" y="12699"/>
                </a:lnTo>
                <a:lnTo>
                  <a:pt x="68939" y="16520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28088" y="5864914"/>
            <a:ext cx="19050" cy="28575"/>
          </a:xfrm>
          <a:custGeom>
            <a:avLst/>
            <a:gdLst/>
            <a:ahLst/>
            <a:cxnLst/>
            <a:rect l="l" t="t" r="r" b="b"/>
            <a:pathLst>
              <a:path w="19050" h="28575">
                <a:moveTo>
                  <a:pt x="19049" y="28574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86007" y="6043286"/>
            <a:ext cx="120650" cy="113664"/>
          </a:xfrm>
          <a:custGeom>
            <a:avLst/>
            <a:gdLst/>
            <a:ahLst/>
            <a:cxnLst/>
            <a:rect l="l" t="t" r="r" b="b"/>
            <a:pathLst>
              <a:path w="120650" h="113664">
                <a:moveTo>
                  <a:pt x="120589" y="0"/>
                </a:moveTo>
                <a:lnTo>
                  <a:pt x="0" y="42291"/>
                </a:lnTo>
                <a:lnTo>
                  <a:pt x="106191" y="113385"/>
                </a:lnTo>
                <a:lnTo>
                  <a:pt x="12058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85251" y="6216298"/>
            <a:ext cx="119380" cy="114300"/>
          </a:xfrm>
          <a:custGeom>
            <a:avLst/>
            <a:gdLst/>
            <a:ahLst/>
            <a:cxnLst/>
            <a:rect l="l" t="t" r="r" b="b"/>
            <a:pathLst>
              <a:path w="119380" h="114300">
                <a:moveTo>
                  <a:pt x="108864" y="0"/>
                </a:moveTo>
                <a:lnTo>
                  <a:pt x="0" y="66929"/>
                </a:lnTo>
                <a:lnTo>
                  <a:pt x="118859" y="113865"/>
                </a:lnTo>
                <a:lnTo>
                  <a:pt x="108864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01226" y="6324494"/>
            <a:ext cx="127635" cy="109855"/>
          </a:xfrm>
          <a:custGeom>
            <a:avLst/>
            <a:gdLst/>
            <a:ahLst/>
            <a:cxnLst/>
            <a:rect l="l" t="t" r="r" b="b"/>
            <a:pathLst>
              <a:path w="127635" h="109854">
                <a:moveTo>
                  <a:pt x="0" y="0"/>
                </a:moveTo>
                <a:lnTo>
                  <a:pt x="65646" y="109642"/>
                </a:lnTo>
                <a:lnTo>
                  <a:pt x="127101" y="132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742626" y="6183367"/>
            <a:ext cx="106045" cy="127635"/>
          </a:xfrm>
          <a:custGeom>
            <a:avLst/>
            <a:gdLst/>
            <a:ahLst/>
            <a:cxnLst/>
            <a:rect l="l" t="t" r="r" b="b"/>
            <a:pathLst>
              <a:path w="106045" h="127635">
                <a:moveTo>
                  <a:pt x="6223" y="0"/>
                </a:moveTo>
                <a:lnTo>
                  <a:pt x="0" y="127635"/>
                </a:lnTo>
                <a:lnTo>
                  <a:pt x="105841" y="56032"/>
                </a:lnTo>
                <a:lnTo>
                  <a:pt x="622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67047" y="6051884"/>
            <a:ext cx="106680" cy="127635"/>
          </a:xfrm>
          <a:custGeom>
            <a:avLst/>
            <a:gdLst/>
            <a:ahLst/>
            <a:cxnLst/>
            <a:rect l="l" t="t" r="r" b="b"/>
            <a:pathLst>
              <a:path w="106679" h="127635">
                <a:moveTo>
                  <a:pt x="106121" y="0"/>
                </a:moveTo>
                <a:lnTo>
                  <a:pt x="0" y="42456"/>
                </a:lnTo>
                <a:lnTo>
                  <a:pt x="95503" y="127355"/>
                </a:lnTo>
                <a:lnTo>
                  <a:pt x="10612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705438" y="5846652"/>
            <a:ext cx="127000" cy="108585"/>
          </a:xfrm>
          <a:custGeom>
            <a:avLst/>
            <a:gdLst/>
            <a:ahLst/>
            <a:cxnLst/>
            <a:rect l="l" t="t" r="r" b="b"/>
            <a:pathLst>
              <a:path w="127000" h="108585">
                <a:moveTo>
                  <a:pt x="89433" y="0"/>
                </a:moveTo>
                <a:lnTo>
                  <a:pt x="0" y="91287"/>
                </a:lnTo>
                <a:lnTo>
                  <a:pt x="126695" y="108051"/>
                </a:lnTo>
                <a:lnTo>
                  <a:pt x="8943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71974" y="5623932"/>
            <a:ext cx="111125" cy="125095"/>
          </a:xfrm>
          <a:custGeom>
            <a:avLst/>
            <a:gdLst/>
            <a:ahLst/>
            <a:cxnLst/>
            <a:rect l="l" t="t" r="r" b="b"/>
            <a:pathLst>
              <a:path w="111125" h="125095">
                <a:moveTo>
                  <a:pt x="110883" y="0"/>
                </a:moveTo>
                <a:lnTo>
                  <a:pt x="0" y="27724"/>
                </a:lnTo>
                <a:lnTo>
                  <a:pt x="83172" y="124752"/>
                </a:lnTo>
                <a:lnTo>
                  <a:pt x="11088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717290" y="5624414"/>
            <a:ext cx="128270" cy="104775"/>
          </a:xfrm>
          <a:custGeom>
            <a:avLst/>
            <a:gdLst/>
            <a:ahLst/>
            <a:cxnLst/>
            <a:rect l="l" t="t" r="r" b="b"/>
            <a:pathLst>
              <a:path w="128270" h="104775">
                <a:moveTo>
                  <a:pt x="127723" y="0"/>
                </a:moveTo>
                <a:lnTo>
                  <a:pt x="0" y="3962"/>
                </a:lnTo>
                <a:lnTo>
                  <a:pt x="54267" y="104559"/>
                </a:lnTo>
                <a:lnTo>
                  <a:pt x="12772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125012" y="5644252"/>
            <a:ext cx="122555" cy="120650"/>
          </a:xfrm>
          <a:custGeom>
            <a:avLst/>
            <a:gdLst/>
            <a:ahLst/>
            <a:cxnLst/>
            <a:rect l="l" t="t" r="r" b="b"/>
            <a:pathLst>
              <a:path w="122555" h="120650">
                <a:moveTo>
                  <a:pt x="122313" y="0"/>
                </a:moveTo>
                <a:lnTo>
                  <a:pt x="0" y="37033"/>
                </a:lnTo>
                <a:lnTo>
                  <a:pt x="78549" y="120065"/>
                </a:lnTo>
                <a:lnTo>
                  <a:pt x="12231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533561" y="5622192"/>
            <a:ext cx="125730" cy="110489"/>
          </a:xfrm>
          <a:custGeom>
            <a:avLst/>
            <a:gdLst/>
            <a:ahLst/>
            <a:cxnLst/>
            <a:rect l="l" t="t" r="r" b="b"/>
            <a:pathLst>
              <a:path w="125730" h="110489">
                <a:moveTo>
                  <a:pt x="31394" y="0"/>
                </a:moveTo>
                <a:lnTo>
                  <a:pt x="0" y="109905"/>
                </a:lnTo>
                <a:lnTo>
                  <a:pt x="125603" y="86347"/>
                </a:lnTo>
                <a:lnTo>
                  <a:pt x="31394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706954" y="5833215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0" y="0"/>
                </a:moveTo>
                <a:lnTo>
                  <a:pt x="15850" y="126796"/>
                </a:lnTo>
                <a:lnTo>
                  <a:pt x="110961" y="6339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860537" y="5794023"/>
            <a:ext cx="2363470" cy="39116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Oracle-spezifisch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41378" y="2439305"/>
            <a:ext cx="198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Funktioniert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nicht</a:t>
            </a:r>
            <a:r>
              <a:rPr lang="en-US" dirty="0">
                <a:solidFill>
                  <a:srgbClr val="FF0000"/>
                </a:solidFill>
              </a:rPr>
              <a:t> für alle </a:t>
            </a:r>
            <a:r>
              <a:rPr lang="en-US" dirty="0" err="1">
                <a:solidFill>
                  <a:srgbClr val="FF0000"/>
                </a:solidFill>
              </a:rPr>
              <a:t>Datenbanken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object 3">
            <a:extLst>
              <a:ext uri="{FF2B5EF4-FFF2-40B4-BE49-F238E27FC236}">
                <a16:creationId xmlns:a16="http://schemas.microsoft.com/office/drawing/2014/main" id="{7BCFDF50-0401-C368-C551-83AF3345C201}"/>
              </a:ext>
            </a:extLst>
          </p:cNvPr>
          <p:cNvSpPr txBox="1">
            <a:spLocks/>
          </p:cNvSpPr>
          <p:nvPr/>
        </p:nvSpPr>
        <p:spPr>
          <a:xfrm>
            <a:off x="927100" y="760960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connect </a:t>
            </a:r>
            <a:r>
              <a:rPr lang="de-DE" spc="-5" dirty="0" err="1"/>
              <a:t>by</a:t>
            </a:r>
            <a:r>
              <a:rPr lang="de-DE" spc="-5" dirty="0"/>
              <a:t> Klausel</a:t>
            </a:r>
            <a:endParaRPr lang="de-DE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">
            <a:extLst>
              <a:ext uri="{FF2B5EF4-FFF2-40B4-BE49-F238E27FC236}">
                <a16:creationId xmlns:a16="http://schemas.microsoft.com/office/drawing/2014/main" id="{7BCFDF50-0401-C368-C551-83AF3345C201}"/>
              </a:ext>
            </a:extLst>
          </p:cNvPr>
          <p:cNvSpPr txBox="1">
            <a:spLocks/>
          </p:cNvSpPr>
          <p:nvPr/>
        </p:nvSpPr>
        <p:spPr>
          <a:xfrm>
            <a:off x="927100" y="760960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connect </a:t>
            </a:r>
            <a:r>
              <a:rPr lang="de-DE" spc="-5" dirty="0" err="1"/>
              <a:t>by</a:t>
            </a:r>
            <a:r>
              <a:rPr lang="de-DE" spc="-5" dirty="0"/>
              <a:t> Klausel</a:t>
            </a:r>
            <a:endParaRPr lang="de-DE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DFE3F092-6E2E-A0F9-BE4C-AFED1C7E4E03}"/>
              </a:ext>
            </a:extLst>
          </p:cNvPr>
          <p:cNvSpPr txBox="1"/>
          <p:nvPr/>
        </p:nvSpPr>
        <p:spPr>
          <a:xfrm>
            <a:off x="6251747" y="2036981"/>
            <a:ext cx="127635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Vorlesungen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6662EC-B521-EA5B-DAED-F03F1CF0A2AE}"/>
              </a:ext>
            </a:extLst>
          </p:cNvPr>
          <p:cNvSpPr txBox="1"/>
          <p:nvPr/>
        </p:nvSpPr>
        <p:spPr>
          <a:xfrm>
            <a:off x="5122898" y="2350429"/>
            <a:ext cx="57467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VorlNr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F76DD31E-0BAA-1444-5199-8527F69F974D}"/>
              </a:ext>
            </a:extLst>
          </p:cNvPr>
          <p:cNvSpPr txBox="1"/>
          <p:nvPr/>
        </p:nvSpPr>
        <p:spPr>
          <a:xfrm>
            <a:off x="6399813" y="2350429"/>
            <a:ext cx="3956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T</a:t>
            </a:r>
            <a:r>
              <a:rPr sz="1400" b="1" spc="-5" dirty="0">
                <a:latin typeface="Tahoma"/>
                <a:cs typeface="Tahoma"/>
              </a:rPr>
              <a:t>ite</a:t>
            </a:r>
            <a:r>
              <a:rPr sz="1400" b="1" dirty="0">
                <a:latin typeface="Tahoma"/>
                <a:cs typeface="Tahoma"/>
              </a:rPr>
              <a:t>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0" name="object 5">
            <a:extLst>
              <a:ext uri="{FF2B5EF4-FFF2-40B4-BE49-F238E27FC236}">
                <a16:creationId xmlns:a16="http://schemas.microsoft.com/office/drawing/2014/main" id="{88913F9B-BE60-1C5D-C98A-E01D8B3008DC}"/>
              </a:ext>
            </a:extLst>
          </p:cNvPr>
          <p:cNvSpPr txBox="1"/>
          <p:nvPr/>
        </p:nvSpPr>
        <p:spPr>
          <a:xfrm>
            <a:off x="7469974" y="2350429"/>
            <a:ext cx="4083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S</a:t>
            </a:r>
            <a:r>
              <a:rPr sz="1400" b="1" spc="-5" dirty="0">
                <a:latin typeface="Tahoma"/>
                <a:cs typeface="Tahoma"/>
              </a:rPr>
              <a:t>W</a:t>
            </a:r>
            <a:r>
              <a:rPr sz="1400" b="1" dirty="0"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1" name="object 6">
            <a:extLst>
              <a:ext uri="{FF2B5EF4-FFF2-40B4-BE49-F238E27FC236}">
                <a16:creationId xmlns:a16="http://schemas.microsoft.com/office/drawing/2014/main" id="{79F79AC5-CC48-C19F-B321-A7B246BBECBE}"/>
              </a:ext>
            </a:extLst>
          </p:cNvPr>
          <p:cNvSpPr txBox="1"/>
          <p:nvPr/>
        </p:nvSpPr>
        <p:spPr>
          <a:xfrm>
            <a:off x="7912310" y="2350429"/>
            <a:ext cx="807720" cy="4051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1465" indent="-292100">
              <a:lnSpc>
                <a:spcPts val="1500"/>
              </a:lnSpc>
              <a:spcBef>
                <a:spcPts val="200"/>
              </a:spcBef>
            </a:pPr>
            <a:r>
              <a:rPr sz="1400" b="1" dirty="0">
                <a:latin typeface="Tahoma"/>
                <a:cs typeface="Tahoma"/>
              </a:rPr>
              <a:t>g</a:t>
            </a:r>
            <a:r>
              <a:rPr sz="1400" b="1" spc="-5" dirty="0">
                <a:latin typeface="Tahoma"/>
                <a:cs typeface="Tahoma"/>
              </a:rPr>
              <a:t>elese</a:t>
            </a:r>
            <a:r>
              <a:rPr sz="1400" b="1" dirty="0">
                <a:latin typeface="Tahoma"/>
                <a:cs typeface="Tahoma"/>
              </a:rPr>
              <a:t>nV  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2" name="object 7">
            <a:extLst>
              <a:ext uri="{FF2B5EF4-FFF2-40B4-BE49-F238E27FC236}">
                <a16:creationId xmlns:a16="http://schemas.microsoft.com/office/drawing/2014/main" id="{65CFC1D3-0CE3-EC2B-DC50-97FFE8A611D2}"/>
              </a:ext>
            </a:extLst>
          </p:cNvPr>
          <p:cNvSpPr txBox="1"/>
          <p:nvPr/>
        </p:nvSpPr>
        <p:spPr>
          <a:xfrm>
            <a:off x="1992833" y="3908643"/>
            <a:ext cx="135509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voraussetzen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3" name="object 8">
            <a:extLst>
              <a:ext uri="{FF2B5EF4-FFF2-40B4-BE49-F238E27FC236}">
                <a16:creationId xmlns:a16="http://schemas.microsoft.com/office/drawing/2014/main" id="{84F5AF17-9364-75C1-C16C-0286E34FCD45}"/>
              </a:ext>
            </a:extLst>
          </p:cNvPr>
          <p:cNvSpPr txBox="1"/>
          <p:nvPr/>
        </p:nvSpPr>
        <p:spPr>
          <a:xfrm>
            <a:off x="1647756" y="4222092"/>
            <a:ext cx="93408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Vorgänger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4" name="object 9">
            <a:extLst>
              <a:ext uri="{FF2B5EF4-FFF2-40B4-BE49-F238E27FC236}">
                <a16:creationId xmlns:a16="http://schemas.microsoft.com/office/drawing/2014/main" id="{5EDD94DC-0FE5-178E-1E37-87304822C60D}"/>
              </a:ext>
            </a:extLst>
          </p:cNvPr>
          <p:cNvSpPr txBox="1"/>
          <p:nvPr/>
        </p:nvSpPr>
        <p:spPr>
          <a:xfrm>
            <a:off x="2693645" y="4222092"/>
            <a:ext cx="97726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Nachfo</a:t>
            </a:r>
            <a:r>
              <a:rPr sz="1400" b="1" spc="-5" dirty="0">
                <a:latin typeface="Tahoma"/>
                <a:cs typeface="Tahoma"/>
              </a:rPr>
              <a:t>l</a:t>
            </a:r>
            <a:r>
              <a:rPr sz="1400" b="1" dirty="0">
                <a:latin typeface="Tahoma"/>
                <a:cs typeface="Tahoma"/>
              </a:rPr>
              <a:t>g</a:t>
            </a:r>
            <a:r>
              <a:rPr sz="1400" b="1" spc="-5" dirty="0">
                <a:latin typeface="Tahoma"/>
                <a:cs typeface="Tahoma"/>
              </a:rPr>
              <a:t>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5" name="object 10">
            <a:extLst>
              <a:ext uri="{FF2B5EF4-FFF2-40B4-BE49-F238E27FC236}">
                <a16:creationId xmlns:a16="http://schemas.microsoft.com/office/drawing/2014/main" id="{A2F9D4EE-7AD7-F0D9-9C87-DF09F908239B}"/>
              </a:ext>
            </a:extLst>
          </p:cNvPr>
          <p:cNvSpPr txBox="1"/>
          <p:nvPr/>
        </p:nvSpPr>
        <p:spPr>
          <a:xfrm>
            <a:off x="6251747" y="2036981"/>
            <a:ext cx="127635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Vorlesungen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6" name="object 11">
            <a:extLst>
              <a:ext uri="{FF2B5EF4-FFF2-40B4-BE49-F238E27FC236}">
                <a16:creationId xmlns:a16="http://schemas.microsoft.com/office/drawing/2014/main" id="{DA93EEB4-1991-8CB8-D9F1-66AE8A1521EF}"/>
              </a:ext>
            </a:extLst>
          </p:cNvPr>
          <p:cNvSpPr txBox="1"/>
          <p:nvPr/>
        </p:nvSpPr>
        <p:spPr>
          <a:xfrm>
            <a:off x="5122898" y="2350429"/>
            <a:ext cx="57467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VorlNr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7" name="object 12">
            <a:extLst>
              <a:ext uri="{FF2B5EF4-FFF2-40B4-BE49-F238E27FC236}">
                <a16:creationId xmlns:a16="http://schemas.microsoft.com/office/drawing/2014/main" id="{6C42E155-FE9D-B2EA-12D5-893EF4311081}"/>
              </a:ext>
            </a:extLst>
          </p:cNvPr>
          <p:cNvSpPr txBox="1"/>
          <p:nvPr/>
        </p:nvSpPr>
        <p:spPr>
          <a:xfrm>
            <a:off x="6399813" y="2350429"/>
            <a:ext cx="3956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T</a:t>
            </a:r>
            <a:r>
              <a:rPr sz="1400" b="1" spc="-5" dirty="0">
                <a:latin typeface="Tahoma"/>
                <a:cs typeface="Tahoma"/>
              </a:rPr>
              <a:t>ite</a:t>
            </a:r>
            <a:r>
              <a:rPr sz="1400" b="1" dirty="0">
                <a:latin typeface="Tahoma"/>
                <a:cs typeface="Tahoma"/>
              </a:rPr>
              <a:t>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8" name="object 13">
            <a:extLst>
              <a:ext uri="{FF2B5EF4-FFF2-40B4-BE49-F238E27FC236}">
                <a16:creationId xmlns:a16="http://schemas.microsoft.com/office/drawing/2014/main" id="{4B7E1B86-0555-1BCC-80A9-81C620A9EA4B}"/>
              </a:ext>
            </a:extLst>
          </p:cNvPr>
          <p:cNvSpPr txBox="1"/>
          <p:nvPr/>
        </p:nvSpPr>
        <p:spPr>
          <a:xfrm>
            <a:off x="7469974" y="2350429"/>
            <a:ext cx="40830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S</a:t>
            </a:r>
            <a:r>
              <a:rPr sz="1400" b="1" spc="-5" dirty="0">
                <a:latin typeface="Tahoma"/>
                <a:cs typeface="Tahoma"/>
              </a:rPr>
              <a:t>W</a:t>
            </a:r>
            <a:r>
              <a:rPr sz="1400" b="1" dirty="0"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9" name="object 14">
            <a:extLst>
              <a:ext uri="{FF2B5EF4-FFF2-40B4-BE49-F238E27FC236}">
                <a16:creationId xmlns:a16="http://schemas.microsoft.com/office/drawing/2014/main" id="{9B04BA6A-6205-C56B-B19C-8976EF045640}"/>
              </a:ext>
            </a:extLst>
          </p:cNvPr>
          <p:cNvSpPr txBox="1"/>
          <p:nvPr/>
        </p:nvSpPr>
        <p:spPr>
          <a:xfrm>
            <a:off x="7912310" y="2350429"/>
            <a:ext cx="807720" cy="40513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91465" indent="-292100">
              <a:lnSpc>
                <a:spcPts val="1500"/>
              </a:lnSpc>
              <a:spcBef>
                <a:spcPts val="200"/>
              </a:spcBef>
            </a:pPr>
            <a:r>
              <a:rPr sz="1400" b="1" dirty="0">
                <a:latin typeface="Tahoma"/>
                <a:cs typeface="Tahoma"/>
              </a:rPr>
              <a:t>g</a:t>
            </a:r>
            <a:r>
              <a:rPr sz="1400" b="1" spc="-5" dirty="0">
                <a:latin typeface="Tahoma"/>
                <a:cs typeface="Tahoma"/>
              </a:rPr>
              <a:t>elese</a:t>
            </a:r>
            <a:r>
              <a:rPr sz="1400" b="1" dirty="0">
                <a:latin typeface="Tahoma"/>
                <a:cs typeface="Tahoma"/>
              </a:rPr>
              <a:t>nV  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0" name="object 15">
            <a:extLst>
              <a:ext uri="{FF2B5EF4-FFF2-40B4-BE49-F238E27FC236}">
                <a16:creationId xmlns:a16="http://schemas.microsoft.com/office/drawing/2014/main" id="{B81704E0-2BD2-62E8-F197-892FAF1353E9}"/>
              </a:ext>
            </a:extLst>
          </p:cNvPr>
          <p:cNvSpPr txBox="1"/>
          <p:nvPr/>
        </p:nvSpPr>
        <p:spPr>
          <a:xfrm>
            <a:off x="1992833" y="3908643"/>
            <a:ext cx="1355090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dirty="0">
                <a:latin typeface="Tahoma"/>
                <a:cs typeface="Tahoma"/>
              </a:rPr>
              <a:t>voraussetzen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1" name="object 16">
            <a:extLst>
              <a:ext uri="{FF2B5EF4-FFF2-40B4-BE49-F238E27FC236}">
                <a16:creationId xmlns:a16="http://schemas.microsoft.com/office/drawing/2014/main" id="{35534815-86EF-22BB-4785-FAC476EFA057}"/>
              </a:ext>
            </a:extLst>
          </p:cNvPr>
          <p:cNvSpPr txBox="1"/>
          <p:nvPr/>
        </p:nvSpPr>
        <p:spPr>
          <a:xfrm>
            <a:off x="1647756" y="4222092"/>
            <a:ext cx="93408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Vorgänger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2" name="object 17">
            <a:extLst>
              <a:ext uri="{FF2B5EF4-FFF2-40B4-BE49-F238E27FC236}">
                <a16:creationId xmlns:a16="http://schemas.microsoft.com/office/drawing/2014/main" id="{392781BF-DEDA-8E36-4FB9-73DC0D0EF221}"/>
              </a:ext>
            </a:extLst>
          </p:cNvPr>
          <p:cNvSpPr txBox="1"/>
          <p:nvPr/>
        </p:nvSpPr>
        <p:spPr>
          <a:xfrm>
            <a:off x="2693645" y="4222092"/>
            <a:ext cx="977265" cy="2146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b="1" dirty="0">
                <a:latin typeface="Tahoma"/>
                <a:cs typeface="Tahoma"/>
              </a:rPr>
              <a:t>Nachfo</a:t>
            </a:r>
            <a:r>
              <a:rPr sz="1400" b="1" spc="-5" dirty="0">
                <a:latin typeface="Tahoma"/>
                <a:cs typeface="Tahoma"/>
              </a:rPr>
              <a:t>l</a:t>
            </a:r>
            <a:r>
              <a:rPr sz="1400" b="1" dirty="0">
                <a:latin typeface="Tahoma"/>
                <a:cs typeface="Tahoma"/>
              </a:rPr>
              <a:t>g</a:t>
            </a:r>
            <a:r>
              <a:rPr sz="1400" b="1" spc="-5" dirty="0">
                <a:latin typeface="Tahoma"/>
                <a:cs typeface="Tahoma"/>
              </a:rPr>
              <a:t>er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53" name="object 18">
            <a:extLst>
              <a:ext uri="{FF2B5EF4-FFF2-40B4-BE49-F238E27FC236}">
                <a16:creationId xmlns:a16="http://schemas.microsoft.com/office/drawing/2014/main" id="{2F177338-AAF8-77F4-BF60-A90D89DECB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659809"/>
              </p:ext>
            </p:extLst>
          </p:nvPr>
        </p:nvGraphicFramePr>
        <p:xfrm>
          <a:off x="5043462" y="1997393"/>
          <a:ext cx="3655059" cy="3789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515">
                <a:tc gridSpan="4">
                  <a:txBody>
                    <a:bodyPr/>
                    <a:lstStyle/>
                    <a:p>
                      <a:pPr marL="12077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Vorlesungen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VorlNr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Titel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SWS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09245" indent="-292100">
                        <a:lnSpc>
                          <a:spcPts val="1500"/>
                        </a:lnSpc>
                        <a:spcBef>
                          <a:spcPts val="420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elese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nV  on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Grundzüge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Mäeutik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Logik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2125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Wissenschaftstheorie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Bioethik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2126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Der Wiener</a:t>
                      </a:r>
                      <a:r>
                        <a:rPr sz="14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Kreis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5022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Glaube und</a:t>
                      </a:r>
                      <a:r>
                        <a:rPr sz="1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Wissen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4630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spc="-5" dirty="0">
                          <a:latin typeface="Tahoma"/>
                          <a:cs typeface="Tahoma"/>
                        </a:rPr>
                        <a:t>Die </a:t>
                      </a:r>
                      <a:r>
                        <a:rPr sz="1400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" dirty="0">
                          <a:latin typeface="Tahoma"/>
                          <a:cs typeface="Tahoma"/>
                        </a:rPr>
                        <a:t>Kritiken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4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2137</a:t>
                      </a: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4" name="object 19">
            <a:extLst>
              <a:ext uri="{FF2B5EF4-FFF2-40B4-BE49-F238E27FC236}">
                <a16:creationId xmlns:a16="http://schemas.microsoft.com/office/drawing/2014/main" id="{5445F354-8C3C-7625-C256-3743F78A1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798775"/>
              </p:ext>
            </p:extLst>
          </p:nvPr>
        </p:nvGraphicFramePr>
        <p:xfrm>
          <a:off x="1585887" y="3869055"/>
          <a:ext cx="2134235" cy="2576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515">
                <a:tc gridSpan="2"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600" b="1" dirty="0">
                          <a:latin typeface="Tahoma"/>
                          <a:cs typeface="Tahoma"/>
                        </a:rPr>
                        <a:t>voraussetzen</a:t>
                      </a:r>
                      <a:endParaRPr sz="1600" dirty="0">
                        <a:latin typeface="Tahoma"/>
                        <a:cs typeface="Tahoma"/>
                      </a:endParaRPr>
                    </a:p>
                  </a:txBody>
                  <a:tcPr marL="0" marR="0" marT="2540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dirty="0">
                          <a:latin typeface="Tahoma"/>
                          <a:cs typeface="Tahoma"/>
                        </a:rPr>
                        <a:t>Vorgänger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b="1" spc="-5" dirty="0">
                          <a:latin typeface="Tahoma"/>
                          <a:cs typeface="Tahoma"/>
                        </a:rPr>
                        <a:t>Nachfolger</a:t>
                      </a:r>
                      <a:endParaRPr sz="1400" dirty="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5001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5049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5216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5043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5041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3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5052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27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400" dirty="0">
                          <a:latin typeface="Tahoma"/>
                          <a:cs typeface="Tahoma"/>
                        </a:rPr>
                        <a:t>5259</a:t>
                      </a:r>
                    </a:p>
                  </a:txBody>
                  <a:tcPr marL="0" marR="0" marT="279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8123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">
            <a:extLst>
              <a:ext uri="{FF2B5EF4-FFF2-40B4-BE49-F238E27FC236}">
                <a16:creationId xmlns:a16="http://schemas.microsoft.com/office/drawing/2014/main" id="{7BCFDF50-0401-C368-C551-83AF3345C201}"/>
              </a:ext>
            </a:extLst>
          </p:cNvPr>
          <p:cNvSpPr txBox="1">
            <a:spLocks/>
          </p:cNvSpPr>
          <p:nvPr/>
        </p:nvSpPr>
        <p:spPr>
          <a:xfrm>
            <a:off x="927100" y="760960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connect </a:t>
            </a:r>
            <a:r>
              <a:rPr lang="de-DE" spc="-5" dirty="0" err="1"/>
              <a:t>by</a:t>
            </a:r>
            <a:r>
              <a:rPr lang="de-DE" spc="-5" dirty="0"/>
              <a:t> Klausel</a:t>
            </a:r>
            <a:endParaRPr lang="de-DE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DDF0DCE-7153-3CD9-FEC0-80598990DD36}"/>
              </a:ext>
            </a:extLst>
          </p:cNvPr>
          <p:cNvSpPr txBox="1"/>
          <p:nvPr/>
        </p:nvSpPr>
        <p:spPr>
          <a:xfrm>
            <a:off x="1605278" y="1705610"/>
            <a:ext cx="229044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ahoma"/>
                <a:cs typeface="Tahoma"/>
              </a:rPr>
              <a:t>Der Wiener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Kreis  </a:t>
            </a:r>
            <a:r>
              <a:rPr sz="2400" dirty="0">
                <a:latin typeface="Tahoma"/>
                <a:cs typeface="Tahoma"/>
              </a:rPr>
              <a:t>5259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4F95425-F870-75D2-C236-917EFC0B8006}"/>
              </a:ext>
            </a:extLst>
          </p:cNvPr>
          <p:cNvSpPr txBox="1"/>
          <p:nvPr/>
        </p:nvSpPr>
        <p:spPr>
          <a:xfrm>
            <a:off x="1605278" y="2772410"/>
            <a:ext cx="2852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W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sse</a:t>
            </a:r>
            <a:r>
              <a:rPr sz="2400" spc="-5" dirty="0">
                <a:latin typeface="Tahoma"/>
                <a:cs typeface="Tahoma"/>
              </a:rPr>
              <a:t>n</a:t>
            </a:r>
            <a:r>
              <a:rPr sz="2400" dirty="0">
                <a:latin typeface="Tahoma"/>
                <a:cs typeface="Tahoma"/>
              </a:rPr>
              <a:t>s</a:t>
            </a:r>
            <a:r>
              <a:rPr sz="2400" spc="-5" dirty="0">
                <a:latin typeface="Tahoma"/>
                <a:cs typeface="Tahoma"/>
              </a:rPr>
              <a:t>ch</a:t>
            </a:r>
            <a:r>
              <a:rPr sz="2400" dirty="0">
                <a:latin typeface="Tahoma"/>
                <a:cs typeface="Tahoma"/>
              </a:rPr>
              <a:t>aftst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sz="2400" dirty="0">
                <a:latin typeface="Tahoma"/>
                <a:cs typeface="Tahoma"/>
              </a:rPr>
              <a:t>eor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93D196B8-C128-1B9D-B967-17A154C30627}"/>
              </a:ext>
            </a:extLst>
          </p:cNvPr>
          <p:cNvSpPr txBox="1"/>
          <p:nvPr/>
        </p:nvSpPr>
        <p:spPr>
          <a:xfrm>
            <a:off x="1605278" y="3128010"/>
            <a:ext cx="691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5052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2BB10E8-7A37-8A80-1339-BC960A5BDAFE}"/>
              </a:ext>
            </a:extLst>
          </p:cNvPr>
          <p:cNvSpPr txBox="1"/>
          <p:nvPr/>
        </p:nvSpPr>
        <p:spPr>
          <a:xfrm>
            <a:off x="5110480" y="2772410"/>
            <a:ext cx="1096010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1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oet</a:t>
            </a:r>
            <a:r>
              <a:rPr sz="2400" spc="-5" dirty="0">
                <a:latin typeface="Tahoma"/>
                <a:cs typeface="Tahoma"/>
              </a:rPr>
              <a:t>hi</a:t>
            </a:r>
            <a:r>
              <a:rPr sz="2400" dirty="0">
                <a:latin typeface="Tahoma"/>
                <a:cs typeface="Tahoma"/>
              </a:rPr>
              <a:t>k  5216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BB5F366F-FA40-3405-D58B-0AE2F78338C7}"/>
              </a:ext>
            </a:extLst>
          </p:cNvPr>
          <p:cNvSpPr txBox="1"/>
          <p:nvPr/>
        </p:nvSpPr>
        <p:spPr>
          <a:xfrm>
            <a:off x="1605278" y="4047490"/>
            <a:ext cx="2371725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2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spc="-25" dirty="0">
                <a:latin typeface="Tahoma"/>
                <a:cs typeface="Tahoma"/>
              </a:rPr>
              <a:t>k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nn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ni</a:t>
            </a:r>
            <a:r>
              <a:rPr sz="2400" dirty="0">
                <a:latin typeface="Tahoma"/>
                <a:cs typeface="Tahoma"/>
              </a:rPr>
              <a:t>st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sz="2400" dirty="0">
                <a:latin typeface="Tahoma"/>
                <a:cs typeface="Tahoma"/>
              </a:rPr>
              <a:t>eor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e  5043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3852917-14B3-2F17-7362-4B8192C0267C}"/>
              </a:ext>
            </a:extLst>
          </p:cNvPr>
          <p:cNvSpPr txBox="1"/>
          <p:nvPr/>
        </p:nvSpPr>
        <p:spPr>
          <a:xfrm>
            <a:off x="5262880" y="4220210"/>
            <a:ext cx="691515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hi</a:t>
            </a:r>
            <a:r>
              <a:rPr sz="2400" dirty="0">
                <a:latin typeface="Tahoma"/>
                <a:cs typeface="Tahoma"/>
              </a:rPr>
              <a:t>k  5041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18E5024A-5C85-35C1-3C71-D556A5EF6552}"/>
              </a:ext>
            </a:extLst>
          </p:cNvPr>
          <p:cNvSpPr txBox="1"/>
          <p:nvPr/>
        </p:nvSpPr>
        <p:spPr>
          <a:xfrm>
            <a:off x="7625080" y="4220210"/>
            <a:ext cx="1074420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spc="-5" dirty="0">
                <a:latin typeface="Tahoma"/>
                <a:cs typeface="Tahoma"/>
              </a:rPr>
              <a:t>Mä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ik  5049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CFB9E29B-3566-ADF3-0097-E7B32BE15253}"/>
              </a:ext>
            </a:extLst>
          </p:cNvPr>
          <p:cNvSpPr txBox="1"/>
          <p:nvPr/>
        </p:nvSpPr>
        <p:spPr>
          <a:xfrm>
            <a:off x="5186680" y="5495290"/>
            <a:ext cx="1480820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72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Gr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10" dirty="0">
                <a:latin typeface="Tahoma"/>
                <a:cs typeface="Tahoma"/>
              </a:rPr>
              <a:t>nd</a:t>
            </a:r>
            <a:r>
              <a:rPr sz="2400" dirty="0">
                <a:latin typeface="Tahoma"/>
                <a:cs typeface="Tahoma"/>
              </a:rPr>
              <a:t>z</a:t>
            </a:r>
            <a:r>
              <a:rPr sz="2400" spc="-5" dirty="0">
                <a:latin typeface="Tahoma"/>
                <a:cs typeface="Tahoma"/>
              </a:rPr>
              <a:t>ü</a:t>
            </a:r>
            <a:r>
              <a:rPr sz="2400" spc="-10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  5001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BF9991B9-1882-6AA9-3643-4C1F7ABC09A3}"/>
              </a:ext>
            </a:extLst>
          </p:cNvPr>
          <p:cNvSpPr/>
          <p:nvPr/>
        </p:nvSpPr>
        <p:spPr>
          <a:xfrm>
            <a:off x="3050540" y="2129790"/>
            <a:ext cx="0" cy="584200"/>
          </a:xfrm>
          <a:custGeom>
            <a:avLst/>
            <a:gdLst/>
            <a:ahLst/>
            <a:cxnLst/>
            <a:rect l="l" t="t" r="r" b="b"/>
            <a:pathLst>
              <a:path h="584200">
                <a:moveTo>
                  <a:pt x="0" y="0"/>
                </a:moveTo>
                <a:lnTo>
                  <a:pt x="0" y="584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38969507-CB7A-4FE9-9425-626F634905FC}"/>
              </a:ext>
            </a:extLst>
          </p:cNvPr>
          <p:cNvSpPr/>
          <p:nvPr/>
        </p:nvSpPr>
        <p:spPr>
          <a:xfrm>
            <a:off x="3012440" y="266319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F2201EFF-EA08-7B5C-5679-F9576652308A}"/>
              </a:ext>
            </a:extLst>
          </p:cNvPr>
          <p:cNvSpPr/>
          <p:nvPr/>
        </p:nvSpPr>
        <p:spPr>
          <a:xfrm>
            <a:off x="3050540" y="3196590"/>
            <a:ext cx="0" cy="965200"/>
          </a:xfrm>
          <a:custGeom>
            <a:avLst/>
            <a:gdLst/>
            <a:ahLst/>
            <a:cxnLst/>
            <a:rect l="l" t="t" r="r" b="b"/>
            <a:pathLst>
              <a:path h="965200">
                <a:moveTo>
                  <a:pt x="0" y="0"/>
                </a:moveTo>
                <a:lnTo>
                  <a:pt x="0" y="965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2F4214E0-30CC-F906-A5E1-9CC3F0709779}"/>
              </a:ext>
            </a:extLst>
          </p:cNvPr>
          <p:cNvSpPr/>
          <p:nvPr/>
        </p:nvSpPr>
        <p:spPr>
          <a:xfrm>
            <a:off x="3012440" y="411099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4387CD19-E170-6B31-F692-630ED6D10788}"/>
              </a:ext>
            </a:extLst>
          </p:cNvPr>
          <p:cNvSpPr/>
          <p:nvPr/>
        </p:nvSpPr>
        <p:spPr>
          <a:xfrm>
            <a:off x="3050540" y="3196590"/>
            <a:ext cx="2112010" cy="1207135"/>
          </a:xfrm>
          <a:custGeom>
            <a:avLst/>
            <a:gdLst/>
            <a:ahLst/>
            <a:cxnLst/>
            <a:rect l="l" t="t" r="r" b="b"/>
            <a:pathLst>
              <a:path w="2112010" h="1207135">
                <a:moveTo>
                  <a:pt x="0" y="0"/>
                </a:moveTo>
                <a:lnTo>
                  <a:pt x="2111548" y="120659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9063A027-25B9-E1E2-570D-FE1724EE9157}"/>
              </a:ext>
            </a:extLst>
          </p:cNvPr>
          <p:cNvSpPr/>
          <p:nvPr/>
        </p:nvSpPr>
        <p:spPr>
          <a:xfrm>
            <a:off x="5099075" y="4344899"/>
            <a:ext cx="85090" cy="71120"/>
          </a:xfrm>
          <a:custGeom>
            <a:avLst/>
            <a:gdLst/>
            <a:ahLst/>
            <a:cxnLst/>
            <a:rect l="l" t="t" r="r" b="b"/>
            <a:pathLst>
              <a:path w="85089" h="71120">
                <a:moveTo>
                  <a:pt x="37807" y="0"/>
                </a:moveTo>
                <a:lnTo>
                  <a:pt x="0" y="66167"/>
                </a:lnTo>
                <a:lnTo>
                  <a:pt x="85064" y="70891"/>
                </a:lnTo>
                <a:lnTo>
                  <a:pt x="37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8DC52565-D085-5A5C-A64A-32683F035397}"/>
              </a:ext>
            </a:extLst>
          </p:cNvPr>
          <p:cNvSpPr/>
          <p:nvPr/>
        </p:nvSpPr>
        <p:spPr>
          <a:xfrm>
            <a:off x="5870916" y="3196590"/>
            <a:ext cx="37465" cy="965835"/>
          </a:xfrm>
          <a:custGeom>
            <a:avLst/>
            <a:gdLst/>
            <a:ahLst/>
            <a:cxnLst/>
            <a:rect l="l" t="t" r="r" b="b"/>
            <a:pathLst>
              <a:path w="37464" h="965835">
                <a:moveTo>
                  <a:pt x="37123" y="0"/>
                </a:moveTo>
                <a:lnTo>
                  <a:pt x="0" y="9652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4E4306F3-FE99-36A4-CC00-56BAA7419E80}"/>
              </a:ext>
            </a:extLst>
          </p:cNvPr>
          <p:cNvSpPr/>
          <p:nvPr/>
        </p:nvSpPr>
        <p:spPr>
          <a:xfrm>
            <a:off x="5834799" y="4109581"/>
            <a:ext cx="76200" cy="78105"/>
          </a:xfrm>
          <a:custGeom>
            <a:avLst/>
            <a:gdLst/>
            <a:ahLst/>
            <a:cxnLst/>
            <a:rect l="l" t="t" r="r" b="b"/>
            <a:pathLst>
              <a:path w="76200" h="78104">
                <a:moveTo>
                  <a:pt x="0" y="0"/>
                </a:moveTo>
                <a:lnTo>
                  <a:pt x="35140" y="77609"/>
                </a:lnTo>
                <a:lnTo>
                  <a:pt x="76136" y="29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F1B1261E-641F-314B-26C4-6641B89F54E4}"/>
              </a:ext>
            </a:extLst>
          </p:cNvPr>
          <p:cNvSpPr/>
          <p:nvPr/>
        </p:nvSpPr>
        <p:spPr>
          <a:xfrm>
            <a:off x="3050540" y="4644390"/>
            <a:ext cx="2035810" cy="1206500"/>
          </a:xfrm>
          <a:custGeom>
            <a:avLst/>
            <a:gdLst/>
            <a:ahLst/>
            <a:cxnLst/>
            <a:rect l="l" t="t" r="r" b="b"/>
            <a:pathLst>
              <a:path w="2035810" h="1206500">
                <a:moveTo>
                  <a:pt x="0" y="0"/>
                </a:moveTo>
                <a:lnTo>
                  <a:pt x="2035548" y="120624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B9B5FA53-C4BB-775A-E5E8-D60A5A8E45AF}"/>
              </a:ext>
            </a:extLst>
          </p:cNvPr>
          <p:cNvSpPr/>
          <p:nvPr/>
        </p:nvSpPr>
        <p:spPr>
          <a:xfrm>
            <a:off x="5022964" y="5791962"/>
            <a:ext cx="85090" cy="71755"/>
          </a:xfrm>
          <a:custGeom>
            <a:avLst/>
            <a:gdLst/>
            <a:ahLst/>
            <a:cxnLst/>
            <a:rect l="l" t="t" r="r" b="b"/>
            <a:pathLst>
              <a:path w="85089" h="71754">
                <a:moveTo>
                  <a:pt x="38836" y="0"/>
                </a:moveTo>
                <a:lnTo>
                  <a:pt x="0" y="65557"/>
                </a:lnTo>
                <a:lnTo>
                  <a:pt x="84975" y="71628"/>
                </a:lnTo>
                <a:lnTo>
                  <a:pt x="388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5F93F5A8-E3AC-EE98-6A84-52BEFAD5D509}"/>
              </a:ext>
            </a:extLst>
          </p:cNvPr>
          <p:cNvSpPr/>
          <p:nvPr/>
        </p:nvSpPr>
        <p:spPr>
          <a:xfrm>
            <a:off x="5869940" y="4644390"/>
            <a:ext cx="186055" cy="965835"/>
          </a:xfrm>
          <a:custGeom>
            <a:avLst/>
            <a:gdLst/>
            <a:ahLst/>
            <a:cxnLst/>
            <a:rect l="l" t="t" r="r" b="b"/>
            <a:pathLst>
              <a:path w="186054" h="965835">
                <a:moveTo>
                  <a:pt x="0" y="0"/>
                </a:moveTo>
                <a:lnTo>
                  <a:pt x="185703" y="96565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469E47AA-4C76-8C5B-F8A5-194DC3FE1CD7}"/>
              </a:ext>
            </a:extLst>
          </p:cNvPr>
          <p:cNvSpPr/>
          <p:nvPr/>
        </p:nvSpPr>
        <p:spPr>
          <a:xfrm>
            <a:off x="6008637" y="5552961"/>
            <a:ext cx="74930" cy="82550"/>
          </a:xfrm>
          <a:custGeom>
            <a:avLst/>
            <a:gdLst/>
            <a:ahLst/>
            <a:cxnLst/>
            <a:rect l="l" t="t" r="r" b="b"/>
            <a:pathLst>
              <a:path w="74929" h="82550">
                <a:moveTo>
                  <a:pt x="74828" y="0"/>
                </a:moveTo>
                <a:lnTo>
                  <a:pt x="0" y="14389"/>
                </a:lnTo>
                <a:lnTo>
                  <a:pt x="51803" y="82029"/>
                </a:lnTo>
                <a:lnTo>
                  <a:pt x="74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2B1A5F85-687E-8D6A-B35C-33A0F242E8A9}"/>
              </a:ext>
            </a:extLst>
          </p:cNvPr>
          <p:cNvSpPr/>
          <p:nvPr/>
        </p:nvSpPr>
        <p:spPr>
          <a:xfrm>
            <a:off x="7030901" y="4644390"/>
            <a:ext cx="1201420" cy="1201420"/>
          </a:xfrm>
          <a:custGeom>
            <a:avLst/>
            <a:gdLst/>
            <a:ahLst/>
            <a:cxnLst/>
            <a:rect l="l" t="t" r="r" b="b"/>
            <a:pathLst>
              <a:path w="1201420" h="1201420">
                <a:moveTo>
                  <a:pt x="1201238" y="0"/>
                </a:moveTo>
                <a:lnTo>
                  <a:pt x="0" y="120123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0399069F-2635-830F-C548-260C5D465799}"/>
              </a:ext>
            </a:extLst>
          </p:cNvPr>
          <p:cNvSpPr/>
          <p:nvPr/>
        </p:nvSpPr>
        <p:spPr>
          <a:xfrm>
            <a:off x="7012940" y="5782768"/>
            <a:ext cx="81280" cy="81280"/>
          </a:xfrm>
          <a:custGeom>
            <a:avLst/>
            <a:gdLst/>
            <a:ahLst/>
            <a:cxnLst/>
            <a:rect l="l" t="t" r="r" b="b"/>
            <a:pathLst>
              <a:path w="81279" h="81279">
                <a:moveTo>
                  <a:pt x="26936" y="0"/>
                </a:moveTo>
                <a:lnTo>
                  <a:pt x="0" y="80822"/>
                </a:lnTo>
                <a:lnTo>
                  <a:pt x="80822" y="53886"/>
                </a:lnTo>
                <a:lnTo>
                  <a:pt x="269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9508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">
            <a:extLst>
              <a:ext uri="{FF2B5EF4-FFF2-40B4-BE49-F238E27FC236}">
                <a16:creationId xmlns:a16="http://schemas.microsoft.com/office/drawing/2014/main" id="{7BCFDF50-0401-C368-C551-83AF3345C201}"/>
              </a:ext>
            </a:extLst>
          </p:cNvPr>
          <p:cNvSpPr txBox="1">
            <a:spLocks/>
          </p:cNvSpPr>
          <p:nvPr/>
        </p:nvSpPr>
        <p:spPr>
          <a:xfrm>
            <a:off x="927100" y="760960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connect </a:t>
            </a:r>
            <a:r>
              <a:rPr lang="de-DE" spc="-5" dirty="0" err="1"/>
              <a:t>by</a:t>
            </a:r>
            <a:r>
              <a:rPr lang="de-DE" spc="-5" dirty="0"/>
              <a:t> Klausel</a:t>
            </a:r>
            <a:endParaRPr lang="de-DE" dirty="0"/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70E4EE9B-09CD-409C-AA0D-F62EEC803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17729"/>
              </p:ext>
            </p:extLst>
          </p:nvPr>
        </p:nvGraphicFramePr>
        <p:xfrm>
          <a:off x="3898900" y="2590800"/>
          <a:ext cx="3505200" cy="2101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GB" sz="2400" spc="-5" dirty="0" err="1">
                          <a:latin typeface="Tahoma"/>
                          <a:cs typeface="Tahoma"/>
                        </a:rPr>
                        <a:t>Wissenschaftstheorie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Ethik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Erkenntnistheorie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lang="en-US" sz="2400" spc="-5" dirty="0" err="1">
                          <a:latin typeface="Tahoma"/>
                          <a:cs typeface="Tahoma"/>
                        </a:rPr>
                        <a:t>Grundzüge</a:t>
                      </a:r>
                      <a:endParaRPr lang="en-US"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798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31900" y="1612771"/>
            <a:ext cx="4155440" cy="108775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  <a:tabLst>
                <a:tab pos="1774189" algn="l"/>
              </a:tabLst>
            </a:pPr>
            <a:endParaRPr sz="3200" dirty="0">
              <a:latin typeface="Arial Black"/>
              <a:cs typeface="Arial Black"/>
            </a:endParaRPr>
          </a:p>
          <a:p>
            <a:pPr marL="216535">
              <a:lnSpc>
                <a:spcPct val="100000"/>
              </a:lnSpc>
              <a:spcBef>
                <a:spcPts val="705"/>
              </a:spcBef>
            </a:pPr>
            <a:r>
              <a:rPr sz="2400" b="1" spc="-5" dirty="0">
                <a:solidFill>
                  <a:srgbClr val="FF0000"/>
                </a:solidFill>
                <a:latin typeface="Tahoma"/>
                <a:cs typeface="Tahoma"/>
              </a:rPr>
              <a:t>with 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TransVorl 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(Vorg,</a:t>
            </a:r>
            <a:r>
              <a:rPr sz="2400" spc="5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15" dirty="0">
                <a:solidFill>
                  <a:srgbClr val="FF0000"/>
                </a:solidFill>
                <a:latin typeface="Tahoma"/>
                <a:cs typeface="Tahoma"/>
              </a:rPr>
              <a:t>Nachf)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0500" y="2636024"/>
            <a:ext cx="7946827" cy="4647426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b="1" spc="-5" dirty="0">
                <a:solidFill>
                  <a:srgbClr val="FF0000"/>
                </a:solidFill>
                <a:latin typeface="Tahoma"/>
                <a:cs typeface="Tahoma"/>
              </a:rPr>
              <a:t>as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(</a:t>
            </a:r>
            <a:r>
              <a:rPr sz="2400" b="1" spc="-5" dirty="0">
                <a:solidFill>
                  <a:srgbClr val="FF0000"/>
                </a:solidFill>
                <a:latin typeface="Tahoma"/>
                <a:cs typeface="Tahoma"/>
              </a:rPr>
              <a:t>select </a:t>
            </a:r>
            <a:r>
              <a:rPr sz="2400" spc="-50" dirty="0" err="1">
                <a:solidFill>
                  <a:srgbClr val="FF0000"/>
                </a:solidFill>
                <a:latin typeface="Tahoma"/>
                <a:cs typeface="Tahoma"/>
              </a:rPr>
              <a:t>Vorg</a:t>
            </a:r>
            <a:r>
              <a:rPr lang="de-DE" sz="2400" spc="-50" dirty="0" err="1">
                <a:solidFill>
                  <a:srgbClr val="FF0000"/>
                </a:solidFill>
                <a:latin typeface="Tahoma"/>
                <a:cs typeface="Tahoma"/>
              </a:rPr>
              <a:t>ae</a:t>
            </a:r>
            <a:r>
              <a:rPr sz="2400" spc="-50" dirty="0" err="1">
                <a:solidFill>
                  <a:srgbClr val="FF0000"/>
                </a:solidFill>
                <a:latin typeface="Tahoma"/>
                <a:cs typeface="Tahoma"/>
              </a:rPr>
              <a:t>nger</a:t>
            </a:r>
            <a:r>
              <a:rPr sz="2400" spc="-50" dirty="0">
                <a:solidFill>
                  <a:srgbClr val="FF0000"/>
                </a:solidFill>
                <a:latin typeface="Tahoma"/>
                <a:cs typeface="Tahoma"/>
              </a:rPr>
              <a:t>,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Nachfolger </a:t>
            </a:r>
            <a:r>
              <a:rPr sz="2400" b="1" spc="-5" dirty="0">
                <a:solidFill>
                  <a:srgbClr val="FF0000"/>
                </a:solidFill>
                <a:latin typeface="Tahoma"/>
                <a:cs typeface="Tahoma"/>
              </a:rPr>
              <a:t>from</a:t>
            </a:r>
            <a:r>
              <a:rPr sz="2400" b="1" spc="2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voraussetzen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908050">
              <a:lnSpc>
                <a:spcPct val="100000"/>
              </a:lnSpc>
              <a:spcBef>
                <a:spcPts val="820"/>
              </a:spcBef>
            </a:pPr>
            <a:r>
              <a:rPr sz="2400" b="1" spc="-5" dirty="0">
                <a:solidFill>
                  <a:srgbClr val="FF0000"/>
                </a:solidFill>
                <a:latin typeface="Tahoma"/>
                <a:cs typeface="Tahoma"/>
              </a:rPr>
              <a:t>union all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622300">
              <a:lnSpc>
                <a:spcPct val="100000"/>
              </a:lnSpc>
              <a:spcBef>
                <a:spcPts val="820"/>
              </a:spcBef>
            </a:pPr>
            <a:r>
              <a:rPr sz="2400" b="1" spc="-5" dirty="0">
                <a:solidFill>
                  <a:srgbClr val="FF0000"/>
                </a:solidFill>
                <a:latin typeface="Tahoma"/>
                <a:cs typeface="Tahoma"/>
              </a:rPr>
              <a:t>select 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t.Vorg,</a:t>
            </a:r>
            <a:r>
              <a:rPr sz="2400" spc="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v.Nachfolger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622300">
              <a:lnSpc>
                <a:spcPct val="100000"/>
              </a:lnSpc>
              <a:spcBef>
                <a:spcPts val="920"/>
              </a:spcBef>
            </a:pPr>
            <a:r>
              <a:rPr sz="2400" b="1" spc="-5" dirty="0">
                <a:solidFill>
                  <a:srgbClr val="FF0000"/>
                </a:solidFill>
                <a:latin typeface="Tahoma"/>
                <a:cs typeface="Tahoma"/>
              </a:rPr>
              <a:t>from 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TransVorl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t,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voraussetzen</a:t>
            </a:r>
            <a:r>
              <a:rPr sz="2400" spc="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v</a:t>
            </a:r>
          </a:p>
          <a:p>
            <a:pPr marL="622300">
              <a:lnSpc>
                <a:spcPct val="100000"/>
              </a:lnSpc>
              <a:spcBef>
                <a:spcPts val="820"/>
              </a:spcBef>
            </a:pPr>
            <a:r>
              <a:rPr sz="2400" b="1" spc="-5" dirty="0">
                <a:solidFill>
                  <a:srgbClr val="FF0000"/>
                </a:solidFill>
                <a:latin typeface="Tahoma"/>
                <a:cs typeface="Tahoma"/>
              </a:rPr>
              <a:t>where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t.Nachf=</a:t>
            </a:r>
            <a:r>
              <a:rPr sz="2400" spc="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30" dirty="0" err="1">
                <a:solidFill>
                  <a:srgbClr val="FF0000"/>
                </a:solidFill>
                <a:latin typeface="Tahoma"/>
                <a:cs typeface="Tahoma"/>
              </a:rPr>
              <a:t>v.Vorg</a:t>
            </a:r>
            <a:r>
              <a:rPr lang="de-DE" sz="2400" spc="-30" dirty="0" err="1">
                <a:solidFill>
                  <a:srgbClr val="FF0000"/>
                </a:solidFill>
                <a:latin typeface="Tahoma"/>
                <a:cs typeface="Tahoma"/>
              </a:rPr>
              <a:t>ae</a:t>
            </a:r>
            <a:r>
              <a:rPr sz="2400" spc="-30" dirty="0" err="1">
                <a:solidFill>
                  <a:srgbClr val="FF0000"/>
                </a:solidFill>
                <a:latin typeface="Tahoma"/>
                <a:cs typeface="Tahoma"/>
              </a:rPr>
              <a:t>nger</a:t>
            </a:r>
            <a:r>
              <a:rPr sz="2400" spc="-30" dirty="0">
                <a:solidFill>
                  <a:srgbClr val="FF0000"/>
                </a:solidFill>
                <a:latin typeface="Tahoma"/>
                <a:cs typeface="Tahoma"/>
              </a:rPr>
              <a:t>)</a:t>
            </a:r>
            <a:endParaRPr sz="29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dirty="0">
                <a:latin typeface="Tahoma"/>
                <a:cs typeface="Tahoma"/>
              </a:rPr>
              <a:t>Titel </a:t>
            </a: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5" dirty="0">
                <a:latin typeface="Tahoma"/>
                <a:cs typeface="Tahoma"/>
              </a:rPr>
              <a:t>Vorlesungen </a:t>
            </a: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20" dirty="0">
                <a:latin typeface="Tahoma"/>
                <a:cs typeface="Tahoma"/>
              </a:rPr>
              <a:t>VorlNr</a:t>
            </a:r>
            <a:r>
              <a:rPr sz="2400" spc="5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</a:t>
            </a:r>
            <a:endParaRPr sz="2400" dirty="0">
              <a:latin typeface="Tahoma"/>
              <a:cs typeface="Tahoma"/>
            </a:endParaRPr>
          </a:p>
          <a:p>
            <a:pPr marL="26034" algn="ctr">
              <a:lnSpc>
                <a:spcPct val="100000"/>
              </a:lnSpc>
              <a:spcBef>
                <a:spcPts val="1420"/>
              </a:spcBef>
            </a:pP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35" dirty="0">
                <a:latin typeface="Tahoma"/>
                <a:cs typeface="Tahoma"/>
              </a:rPr>
              <a:t>Vorg </a:t>
            </a: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TransVorl</a:t>
            </a:r>
            <a:r>
              <a:rPr sz="2400" spc="-45" dirty="0">
                <a:solidFill>
                  <a:srgbClr val="CC0099"/>
                </a:solidFill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Nachf</a:t>
            </a:r>
            <a:r>
              <a:rPr sz="2400" spc="22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in</a:t>
            </a:r>
            <a:endParaRPr sz="2400" dirty="0">
              <a:latin typeface="Tahoma"/>
              <a:cs typeface="Tahoma"/>
            </a:endParaRPr>
          </a:p>
          <a:p>
            <a:pPr marL="1136650">
              <a:lnSpc>
                <a:spcPct val="100000"/>
              </a:lnSpc>
              <a:spcBef>
                <a:spcPts val="1520"/>
              </a:spcBef>
            </a:pP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20" dirty="0">
                <a:latin typeface="Tahoma"/>
                <a:cs typeface="Tahoma"/>
              </a:rPr>
              <a:t>VorlNr </a:t>
            </a: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110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125095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Titel= `Der </a:t>
            </a:r>
            <a:r>
              <a:rPr sz="2400" dirty="0">
                <a:latin typeface="Tahoma"/>
                <a:cs typeface="Tahoma"/>
              </a:rPr>
              <a:t>Wiener </a:t>
            </a:r>
            <a:r>
              <a:rPr sz="2400" spc="-5" dirty="0">
                <a:latin typeface="Tahoma"/>
                <a:cs typeface="Tahoma"/>
              </a:rPr>
              <a:t>Kreis´)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)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0E8627DC-5317-A641-8795-50734F8977EB}"/>
              </a:ext>
            </a:extLst>
          </p:cNvPr>
          <p:cNvSpPr txBox="1">
            <a:spLocks/>
          </p:cNvSpPr>
          <p:nvPr/>
        </p:nvSpPr>
        <p:spPr>
          <a:xfrm>
            <a:off x="927100" y="577850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Rekursion in einer DB2/SQL99 Datenbank</a:t>
            </a:r>
            <a:endParaRPr lang="de-DE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F1839E48-5FC6-FD7E-7383-AAC61148DFB3}"/>
              </a:ext>
            </a:extLst>
          </p:cNvPr>
          <p:cNvSpPr txBox="1"/>
          <p:nvPr/>
        </p:nvSpPr>
        <p:spPr>
          <a:xfrm>
            <a:off x="1381544" y="806450"/>
            <a:ext cx="8613356" cy="1662956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endParaRPr sz="2400" dirty="0">
              <a:latin typeface="Tahoma"/>
              <a:cs typeface="Tahoma"/>
            </a:endParaRPr>
          </a:p>
          <a:p>
            <a:pPr marL="12700" marR="217804">
              <a:lnSpc>
                <a:spcPct val="101499"/>
              </a:lnSpc>
              <a:spcBef>
                <a:spcPts val="450"/>
              </a:spcBef>
              <a:buClr>
                <a:schemeClr val="accent1"/>
              </a:buClr>
              <a:buSzPct val="170000"/>
            </a:pPr>
            <a:r>
              <a:rPr lang="en-GB" sz="2400" b="1" dirty="0" err="1">
                <a:latin typeface="Tahoma"/>
                <a:cs typeface="Tahoma"/>
              </a:rPr>
              <a:t>Gleiche</a:t>
            </a:r>
            <a:r>
              <a:rPr lang="en-GB" sz="2400" b="1" dirty="0">
                <a:latin typeface="Tahoma"/>
                <a:cs typeface="Tahoma"/>
              </a:rPr>
              <a:t> </a:t>
            </a:r>
            <a:r>
              <a:rPr lang="en-GB" sz="2400" b="1" dirty="0" err="1">
                <a:latin typeface="Tahoma"/>
                <a:cs typeface="Tahoma"/>
              </a:rPr>
              <a:t>Abfrage</a:t>
            </a:r>
            <a:r>
              <a:rPr lang="en-GB" sz="2400" b="1" dirty="0">
                <a:latin typeface="Tahoma"/>
                <a:cs typeface="Tahoma"/>
              </a:rPr>
              <a:t>: </a:t>
            </a:r>
            <a:r>
              <a:rPr lang="en-GB" sz="2400" b="1" dirty="0" err="1">
                <a:latin typeface="Tahoma"/>
                <a:cs typeface="Tahoma"/>
              </a:rPr>
              <a:t>Vorgänger-Vorlesungen</a:t>
            </a:r>
            <a:r>
              <a:rPr lang="en-GB" sz="2400" b="1" dirty="0">
                <a:latin typeface="Tahoma"/>
                <a:cs typeface="Tahoma"/>
              </a:rPr>
              <a:t> des ’Wiener </a:t>
            </a:r>
            <a:r>
              <a:rPr lang="en-GB" sz="2400" b="1" dirty="0" err="1">
                <a:latin typeface="Tahoma"/>
                <a:cs typeface="Tahoma"/>
              </a:rPr>
              <a:t>Kreises</a:t>
            </a:r>
            <a:r>
              <a:rPr lang="en-GB" sz="2400" b="1" dirty="0">
                <a:latin typeface="Tahoma"/>
                <a:cs typeface="Tahoma"/>
              </a:rPr>
              <a:t>’ der </a:t>
            </a:r>
            <a:r>
              <a:rPr lang="en-GB" sz="2400" b="1" dirty="0" err="1">
                <a:latin typeface="Tahoma"/>
                <a:cs typeface="Tahoma"/>
              </a:rPr>
              <a:t>tiefe</a:t>
            </a:r>
            <a:r>
              <a:rPr lang="en-GB" sz="2400" b="1" dirty="0">
                <a:latin typeface="Tahoma"/>
                <a:cs typeface="Tahoma"/>
              </a:rPr>
              <a:t> n</a:t>
            </a:r>
          </a:p>
          <a:p>
            <a:pPr marL="12700" marR="217804">
              <a:lnSpc>
                <a:spcPct val="101499"/>
              </a:lnSpc>
              <a:spcBef>
                <a:spcPts val="450"/>
              </a:spcBef>
            </a:pPr>
            <a:r>
              <a:rPr lang="en-GB" sz="2400" b="1" dirty="0">
                <a:latin typeface="Tahoma"/>
                <a:cs typeface="Tahoma"/>
              </a:rPr>
              <a:t> </a:t>
            </a:r>
            <a:endParaRPr sz="2400" b="1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42737" y="1873250"/>
            <a:ext cx="8882380" cy="336181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55600" marR="274955" indent="-342900">
              <a:lnSpc>
                <a:spcPts val="2620"/>
              </a:lnSpc>
              <a:spcBef>
                <a:spcPts val="47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lang="en-GB" sz="2400" dirty="0" err="1">
                <a:latin typeface="Tahoma"/>
                <a:cs typeface="Tahoma"/>
              </a:rPr>
              <a:t>Z</a:t>
            </a:r>
            <a:r>
              <a:rPr lang="en-GB" sz="2400" dirty="0" err="1">
                <a:solidFill>
                  <a:schemeClr val="tx1"/>
                </a:solidFill>
                <a:latin typeface="Tahoma"/>
                <a:cs typeface="Tahoma"/>
              </a:rPr>
              <a:t>uerst</a:t>
            </a:r>
            <a:r>
              <a:rPr lang="en-GB" sz="240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GB" sz="2400" spc="-5" dirty="0" err="1">
                <a:solidFill>
                  <a:schemeClr val="tx1"/>
                </a:solidFill>
                <a:latin typeface="Tahoma"/>
                <a:cs typeface="Tahoma"/>
              </a:rPr>
              <a:t>wird</a:t>
            </a:r>
            <a:r>
              <a:rPr lang="en-GB" sz="2400" spc="-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GB" sz="2400" dirty="0" err="1">
                <a:solidFill>
                  <a:schemeClr val="tx1"/>
                </a:solidFill>
                <a:latin typeface="Tahoma"/>
                <a:cs typeface="Tahoma"/>
              </a:rPr>
              <a:t>eine</a:t>
            </a:r>
            <a:r>
              <a:rPr lang="en-GB" sz="240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GB" sz="2400" spc="-5" dirty="0" err="1">
                <a:solidFill>
                  <a:schemeClr val="tx1"/>
                </a:solidFill>
                <a:latin typeface="Tahoma"/>
                <a:cs typeface="Tahoma"/>
              </a:rPr>
              <a:t>temporäre</a:t>
            </a:r>
            <a:r>
              <a:rPr lang="en-GB" sz="2400" spc="-5" dirty="0">
                <a:solidFill>
                  <a:schemeClr val="tx1"/>
                </a:solidFill>
                <a:latin typeface="Tahoma"/>
                <a:cs typeface="Tahoma"/>
              </a:rPr>
              <a:t> Sicht </a:t>
            </a:r>
            <a:r>
              <a:rPr lang="en-GB" sz="2450" i="1" spc="-70" dirty="0" err="1">
                <a:solidFill>
                  <a:schemeClr val="tx1"/>
                </a:solidFill>
                <a:latin typeface="Tahoma"/>
                <a:cs typeface="Tahoma"/>
              </a:rPr>
              <a:t>TransVorl</a:t>
            </a:r>
            <a:r>
              <a:rPr lang="en-GB" sz="2450" i="1" spc="-7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lang="en-GB" sz="2400" spc="-5" dirty="0" err="1">
                <a:solidFill>
                  <a:schemeClr val="tx1"/>
                </a:solidFill>
                <a:latin typeface="Tahoma"/>
                <a:cs typeface="Tahoma"/>
              </a:rPr>
              <a:t>mit</a:t>
            </a:r>
            <a:r>
              <a:rPr lang="en-GB" sz="2400" spc="-5" dirty="0">
                <a:solidFill>
                  <a:schemeClr val="tx1"/>
                </a:solidFill>
                <a:latin typeface="Tahoma"/>
                <a:cs typeface="Tahoma"/>
              </a:rPr>
              <a:t> der </a:t>
            </a:r>
            <a:r>
              <a:rPr lang="en-GB" sz="2400" b="1" spc="-5" dirty="0">
                <a:solidFill>
                  <a:schemeClr val="tx1"/>
                </a:solidFill>
                <a:latin typeface="Tahoma"/>
                <a:cs typeface="Tahoma"/>
              </a:rPr>
              <a:t>with-</a:t>
            </a:r>
            <a:r>
              <a:rPr lang="en-GB" sz="2400" spc="-5" dirty="0" err="1">
                <a:solidFill>
                  <a:schemeClr val="tx1"/>
                </a:solidFill>
                <a:latin typeface="Tahoma"/>
                <a:cs typeface="Tahoma"/>
              </a:rPr>
              <a:t>Klausel</a:t>
            </a:r>
            <a:r>
              <a:rPr lang="en-GB" sz="2400" spc="-5" dirty="0">
                <a:solidFill>
                  <a:schemeClr val="tx1"/>
                </a:solidFill>
                <a:latin typeface="Tahoma"/>
                <a:cs typeface="Tahoma"/>
              </a:rPr>
              <a:t>  </a:t>
            </a:r>
            <a:r>
              <a:rPr lang="en-GB" sz="2400" spc="-5" dirty="0" err="1">
                <a:solidFill>
                  <a:schemeClr val="tx1"/>
                </a:solidFill>
                <a:latin typeface="Tahoma"/>
                <a:cs typeface="Tahoma"/>
              </a:rPr>
              <a:t>angelegt</a:t>
            </a:r>
            <a:endParaRPr lang="en-GB" sz="2400" spc="-5" dirty="0">
              <a:solidFill>
                <a:schemeClr val="tx1"/>
              </a:solidFill>
              <a:latin typeface="Tahoma"/>
              <a:cs typeface="Tahoma"/>
            </a:endParaRPr>
          </a:p>
          <a:p>
            <a:pPr marL="355600" marR="274955" indent="-342900">
              <a:lnSpc>
                <a:spcPts val="2620"/>
              </a:lnSpc>
              <a:spcBef>
                <a:spcPts val="47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lang="de-DE" sz="2400" spc="-5" dirty="0">
              <a:latin typeface="Tahoma"/>
              <a:cs typeface="Tahoma"/>
            </a:endParaRPr>
          </a:p>
          <a:p>
            <a:pPr marL="355600" marR="274955" indent="-342900">
              <a:lnSpc>
                <a:spcPts val="2620"/>
              </a:lnSpc>
              <a:spcBef>
                <a:spcPts val="47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Diese</a:t>
            </a:r>
            <a:r>
              <a:rPr sz="2400" spc="-5" dirty="0">
                <a:latin typeface="Tahoma"/>
                <a:cs typeface="Tahoma"/>
              </a:rPr>
              <a:t> Sicht </a:t>
            </a:r>
            <a:r>
              <a:rPr sz="2450" i="1" spc="-70" dirty="0">
                <a:latin typeface="Tahoma"/>
                <a:cs typeface="Tahoma"/>
              </a:rPr>
              <a:t>TransVorl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rekursiv definiert, da </a:t>
            </a:r>
            <a:r>
              <a:rPr sz="2400" dirty="0">
                <a:latin typeface="Tahoma"/>
                <a:cs typeface="Tahoma"/>
              </a:rPr>
              <a:t>sie </a:t>
            </a:r>
            <a:r>
              <a:rPr sz="2400" spc="-5" dirty="0">
                <a:latin typeface="Tahoma"/>
                <a:cs typeface="Tahoma"/>
              </a:rPr>
              <a:t>selbst in der  Definition </a:t>
            </a:r>
            <a:r>
              <a:rPr sz="2400" spc="-10" dirty="0" err="1">
                <a:latin typeface="Tahoma"/>
                <a:cs typeface="Tahoma"/>
              </a:rPr>
              <a:t>vorkommt</a:t>
            </a:r>
            <a:endParaRPr lang="de-DE" sz="2400" spc="-10" dirty="0">
              <a:latin typeface="Tahoma"/>
              <a:cs typeface="Tahoma"/>
            </a:endParaRPr>
          </a:p>
          <a:p>
            <a:pPr marL="355600" marR="274955" indent="-342900">
              <a:lnSpc>
                <a:spcPts val="2620"/>
              </a:lnSpc>
              <a:spcBef>
                <a:spcPts val="47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Aus</a:t>
            </a:r>
            <a:r>
              <a:rPr sz="2400" spc="-5" dirty="0">
                <a:latin typeface="Tahoma"/>
                <a:cs typeface="Tahoma"/>
              </a:rPr>
              <a:t> dieser Sicht werden dann die gewünschten </a:t>
            </a:r>
            <a:r>
              <a:rPr sz="2400" spc="-50" dirty="0" err="1">
                <a:latin typeface="Tahoma"/>
                <a:cs typeface="Tahoma"/>
              </a:rPr>
              <a:t>Tupel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spc="-5" dirty="0" err="1">
                <a:latin typeface="Tahoma"/>
                <a:cs typeface="Tahoma"/>
              </a:rPr>
              <a:t>extrahiert</a:t>
            </a:r>
            <a:endParaRPr lang="de-DE" sz="2400" spc="-5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</a:pPr>
            <a:r>
              <a:rPr sz="2400" spc="-5" dirty="0" err="1">
                <a:latin typeface="Tahoma"/>
                <a:cs typeface="Tahoma"/>
              </a:rPr>
              <a:t>Ergebnis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ist </a:t>
            </a:r>
            <a:r>
              <a:rPr sz="2400" spc="-5" dirty="0">
                <a:latin typeface="Tahoma"/>
                <a:cs typeface="Tahoma"/>
              </a:rPr>
              <a:t>natürlich </a:t>
            </a:r>
            <a:r>
              <a:rPr sz="2400" dirty="0">
                <a:latin typeface="Tahoma"/>
                <a:cs typeface="Tahoma"/>
              </a:rPr>
              <a:t>wie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gehabt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8C85A4A-EB2D-BF62-E529-3C1F2D8C3D83}"/>
              </a:ext>
            </a:extLst>
          </p:cNvPr>
          <p:cNvSpPr txBox="1">
            <a:spLocks/>
          </p:cNvSpPr>
          <p:nvPr/>
        </p:nvSpPr>
        <p:spPr>
          <a:xfrm>
            <a:off x="927100" y="577850"/>
            <a:ext cx="63246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3100" algn="l"/>
              </a:tabLst>
            </a:pPr>
            <a:r>
              <a:rPr lang="de-DE" spc="-5" dirty="0"/>
              <a:t>Rekursion in einer DB2/SQL99 Datenbank</a:t>
            </a:r>
            <a:endParaRPr lang="de-DE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300" y="857526"/>
            <a:ext cx="64770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5500" algn="l"/>
                <a:tab pos="4280535" algn="l"/>
              </a:tabLst>
            </a:pPr>
            <a:r>
              <a:rPr spc="-5" dirty="0" err="1"/>
              <a:t>Veränderung</a:t>
            </a:r>
            <a:r>
              <a:rPr lang="de-DE" spc="-5" dirty="0"/>
              <a:t>en </a:t>
            </a:r>
            <a:r>
              <a:rPr dirty="0"/>
              <a:t>am</a:t>
            </a:r>
            <a:r>
              <a:rPr lang="de-DE" dirty="0"/>
              <a:t> </a:t>
            </a:r>
            <a:r>
              <a:rPr spc="-5" dirty="0" err="1"/>
              <a:t>Datenbestand</a:t>
            </a:r>
            <a:r>
              <a:rPr lang="de-DE" spc="-5" dirty="0"/>
              <a:t> – Nochmal im Detail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626870" y="1662222"/>
            <a:ext cx="5243830" cy="5011628"/>
          </a:xfrm>
          <a:prstGeom prst="rect">
            <a:avLst/>
          </a:prstGeom>
        </p:spPr>
        <p:txBody>
          <a:bodyPr vert="horz" wrap="square" lIns="0" tIns="185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Einfügen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von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45" dirty="0" err="1">
                <a:solidFill>
                  <a:srgbClr val="FF0000"/>
                </a:solidFill>
                <a:latin typeface="Tahoma"/>
                <a:cs typeface="Tahoma"/>
              </a:rPr>
              <a:t>Tupeln</a:t>
            </a:r>
            <a:endParaRPr lang="de-DE" sz="2400" spc="-45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60"/>
              </a:spcBef>
            </a:pP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400" b="1" dirty="0">
                <a:latin typeface="Tahoma"/>
                <a:cs typeface="Tahoma"/>
              </a:rPr>
              <a:t>insert into</a:t>
            </a:r>
            <a:r>
              <a:rPr sz="2400" b="1" spc="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lang="en-GB" sz="2400" spc="-5" dirty="0" err="1">
                <a:latin typeface="Tahoma"/>
                <a:cs typeface="Tahoma"/>
              </a:rPr>
              <a:t>oe</a:t>
            </a:r>
            <a:r>
              <a:rPr sz="2400" spc="-5" dirty="0">
                <a:latin typeface="Tahoma"/>
                <a:cs typeface="Tahoma"/>
              </a:rPr>
              <a:t>ren</a:t>
            </a:r>
            <a:endParaRPr sz="2400" dirty="0">
              <a:latin typeface="Tahoma"/>
              <a:cs typeface="Tahoma"/>
            </a:endParaRPr>
          </a:p>
          <a:p>
            <a:pPr marL="685800">
              <a:lnSpc>
                <a:spcPct val="100000"/>
              </a:lnSpc>
              <a:spcBef>
                <a:spcPts val="1520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0" dirty="0">
                <a:latin typeface="Tahoma"/>
                <a:cs typeface="Tahoma"/>
              </a:rPr>
              <a:t>MatrNr,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VorlNr</a:t>
            </a:r>
            <a:endParaRPr sz="2400" dirty="0">
              <a:latin typeface="Tahoma"/>
              <a:cs typeface="Tahoma"/>
            </a:endParaRPr>
          </a:p>
          <a:p>
            <a:pPr marL="6858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Studenten,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Vorlesungen</a:t>
            </a:r>
            <a:endParaRPr sz="2400" dirty="0">
              <a:latin typeface="Tahoma"/>
              <a:cs typeface="Tahoma"/>
            </a:endParaRPr>
          </a:p>
          <a:p>
            <a:pPr marL="6858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Titel=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`Logik´;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sz="2400" b="1" dirty="0">
                <a:latin typeface="Tahoma"/>
                <a:cs typeface="Tahoma"/>
              </a:rPr>
              <a:t>insert into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spc="-45" dirty="0">
                <a:latin typeface="Tahoma"/>
                <a:cs typeface="Tahoma"/>
              </a:rPr>
              <a:t>(MatrNr,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Name)</a:t>
            </a:r>
            <a:endParaRPr sz="2400" dirty="0">
              <a:latin typeface="Tahoma"/>
              <a:cs typeface="Tahoma"/>
            </a:endParaRPr>
          </a:p>
          <a:p>
            <a:pPr marL="685800">
              <a:lnSpc>
                <a:spcPct val="100000"/>
              </a:lnSpc>
              <a:spcBef>
                <a:spcPts val="1520"/>
              </a:spcBef>
              <a:tabLst>
                <a:tab pos="2995295" algn="l"/>
              </a:tabLst>
            </a:pPr>
            <a:r>
              <a:rPr sz="2400" b="1" spc="-5" dirty="0">
                <a:latin typeface="Tahoma"/>
                <a:cs typeface="Tahoma"/>
              </a:rPr>
              <a:t>values</a:t>
            </a:r>
            <a:r>
              <a:rPr sz="2400" b="1" spc="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(28121,	`Archimedes´);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3300" y="857526"/>
            <a:ext cx="64770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5500" algn="l"/>
                <a:tab pos="4280535" algn="l"/>
              </a:tabLst>
            </a:pPr>
            <a:r>
              <a:rPr spc="-5" dirty="0" err="1"/>
              <a:t>Veränderung</a:t>
            </a:r>
            <a:r>
              <a:rPr lang="de-DE" spc="-5" dirty="0"/>
              <a:t>en </a:t>
            </a:r>
            <a:r>
              <a:rPr dirty="0"/>
              <a:t>am</a:t>
            </a:r>
            <a:r>
              <a:rPr lang="de-DE" dirty="0"/>
              <a:t> </a:t>
            </a:r>
            <a:r>
              <a:rPr spc="-5" dirty="0" err="1"/>
              <a:t>Datenbestand</a:t>
            </a:r>
            <a:r>
              <a:rPr lang="de-DE" spc="-5" dirty="0"/>
              <a:t> – Nochmal im Detail</a:t>
            </a:r>
            <a:endParaRPr spc="-5" dirty="0"/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48F5C3B-F92B-3A75-8B15-58FE849B3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147001"/>
              </p:ext>
            </p:extLst>
          </p:nvPr>
        </p:nvGraphicFramePr>
        <p:xfrm>
          <a:off x="2358999" y="2405900"/>
          <a:ext cx="5864855" cy="2515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4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1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370">
                <a:tc gridSpan="3"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Studenten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5594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MatrNr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Name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Semester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2400" dirty="0">
                          <a:latin typeface="Times New Roman"/>
                          <a:cs typeface="Times New Roman"/>
                        </a:rPr>
                        <a:t>...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mr-IN" sz="2400" dirty="0">
                          <a:latin typeface="Times New Roman"/>
                          <a:cs typeface="Times New Roman"/>
                        </a:rPr>
                        <a:t>…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6038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29120</a:t>
                      </a: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Theophrastos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6038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29555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Feuerbach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6038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28121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Archimedes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-</a:t>
                      </a:r>
                    </a:p>
                  </a:txBody>
                  <a:tcPr marL="0" marR="0" marT="1524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0129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917700" y="1733435"/>
            <a:ext cx="5015230" cy="511678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1830070">
              <a:lnSpc>
                <a:spcPct val="150000"/>
              </a:lnSpc>
              <a:spcBef>
                <a:spcPts val="2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Löschen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von </a:t>
            </a:r>
            <a:r>
              <a:rPr sz="2400" spc="-45" dirty="0" err="1">
                <a:solidFill>
                  <a:srgbClr val="FF0000"/>
                </a:solidFill>
                <a:latin typeface="Tahoma"/>
                <a:cs typeface="Tahoma"/>
              </a:rPr>
              <a:t>Tupeln</a:t>
            </a: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endParaRPr lang="de-DE" sz="2400" spc="-45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700" marR="1830070">
              <a:lnSpc>
                <a:spcPct val="150000"/>
              </a:lnSpc>
              <a:spcBef>
                <a:spcPts val="20"/>
              </a:spcBef>
            </a:pPr>
            <a:r>
              <a:rPr sz="2400" spc="-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endParaRPr lang="de-DE" sz="2400" spc="-45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700" marR="1830070">
              <a:lnSpc>
                <a:spcPct val="150000"/>
              </a:lnSpc>
              <a:spcBef>
                <a:spcPts val="20"/>
              </a:spcBef>
            </a:pPr>
            <a:r>
              <a:rPr sz="2400" b="1" spc="-5" dirty="0">
                <a:latin typeface="Tahoma"/>
                <a:cs typeface="Tahoma"/>
              </a:rPr>
              <a:t>delete </a:t>
            </a:r>
            <a:r>
              <a:rPr sz="2400" spc="-5" dirty="0">
                <a:latin typeface="Tahoma"/>
                <a:cs typeface="Tahoma"/>
              </a:rPr>
              <a:t>Studenten  </a:t>
            </a: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dirty="0">
                <a:latin typeface="Tahoma"/>
                <a:cs typeface="Tahoma"/>
              </a:rPr>
              <a:t>Semester </a:t>
            </a:r>
            <a:r>
              <a:rPr sz="2400" spc="-5" dirty="0">
                <a:latin typeface="Tahoma"/>
                <a:cs typeface="Tahoma"/>
              </a:rPr>
              <a:t>&gt;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13;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sz="2400" spc="-15" dirty="0">
                <a:solidFill>
                  <a:srgbClr val="FF0000"/>
                </a:solidFill>
                <a:latin typeface="Tahoma"/>
                <a:cs typeface="Tahoma"/>
              </a:rPr>
              <a:t>Verändern </a:t>
            </a:r>
            <a:r>
              <a:rPr sz="2400" spc="-10" dirty="0">
                <a:solidFill>
                  <a:srgbClr val="FF0000"/>
                </a:solidFill>
                <a:latin typeface="Tahoma"/>
                <a:cs typeface="Tahoma"/>
              </a:rPr>
              <a:t>von</a:t>
            </a:r>
            <a:r>
              <a:rPr sz="2400" spc="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45" dirty="0" err="1">
                <a:solidFill>
                  <a:srgbClr val="FF0000"/>
                </a:solidFill>
                <a:latin typeface="Tahoma"/>
                <a:cs typeface="Tahoma"/>
              </a:rPr>
              <a:t>Tupeln</a:t>
            </a:r>
            <a:endParaRPr lang="de-DE" sz="2400" spc="-45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update</a:t>
            </a:r>
            <a:r>
              <a:rPr sz="2400" b="1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Studenten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set </a:t>
            </a:r>
            <a:r>
              <a:rPr sz="2400" dirty="0">
                <a:latin typeface="Tahoma"/>
                <a:cs typeface="Tahoma"/>
              </a:rPr>
              <a:t>Semester= Semester 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1;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4BF12308-C8EC-6852-57D5-0D2FD89BA23B}"/>
              </a:ext>
            </a:extLst>
          </p:cNvPr>
          <p:cNvSpPr txBox="1">
            <a:spLocks/>
          </p:cNvSpPr>
          <p:nvPr/>
        </p:nvSpPr>
        <p:spPr>
          <a:xfrm>
            <a:off x="1003300" y="654050"/>
            <a:ext cx="64770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5500" algn="l"/>
                <a:tab pos="4280535" algn="l"/>
              </a:tabLst>
            </a:pPr>
            <a:r>
              <a:rPr lang="en-GB" spc="-5"/>
              <a:t>Veränderungen </a:t>
            </a:r>
            <a:r>
              <a:rPr lang="en-GB"/>
              <a:t>am </a:t>
            </a:r>
            <a:r>
              <a:rPr lang="en-GB" spc="-5"/>
              <a:t>Datenbestand – Nochmal im Detail</a:t>
            </a:r>
            <a:endParaRPr lang="en-GB" spc="-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10640" y="2101850"/>
            <a:ext cx="8782685" cy="37922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marR="1130300" indent="-342900">
              <a:lnSpc>
                <a:spcPts val="2500"/>
              </a:lnSpc>
              <a:spcBef>
                <a:spcPts val="500"/>
              </a:spcBef>
              <a:buClr>
                <a:schemeClr val="accent1"/>
              </a:buClr>
              <a:buAutoNum type="arabicPeriod"/>
              <a:tabLst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die Kandidaten </a:t>
            </a:r>
            <a:r>
              <a:rPr sz="2400" dirty="0">
                <a:latin typeface="Tahoma"/>
                <a:cs typeface="Tahoma"/>
              </a:rPr>
              <a:t>für </a:t>
            </a:r>
            <a:r>
              <a:rPr sz="2400" spc="-5" dirty="0">
                <a:latin typeface="Tahoma"/>
                <a:cs typeface="Tahoma"/>
              </a:rPr>
              <a:t>die Änderung werden ermittelt und  ''markiert''</a:t>
            </a:r>
            <a:endParaRPr sz="2400" dirty="0">
              <a:latin typeface="Tahoma"/>
              <a:cs typeface="Tahoma"/>
            </a:endParaRPr>
          </a:p>
          <a:p>
            <a:pPr marL="355600" marR="122555" indent="-342900">
              <a:lnSpc>
                <a:spcPts val="2620"/>
              </a:lnSpc>
              <a:spcBef>
                <a:spcPts val="580"/>
              </a:spcBef>
              <a:buClr>
                <a:schemeClr val="accent1"/>
              </a:buClr>
              <a:buAutoNum type="arabicPeriod"/>
              <a:tabLst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die Änderung wird an den in Schritt 1. ermittelten Kandidaten  durchgeführt</a:t>
            </a:r>
            <a:endParaRPr sz="2400" dirty="0">
              <a:latin typeface="Tahoma"/>
              <a:cs typeface="Tahoma"/>
            </a:endParaRPr>
          </a:p>
          <a:p>
            <a:pPr marL="355600" marR="5080" indent="-342900">
              <a:lnSpc>
                <a:spcPts val="2620"/>
              </a:lnSpc>
              <a:spcBef>
                <a:spcPts val="560"/>
              </a:spcBef>
            </a:pPr>
            <a:r>
              <a:rPr sz="2400" spc="-5" dirty="0">
                <a:latin typeface="Tahoma"/>
                <a:cs typeface="Tahoma"/>
              </a:rPr>
              <a:t>Anderenfalls könnte die Änderungsoperation von der Reihenfolge  der Tupel abhängen, </a:t>
            </a:r>
            <a:r>
              <a:rPr sz="2400" dirty="0">
                <a:latin typeface="Tahoma"/>
                <a:cs typeface="Tahoma"/>
              </a:rPr>
              <a:t>wie </a:t>
            </a:r>
            <a:r>
              <a:rPr sz="2400" spc="-5" dirty="0">
                <a:latin typeface="Tahoma"/>
                <a:cs typeface="Tahoma"/>
              </a:rPr>
              <a:t>folgendes Beispiel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zeigt: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Tahoma"/>
                <a:cs typeface="Tahoma"/>
              </a:rPr>
              <a:t>delete from</a:t>
            </a:r>
            <a:r>
              <a:rPr sz="2400" b="1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voraussetzen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Vorgänger </a:t>
            </a:r>
            <a:r>
              <a:rPr sz="2400" b="1" dirty="0">
                <a:latin typeface="Tahoma"/>
                <a:cs typeface="Tahoma"/>
              </a:rPr>
              <a:t>in </a:t>
            </a: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1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Nachfolger</a:t>
            </a:r>
            <a:endParaRPr sz="2400" dirty="0">
              <a:latin typeface="Tahoma"/>
              <a:cs typeface="Tahoma"/>
            </a:endParaRPr>
          </a:p>
          <a:p>
            <a:pPr marL="3422650">
              <a:lnSpc>
                <a:spcPct val="100000"/>
              </a:lnSpc>
              <a:spcBef>
                <a:spcPts val="3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voraussetzen);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2E892578-BFFD-D38D-14A3-445CB39C6222}"/>
              </a:ext>
            </a:extLst>
          </p:cNvPr>
          <p:cNvSpPr txBox="1">
            <a:spLocks/>
          </p:cNvSpPr>
          <p:nvPr/>
        </p:nvSpPr>
        <p:spPr>
          <a:xfrm>
            <a:off x="947821" y="730249"/>
            <a:ext cx="64770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5500" algn="l"/>
                <a:tab pos="4280535" algn="l"/>
              </a:tabLst>
            </a:pPr>
            <a:r>
              <a:rPr lang="en-GB" spc="-5" dirty="0" err="1"/>
              <a:t>Zweistufiges</a:t>
            </a:r>
            <a:r>
              <a:rPr lang="en-GB" spc="-5" dirty="0"/>
              <a:t> </a:t>
            </a:r>
            <a:r>
              <a:rPr lang="en-GB" spc="-5" dirty="0" err="1"/>
              <a:t>Vorgehen</a:t>
            </a:r>
            <a:r>
              <a:rPr lang="en-GB" spc="-5" dirty="0"/>
              <a:t> </a:t>
            </a:r>
            <a:r>
              <a:rPr lang="en-GB" spc="-5" dirty="0" err="1"/>
              <a:t>bei</a:t>
            </a:r>
            <a:r>
              <a:rPr lang="en-GB" spc="-5" dirty="0"/>
              <a:t> </a:t>
            </a:r>
            <a:r>
              <a:rPr lang="en-GB" spc="-5" dirty="0" err="1"/>
              <a:t>Änderungen</a:t>
            </a:r>
            <a:endParaRPr lang="en-GB" spc="-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E892578-BFFD-D38D-14A3-445CB39C6222}"/>
              </a:ext>
            </a:extLst>
          </p:cNvPr>
          <p:cNvSpPr txBox="1">
            <a:spLocks/>
          </p:cNvSpPr>
          <p:nvPr/>
        </p:nvSpPr>
        <p:spPr>
          <a:xfrm>
            <a:off x="947821" y="730249"/>
            <a:ext cx="64770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65500" algn="l"/>
                <a:tab pos="4280535" algn="l"/>
              </a:tabLst>
            </a:pPr>
            <a:r>
              <a:rPr lang="en-GB" spc="-5" dirty="0" err="1"/>
              <a:t>Zweistufiges</a:t>
            </a:r>
            <a:r>
              <a:rPr lang="en-GB" spc="-5" dirty="0"/>
              <a:t> </a:t>
            </a:r>
            <a:r>
              <a:rPr lang="en-GB" spc="-5" dirty="0" err="1"/>
              <a:t>Vorgehen</a:t>
            </a:r>
            <a:r>
              <a:rPr lang="en-GB" spc="-5" dirty="0"/>
              <a:t> </a:t>
            </a:r>
            <a:r>
              <a:rPr lang="en-GB" spc="-5" dirty="0" err="1"/>
              <a:t>bei</a:t>
            </a:r>
            <a:r>
              <a:rPr lang="en-GB" spc="-5" dirty="0"/>
              <a:t> </a:t>
            </a:r>
            <a:r>
              <a:rPr lang="en-GB" spc="-5" dirty="0" err="1"/>
              <a:t>Änderungen</a:t>
            </a:r>
            <a:endParaRPr lang="en-GB" spc="-5" dirty="0"/>
          </a:p>
        </p:txBody>
      </p:sp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69EA65FC-574C-9046-FB23-9B443C57B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89140"/>
              </p:ext>
            </p:extLst>
          </p:nvPr>
        </p:nvGraphicFramePr>
        <p:xfrm>
          <a:off x="774700" y="2178050"/>
          <a:ext cx="4419600" cy="3783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370">
                <a:tc gridSpan="2">
                  <a:txBody>
                    <a:bodyPr/>
                    <a:lstStyle/>
                    <a:p>
                      <a:pPr marL="12846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vorausssetzen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20" dirty="0">
                          <a:latin typeface="Tahoma"/>
                          <a:cs typeface="Tahoma"/>
                        </a:rPr>
                        <a:t>Vorgänger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Nachfolger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5001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5041</a:t>
                      </a: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5001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5043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5001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5049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5041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5216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5043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5052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5041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5052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5052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152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5229</a:t>
                      </a:r>
                    </a:p>
                  </a:txBody>
                  <a:tcPr marL="0" marR="0" marT="152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>
            <a:extLst>
              <a:ext uri="{FF2B5EF4-FFF2-40B4-BE49-F238E27FC236}">
                <a16:creationId xmlns:a16="http://schemas.microsoft.com/office/drawing/2014/main" id="{3BF4B24B-AB4F-0DCD-2B23-280E7CA8A3A9}"/>
              </a:ext>
            </a:extLst>
          </p:cNvPr>
          <p:cNvSpPr txBox="1"/>
          <p:nvPr/>
        </p:nvSpPr>
        <p:spPr>
          <a:xfrm>
            <a:off x="5651500" y="2254250"/>
            <a:ext cx="4800600" cy="37151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sz="2400" spc="-5" dirty="0">
                <a:latin typeface="Tahoma"/>
                <a:cs typeface="Tahoma"/>
              </a:rPr>
              <a:t>Ohne einen Markierungsschritt hängt das Ergebnis dieser  </a:t>
            </a:r>
            <a:r>
              <a:rPr sz="2400" spc="-10" dirty="0">
                <a:latin typeface="Tahoma"/>
                <a:cs typeface="Tahoma"/>
              </a:rPr>
              <a:t>Anfrage von </a:t>
            </a:r>
            <a:r>
              <a:rPr sz="2400" spc="-5" dirty="0">
                <a:latin typeface="Tahoma"/>
                <a:cs typeface="Tahoma"/>
              </a:rPr>
              <a:t>der </a:t>
            </a:r>
            <a:r>
              <a:rPr sz="2400" spc="-10" dirty="0">
                <a:latin typeface="Tahoma"/>
                <a:cs typeface="Tahoma"/>
              </a:rPr>
              <a:t>Reihenfolge </a:t>
            </a:r>
            <a:r>
              <a:rPr sz="2400" spc="-5" dirty="0">
                <a:latin typeface="Tahoma"/>
                <a:cs typeface="Tahoma"/>
              </a:rPr>
              <a:t>der </a:t>
            </a:r>
            <a:r>
              <a:rPr sz="2400" spc="-50" dirty="0">
                <a:latin typeface="Tahoma"/>
                <a:cs typeface="Tahoma"/>
              </a:rPr>
              <a:t>Tupel </a:t>
            </a:r>
            <a:r>
              <a:rPr sz="2400" spc="-5" dirty="0">
                <a:latin typeface="Tahoma"/>
                <a:cs typeface="Tahoma"/>
              </a:rPr>
              <a:t>in der </a:t>
            </a:r>
            <a:r>
              <a:rPr sz="2400" spc="-10" dirty="0">
                <a:latin typeface="Tahoma"/>
                <a:cs typeface="Tahoma"/>
              </a:rPr>
              <a:t>Relation ab. </a:t>
            </a:r>
            <a:r>
              <a:rPr sz="2400" spc="-5" dirty="0">
                <a:latin typeface="Tahoma"/>
                <a:cs typeface="Tahoma"/>
              </a:rPr>
              <a:t>Eine  Abarbeitung in der </a:t>
            </a:r>
            <a:r>
              <a:rPr sz="2400" spc="-10" dirty="0">
                <a:latin typeface="Tahoma"/>
                <a:cs typeface="Tahoma"/>
              </a:rPr>
              <a:t>Reihenfolge </a:t>
            </a:r>
            <a:r>
              <a:rPr sz="2400" spc="-5" dirty="0">
                <a:latin typeface="Tahoma"/>
                <a:cs typeface="Tahoma"/>
              </a:rPr>
              <a:t>der Beispielausprägung würde  das </a:t>
            </a:r>
            <a:r>
              <a:rPr sz="2400" dirty="0">
                <a:latin typeface="Tahoma"/>
                <a:cs typeface="Tahoma"/>
              </a:rPr>
              <a:t>letzte </a:t>
            </a:r>
            <a:r>
              <a:rPr sz="2400" spc="-50" dirty="0">
                <a:latin typeface="Tahoma"/>
                <a:cs typeface="Tahoma"/>
              </a:rPr>
              <a:t>Tupel </a:t>
            </a:r>
            <a:r>
              <a:rPr sz="2400" spc="-5" dirty="0">
                <a:latin typeface="Tahoma"/>
                <a:cs typeface="Tahoma"/>
              </a:rPr>
              <a:t>(5052, 5229) fälschlicherweise </a:t>
            </a:r>
            <a:r>
              <a:rPr sz="2400" dirty="0">
                <a:latin typeface="Tahoma"/>
                <a:cs typeface="Tahoma"/>
              </a:rPr>
              <a:t>erhalten, </a:t>
            </a:r>
            <a:r>
              <a:rPr sz="2400" spc="-5" dirty="0">
                <a:latin typeface="Tahoma"/>
                <a:cs typeface="Tahoma"/>
              </a:rPr>
              <a:t>da  vorher bereits </a:t>
            </a:r>
            <a:r>
              <a:rPr sz="2400" dirty="0">
                <a:latin typeface="Tahoma"/>
                <a:cs typeface="Tahoma"/>
              </a:rPr>
              <a:t>alle </a:t>
            </a:r>
            <a:r>
              <a:rPr sz="2400" spc="-50" dirty="0">
                <a:latin typeface="Tahoma"/>
                <a:cs typeface="Tahoma"/>
              </a:rPr>
              <a:t>Tupel </a:t>
            </a:r>
            <a:r>
              <a:rPr sz="2400" spc="-5" dirty="0">
                <a:latin typeface="Tahoma"/>
                <a:cs typeface="Tahoma"/>
              </a:rPr>
              <a:t>mit </a:t>
            </a:r>
            <a:r>
              <a:rPr sz="2400" dirty="0">
                <a:latin typeface="Tahoma"/>
                <a:cs typeface="Tahoma"/>
              </a:rPr>
              <a:t>5052 als </a:t>
            </a:r>
            <a:r>
              <a:rPr sz="2450" i="1" spc="-30" dirty="0">
                <a:latin typeface="Tahoma"/>
                <a:cs typeface="Tahoma"/>
              </a:rPr>
              <a:t>Nachfolger </a:t>
            </a:r>
            <a:r>
              <a:rPr sz="2400" spc="-5" dirty="0">
                <a:latin typeface="Tahoma"/>
                <a:cs typeface="Tahoma"/>
              </a:rPr>
              <a:t>entfernt  </a:t>
            </a:r>
            <a:r>
              <a:rPr sz="2400" spc="-10" dirty="0">
                <a:latin typeface="Tahoma"/>
                <a:cs typeface="Tahoma"/>
              </a:rPr>
              <a:t>wurden.</a:t>
            </a:r>
            <a:endParaRPr sz="24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685984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654050"/>
            <a:ext cx="62484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dirty="0"/>
              <a:t>Sich</a:t>
            </a:r>
            <a:r>
              <a:rPr spc="-5" dirty="0"/>
              <a:t>t</a:t>
            </a:r>
            <a:r>
              <a:rPr lang="de-DE" spc="-5" dirty="0"/>
              <a:t>en (oder  Views)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636395" y="1945640"/>
            <a:ext cx="4319905" cy="190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3080">
              <a:lnSpc>
                <a:spcPct val="1272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für den </a:t>
            </a:r>
            <a:r>
              <a:rPr sz="2400" dirty="0" err="1">
                <a:solidFill>
                  <a:srgbClr val="FF0000"/>
                </a:solidFill>
                <a:latin typeface="Tahoma"/>
                <a:cs typeface="Tahoma"/>
              </a:rPr>
              <a:t>Datenschutz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  </a:t>
            </a:r>
            <a:r>
              <a:rPr sz="2400" b="1" spc="-5" dirty="0">
                <a:latin typeface="Tahoma"/>
                <a:cs typeface="Tahoma"/>
              </a:rPr>
              <a:t>create view </a:t>
            </a:r>
            <a:r>
              <a:rPr sz="2400" spc="-5" dirty="0">
                <a:latin typeface="Tahoma"/>
                <a:cs typeface="Tahoma"/>
              </a:rPr>
              <a:t>prüfenSicht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as</a:t>
            </a:r>
            <a:endParaRPr sz="2400" dirty="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919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0" dirty="0">
                <a:latin typeface="Tahoma"/>
                <a:cs typeface="Tahoma"/>
              </a:rPr>
              <a:t>MatrNr, </a:t>
            </a:r>
            <a:r>
              <a:rPr sz="2400" spc="-65" dirty="0">
                <a:latin typeface="Tahoma"/>
                <a:cs typeface="Tahoma"/>
              </a:rPr>
              <a:t>VorlNr,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PersNr</a:t>
            </a:r>
            <a:endParaRPr sz="2400" dirty="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819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prüfen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693061" y="6085114"/>
            <a:ext cx="3387090" cy="977900"/>
          </a:xfrm>
          <a:custGeom>
            <a:avLst/>
            <a:gdLst/>
            <a:ahLst/>
            <a:cxnLst/>
            <a:rect l="l" t="t" r="r" b="b"/>
            <a:pathLst>
              <a:path w="3387090" h="977900">
                <a:moveTo>
                  <a:pt x="2171727" y="888194"/>
                </a:moveTo>
                <a:lnTo>
                  <a:pt x="1293043" y="888194"/>
                </a:lnTo>
                <a:lnTo>
                  <a:pt x="1329753" y="907415"/>
                </a:lnTo>
                <a:lnTo>
                  <a:pt x="1371516" y="924733"/>
                </a:lnTo>
                <a:lnTo>
                  <a:pt x="1417852" y="940007"/>
                </a:lnTo>
                <a:lnTo>
                  <a:pt x="1468282" y="953095"/>
                </a:lnTo>
                <a:lnTo>
                  <a:pt x="1522326" y="963857"/>
                </a:lnTo>
                <a:lnTo>
                  <a:pt x="1579504" y="972153"/>
                </a:lnTo>
                <a:lnTo>
                  <a:pt x="1636097" y="977544"/>
                </a:lnTo>
                <a:lnTo>
                  <a:pt x="1828250" y="977544"/>
                </a:lnTo>
                <a:lnTo>
                  <a:pt x="1874781" y="973480"/>
                </a:lnTo>
                <a:lnTo>
                  <a:pt x="1929832" y="966083"/>
                </a:lnTo>
                <a:lnTo>
                  <a:pt x="1982394" y="956376"/>
                </a:lnTo>
                <a:lnTo>
                  <a:pt x="2031972" y="944465"/>
                </a:lnTo>
                <a:lnTo>
                  <a:pt x="2078072" y="930452"/>
                </a:lnTo>
                <a:lnTo>
                  <a:pt x="2120197" y="914445"/>
                </a:lnTo>
                <a:lnTo>
                  <a:pt x="2157854" y="896546"/>
                </a:lnTo>
                <a:lnTo>
                  <a:pt x="2171727" y="888194"/>
                </a:lnTo>
                <a:close/>
              </a:path>
              <a:path w="3387090" h="977900">
                <a:moveTo>
                  <a:pt x="2811614" y="802058"/>
                </a:moveTo>
                <a:lnTo>
                  <a:pt x="456697" y="802058"/>
                </a:lnTo>
                <a:lnTo>
                  <a:pt x="458793" y="803504"/>
                </a:lnTo>
                <a:lnTo>
                  <a:pt x="495479" y="825560"/>
                </a:lnTo>
                <a:lnTo>
                  <a:pt x="531654" y="843126"/>
                </a:lnTo>
                <a:lnTo>
                  <a:pt x="571274" y="859032"/>
                </a:lnTo>
                <a:lnTo>
                  <a:pt x="613993" y="873243"/>
                </a:lnTo>
                <a:lnTo>
                  <a:pt x="659463" y="885725"/>
                </a:lnTo>
                <a:lnTo>
                  <a:pt x="707336" y="896445"/>
                </a:lnTo>
                <a:lnTo>
                  <a:pt x="757263" y="905367"/>
                </a:lnTo>
                <a:lnTo>
                  <a:pt x="808897" y="912458"/>
                </a:lnTo>
                <a:lnTo>
                  <a:pt x="861891" y="917682"/>
                </a:lnTo>
                <a:lnTo>
                  <a:pt x="915897" y="921007"/>
                </a:lnTo>
                <a:lnTo>
                  <a:pt x="970566" y="922397"/>
                </a:lnTo>
                <a:lnTo>
                  <a:pt x="1025551" y="921818"/>
                </a:lnTo>
                <a:lnTo>
                  <a:pt x="1080504" y="919237"/>
                </a:lnTo>
                <a:lnTo>
                  <a:pt x="1135078" y="914618"/>
                </a:lnTo>
                <a:lnTo>
                  <a:pt x="1188924" y="907927"/>
                </a:lnTo>
                <a:lnTo>
                  <a:pt x="1241695" y="899130"/>
                </a:lnTo>
                <a:lnTo>
                  <a:pt x="1293043" y="888194"/>
                </a:lnTo>
                <a:lnTo>
                  <a:pt x="2171727" y="888194"/>
                </a:lnTo>
                <a:lnTo>
                  <a:pt x="2190548" y="876862"/>
                </a:lnTo>
                <a:lnTo>
                  <a:pt x="2217783" y="855496"/>
                </a:lnTo>
                <a:lnTo>
                  <a:pt x="2239066" y="832554"/>
                </a:lnTo>
                <a:lnTo>
                  <a:pt x="2718587" y="832554"/>
                </a:lnTo>
                <a:lnTo>
                  <a:pt x="2722787" y="831653"/>
                </a:lnTo>
                <a:lnTo>
                  <a:pt x="2773652" y="816780"/>
                </a:lnTo>
                <a:lnTo>
                  <a:pt x="2811614" y="802058"/>
                </a:lnTo>
                <a:close/>
              </a:path>
              <a:path w="3387090" h="977900">
                <a:moveTo>
                  <a:pt x="2718587" y="832554"/>
                </a:moveTo>
                <a:lnTo>
                  <a:pt x="2239066" y="832554"/>
                </a:lnTo>
                <a:lnTo>
                  <a:pt x="2282862" y="842047"/>
                </a:lnTo>
                <a:lnTo>
                  <a:pt x="2328830" y="849553"/>
                </a:lnTo>
                <a:lnTo>
                  <a:pt x="2376536" y="855021"/>
                </a:lnTo>
                <a:lnTo>
                  <a:pt x="2425546" y="858402"/>
                </a:lnTo>
                <a:lnTo>
                  <a:pt x="2475426" y="859645"/>
                </a:lnTo>
                <a:lnTo>
                  <a:pt x="2542438" y="857921"/>
                </a:lnTo>
                <a:lnTo>
                  <a:pt x="2606473" y="852498"/>
                </a:lnTo>
                <a:lnTo>
                  <a:pt x="2666825" y="843651"/>
                </a:lnTo>
                <a:lnTo>
                  <a:pt x="2718587" y="832554"/>
                </a:lnTo>
                <a:close/>
              </a:path>
              <a:path w="3387090" h="977900">
                <a:moveTo>
                  <a:pt x="810712" y="86456"/>
                </a:moveTo>
                <a:lnTo>
                  <a:pt x="760367" y="88196"/>
                </a:lnTo>
                <a:lnTo>
                  <a:pt x="695167" y="93335"/>
                </a:lnTo>
                <a:lnTo>
                  <a:pt x="633471" y="101434"/>
                </a:lnTo>
                <a:lnTo>
                  <a:pt x="575704" y="112275"/>
                </a:lnTo>
                <a:lnTo>
                  <a:pt x="522288" y="125638"/>
                </a:lnTo>
                <a:lnTo>
                  <a:pt x="473650" y="141301"/>
                </a:lnTo>
                <a:lnTo>
                  <a:pt x="430214" y="159046"/>
                </a:lnTo>
                <a:lnTo>
                  <a:pt x="392403" y="178652"/>
                </a:lnTo>
                <a:lnTo>
                  <a:pt x="360643" y="199898"/>
                </a:lnTo>
                <a:lnTo>
                  <a:pt x="316973" y="246435"/>
                </a:lnTo>
                <a:lnTo>
                  <a:pt x="302599" y="296894"/>
                </a:lnTo>
                <a:lnTo>
                  <a:pt x="307459" y="323045"/>
                </a:lnTo>
                <a:lnTo>
                  <a:pt x="304615" y="326099"/>
                </a:lnTo>
                <a:lnTo>
                  <a:pt x="241530" y="331100"/>
                </a:lnTo>
                <a:lnTo>
                  <a:pt x="182687" y="340567"/>
                </a:lnTo>
                <a:lnTo>
                  <a:pt x="129503" y="354139"/>
                </a:lnTo>
                <a:lnTo>
                  <a:pt x="83398" y="371453"/>
                </a:lnTo>
                <a:lnTo>
                  <a:pt x="45789" y="392148"/>
                </a:lnTo>
                <a:lnTo>
                  <a:pt x="14107" y="420653"/>
                </a:lnTo>
                <a:lnTo>
                  <a:pt x="0" y="450298"/>
                </a:lnTo>
                <a:lnTo>
                  <a:pt x="2736" y="479973"/>
                </a:lnTo>
                <a:lnTo>
                  <a:pt x="21585" y="508571"/>
                </a:lnTo>
                <a:lnTo>
                  <a:pt x="55817" y="534983"/>
                </a:lnTo>
                <a:lnTo>
                  <a:pt x="104701" y="558100"/>
                </a:lnTo>
                <a:lnTo>
                  <a:pt x="167505" y="576814"/>
                </a:lnTo>
                <a:lnTo>
                  <a:pt x="122830" y="600264"/>
                </a:lnTo>
                <a:lnTo>
                  <a:pt x="92412" y="626647"/>
                </a:lnTo>
                <a:lnTo>
                  <a:pt x="77075" y="654981"/>
                </a:lnTo>
                <a:lnTo>
                  <a:pt x="77640" y="684285"/>
                </a:lnTo>
                <a:lnTo>
                  <a:pt x="112761" y="729864"/>
                </a:lnTo>
                <a:lnTo>
                  <a:pt x="183084" y="766572"/>
                </a:lnTo>
                <a:lnTo>
                  <a:pt x="228769" y="780766"/>
                </a:lnTo>
                <a:lnTo>
                  <a:pt x="280044" y="791745"/>
                </a:lnTo>
                <a:lnTo>
                  <a:pt x="335838" y="799175"/>
                </a:lnTo>
                <a:lnTo>
                  <a:pt x="395079" y="802724"/>
                </a:lnTo>
                <a:lnTo>
                  <a:pt x="456697" y="802058"/>
                </a:lnTo>
                <a:lnTo>
                  <a:pt x="2811614" y="802058"/>
                </a:lnTo>
                <a:lnTo>
                  <a:pt x="2857268" y="779501"/>
                </a:lnTo>
                <a:lnTo>
                  <a:pt x="2888606" y="757644"/>
                </a:lnTo>
                <a:lnTo>
                  <a:pt x="2926807" y="708863"/>
                </a:lnTo>
                <a:lnTo>
                  <a:pt x="2932257" y="682488"/>
                </a:lnTo>
                <a:lnTo>
                  <a:pt x="2985809" y="678351"/>
                </a:lnTo>
                <a:lnTo>
                  <a:pt x="3037797" y="672096"/>
                </a:lnTo>
                <a:lnTo>
                  <a:pt x="3087827" y="663789"/>
                </a:lnTo>
                <a:lnTo>
                  <a:pt x="3135502" y="653496"/>
                </a:lnTo>
                <a:lnTo>
                  <a:pt x="3180428" y="641283"/>
                </a:lnTo>
                <a:lnTo>
                  <a:pt x="3239128" y="620642"/>
                </a:lnTo>
                <a:lnTo>
                  <a:pt x="3288316" y="597431"/>
                </a:lnTo>
                <a:lnTo>
                  <a:pt x="3327842" y="572104"/>
                </a:lnTo>
                <a:lnTo>
                  <a:pt x="3357553" y="545114"/>
                </a:lnTo>
                <a:lnTo>
                  <a:pt x="3386932" y="487965"/>
                </a:lnTo>
                <a:lnTo>
                  <a:pt x="3386296" y="458713"/>
                </a:lnTo>
                <a:lnTo>
                  <a:pt x="3375243" y="429615"/>
                </a:lnTo>
                <a:lnTo>
                  <a:pt x="3353621" y="401125"/>
                </a:lnTo>
                <a:lnTo>
                  <a:pt x="3321279" y="373697"/>
                </a:lnTo>
                <a:lnTo>
                  <a:pt x="3278066" y="347784"/>
                </a:lnTo>
                <a:lnTo>
                  <a:pt x="3283564" y="342463"/>
                </a:lnTo>
                <a:lnTo>
                  <a:pt x="3309732" y="299685"/>
                </a:lnTo>
                <a:lnTo>
                  <a:pt x="3311345" y="273528"/>
                </a:lnTo>
                <a:lnTo>
                  <a:pt x="3302649" y="248039"/>
                </a:lnTo>
                <a:lnTo>
                  <a:pt x="3256744" y="200738"/>
                </a:lnTo>
                <a:lnTo>
                  <a:pt x="3220743" y="179760"/>
                </a:lnTo>
                <a:lnTo>
                  <a:pt x="3176849" y="161120"/>
                </a:lnTo>
                <a:lnTo>
                  <a:pt x="3125666" y="145236"/>
                </a:lnTo>
                <a:lnTo>
                  <a:pt x="3067797" y="132525"/>
                </a:lnTo>
                <a:lnTo>
                  <a:pt x="3003847" y="123403"/>
                </a:lnTo>
                <a:lnTo>
                  <a:pt x="2997998" y="114913"/>
                </a:lnTo>
                <a:lnTo>
                  <a:pt x="1099114" y="114913"/>
                </a:lnTo>
                <a:lnTo>
                  <a:pt x="1054344" y="105672"/>
                </a:lnTo>
                <a:lnTo>
                  <a:pt x="1007810" y="98195"/>
                </a:lnTo>
                <a:lnTo>
                  <a:pt x="959846" y="92508"/>
                </a:lnTo>
                <a:lnTo>
                  <a:pt x="910785" y="88639"/>
                </a:lnTo>
                <a:lnTo>
                  <a:pt x="860963" y="86613"/>
                </a:lnTo>
                <a:lnTo>
                  <a:pt x="810712" y="86456"/>
                </a:lnTo>
                <a:close/>
              </a:path>
              <a:path w="3387090" h="977900">
                <a:moveTo>
                  <a:pt x="1451098" y="27437"/>
                </a:moveTo>
                <a:lnTo>
                  <a:pt x="1397779" y="29672"/>
                </a:lnTo>
                <a:lnTo>
                  <a:pt x="1345777" y="34555"/>
                </a:lnTo>
                <a:lnTo>
                  <a:pt x="1295765" y="42005"/>
                </a:lnTo>
                <a:lnTo>
                  <a:pt x="1248416" y="51941"/>
                </a:lnTo>
                <a:lnTo>
                  <a:pt x="1204404" y="64281"/>
                </a:lnTo>
                <a:lnTo>
                  <a:pt x="1164401" y="78944"/>
                </a:lnTo>
                <a:lnTo>
                  <a:pt x="1129080" y="95849"/>
                </a:lnTo>
                <a:lnTo>
                  <a:pt x="1099114" y="114913"/>
                </a:lnTo>
                <a:lnTo>
                  <a:pt x="2997998" y="114913"/>
                </a:lnTo>
                <a:lnTo>
                  <a:pt x="2986646" y="98436"/>
                </a:lnTo>
                <a:lnTo>
                  <a:pt x="2959016" y="75170"/>
                </a:lnTo>
                <a:lnTo>
                  <a:pt x="2958240" y="74732"/>
                </a:lnTo>
                <a:lnTo>
                  <a:pt x="1761178" y="74732"/>
                </a:lnTo>
                <a:lnTo>
                  <a:pt x="1738888" y="66673"/>
                </a:lnTo>
                <a:lnTo>
                  <a:pt x="1690247" y="52583"/>
                </a:lnTo>
                <a:lnTo>
                  <a:pt x="1612228" y="37437"/>
                </a:lnTo>
                <a:lnTo>
                  <a:pt x="1558996" y="31239"/>
                </a:lnTo>
                <a:lnTo>
                  <a:pt x="1505061" y="27932"/>
                </a:lnTo>
                <a:lnTo>
                  <a:pt x="1451098" y="27437"/>
                </a:lnTo>
                <a:close/>
              </a:path>
              <a:path w="3387090" h="977900">
                <a:moveTo>
                  <a:pt x="2062162" y="0"/>
                </a:moveTo>
                <a:lnTo>
                  <a:pt x="2009653" y="1927"/>
                </a:lnTo>
                <a:lnTo>
                  <a:pt x="1958740" y="6979"/>
                </a:lnTo>
                <a:lnTo>
                  <a:pt x="1910369" y="15029"/>
                </a:lnTo>
                <a:lnTo>
                  <a:pt x="1865482" y="25954"/>
                </a:lnTo>
                <a:lnTo>
                  <a:pt x="1825025" y="39629"/>
                </a:lnTo>
                <a:lnTo>
                  <a:pt x="1789942" y="55930"/>
                </a:lnTo>
                <a:lnTo>
                  <a:pt x="1761178" y="74732"/>
                </a:lnTo>
                <a:lnTo>
                  <a:pt x="2958240" y="74732"/>
                </a:lnTo>
                <a:lnTo>
                  <a:pt x="2921691" y="54105"/>
                </a:lnTo>
                <a:lnTo>
                  <a:pt x="2919254" y="53138"/>
                </a:lnTo>
                <a:lnTo>
                  <a:pt x="2339104" y="53138"/>
                </a:lnTo>
                <a:lnTo>
                  <a:pt x="2313671" y="41428"/>
                </a:lnTo>
                <a:lnTo>
                  <a:pt x="2253738" y="21866"/>
                </a:lnTo>
                <a:lnTo>
                  <a:pt x="2168193" y="6011"/>
                </a:lnTo>
                <a:lnTo>
                  <a:pt x="2115324" y="1319"/>
                </a:lnTo>
                <a:lnTo>
                  <a:pt x="2062162" y="0"/>
                </a:lnTo>
                <a:close/>
              </a:path>
              <a:path w="3387090" h="977900">
                <a:moveTo>
                  <a:pt x="2624615" y="236"/>
                </a:moveTo>
                <a:lnTo>
                  <a:pt x="2571713" y="1952"/>
                </a:lnTo>
                <a:lnTo>
                  <a:pt x="2519832" y="6545"/>
                </a:lnTo>
                <a:lnTo>
                  <a:pt x="2469801" y="13986"/>
                </a:lnTo>
                <a:lnTo>
                  <a:pt x="2422449" y="24250"/>
                </a:lnTo>
                <a:lnTo>
                  <a:pt x="2378607" y="37310"/>
                </a:lnTo>
                <a:lnTo>
                  <a:pt x="2339104" y="53138"/>
                </a:lnTo>
                <a:lnTo>
                  <a:pt x="2919254" y="53138"/>
                </a:lnTo>
                <a:lnTo>
                  <a:pt x="2875399" y="35739"/>
                </a:lnTo>
                <a:lnTo>
                  <a:pt x="2829838" y="22671"/>
                </a:lnTo>
                <a:lnTo>
                  <a:pt x="2781149" y="12614"/>
                </a:lnTo>
                <a:lnTo>
                  <a:pt x="2730163" y="5540"/>
                </a:lnTo>
                <a:lnTo>
                  <a:pt x="2677708" y="1423"/>
                </a:lnTo>
                <a:lnTo>
                  <a:pt x="2624615" y="23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51563" y="6020524"/>
            <a:ext cx="54610" cy="54610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27241" y="0"/>
                </a:moveTo>
                <a:lnTo>
                  <a:pt x="16636" y="2142"/>
                </a:lnTo>
                <a:lnTo>
                  <a:pt x="7977" y="7983"/>
                </a:lnTo>
                <a:lnTo>
                  <a:pt x="2140" y="16646"/>
                </a:lnTo>
                <a:lnTo>
                  <a:pt x="0" y="27254"/>
                </a:lnTo>
                <a:lnTo>
                  <a:pt x="2140" y="37854"/>
                </a:lnTo>
                <a:lnTo>
                  <a:pt x="7977" y="46513"/>
                </a:lnTo>
                <a:lnTo>
                  <a:pt x="16636" y="52353"/>
                </a:lnTo>
                <a:lnTo>
                  <a:pt x="27241" y="54495"/>
                </a:lnTo>
                <a:lnTo>
                  <a:pt x="37846" y="52353"/>
                </a:lnTo>
                <a:lnTo>
                  <a:pt x="46505" y="46513"/>
                </a:lnTo>
                <a:lnTo>
                  <a:pt x="52342" y="37854"/>
                </a:lnTo>
                <a:lnTo>
                  <a:pt x="54483" y="27254"/>
                </a:lnTo>
                <a:lnTo>
                  <a:pt x="52342" y="16646"/>
                </a:lnTo>
                <a:lnTo>
                  <a:pt x="46505" y="7983"/>
                </a:lnTo>
                <a:lnTo>
                  <a:pt x="37846" y="2142"/>
                </a:lnTo>
                <a:lnTo>
                  <a:pt x="27241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06529" y="6060313"/>
            <a:ext cx="108965" cy="108972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14504" y="6112688"/>
            <a:ext cx="163449" cy="163459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95670" y="6085111"/>
            <a:ext cx="3084830" cy="977900"/>
          </a:xfrm>
          <a:custGeom>
            <a:avLst/>
            <a:gdLst/>
            <a:ahLst/>
            <a:cxnLst/>
            <a:rect l="l" t="t" r="r" b="b"/>
            <a:pathLst>
              <a:path w="3084829" h="977900">
                <a:moveTo>
                  <a:pt x="4860" y="323044"/>
                </a:moveTo>
                <a:lnTo>
                  <a:pt x="0" y="296894"/>
                </a:lnTo>
                <a:lnTo>
                  <a:pt x="3312" y="271284"/>
                </a:lnTo>
                <a:lnTo>
                  <a:pt x="14373" y="246435"/>
                </a:lnTo>
                <a:lnTo>
                  <a:pt x="58043" y="199898"/>
                </a:lnTo>
                <a:lnTo>
                  <a:pt x="89802" y="178651"/>
                </a:lnTo>
                <a:lnTo>
                  <a:pt x="127612" y="159046"/>
                </a:lnTo>
                <a:lnTo>
                  <a:pt x="171049" y="141301"/>
                </a:lnTo>
                <a:lnTo>
                  <a:pt x="219687" y="125637"/>
                </a:lnTo>
                <a:lnTo>
                  <a:pt x="273103" y="112275"/>
                </a:lnTo>
                <a:lnTo>
                  <a:pt x="330871" y="101434"/>
                </a:lnTo>
                <a:lnTo>
                  <a:pt x="392568" y="93335"/>
                </a:lnTo>
                <a:lnTo>
                  <a:pt x="457769" y="88197"/>
                </a:lnTo>
                <a:lnTo>
                  <a:pt x="508112" y="86456"/>
                </a:lnTo>
                <a:lnTo>
                  <a:pt x="558361" y="86612"/>
                </a:lnTo>
                <a:lnTo>
                  <a:pt x="608182" y="88638"/>
                </a:lnTo>
                <a:lnTo>
                  <a:pt x="657242" y="92508"/>
                </a:lnTo>
                <a:lnTo>
                  <a:pt x="705207" y="98194"/>
                </a:lnTo>
                <a:lnTo>
                  <a:pt x="751743" y="105671"/>
                </a:lnTo>
                <a:lnTo>
                  <a:pt x="796515" y="114913"/>
                </a:lnTo>
                <a:lnTo>
                  <a:pt x="826478" y="95850"/>
                </a:lnTo>
                <a:lnTo>
                  <a:pt x="861797" y="78946"/>
                </a:lnTo>
                <a:lnTo>
                  <a:pt x="901799" y="64284"/>
                </a:lnTo>
                <a:lnTo>
                  <a:pt x="945811" y="51944"/>
                </a:lnTo>
                <a:lnTo>
                  <a:pt x="993160" y="42008"/>
                </a:lnTo>
                <a:lnTo>
                  <a:pt x="1043172" y="34558"/>
                </a:lnTo>
                <a:lnTo>
                  <a:pt x="1095175" y="29674"/>
                </a:lnTo>
                <a:lnTo>
                  <a:pt x="1148496" y="27439"/>
                </a:lnTo>
                <a:lnTo>
                  <a:pt x="1202460" y="27934"/>
                </a:lnTo>
                <a:lnTo>
                  <a:pt x="1256395" y="31239"/>
                </a:lnTo>
                <a:lnTo>
                  <a:pt x="1309628" y="37437"/>
                </a:lnTo>
                <a:lnTo>
                  <a:pt x="1361485" y="46609"/>
                </a:lnTo>
                <a:lnTo>
                  <a:pt x="1412606" y="59282"/>
                </a:lnTo>
                <a:lnTo>
                  <a:pt x="1458575" y="74732"/>
                </a:lnTo>
                <a:lnTo>
                  <a:pt x="1487339" y="55930"/>
                </a:lnTo>
                <a:lnTo>
                  <a:pt x="1522421" y="39630"/>
                </a:lnTo>
                <a:lnTo>
                  <a:pt x="1562878" y="25955"/>
                </a:lnTo>
                <a:lnTo>
                  <a:pt x="1607765" y="15029"/>
                </a:lnTo>
                <a:lnTo>
                  <a:pt x="1656137" y="6979"/>
                </a:lnTo>
                <a:lnTo>
                  <a:pt x="1707050" y="1927"/>
                </a:lnTo>
                <a:lnTo>
                  <a:pt x="1759560" y="0"/>
                </a:lnTo>
                <a:lnTo>
                  <a:pt x="1812722" y="1320"/>
                </a:lnTo>
                <a:lnTo>
                  <a:pt x="1865591" y="6014"/>
                </a:lnTo>
                <a:lnTo>
                  <a:pt x="1917224" y="14205"/>
                </a:lnTo>
                <a:lnTo>
                  <a:pt x="1982514" y="30973"/>
                </a:lnTo>
                <a:lnTo>
                  <a:pt x="2036494" y="53137"/>
                </a:lnTo>
                <a:lnTo>
                  <a:pt x="2075998" y="37310"/>
                </a:lnTo>
                <a:lnTo>
                  <a:pt x="2119841" y="24250"/>
                </a:lnTo>
                <a:lnTo>
                  <a:pt x="2167194" y="13986"/>
                </a:lnTo>
                <a:lnTo>
                  <a:pt x="2217225" y="6544"/>
                </a:lnTo>
                <a:lnTo>
                  <a:pt x="2269107" y="1952"/>
                </a:lnTo>
                <a:lnTo>
                  <a:pt x="2322010" y="235"/>
                </a:lnTo>
                <a:lnTo>
                  <a:pt x="2375103" y="1421"/>
                </a:lnTo>
                <a:lnTo>
                  <a:pt x="2427558" y="5537"/>
                </a:lnTo>
                <a:lnTo>
                  <a:pt x="2478544" y="12610"/>
                </a:lnTo>
                <a:lnTo>
                  <a:pt x="2527233" y="22667"/>
                </a:lnTo>
                <a:lnTo>
                  <a:pt x="2572794" y="35734"/>
                </a:lnTo>
                <a:lnTo>
                  <a:pt x="2619088" y="54103"/>
                </a:lnTo>
                <a:lnTo>
                  <a:pt x="2656414" y="75169"/>
                </a:lnTo>
                <a:lnTo>
                  <a:pt x="2701244" y="123403"/>
                </a:lnTo>
                <a:lnTo>
                  <a:pt x="2765193" y="132525"/>
                </a:lnTo>
                <a:lnTo>
                  <a:pt x="2823062" y="145236"/>
                </a:lnTo>
                <a:lnTo>
                  <a:pt x="2874244" y="161120"/>
                </a:lnTo>
                <a:lnTo>
                  <a:pt x="2918138" y="179760"/>
                </a:lnTo>
                <a:lnTo>
                  <a:pt x="2954137" y="200738"/>
                </a:lnTo>
                <a:lnTo>
                  <a:pt x="3000040" y="248039"/>
                </a:lnTo>
                <a:lnTo>
                  <a:pt x="3008736" y="273527"/>
                </a:lnTo>
                <a:lnTo>
                  <a:pt x="3007121" y="299684"/>
                </a:lnTo>
                <a:lnTo>
                  <a:pt x="2985985" y="337070"/>
                </a:lnTo>
                <a:lnTo>
                  <a:pt x="2975464" y="347783"/>
                </a:lnTo>
                <a:lnTo>
                  <a:pt x="3018674" y="373696"/>
                </a:lnTo>
                <a:lnTo>
                  <a:pt x="3051013" y="401125"/>
                </a:lnTo>
                <a:lnTo>
                  <a:pt x="3072634" y="429615"/>
                </a:lnTo>
                <a:lnTo>
                  <a:pt x="3083686" y="458713"/>
                </a:lnTo>
                <a:lnTo>
                  <a:pt x="3084322" y="487965"/>
                </a:lnTo>
                <a:lnTo>
                  <a:pt x="3074690" y="516917"/>
                </a:lnTo>
                <a:lnTo>
                  <a:pt x="3025233" y="572103"/>
                </a:lnTo>
                <a:lnTo>
                  <a:pt x="2985709" y="597430"/>
                </a:lnTo>
                <a:lnTo>
                  <a:pt x="2936522" y="620641"/>
                </a:lnTo>
                <a:lnTo>
                  <a:pt x="2877824" y="641282"/>
                </a:lnTo>
                <a:lnTo>
                  <a:pt x="2832899" y="653495"/>
                </a:lnTo>
                <a:lnTo>
                  <a:pt x="2785223" y="663788"/>
                </a:lnTo>
                <a:lnTo>
                  <a:pt x="2735192" y="672095"/>
                </a:lnTo>
                <a:lnTo>
                  <a:pt x="2683204" y="678350"/>
                </a:lnTo>
                <a:lnTo>
                  <a:pt x="2629654" y="682487"/>
                </a:lnTo>
                <a:lnTo>
                  <a:pt x="2624202" y="708862"/>
                </a:lnTo>
                <a:lnTo>
                  <a:pt x="2585999" y="757643"/>
                </a:lnTo>
                <a:lnTo>
                  <a:pt x="2554660" y="779501"/>
                </a:lnTo>
                <a:lnTo>
                  <a:pt x="2516106" y="799304"/>
                </a:lnTo>
                <a:lnTo>
                  <a:pt x="2471043" y="816780"/>
                </a:lnTo>
                <a:lnTo>
                  <a:pt x="2420177" y="831653"/>
                </a:lnTo>
                <a:lnTo>
                  <a:pt x="2364216" y="843650"/>
                </a:lnTo>
                <a:lnTo>
                  <a:pt x="2303866" y="852498"/>
                </a:lnTo>
                <a:lnTo>
                  <a:pt x="2239833" y="857920"/>
                </a:lnTo>
                <a:lnTo>
                  <a:pt x="2172824" y="859645"/>
                </a:lnTo>
                <a:lnTo>
                  <a:pt x="2122942" y="858401"/>
                </a:lnTo>
                <a:lnTo>
                  <a:pt x="2073930" y="855020"/>
                </a:lnTo>
                <a:lnTo>
                  <a:pt x="2026222" y="849552"/>
                </a:lnTo>
                <a:lnTo>
                  <a:pt x="1980255" y="842046"/>
                </a:lnTo>
                <a:lnTo>
                  <a:pt x="1936464" y="832553"/>
                </a:lnTo>
                <a:lnTo>
                  <a:pt x="1915181" y="855495"/>
                </a:lnTo>
                <a:lnTo>
                  <a:pt x="1855252" y="896546"/>
                </a:lnTo>
                <a:lnTo>
                  <a:pt x="1817594" y="914444"/>
                </a:lnTo>
                <a:lnTo>
                  <a:pt x="1775468" y="930452"/>
                </a:lnTo>
                <a:lnTo>
                  <a:pt x="1729369" y="944464"/>
                </a:lnTo>
                <a:lnTo>
                  <a:pt x="1679791" y="956376"/>
                </a:lnTo>
                <a:lnTo>
                  <a:pt x="1627229" y="966083"/>
                </a:lnTo>
                <a:lnTo>
                  <a:pt x="1572177" y="973480"/>
                </a:lnTo>
                <a:lnTo>
                  <a:pt x="1525618" y="977547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93066" y="6408156"/>
            <a:ext cx="1636395" cy="654685"/>
          </a:xfrm>
          <a:custGeom>
            <a:avLst/>
            <a:gdLst/>
            <a:ahLst/>
            <a:cxnLst/>
            <a:rect l="l" t="t" r="r" b="b"/>
            <a:pathLst>
              <a:path w="1636395" h="654684">
                <a:moveTo>
                  <a:pt x="1636133" y="654503"/>
                </a:moveTo>
                <a:lnTo>
                  <a:pt x="1579509" y="649108"/>
                </a:lnTo>
                <a:lnTo>
                  <a:pt x="1522327" y="640812"/>
                </a:lnTo>
                <a:lnTo>
                  <a:pt x="1468281" y="630050"/>
                </a:lnTo>
                <a:lnTo>
                  <a:pt x="1417851" y="616962"/>
                </a:lnTo>
                <a:lnTo>
                  <a:pt x="1371514" y="601688"/>
                </a:lnTo>
                <a:lnTo>
                  <a:pt x="1329750" y="584370"/>
                </a:lnTo>
                <a:lnTo>
                  <a:pt x="1293039" y="565148"/>
                </a:lnTo>
                <a:lnTo>
                  <a:pt x="1241692" y="576085"/>
                </a:lnTo>
                <a:lnTo>
                  <a:pt x="1188921" y="584881"/>
                </a:lnTo>
                <a:lnTo>
                  <a:pt x="1135076" y="591572"/>
                </a:lnTo>
                <a:lnTo>
                  <a:pt x="1080502" y="596191"/>
                </a:lnTo>
                <a:lnTo>
                  <a:pt x="1025549" y="598772"/>
                </a:lnTo>
                <a:lnTo>
                  <a:pt x="970564" y="599351"/>
                </a:lnTo>
                <a:lnTo>
                  <a:pt x="915896" y="597961"/>
                </a:lnTo>
                <a:lnTo>
                  <a:pt x="861890" y="594636"/>
                </a:lnTo>
                <a:lnTo>
                  <a:pt x="808896" y="589412"/>
                </a:lnTo>
                <a:lnTo>
                  <a:pt x="757262" y="582321"/>
                </a:lnTo>
                <a:lnTo>
                  <a:pt x="707334" y="573399"/>
                </a:lnTo>
                <a:lnTo>
                  <a:pt x="659462" y="562680"/>
                </a:lnTo>
                <a:lnTo>
                  <a:pt x="613992" y="550197"/>
                </a:lnTo>
                <a:lnTo>
                  <a:pt x="571272" y="535986"/>
                </a:lnTo>
                <a:lnTo>
                  <a:pt x="531651" y="520080"/>
                </a:lnTo>
                <a:lnTo>
                  <a:pt x="495475" y="502515"/>
                </a:lnTo>
                <a:lnTo>
                  <a:pt x="460925" y="481895"/>
                </a:lnTo>
                <a:lnTo>
                  <a:pt x="456701" y="479013"/>
                </a:lnTo>
                <a:lnTo>
                  <a:pt x="395080" y="479678"/>
                </a:lnTo>
                <a:lnTo>
                  <a:pt x="335837" y="476130"/>
                </a:lnTo>
                <a:lnTo>
                  <a:pt x="280042" y="468700"/>
                </a:lnTo>
                <a:lnTo>
                  <a:pt x="228767" y="457721"/>
                </a:lnTo>
                <a:lnTo>
                  <a:pt x="183080" y="443526"/>
                </a:lnTo>
                <a:lnTo>
                  <a:pt x="144054" y="426448"/>
                </a:lnTo>
                <a:lnTo>
                  <a:pt x="90264" y="384972"/>
                </a:lnTo>
                <a:lnTo>
                  <a:pt x="77076" y="331936"/>
                </a:lnTo>
                <a:lnTo>
                  <a:pt x="92413" y="303602"/>
                </a:lnTo>
                <a:lnTo>
                  <a:pt x="122831" y="277219"/>
                </a:lnTo>
                <a:lnTo>
                  <a:pt x="167509" y="253768"/>
                </a:lnTo>
                <a:lnTo>
                  <a:pt x="104702" y="235054"/>
                </a:lnTo>
                <a:lnTo>
                  <a:pt x="55817" y="211937"/>
                </a:lnTo>
                <a:lnTo>
                  <a:pt x="21584" y="185526"/>
                </a:lnTo>
                <a:lnTo>
                  <a:pt x="2735" y="156928"/>
                </a:lnTo>
                <a:lnTo>
                  <a:pt x="0" y="127252"/>
                </a:lnTo>
                <a:lnTo>
                  <a:pt x="14109" y="97608"/>
                </a:lnTo>
                <a:lnTo>
                  <a:pt x="45793" y="69102"/>
                </a:lnTo>
                <a:lnTo>
                  <a:pt x="83399" y="48408"/>
                </a:lnTo>
                <a:lnTo>
                  <a:pt x="129504" y="31093"/>
                </a:lnTo>
                <a:lnTo>
                  <a:pt x="182687" y="17522"/>
                </a:lnTo>
                <a:lnTo>
                  <a:pt x="241530" y="8055"/>
                </a:lnTo>
                <a:lnTo>
                  <a:pt x="304613" y="3054"/>
                </a:lnTo>
                <a:lnTo>
                  <a:pt x="307464" y="0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32520" y="6001477"/>
            <a:ext cx="92583" cy="9258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87482" y="6041262"/>
            <a:ext cx="147069" cy="147069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95455" y="6093639"/>
            <a:ext cx="201553" cy="201553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01705" y="6664100"/>
            <a:ext cx="161290" cy="12700"/>
          </a:xfrm>
          <a:custGeom>
            <a:avLst/>
            <a:gdLst/>
            <a:ahLst/>
            <a:cxnLst/>
            <a:rect l="l" t="t" r="r" b="b"/>
            <a:pathLst>
              <a:path w="161289" h="12700">
                <a:moveTo>
                  <a:pt x="160797" y="12345"/>
                </a:moveTo>
                <a:lnTo>
                  <a:pt x="58403" y="917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188519" y="6874091"/>
            <a:ext cx="49530" cy="5080"/>
          </a:xfrm>
          <a:custGeom>
            <a:avLst/>
            <a:gdLst/>
            <a:ahLst/>
            <a:cxnLst/>
            <a:rect l="l" t="t" r="r" b="b"/>
            <a:pathLst>
              <a:path w="49529" h="5079">
                <a:moveTo>
                  <a:pt x="49401" y="0"/>
                </a:moveTo>
                <a:lnTo>
                  <a:pt x="0" y="4939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63616" y="6952660"/>
            <a:ext cx="22225" cy="17145"/>
          </a:xfrm>
          <a:custGeom>
            <a:avLst/>
            <a:gdLst/>
            <a:ahLst/>
            <a:cxnLst/>
            <a:rect l="l" t="t" r="r" b="b"/>
            <a:pathLst>
              <a:path w="22225" h="17145">
                <a:moveTo>
                  <a:pt x="22019" y="16680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948855" y="6870916"/>
            <a:ext cx="4445" cy="9525"/>
          </a:xfrm>
          <a:custGeom>
            <a:avLst/>
            <a:gdLst/>
            <a:ahLst/>
            <a:cxnLst/>
            <a:rect l="l" t="t" r="r" b="b"/>
            <a:pathLst>
              <a:path w="4445" h="9525">
                <a:moveTo>
                  <a:pt x="4359" y="0"/>
                </a:moveTo>
                <a:lnTo>
                  <a:pt x="0" y="921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68345" y="6603422"/>
            <a:ext cx="243204" cy="126364"/>
          </a:xfrm>
          <a:custGeom>
            <a:avLst/>
            <a:gdLst/>
            <a:ahLst/>
            <a:cxnLst/>
            <a:rect l="l" t="t" r="r" b="b"/>
            <a:pathLst>
              <a:path w="243204" h="126365">
                <a:moveTo>
                  <a:pt x="0" y="0"/>
                </a:moveTo>
                <a:lnTo>
                  <a:pt x="56359" y="12699"/>
                </a:lnTo>
                <a:lnTo>
                  <a:pt x="106359" y="27780"/>
                </a:lnTo>
                <a:lnTo>
                  <a:pt x="150019" y="46036"/>
                </a:lnTo>
                <a:lnTo>
                  <a:pt x="187329" y="65880"/>
                </a:lnTo>
                <a:lnTo>
                  <a:pt x="238129" y="111918"/>
                </a:lnTo>
                <a:lnTo>
                  <a:pt x="242749" y="125779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891545" y="6430384"/>
            <a:ext cx="78105" cy="46355"/>
          </a:xfrm>
          <a:custGeom>
            <a:avLst/>
            <a:gdLst/>
            <a:ahLst/>
            <a:cxnLst/>
            <a:rect l="l" t="t" r="r" b="b"/>
            <a:pathLst>
              <a:path w="78104" h="46354">
                <a:moveTo>
                  <a:pt x="77669" y="0"/>
                </a:moveTo>
                <a:lnTo>
                  <a:pt x="56239" y="17462"/>
                </a:lnTo>
                <a:lnTo>
                  <a:pt x="30039" y="33337"/>
                </a:lnTo>
                <a:lnTo>
                  <a:pt x="0" y="46161"/>
                </a:lnTo>
              </a:path>
            </a:pathLst>
          </a:custGeom>
          <a:solidFill>
            <a:schemeClr val="accent1"/>
          </a:solidFill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697755" y="6204959"/>
            <a:ext cx="5715" cy="28575"/>
          </a:xfrm>
          <a:custGeom>
            <a:avLst/>
            <a:gdLst/>
            <a:ahLst/>
            <a:cxnLst/>
            <a:rect l="l" t="t" r="r" b="b"/>
            <a:pathLst>
              <a:path w="5715" h="28575">
                <a:moveTo>
                  <a:pt x="0" y="0"/>
                </a:moveTo>
                <a:lnTo>
                  <a:pt x="5549" y="28574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973055" y="6155421"/>
            <a:ext cx="26034" cy="16510"/>
          </a:xfrm>
          <a:custGeom>
            <a:avLst/>
            <a:gdLst/>
            <a:ahLst/>
            <a:cxnLst/>
            <a:rect l="l" t="t" r="r" b="b"/>
            <a:pathLst>
              <a:path w="26034" h="16510">
                <a:moveTo>
                  <a:pt x="0" y="16200"/>
                </a:moveTo>
                <a:lnTo>
                  <a:pt x="2570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29335" y="6185654"/>
            <a:ext cx="3175" cy="3810"/>
          </a:xfrm>
          <a:custGeom>
            <a:avLst/>
            <a:gdLst/>
            <a:ahLst/>
            <a:cxnLst/>
            <a:rect l="l" t="t" r="r" b="b"/>
            <a:pathLst>
              <a:path w="3175" h="3810">
                <a:moveTo>
                  <a:pt x="0" y="3429"/>
                </a:moveTo>
                <a:lnTo>
                  <a:pt x="308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791956" y="6199403"/>
            <a:ext cx="65405" cy="20320"/>
          </a:xfrm>
          <a:custGeom>
            <a:avLst/>
            <a:gdLst/>
            <a:ahLst/>
            <a:cxnLst/>
            <a:rect l="l" t="t" r="r" b="b"/>
            <a:pathLst>
              <a:path w="65404" h="20320">
                <a:moveTo>
                  <a:pt x="0" y="0"/>
                </a:moveTo>
                <a:lnTo>
                  <a:pt x="65159" y="1985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00590" y="6408159"/>
            <a:ext cx="17780" cy="33020"/>
          </a:xfrm>
          <a:custGeom>
            <a:avLst/>
            <a:gdLst/>
            <a:ahLst/>
            <a:cxnLst/>
            <a:rect l="l" t="t" r="r" b="b"/>
            <a:pathLst>
              <a:path w="17779" h="33020">
                <a:moveTo>
                  <a:pt x="17461" y="32543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864059" y="6619466"/>
            <a:ext cx="121920" cy="113030"/>
          </a:xfrm>
          <a:custGeom>
            <a:avLst/>
            <a:gdLst/>
            <a:ahLst/>
            <a:cxnLst/>
            <a:rect l="l" t="t" r="r" b="b"/>
            <a:pathLst>
              <a:path w="121920" h="113029">
                <a:moveTo>
                  <a:pt x="121780" y="0"/>
                </a:moveTo>
                <a:lnTo>
                  <a:pt x="0" y="38727"/>
                </a:lnTo>
                <a:lnTo>
                  <a:pt x="104051" y="112916"/>
                </a:lnTo>
                <a:lnTo>
                  <a:pt x="12178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50609" y="6814585"/>
            <a:ext cx="120014" cy="114300"/>
          </a:xfrm>
          <a:custGeom>
            <a:avLst/>
            <a:gdLst/>
            <a:ahLst/>
            <a:cxnLst/>
            <a:rect l="l" t="t" r="r" b="b"/>
            <a:pathLst>
              <a:path w="120014" h="114300">
                <a:moveTo>
                  <a:pt x="108038" y="0"/>
                </a:moveTo>
                <a:lnTo>
                  <a:pt x="0" y="68239"/>
                </a:lnTo>
                <a:lnTo>
                  <a:pt x="119418" y="113733"/>
                </a:lnTo>
                <a:lnTo>
                  <a:pt x="108038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33234" y="6929655"/>
            <a:ext cx="125730" cy="114935"/>
          </a:xfrm>
          <a:custGeom>
            <a:avLst/>
            <a:gdLst/>
            <a:ahLst/>
            <a:cxnLst/>
            <a:rect l="l" t="t" r="r" b="b"/>
            <a:pathLst>
              <a:path w="125729" h="114934">
                <a:moveTo>
                  <a:pt x="0" y="0"/>
                </a:moveTo>
                <a:lnTo>
                  <a:pt x="56603" y="114575"/>
                </a:lnTo>
                <a:lnTo>
                  <a:pt x="125628" y="23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29752" y="6786815"/>
            <a:ext cx="103505" cy="128270"/>
          </a:xfrm>
          <a:custGeom>
            <a:avLst/>
            <a:gdLst/>
            <a:ahLst/>
            <a:cxnLst/>
            <a:rect l="l" t="t" r="r" b="b"/>
            <a:pathLst>
              <a:path w="103504" h="128270">
                <a:moveTo>
                  <a:pt x="0" y="0"/>
                </a:moveTo>
                <a:lnTo>
                  <a:pt x="2819" y="127759"/>
                </a:lnTo>
                <a:lnTo>
                  <a:pt x="103339" y="488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532773" y="6638844"/>
            <a:ext cx="108585" cy="127000"/>
          </a:xfrm>
          <a:custGeom>
            <a:avLst/>
            <a:gdLst/>
            <a:ahLst/>
            <a:cxnLst/>
            <a:rect l="l" t="t" r="r" b="b"/>
            <a:pathLst>
              <a:path w="108584" h="127000">
                <a:moveTo>
                  <a:pt x="108432" y="0"/>
                </a:moveTo>
                <a:lnTo>
                  <a:pt x="0" y="36144"/>
                </a:lnTo>
                <a:lnTo>
                  <a:pt x="90360" y="126505"/>
                </a:lnTo>
                <a:lnTo>
                  <a:pt x="10843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856496" y="6394073"/>
            <a:ext cx="127635" cy="105410"/>
          </a:xfrm>
          <a:custGeom>
            <a:avLst/>
            <a:gdLst/>
            <a:ahLst/>
            <a:cxnLst/>
            <a:rect l="l" t="t" r="r" b="b"/>
            <a:pathLst>
              <a:path w="127634" h="105409">
                <a:moveTo>
                  <a:pt x="82689" y="0"/>
                </a:moveTo>
                <a:lnTo>
                  <a:pt x="0" y="97431"/>
                </a:lnTo>
                <a:lnTo>
                  <a:pt x="127558" y="105124"/>
                </a:lnTo>
                <a:lnTo>
                  <a:pt x="8268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32659" y="6147830"/>
            <a:ext cx="112395" cy="123189"/>
          </a:xfrm>
          <a:custGeom>
            <a:avLst/>
            <a:gdLst/>
            <a:ahLst/>
            <a:cxnLst/>
            <a:rect l="l" t="t" r="r" b="b"/>
            <a:pathLst>
              <a:path w="112395" h="123189">
                <a:moveTo>
                  <a:pt x="112204" y="0"/>
                </a:moveTo>
                <a:lnTo>
                  <a:pt x="0" y="21817"/>
                </a:lnTo>
                <a:lnTo>
                  <a:pt x="77914" y="123107"/>
                </a:lnTo>
                <a:lnTo>
                  <a:pt x="112204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903831" y="6135116"/>
            <a:ext cx="127635" cy="109855"/>
          </a:xfrm>
          <a:custGeom>
            <a:avLst/>
            <a:gdLst/>
            <a:ahLst/>
            <a:cxnLst/>
            <a:rect l="l" t="t" r="r" b="b"/>
            <a:pathLst>
              <a:path w="127634" h="109854">
                <a:moveTo>
                  <a:pt x="127165" y="0"/>
                </a:moveTo>
                <a:lnTo>
                  <a:pt x="0" y="12581"/>
                </a:lnTo>
                <a:lnTo>
                  <a:pt x="60934" y="109283"/>
                </a:lnTo>
                <a:lnTo>
                  <a:pt x="127165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38973" y="6157338"/>
            <a:ext cx="119380" cy="123189"/>
          </a:xfrm>
          <a:custGeom>
            <a:avLst/>
            <a:gdLst/>
            <a:ahLst/>
            <a:cxnLst/>
            <a:rect l="l" t="t" r="r" b="b"/>
            <a:pathLst>
              <a:path w="119379" h="123189">
                <a:moveTo>
                  <a:pt x="118935" y="0"/>
                </a:moveTo>
                <a:lnTo>
                  <a:pt x="0" y="46725"/>
                </a:lnTo>
                <a:lnTo>
                  <a:pt x="84950" y="123188"/>
                </a:lnTo>
                <a:lnTo>
                  <a:pt x="118935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67563" y="6142380"/>
            <a:ext cx="126364" cy="109855"/>
          </a:xfrm>
          <a:custGeom>
            <a:avLst/>
            <a:gdLst/>
            <a:ahLst/>
            <a:cxnLst/>
            <a:rect l="l" t="t" r="r" b="b"/>
            <a:pathLst>
              <a:path w="126365" h="109854">
                <a:moveTo>
                  <a:pt x="33312" y="0"/>
                </a:moveTo>
                <a:lnTo>
                  <a:pt x="0" y="109336"/>
                </a:lnTo>
                <a:lnTo>
                  <a:pt x="125984" y="87981"/>
                </a:lnTo>
                <a:lnTo>
                  <a:pt x="33312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82576" y="6374591"/>
            <a:ext cx="104775" cy="128270"/>
          </a:xfrm>
          <a:custGeom>
            <a:avLst/>
            <a:gdLst/>
            <a:ahLst/>
            <a:cxnLst/>
            <a:rect l="l" t="t" r="r" b="b"/>
            <a:pathLst>
              <a:path w="104775" h="128270">
                <a:moveTo>
                  <a:pt x="0" y="0"/>
                </a:moveTo>
                <a:lnTo>
                  <a:pt x="3682" y="127737"/>
                </a:lnTo>
                <a:lnTo>
                  <a:pt x="104393" y="736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129724" y="1263650"/>
            <a:ext cx="7042150" cy="565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35960">
              <a:lnSpc>
                <a:spcPct val="1272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für den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Datenschutz  </a:t>
            </a:r>
            <a:r>
              <a:rPr sz="2400" b="1" spc="-5" dirty="0">
                <a:latin typeface="Tahoma"/>
                <a:cs typeface="Tahoma"/>
              </a:rPr>
              <a:t>create </a:t>
            </a:r>
            <a:r>
              <a:rPr sz="2400" b="1" dirty="0">
                <a:latin typeface="Tahoma"/>
                <a:cs typeface="Tahoma"/>
              </a:rPr>
              <a:t>view </a:t>
            </a:r>
            <a:r>
              <a:rPr sz="2400" spc="-5" dirty="0">
                <a:latin typeface="Tahoma"/>
                <a:cs typeface="Tahoma"/>
              </a:rPr>
              <a:t>prüfenSicht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</a:p>
          <a:p>
            <a:pPr marL="393700">
              <a:lnSpc>
                <a:spcPct val="100000"/>
              </a:lnSpc>
              <a:spcBef>
                <a:spcPts val="919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0" dirty="0">
                <a:latin typeface="Tahoma"/>
                <a:cs typeface="Tahoma"/>
              </a:rPr>
              <a:t>MatrNr, </a:t>
            </a:r>
            <a:r>
              <a:rPr sz="2400" spc="-65" dirty="0">
                <a:latin typeface="Tahoma"/>
                <a:cs typeface="Tahoma"/>
              </a:rPr>
              <a:t>VorlNr,</a:t>
            </a:r>
            <a:r>
              <a:rPr sz="2400" spc="95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PersNr</a:t>
            </a:r>
            <a:endParaRPr sz="2400" dirty="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819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prüfen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Statistische Sicht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700">
              <a:lnSpc>
                <a:spcPts val="2840"/>
              </a:lnSpc>
              <a:spcBef>
                <a:spcPts val="55"/>
              </a:spcBef>
            </a:pPr>
            <a:r>
              <a:rPr sz="2400" b="1" dirty="0">
                <a:latin typeface="Arial"/>
                <a:cs typeface="Arial"/>
              </a:rPr>
              <a:t>create view </a:t>
            </a:r>
            <a:r>
              <a:rPr sz="2400" spc="-5" dirty="0">
                <a:latin typeface="Arial"/>
                <a:cs typeface="Arial"/>
              </a:rPr>
              <a:t>PruefGuete(Name, GueteGrad)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as</a:t>
            </a:r>
            <a:endParaRPr sz="2400" dirty="0">
              <a:latin typeface="Arial"/>
              <a:cs typeface="Arial"/>
            </a:endParaRPr>
          </a:p>
          <a:p>
            <a:pPr marR="1028700" algn="ctr">
              <a:lnSpc>
                <a:spcPts val="2840"/>
              </a:lnSpc>
            </a:pPr>
            <a:r>
              <a:rPr sz="2400" dirty="0">
                <a:latin typeface="Arial"/>
                <a:cs typeface="Arial"/>
              </a:rPr>
              <a:t>(</a:t>
            </a:r>
            <a:r>
              <a:rPr sz="2400" b="1" dirty="0">
                <a:latin typeface="Arial"/>
                <a:cs typeface="Arial"/>
              </a:rPr>
              <a:t>select </a:t>
            </a:r>
            <a:r>
              <a:rPr sz="2400" spc="-5" dirty="0">
                <a:latin typeface="Arial"/>
                <a:cs typeface="Arial"/>
              </a:rPr>
              <a:t>prof.Name,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avg</a:t>
            </a:r>
            <a:r>
              <a:rPr sz="2400" spc="-5" dirty="0">
                <a:latin typeface="Arial"/>
                <a:cs typeface="Arial"/>
              </a:rPr>
              <a:t>(pruef.Note)</a:t>
            </a:r>
            <a:endParaRPr sz="2400" dirty="0">
              <a:latin typeface="Arial"/>
              <a:cs typeface="Arial"/>
            </a:endParaRPr>
          </a:p>
          <a:p>
            <a:pPr marL="689610">
              <a:lnSpc>
                <a:spcPct val="100000"/>
              </a:lnSpc>
              <a:spcBef>
                <a:spcPts val="20"/>
              </a:spcBef>
            </a:pPr>
            <a:r>
              <a:rPr sz="2400" b="1" spc="-5" dirty="0">
                <a:latin typeface="Arial"/>
                <a:cs typeface="Arial"/>
              </a:rPr>
              <a:t>from </a:t>
            </a:r>
            <a:r>
              <a:rPr sz="2400" spc="-5" dirty="0">
                <a:latin typeface="Arial"/>
                <a:cs typeface="Arial"/>
              </a:rPr>
              <a:t>Professoren </a:t>
            </a:r>
            <a:r>
              <a:rPr sz="2400" dirty="0">
                <a:latin typeface="Arial"/>
                <a:cs typeface="Arial"/>
              </a:rPr>
              <a:t>prof </a:t>
            </a:r>
            <a:r>
              <a:rPr sz="2400" b="1" spc="-5" dirty="0">
                <a:latin typeface="Arial"/>
                <a:cs typeface="Arial"/>
              </a:rPr>
              <a:t>join </a:t>
            </a:r>
            <a:r>
              <a:rPr sz="2400" spc="-5" dirty="0">
                <a:latin typeface="Arial"/>
                <a:cs typeface="Arial"/>
              </a:rPr>
              <a:t>pruefen </a:t>
            </a:r>
            <a:r>
              <a:rPr sz="2400" dirty="0">
                <a:latin typeface="Arial"/>
                <a:cs typeface="Arial"/>
              </a:rPr>
              <a:t>pruef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on</a:t>
            </a:r>
            <a:endParaRPr sz="2400" dirty="0">
              <a:latin typeface="Arial"/>
              <a:cs typeface="Arial"/>
            </a:endParaRPr>
          </a:p>
          <a:p>
            <a:pPr marL="2129155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Arial"/>
                <a:cs typeface="Arial"/>
              </a:rPr>
              <a:t>prof.PersNr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pruef.PersNr</a:t>
            </a:r>
            <a:endParaRPr sz="2400" dirty="0">
              <a:latin typeface="Arial"/>
              <a:cs typeface="Arial"/>
            </a:endParaRPr>
          </a:p>
          <a:p>
            <a:pPr marL="689610">
              <a:lnSpc>
                <a:spcPts val="2840"/>
              </a:lnSpc>
              <a:spcBef>
                <a:spcPts val="20"/>
              </a:spcBef>
            </a:pPr>
            <a:r>
              <a:rPr sz="2400" b="1" spc="-5" dirty="0">
                <a:latin typeface="Arial"/>
                <a:cs typeface="Arial"/>
              </a:rPr>
              <a:t>group by </a:t>
            </a:r>
            <a:r>
              <a:rPr sz="2400" spc="-5" dirty="0">
                <a:latin typeface="Arial"/>
                <a:cs typeface="Arial"/>
              </a:rPr>
              <a:t>prof.Name,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prof.PersNr</a:t>
            </a:r>
            <a:endParaRPr sz="2400" dirty="0">
              <a:latin typeface="Arial"/>
              <a:cs typeface="Arial"/>
            </a:endParaRPr>
          </a:p>
          <a:p>
            <a:pPr marL="689610">
              <a:lnSpc>
                <a:spcPts val="2380"/>
              </a:lnSpc>
            </a:pPr>
            <a:r>
              <a:rPr sz="2400" b="1" spc="-5" dirty="0">
                <a:latin typeface="Arial"/>
                <a:cs typeface="Arial"/>
              </a:rPr>
              <a:t>having count</a:t>
            </a:r>
            <a:r>
              <a:rPr sz="2400" spc="-5" dirty="0">
                <a:latin typeface="Arial"/>
                <a:cs typeface="Arial"/>
              </a:rPr>
              <a:t>(*) </a:t>
            </a:r>
            <a:r>
              <a:rPr sz="2400" dirty="0">
                <a:latin typeface="Arial"/>
                <a:cs typeface="Arial"/>
              </a:rPr>
              <a:t>&gt; 50)</a:t>
            </a:r>
          </a:p>
          <a:p>
            <a:pPr marR="5080" algn="r">
              <a:lnSpc>
                <a:spcPts val="2380"/>
              </a:lnSpc>
            </a:pPr>
            <a:r>
              <a:rPr sz="2400" dirty="0">
                <a:latin typeface="Arial"/>
                <a:cs typeface="Arial"/>
              </a:rPr>
              <a:t>k-Anonymi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dirty="0">
                <a:latin typeface="Arial"/>
                <a:cs typeface="Arial"/>
              </a:rPr>
              <a:t>ät</a:t>
            </a:r>
          </a:p>
          <a:p>
            <a:pPr marR="208279" algn="r">
              <a:lnSpc>
                <a:spcPts val="2840"/>
              </a:lnSpc>
            </a:pPr>
            <a:r>
              <a:rPr sz="2400" dirty="0">
                <a:latin typeface="Arial"/>
                <a:cs typeface="Arial"/>
              </a:rPr>
              <a:t>(k hier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50)</a:t>
            </a:r>
          </a:p>
        </p:txBody>
      </p:sp>
      <p:sp>
        <p:nvSpPr>
          <p:cNvPr id="38" name="object 3">
            <a:extLst>
              <a:ext uri="{FF2B5EF4-FFF2-40B4-BE49-F238E27FC236}">
                <a16:creationId xmlns:a16="http://schemas.microsoft.com/office/drawing/2014/main" id="{9D70B601-7E2B-F6FF-7148-1D292BAE11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654050"/>
            <a:ext cx="62484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dirty="0"/>
              <a:t>Sich</a:t>
            </a:r>
            <a:r>
              <a:rPr spc="-5" dirty="0"/>
              <a:t>t</a:t>
            </a:r>
            <a:r>
              <a:rPr lang="de-DE" spc="-5" dirty="0"/>
              <a:t>en (oder  Views)</a:t>
            </a:r>
            <a:endParaRPr spc="-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386840" y="1501902"/>
            <a:ext cx="8142605" cy="286131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für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die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Vereinfachung 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von </a:t>
            </a: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Anfagen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400" b="1" spc="-5" dirty="0">
                <a:latin typeface="Tahoma"/>
                <a:cs typeface="Tahoma"/>
              </a:rPr>
              <a:t>create view </a:t>
            </a:r>
            <a:r>
              <a:rPr sz="2400" spc="-5" dirty="0">
                <a:latin typeface="Tahoma"/>
                <a:cs typeface="Tahoma"/>
              </a:rPr>
              <a:t>StudProf (Sname, </a:t>
            </a:r>
            <a:r>
              <a:rPr sz="2400" spc="-40" dirty="0">
                <a:latin typeface="Tahoma"/>
                <a:cs typeface="Tahoma"/>
              </a:rPr>
              <a:t>Semester, </a:t>
            </a:r>
            <a:r>
              <a:rPr sz="2400" spc="-5" dirty="0">
                <a:latin typeface="Tahoma"/>
                <a:cs typeface="Tahoma"/>
              </a:rPr>
              <a:t>Titel, Pname)</a:t>
            </a:r>
            <a:r>
              <a:rPr sz="2400" spc="1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</a:p>
          <a:p>
            <a:pPr marL="393700">
              <a:lnSpc>
                <a:spcPct val="100000"/>
              </a:lnSpc>
              <a:spcBef>
                <a:spcPts val="919"/>
              </a:spcBef>
            </a:pP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5" dirty="0">
                <a:latin typeface="Tahoma"/>
                <a:cs typeface="Tahoma"/>
              </a:rPr>
              <a:t>s.Name, </a:t>
            </a:r>
            <a:r>
              <a:rPr sz="2400" spc="-30" dirty="0">
                <a:latin typeface="Tahoma"/>
                <a:cs typeface="Tahoma"/>
              </a:rPr>
              <a:t>s.Semester, v.Titel,</a:t>
            </a:r>
            <a:r>
              <a:rPr sz="2400" spc="8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p.Name</a:t>
            </a:r>
            <a:endParaRPr sz="2400" dirty="0">
              <a:latin typeface="Tahoma"/>
              <a:cs typeface="Tahoma"/>
            </a:endParaRPr>
          </a:p>
          <a:p>
            <a:pPr marL="393700">
              <a:lnSpc>
                <a:spcPct val="100000"/>
              </a:lnSpc>
              <a:spcBef>
                <a:spcPts val="819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Studenten </a:t>
            </a:r>
            <a:r>
              <a:rPr sz="2400" dirty="0">
                <a:latin typeface="Tahoma"/>
                <a:cs typeface="Tahoma"/>
              </a:rPr>
              <a:t>s, </a:t>
            </a:r>
            <a:r>
              <a:rPr sz="2400" spc="-5" dirty="0">
                <a:latin typeface="Tahoma"/>
                <a:cs typeface="Tahoma"/>
              </a:rPr>
              <a:t>hören h, </a:t>
            </a:r>
            <a:r>
              <a:rPr sz="2400" spc="-15" dirty="0">
                <a:latin typeface="Tahoma"/>
                <a:cs typeface="Tahoma"/>
              </a:rPr>
              <a:t>Vorlesungen </a:t>
            </a:r>
            <a:r>
              <a:rPr sz="2400" spc="-105" dirty="0">
                <a:latin typeface="Tahoma"/>
                <a:cs typeface="Tahoma"/>
              </a:rPr>
              <a:t>v, </a:t>
            </a:r>
            <a:r>
              <a:rPr sz="2400" spc="-5" dirty="0">
                <a:latin typeface="Tahoma"/>
                <a:cs typeface="Tahoma"/>
              </a:rPr>
              <a:t>Professoren</a:t>
            </a:r>
            <a:r>
              <a:rPr sz="2400" spc="2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</a:t>
            </a:r>
            <a:endParaRPr sz="2400" dirty="0">
              <a:latin typeface="Tahoma"/>
              <a:cs typeface="Tahoma"/>
            </a:endParaRPr>
          </a:p>
          <a:p>
            <a:pPr marL="1441450" marR="443865" indent="-1047750">
              <a:lnSpc>
                <a:spcPct val="128499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20" dirty="0">
                <a:latin typeface="Tahoma"/>
                <a:cs typeface="Tahoma"/>
              </a:rPr>
              <a:t>s.MatrNr=h.MatrNr </a:t>
            </a:r>
            <a:r>
              <a:rPr sz="2400" spc="-5" dirty="0">
                <a:latin typeface="Tahoma"/>
                <a:cs typeface="Tahoma"/>
              </a:rPr>
              <a:t>and </a:t>
            </a:r>
            <a:r>
              <a:rPr sz="2400" spc="-30" dirty="0">
                <a:latin typeface="Tahoma"/>
                <a:cs typeface="Tahoma"/>
              </a:rPr>
              <a:t>h.VorlNr=v.VorlNr </a:t>
            </a:r>
            <a:r>
              <a:rPr sz="2400" spc="-5" dirty="0">
                <a:latin typeface="Tahoma"/>
                <a:cs typeface="Tahoma"/>
              </a:rPr>
              <a:t>and  </a:t>
            </a:r>
            <a:r>
              <a:rPr sz="2400" spc="-30" dirty="0">
                <a:latin typeface="Tahoma"/>
                <a:cs typeface="Tahoma"/>
              </a:rPr>
              <a:t>v.gelesenVon </a:t>
            </a:r>
            <a:r>
              <a:rPr sz="2400" spc="-5" dirty="0">
                <a:latin typeface="Tahoma"/>
                <a:cs typeface="Tahoma"/>
              </a:rPr>
              <a:t>=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-15" dirty="0">
                <a:latin typeface="Tahoma"/>
                <a:cs typeface="Tahoma"/>
              </a:rPr>
              <a:t>p.PersNr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840" y="4921250"/>
            <a:ext cx="3740150" cy="14605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0"/>
              </a:spcBef>
            </a:pPr>
            <a:r>
              <a:rPr sz="2400" b="1" spc="-5" dirty="0">
                <a:latin typeface="Tahoma"/>
                <a:cs typeface="Tahoma"/>
              </a:rPr>
              <a:t>select distinct</a:t>
            </a:r>
            <a:r>
              <a:rPr sz="2400" b="1" spc="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Semester</a:t>
            </a: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StudProf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PName=`Sokrates‘;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44BBB51C-70A0-11B2-FCAF-5629528430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7100" y="654050"/>
            <a:ext cx="62484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dirty="0"/>
              <a:t>Sich</a:t>
            </a:r>
            <a:r>
              <a:rPr spc="-5" dirty="0"/>
              <a:t>t</a:t>
            </a:r>
            <a:r>
              <a:rPr lang="de-DE" spc="-5" dirty="0"/>
              <a:t>en (oder  Views)</a:t>
            </a:r>
            <a:endParaRPr spc="-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457325" y="1416050"/>
            <a:ext cx="8388352" cy="3740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85344" y="1528445"/>
            <a:ext cx="1431290" cy="1457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Fachgebiet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Assistenten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4447" y="3814445"/>
            <a:ext cx="253619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Professoren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866264" algn="l"/>
              </a:tabLst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um	R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1644" y="3242945"/>
            <a:ext cx="534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imes New Roman"/>
                <a:cs typeface="Times New Roman"/>
              </a:rPr>
              <a:t>i</a:t>
            </a:r>
            <a:r>
              <a:rPr sz="2400" b="1" dirty="0">
                <a:latin typeface="Times New Roman"/>
                <a:cs typeface="Times New Roman"/>
              </a:rPr>
              <a:t>s_a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7747" y="3204845"/>
            <a:ext cx="2645410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675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Angestellte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904364" algn="l"/>
              </a:tabLst>
            </a:pP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rsNr	</a:t>
            </a:r>
            <a:r>
              <a:rPr sz="2400" spc="-5" dirty="0">
                <a:latin typeface="Times New Roman"/>
                <a:cs typeface="Times New Roman"/>
              </a:rPr>
              <a:t>Name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00345" y="5088890"/>
            <a:ext cx="4999355" cy="166116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46900"/>
              </a:lnSpc>
              <a:spcBef>
                <a:spcPts val="15"/>
              </a:spcBef>
            </a:pPr>
            <a:r>
              <a:rPr sz="2400" dirty="0">
                <a:latin typeface="Tahoma"/>
                <a:cs typeface="Tahoma"/>
              </a:rPr>
              <a:t>Angestellte: </a:t>
            </a:r>
            <a:r>
              <a:rPr sz="2400" spc="-65" dirty="0">
                <a:latin typeface="Tahoma"/>
                <a:cs typeface="Tahoma"/>
              </a:rPr>
              <a:t>{[</a:t>
            </a:r>
            <a:r>
              <a:rPr sz="2450" i="1" u="heavy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PersNr,</a:t>
            </a:r>
            <a:r>
              <a:rPr sz="2450" i="1" spc="-65" dirty="0">
                <a:latin typeface="Tahoma"/>
                <a:cs typeface="Tahoma"/>
              </a:rPr>
              <a:t> </a:t>
            </a:r>
            <a:r>
              <a:rPr sz="2450" i="1" spc="-25" dirty="0">
                <a:latin typeface="Tahoma"/>
                <a:cs typeface="Tahoma"/>
              </a:rPr>
              <a:t>Name</a:t>
            </a:r>
            <a:r>
              <a:rPr sz="2400" spc="-25" dirty="0">
                <a:latin typeface="Tahoma"/>
                <a:cs typeface="Tahoma"/>
              </a:rPr>
              <a:t>]}  </a:t>
            </a:r>
            <a:r>
              <a:rPr sz="2400" spc="-5" dirty="0">
                <a:latin typeface="Tahoma"/>
                <a:cs typeface="Tahoma"/>
              </a:rPr>
              <a:t>Professoren: </a:t>
            </a:r>
            <a:r>
              <a:rPr sz="2400" spc="-65" dirty="0">
                <a:latin typeface="Tahoma"/>
                <a:cs typeface="Tahoma"/>
              </a:rPr>
              <a:t>{[</a:t>
            </a:r>
            <a:r>
              <a:rPr sz="2450" i="1" u="heavy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PersNr,</a:t>
            </a:r>
            <a:r>
              <a:rPr sz="2450" i="1" spc="-65" dirty="0">
                <a:latin typeface="Tahoma"/>
                <a:cs typeface="Tahoma"/>
              </a:rPr>
              <a:t> </a:t>
            </a:r>
            <a:r>
              <a:rPr sz="2450" i="1" spc="-35" dirty="0">
                <a:latin typeface="Tahoma"/>
                <a:cs typeface="Tahoma"/>
              </a:rPr>
              <a:t>Rang, </a:t>
            </a:r>
            <a:r>
              <a:rPr sz="2450" i="1" spc="-30" dirty="0">
                <a:latin typeface="Tahoma"/>
                <a:cs typeface="Tahoma"/>
              </a:rPr>
              <a:t>Raum</a:t>
            </a:r>
            <a:r>
              <a:rPr sz="2400" spc="-30" dirty="0">
                <a:latin typeface="Tahoma"/>
                <a:cs typeface="Tahoma"/>
              </a:rPr>
              <a:t>]}  </a:t>
            </a:r>
            <a:r>
              <a:rPr sz="2400" dirty="0">
                <a:latin typeface="Tahoma"/>
                <a:cs typeface="Tahoma"/>
              </a:rPr>
              <a:t>Assistenten: </a:t>
            </a:r>
            <a:r>
              <a:rPr sz="2400" spc="-65" dirty="0">
                <a:latin typeface="Tahoma"/>
                <a:cs typeface="Tahoma"/>
              </a:rPr>
              <a:t>{[</a:t>
            </a:r>
            <a:r>
              <a:rPr sz="2450" i="1" u="heavy" spc="-6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PersNr,</a:t>
            </a:r>
            <a:r>
              <a:rPr sz="2450" i="1" spc="-30" dirty="0">
                <a:latin typeface="Tahoma"/>
                <a:cs typeface="Tahoma"/>
              </a:rPr>
              <a:t> </a:t>
            </a:r>
            <a:r>
              <a:rPr sz="2450" i="1" spc="-35" dirty="0">
                <a:latin typeface="Tahoma"/>
                <a:cs typeface="Tahoma"/>
              </a:rPr>
              <a:t>Fachgebiet</a:t>
            </a:r>
            <a:r>
              <a:rPr sz="2400" spc="-35" dirty="0">
                <a:latin typeface="Tahoma"/>
                <a:cs typeface="Tahoma"/>
              </a:rPr>
              <a:t>]}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C5B72023-1300-286B-2DCF-0F0AFDCDD66C}"/>
              </a:ext>
            </a:extLst>
          </p:cNvPr>
          <p:cNvSpPr txBox="1">
            <a:spLocks/>
          </p:cNvSpPr>
          <p:nvPr/>
        </p:nvSpPr>
        <p:spPr>
          <a:xfrm>
            <a:off x="927100" y="730250"/>
            <a:ext cx="6248400" cy="350289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lang="en-GB" spc="-5" dirty="0" err="1"/>
              <a:t>Relationale</a:t>
            </a:r>
            <a:r>
              <a:rPr lang="en-GB" spc="-5" dirty="0"/>
              <a:t> </a:t>
            </a:r>
            <a:r>
              <a:rPr lang="en-GB" spc="-5" dirty="0" err="1"/>
              <a:t>Modellierung</a:t>
            </a:r>
            <a:r>
              <a:rPr lang="en-GB" spc="-5" dirty="0"/>
              <a:t> der </a:t>
            </a:r>
            <a:r>
              <a:rPr lang="en-GB" spc="-5" dirty="0" err="1"/>
              <a:t>Generalisierung</a:t>
            </a:r>
            <a:endParaRPr lang="en-GB" spc="-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890396" y="1689862"/>
            <a:ext cx="3432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create table</a:t>
            </a:r>
            <a:r>
              <a:rPr sz="2400" b="1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Angestellte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63496" y="2038350"/>
            <a:ext cx="1023619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(</a:t>
            </a:r>
            <a:r>
              <a:rPr sz="2400" spc="-60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ersNr 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9696" y="2038350"/>
            <a:ext cx="3342004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integer not null,  varchar </a:t>
            </a:r>
            <a:r>
              <a:rPr sz="2400" spc="-5" dirty="0">
                <a:latin typeface="Tahoma"/>
                <a:cs typeface="Tahoma"/>
              </a:rPr>
              <a:t>(30) </a:t>
            </a:r>
            <a:r>
              <a:rPr sz="2400" b="1" spc="-5" dirty="0">
                <a:latin typeface="Tahoma"/>
                <a:cs typeface="Tahoma"/>
              </a:rPr>
              <a:t>not</a:t>
            </a:r>
            <a:r>
              <a:rPr sz="2400" b="1" spc="1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90396" y="3107690"/>
            <a:ext cx="3286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create table</a:t>
            </a:r>
            <a:r>
              <a:rPr sz="2400" b="1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ProfDaten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63496" y="3486150"/>
            <a:ext cx="1023619" cy="14478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50"/>
              </a:spcBef>
            </a:pPr>
            <a:r>
              <a:rPr sz="2400" dirty="0">
                <a:latin typeface="Tahoma"/>
                <a:cs typeface="Tahoma"/>
              </a:rPr>
              <a:t>(</a:t>
            </a:r>
            <a:r>
              <a:rPr sz="2400" spc="-60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ersNr  </a:t>
            </a:r>
            <a:r>
              <a:rPr sz="2400" spc="-10" dirty="0">
                <a:latin typeface="Tahoma"/>
                <a:cs typeface="Tahoma"/>
              </a:rPr>
              <a:t>Rang  Raum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9696" y="3486150"/>
            <a:ext cx="2480310" cy="14478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50"/>
              </a:spcBef>
            </a:pPr>
            <a:r>
              <a:rPr sz="2400" b="1" spc="-5" dirty="0">
                <a:latin typeface="Tahoma"/>
                <a:cs typeface="Tahoma"/>
              </a:rPr>
              <a:t>integer not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sz="2400" spc="-5" dirty="0">
                <a:latin typeface="Tahoma"/>
                <a:cs typeface="Tahoma"/>
              </a:rPr>
              <a:t>,  </a:t>
            </a:r>
            <a:r>
              <a:rPr sz="2400" b="1" spc="-5" dirty="0">
                <a:latin typeface="Tahoma"/>
                <a:cs typeface="Tahoma"/>
              </a:rPr>
              <a:t>character</a:t>
            </a:r>
            <a:r>
              <a:rPr sz="2400" spc="-5" dirty="0">
                <a:latin typeface="Tahoma"/>
                <a:cs typeface="Tahoma"/>
              </a:rPr>
              <a:t>(2),  </a:t>
            </a:r>
            <a:r>
              <a:rPr sz="2400" b="1" spc="-5" dirty="0">
                <a:latin typeface="Tahoma"/>
                <a:cs typeface="Tahoma"/>
              </a:rPr>
              <a:t>integer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90396" y="5012690"/>
            <a:ext cx="3272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create table</a:t>
            </a:r>
            <a:r>
              <a:rPr sz="2400" b="1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AssiDaten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63496" y="5365750"/>
            <a:ext cx="1470660" cy="14605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150"/>
              </a:spcBef>
            </a:pPr>
            <a:r>
              <a:rPr sz="2400" spc="-10" dirty="0">
                <a:latin typeface="Tahoma"/>
                <a:cs typeface="Tahoma"/>
              </a:rPr>
              <a:t>(PersNr  </a:t>
            </a:r>
            <a:r>
              <a:rPr sz="2400" spc="-114" dirty="0">
                <a:latin typeface="Tahoma"/>
                <a:cs typeface="Tahoma"/>
              </a:rPr>
              <a:t>F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sz="2400" spc="-10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et  Boss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82796" y="5365750"/>
            <a:ext cx="2480310" cy="146050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30200"/>
              </a:lnSpc>
              <a:spcBef>
                <a:spcPts val="150"/>
              </a:spcBef>
            </a:pPr>
            <a:r>
              <a:rPr sz="2400" b="1" spc="-5" dirty="0">
                <a:latin typeface="Tahoma"/>
                <a:cs typeface="Tahoma"/>
              </a:rPr>
              <a:t>integer not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sz="2400" spc="-5" dirty="0">
                <a:latin typeface="Tahoma"/>
                <a:cs typeface="Tahoma"/>
              </a:rPr>
              <a:t>,  </a:t>
            </a:r>
            <a:r>
              <a:rPr sz="2400" b="1" spc="-5" dirty="0">
                <a:latin typeface="Tahoma"/>
                <a:cs typeface="Tahoma"/>
              </a:rPr>
              <a:t>varchar</a:t>
            </a:r>
            <a:r>
              <a:rPr sz="2400" spc="-5" dirty="0">
                <a:latin typeface="Tahoma"/>
                <a:cs typeface="Tahoma"/>
              </a:rPr>
              <a:t>(30),  </a:t>
            </a:r>
            <a:r>
              <a:rPr sz="2400" b="1" spc="-5" dirty="0">
                <a:latin typeface="Tahoma"/>
                <a:cs typeface="Tahoma"/>
              </a:rPr>
              <a:t>integer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FD50C505-B0E1-3105-4225-A039B35DFDB7}"/>
              </a:ext>
            </a:extLst>
          </p:cNvPr>
          <p:cNvSpPr txBox="1">
            <a:spLocks/>
          </p:cNvSpPr>
          <p:nvPr/>
        </p:nvSpPr>
        <p:spPr>
          <a:xfrm>
            <a:off x="1209042" y="748904"/>
            <a:ext cx="6347457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lang="en-GB" spc="-5" dirty="0" err="1"/>
              <a:t>Sichten</a:t>
            </a:r>
            <a:r>
              <a:rPr lang="en-GB" spc="-5" dirty="0"/>
              <a:t> </a:t>
            </a:r>
            <a:r>
              <a:rPr lang="en-GB" spc="-5" dirty="0" err="1"/>
              <a:t>zur</a:t>
            </a:r>
            <a:r>
              <a:rPr lang="en-GB" spc="-5" dirty="0"/>
              <a:t> </a:t>
            </a:r>
            <a:r>
              <a:rPr lang="en-GB" spc="-5" dirty="0" err="1"/>
              <a:t>Modellierung</a:t>
            </a:r>
            <a:r>
              <a:rPr lang="en-GB" spc="-5" dirty="0"/>
              <a:t> der </a:t>
            </a:r>
            <a:r>
              <a:rPr lang="en-GB" spc="-5" dirty="0" err="1"/>
              <a:t>Generalisierung</a:t>
            </a:r>
            <a:r>
              <a:rPr lang="en-GB" spc="-5" dirty="0"/>
              <a:t> – </a:t>
            </a:r>
            <a:r>
              <a:rPr lang="en-GB" spc="-5" dirty="0" err="1"/>
              <a:t>Ansaty</a:t>
            </a:r>
            <a:r>
              <a:rPr lang="en-GB" spc="-5" dirty="0"/>
              <a:t> 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13280" y="1390254"/>
            <a:ext cx="3902075" cy="95631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>
            <a:spAutoFit/>
          </a:bodyPr>
          <a:lstStyle/>
          <a:p>
            <a:pPr marL="927100" marR="5080" indent="-914400">
              <a:lnSpc>
                <a:spcPct val="127200"/>
              </a:lnSpc>
              <a:spcBef>
                <a:spcPts val="100"/>
              </a:spcBef>
            </a:pPr>
            <a:r>
              <a:rPr sz="2400" b="1" spc="-5" dirty="0">
                <a:solidFill>
                  <a:schemeClr val="tx1"/>
                </a:solidFill>
                <a:latin typeface="Tahoma"/>
                <a:cs typeface="Tahoma"/>
              </a:rPr>
              <a:t>create view </a:t>
            </a:r>
            <a:r>
              <a:rPr sz="2400" spc="-5" dirty="0">
                <a:solidFill>
                  <a:schemeClr val="tx1"/>
                </a:solidFill>
                <a:latin typeface="Tahoma"/>
                <a:cs typeface="Tahoma"/>
              </a:rPr>
              <a:t>Professoren </a:t>
            </a:r>
            <a:r>
              <a:rPr sz="2400" b="1" dirty="0">
                <a:solidFill>
                  <a:schemeClr val="tx1"/>
                </a:solidFill>
                <a:latin typeface="Tahoma"/>
                <a:cs typeface="Tahoma"/>
              </a:rPr>
              <a:t>as  </a:t>
            </a:r>
            <a:r>
              <a:rPr sz="2400" b="1" spc="-5" dirty="0">
                <a:solidFill>
                  <a:schemeClr val="tx1"/>
                </a:solidFill>
                <a:latin typeface="Tahoma"/>
                <a:cs typeface="Tahoma"/>
              </a:rPr>
              <a:t>select</a:t>
            </a:r>
            <a:r>
              <a:rPr sz="2400" b="1" spc="4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chemeClr val="tx1"/>
                </a:solidFill>
                <a:latin typeface="Tahoma"/>
                <a:cs typeface="Tahoma"/>
              </a:rPr>
              <a:t>*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13280" y="2333610"/>
            <a:ext cx="5290820" cy="4492640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9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dirty="0">
                <a:latin typeface="Tahoma"/>
                <a:cs typeface="Tahoma"/>
              </a:rPr>
              <a:t>Angestellte </a:t>
            </a:r>
            <a:r>
              <a:rPr sz="2400" spc="-5" dirty="0">
                <a:latin typeface="Tahoma"/>
                <a:cs typeface="Tahoma"/>
              </a:rPr>
              <a:t>a, ProfDaten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820"/>
              </a:spcBef>
            </a:pPr>
            <a:r>
              <a:rPr sz="2400" b="1" spc="-5" dirty="0">
                <a:latin typeface="Tahoma"/>
                <a:cs typeface="Tahoma"/>
              </a:rPr>
              <a:t>where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a.PersNr=</a:t>
            </a:r>
            <a:r>
              <a:rPr sz="2400" spc="-10" dirty="0" err="1">
                <a:latin typeface="Tahoma"/>
                <a:cs typeface="Tahoma"/>
              </a:rPr>
              <a:t>d.PersNr</a:t>
            </a:r>
            <a:r>
              <a:rPr sz="2400" spc="-10" dirty="0">
                <a:latin typeface="Tahoma"/>
                <a:cs typeface="Tahoma"/>
              </a:rPr>
              <a:t>;</a:t>
            </a:r>
            <a:endParaRPr lang="de-DE" sz="2400" spc="-1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820"/>
              </a:spcBef>
            </a:pPr>
            <a:endParaRPr sz="2400" dirty="0">
              <a:latin typeface="Tahoma"/>
              <a:cs typeface="Tahoma"/>
            </a:endParaRPr>
          </a:p>
          <a:p>
            <a:pPr marL="927100" marR="1440815" indent="-914400">
              <a:lnSpc>
                <a:spcPct val="128499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create view </a:t>
            </a:r>
            <a:r>
              <a:rPr sz="2400" spc="-5" dirty="0">
                <a:latin typeface="Tahoma"/>
                <a:cs typeface="Tahoma"/>
              </a:rPr>
              <a:t>Assistenten </a:t>
            </a:r>
            <a:r>
              <a:rPr sz="2400" b="1" dirty="0">
                <a:latin typeface="Tahoma"/>
                <a:cs typeface="Tahoma"/>
              </a:rPr>
              <a:t>as  </a:t>
            </a:r>
            <a:r>
              <a:rPr sz="2400" b="1" spc="-5" dirty="0">
                <a:latin typeface="Tahoma"/>
                <a:cs typeface="Tahoma"/>
              </a:rPr>
              <a:t>select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*</a:t>
            </a:r>
          </a:p>
          <a:p>
            <a:pPr marL="927100">
              <a:lnSpc>
                <a:spcPct val="100000"/>
              </a:lnSpc>
              <a:spcBef>
                <a:spcPts val="92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Angestellte a, AssiDaten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820"/>
              </a:spcBef>
            </a:pPr>
            <a:r>
              <a:rPr sz="2400" b="1" spc="-5" dirty="0">
                <a:latin typeface="Tahoma"/>
                <a:cs typeface="Tahoma"/>
              </a:rPr>
              <a:t>where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a.PersNr=d.PersNr;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2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200" spc="-5" dirty="0" err="1">
                <a:solidFill>
                  <a:srgbClr val="FF0000"/>
                </a:solidFill>
                <a:latin typeface="Tahoma"/>
                <a:cs typeface="Tahoma"/>
              </a:rPr>
              <a:t>Untertypen</a:t>
            </a:r>
            <a:r>
              <a:rPr sz="3200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spc="-5" dirty="0" err="1">
                <a:solidFill>
                  <a:srgbClr val="FF0000"/>
                </a:solidFill>
                <a:latin typeface="Tahoma"/>
                <a:cs typeface="Tahoma"/>
              </a:rPr>
              <a:t>als</a:t>
            </a:r>
            <a:r>
              <a:rPr sz="3200" spc="-5" dirty="0">
                <a:solidFill>
                  <a:srgbClr val="FF0000"/>
                </a:solidFill>
                <a:latin typeface="Tahoma"/>
                <a:cs typeface="Tahoma"/>
              </a:rPr>
              <a:t> Sicht</a:t>
            </a:r>
            <a:r>
              <a:rPr lang="de-DE" sz="3200" spc="-5" dirty="0">
                <a:solidFill>
                  <a:srgbClr val="FF0000"/>
                </a:solidFill>
                <a:latin typeface="Tahoma"/>
                <a:cs typeface="Tahoma"/>
              </a:rPr>
              <a:t>en</a:t>
            </a:r>
            <a:endParaRPr sz="32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EF00CFF-2639-499D-C72C-D2FC2F680868}"/>
              </a:ext>
            </a:extLst>
          </p:cNvPr>
          <p:cNvSpPr txBox="1">
            <a:spLocks/>
          </p:cNvSpPr>
          <p:nvPr/>
        </p:nvSpPr>
        <p:spPr>
          <a:xfrm>
            <a:off x="1209042" y="654050"/>
            <a:ext cx="6499857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lang="en-GB" spc="-5" dirty="0" err="1"/>
              <a:t>Sichten</a:t>
            </a:r>
            <a:r>
              <a:rPr lang="en-GB" spc="-5" dirty="0"/>
              <a:t> </a:t>
            </a:r>
            <a:r>
              <a:rPr lang="en-GB" spc="-5" dirty="0" err="1"/>
              <a:t>zur</a:t>
            </a:r>
            <a:r>
              <a:rPr lang="en-GB" spc="-5" dirty="0"/>
              <a:t> </a:t>
            </a:r>
            <a:r>
              <a:rPr lang="en-GB" spc="-5" dirty="0" err="1"/>
              <a:t>Modellierung</a:t>
            </a:r>
            <a:r>
              <a:rPr lang="en-GB" spc="-5" dirty="0"/>
              <a:t> der </a:t>
            </a:r>
            <a:r>
              <a:rPr lang="en-GB" spc="-5" dirty="0" err="1"/>
              <a:t>Generalisierung</a:t>
            </a:r>
            <a:r>
              <a:rPr lang="en-GB" spc="-5" dirty="0"/>
              <a:t> – Ansatz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0FBE5A-3C17-2DEF-8DA9-C780B54B215F}"/>
              </a:ext>
            </a:extLst>
          </p:cNvPr>
          <p:cNvSpPr txBox="1"/>
          <p:nvPr/>
        </p:nvSpPr>
        <p:spPr>
          <a:xfrm>
            <a:off x="8470900" y="323592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Zeichnen</a:t>
            </a:r>
            <a:r>
              <a:rPr lang="en-US" dirty="0">
                <a:solidFill>
                  <a:srgbClr val="FF0000"/>
                </a:solidFill>
              </a:rPr>
              <a:t> das ER-</a:t>
            </a:r>
            <a:r>
              <a:rPr lang="en-US" dirty="0" err="1">
                <a:solidFill>
                  <a:srgbClr val="FF0000"/>
                </a:solidFill>
              </a:rPr>
              <a:t>Diagramm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als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Übung</a:t>
            </a:r>
            <a:r>
              <a:rPr lang="en-US" dirty="0">
                <a:solidFill>
                  <a:srgbClr val="FF0000"/>
                </a:solidFill>
              </a:rPr>
              <a:t> 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FEF00CFF-2639-499D-C72C-D2FC2F680868}"/>
              </a:ext>
            </a:extLst>
          </p:cNvPr>
          <p:cNvSpPr txBox="1">
            <a:spLocks/>
          </p:cNvSpPr>
          <p:nvPr/>
        </p:nvSpPr>
        <p:spPr>
          <a:xfrm>
            <a:off x="1209042" y="577850"/>
            <a:ext cx="6367143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lang="en-GB" spc="-5" dirty="0" err="1"/>
              <a:t>Sichten</a:t>
            </a:r>
            <a:r>
              <a:rPr lang="en-GB" spc="-5" dirty="0"/>
              <a:t> </a:t>
            </a:r>
            <a:r>
              <a:rPr lang="en-GB" spc="-5" dirty="0" err="1"/>
              <a:t>zur</a:t>
            </a:r>
            <a:r>
              <a:rPr lang="en-GB" spc="-5" dirty="0"/>
              <a:t> </a:t>
            </a:r>
            <a:r>
              <a:rPr lang="en-GB" spc="-5" dirty="0" err="1"/>
              <a:t>Modellierung</a:t>
            </a:r>
            <a:r>
              <a:rPr lang="en-GB" spc="-5" dirty="0"/>
              <a:t> der </a:t>
            </a:r>
            <a:r>
              <a:rPr lang="en-GB" spc="-5" dirty="0" err="1"/>
              <a:t>Generalisierung</a:t>
            </a:r>
            <a:r>
              <a:rPr lang="en-GB" spc="-5" dirty="0"/>
              <a:t> – Ansatz 2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A8F035B-59E4-E8FC-CB59-95AD04BD8F1F}"/>
              </a:ext>
            </a:extLst>
          </p:cNvPr>
          <p:cNvSpPr txBox="1"/>
          <p:nvPr/>
        </p:nvSpPr>
        <p:spPr>
          <a:xfrm>
            <a:off x="1623696" y="1423162"/>
            <a:ext cx="3521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create table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Professoren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433052B7-5ACC-2EAE-3212-2CBCFC716C56}"/>
              </a:ext>
            </a:extLst>
          </p:cNvPr>
          <p:cNvSpPr txBox="1"/>
          <p:nvPr/>
        </p:nvSpPr>
        <p:spPr>
          <a:xfrm>
            <a:off x="2538096" y="1771650"/>
            <a:ext cx="1023619" cy="1943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130"/>
              </a:spcBef>
            </a:pPr>
            <a:r>
              <a:rPr sz="2400" dirty="0">
                <a:latin typeface="Tahoma"/>
                <a:cs typeface="Tahoma"/>
              </a:rPr>
              <a:t>(</a:t>
            </a:r>
            <a:r>
              <a:rPr sz="2400" spc="-60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ersNr  </a:t>
            </a:r>
            <a:r>
              <a:rPr sz="2400" spc="-5" dirty="0">
                <a:latin typeface="Tahoma"/>
                <a:cs typeface="Tahoma"/>
              </a:rPr>
              <a:t>Name  </a:t>
            </a:r>
            <a:r>
              <a:rPr sz="2400" spc="-10" dirty="0">
                <a:latin typeface="Tahoma"/>
                <a:cs typeface="Tahoma"/>
              </a:rPr>
              <a:t>Rang  Raum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5AAD7D2F-7659-0AA3-B30A-626A80B84AED}"/>
              </a:ext>
            </a:extLst>
          </p:cNvPr>
          <p:cNvSpPr txBox="1"/>
          <p:nvPr/>
        </p:nvSpPr>
        <p:spPr>
          <a:xfrm>
            <a:off x="4366896" y="1771650"/>
            <a:ext cx="3209290" cy="19431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30800"/>
              </a:lnSpc>
              <a:spcBef>
                <a:spcPts val="130"/>
              </a:spcBef>
            </a:pPr>
            <a:r>
              <a:rPr sz="2400" b="1" spc="-5" dirty="0">
                <a:latin typeface="Tahoma"/>
                <a:cs typeface="Tahoma"/>
              </a:rPr>
              <a:t>integer not null</a:t>
            </a:r>
            <a:r>
              <a:rPr sz="2400" spc="-5" dirty="0">
                <a:latin typeface="Tahoma"/>
                <a:cs typeface="Tahoma"/>
              </a:rPr>
              <a:t>,  </a:t>
            </a:r>
            <a:r>
              <a:rPr sz="2400" b="1" spc="-5" dirty="0">
                <a:latin typeface="Tahoma"/>
                <a:cs typeface="Tahoma"/>
              </a:rPr>
              <a:t>varchar </a:t>
            </a:r>
            <a:r>
              <a:rPr sz="2400" spc="-5" dirty="0">
                <a:latin typeface="Tahoma"/>
                <a:cs typeface="Tahoma"/>
              </a:rPr>
              <a:t>(30) </a:t>
            </a:r>
            <a:r>
              <a:rPr sz="2400" b="1" spc="-5" dirty="0">
                <a:latin typeface="Tahoma"/>
                <a:cs typeface="Tahoma"/>
              </a:rPr>
              <a:t>not null</a:t>
            </a:r>
            <a:r>
              <a:rPr sz="2400" spc="-5" dirty="0">
                <a:latin typeface="Tahoma"/>
                <a:cs typeface="Tahoma"/>
              </a:rPr>
              <a:t>,  </a:t>
            </a:r>
            <a:r>
              <a:rPr sz="2400" b="1" spc="-5" dirty="0">
                <a:latin typeface="Tahoma"/>
                <a:cs typeface="Tahoma"/>
              </a:rPr>
              <a:t>character </a:t>
            </a:r>
            <a:r>
              <a:rPr sz="2400" spc="-10" dirty="0">
                <a:latin typeface="Tahoma"/>
                <a:cs typeface="Tahoma"/>
              </a:rPr>
              <a:t>(2),  </a:t>
            </a:r>
            <a:r>
              <a:rPr sz="2400" b="1" spc="-5" dirty="0">
                <a:latin typeface="Tahoma"/>
                <a:cs typeface="Tahoma"/>
              </a:rPr>
              <a:t>integer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2F942F8E-353D-06B2-D77A-9E8E2610BB4B}"/>
              </a:ext>
            </a:extLst>
          </p:cNvPr>
          <p:cNvSpPr txBox="1"/>
          <p:nvPr/>
        </p:nvSpPr>
        <p:spPr>
          <a:xfrm>
            <a:off x="1623696" y="3793490"/>
            <a:ext cx="3474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create table</a:t>
            </a:r>
            <a:r>
              <a:rPr sz="2400" b="1" spc="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Assistenten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DAD6E034-FC6B-C67D-7911-634D9DE31CCB}"/>
              </a:ext>
            </a:extLst>
          </p:cNvPr>
          <p:cNvSpPr txBox="1"/>
          <p:nvPr/>
        </p:nvSpPr>
        <p:spPr>
          <a:xfrm>
            <a:off x="2538096" y="4171950"/>
            <a:ext cx="1470660" cy="19177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65"/>
              </a:spcBef>
            </a:pPr>
            <a:r>
              <a:rPr sz="2400" spc="-10" dirty="0">
                <a:latin typeface="Tahoma"/>
                <a:cs typeface="Tahoma"/>
              </a:rPr>
              <a:t>(PersNr  </a:t>
            </a:r>
            <a:r>
              <a:rPr sz="2400" spc="-5" dirty="0">
                <a:latin typeface="Tahoma"/>
                <a:cs typeface="Tahoma"/>
              </a:rPr>
              <a:t>Name  </a:t>
            </a:r>
            <a:r>
              <a:rPr sz="2400" spc="-114" dirty="0">
                <a:latin typeface="Tahoma"/>
                <a:cs typeface="Tahoma"/>
              </a:rPr>
              <a:t>F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400" spc="-5" dirty="0">
                <a:latin typeface="Tahoma"/>
                <a:cs typeface="Tahoma"/>
              </a:rPr>
              <a:t>h</a:t>
            </a:r>
            <a:r>
              <a:rPr sz="2400" spc="-10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et  Boss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5C5D62B4-C065-2D2D-5C56-A92DA0E6220B}"/>
              </a:ext>
            </a:extLst>
          </p:cNvPr>
          <p:cNvSpPr txBox="1"/>
          <p:nvPr/>
        </p:nvSpPr>
        <p:spPr>
          <a:xfrm>
            <a:off x="4366896" y="4171950"/>
            <a:ext cx="3209290" cy="19177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65"/>
              </a:spcBef>
            </a:pPr>
            <a:r>
              <a:rPr sz="2400" b="1" spc="-5" dirty="0">
                <a:latin typeface="Tahoma"/>
                <a:cs typeface="Tahoma"/>
              </a:rPr>
              <a:t>integer not null</a:t>
            </a:r>
            <a:r>
              <a:rPr sz="2400" spc="-5" dirty="0">
                <a:latin typeface="Tahoma"/>
                <a:cs typeface="Tahoma"/>
              </a:rPr>
              <a:t>,  </a:t>
            </a:r>
            <a:r>
              <a:rPr sz="2400" b="1" spc="-5" dirty="0">
                <a:latin typeface="Tahoma"/>
                <a:cs typeface="Tahoma"/>
              </a:rPr>
              <a:t>varchar </a:t>
            </a:r>
            <a:r>
              <a:rPr sz="2400" spc="-5" dirty="0">
                <a:latin typeface="Tahoma"/>
                <a:cs typeface="Tahoma"/>
              </a:rPr>
              <a:t>(30) </a:t>
            </a:r>
            <a:r>
              <a:rPr sz="2400" b="1" spc="-5" dirty="0">
                <a:latin typeface="Tahoma"/>
                <a:cs typeface="Tahoma"/>
              </a:rPr>
              <a:t>not null</a:t>
            </a:r>
            <a:r>
              <a:rPr sz="2400" spc="-5" dirty="0">
                <a:latin typeface="Tahoma"/>
                <a:cs typeface="Tahoma"/>
              </a:rPr>
              <a:t>,  </a:t>
            </a:r>
            <a:r>
              <a:rPr sz="2400" b="1" spc="-5" dirty="0">
                <a:latin typeface="Tahoma"/>
                <a:cs typeface="Tahoma"/>
              </a:rPr>
              <a:t>varchar </a:t>
            </a:r>
            <a:r>
              <a:rPr sz="2400" spc="-10" dirty="0">
                <a:latin typeface="Tahoma"/>
                <a:cs typeface="Tahoma"/>
              </a:rPr>
              <a:t>(30),  </a:t>
            </a:r>
            <a:r>
              <a:rPr sz="2400" b="1" spc="-5" dirty="0">
                <a:latin typeface="Tahoma"/>
                <a:cs typeface="Tahoma"/>
              </a:rPr>
              <a:t>integer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D3366641-7769-A69F-71F3-5F3D3EA170B3}"/>
              </a:ext>
            </a:extLst>
          </p:cNvPr>
          <p:cNvSpPr txBox="1"/>
          <p:nvPr/>
        </p:nvSpPr>
        <p:spPr>
          <a:xfrm>
            <a:off x="1623696" y="6168390"/>
            <a:ext cx="4382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create table</a:t>
            </a:r>
            <a:r>
              <a:rPr sz="2400" b="1" spc="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AndereAngestellte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78EEABFC-D54D-1C48-3719-DEC1AAAC1329}"/>
              </a:ext>
            </a:extLst>
          </p:cNvPr>
          <p:cNvSpPr txBox="1"/>
          <p:nvPr/>
        </p:nvSpPr>
        <p:spPr>
          <a:xfrm>
            <a:off x="2538096" y="6546850"/>
            <a:ext cx="1023619" cy="96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499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(</a:t>
            </a:r>
            <a:r>
              <a:rPr sz="2400" spc="-60" dirty="0">
                <a:latin typeface="Tahoma"/>
                <a:cs typeface="Tahoma"/>
              </a:rPr>
              <a:t>P</a:t>
            </a:r>
            <a:r>
              <a:rPr sz="2400" dirty="0">
                <a:latin typeface="Tahoma"/>
                <a:cs typeface="Tahoma"/>
              </a:rPr>
              <a:t>ersNr 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9CB49144-2154-E45B-0DD3-E4395858226A}"/>
              </a:ext>
            </a:extLst>
          </p:cNvPr>
          <p:cNvSpPr txBox="1"/>
          <p:nvPr/>
        </p:nvSpPr>
        <p:spPr>
          <a:xfrm>
            <a:off x="4366896" y="6546850"/>
            <a:ext cx="3342004" cy="96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8499"/>
              </a:lnSpc>
              <a:spcBef>
                <a:spcPts val="100"/>
              </a:spcBef>
            </a:pPr>
            <a:r>
              <a:rPr sz="2400" b="1" spc="-5" dirty="0">
                <a:latin typeface="Tahoma"/>
                <a:cs typeface="Tahoma"/>
              </a:rPr>
              <a:t>integer not null</a:t>
            </a:r>
            <a:r>
              <a:rPr sz="2400" spc="-5" dirty="0">
                <a:latin typeface="Tahoma"/>
                <a:cs typeface="Tahoma"/>
              </a:rPr>
              <a:t>,  </a:t>
            </a:r>
            <a:r>
              <a:rPr sz="2400" b="1" spc="-5" dirty="0">
                <a:latin typeface="Tahoma"/>
                <a:cs typeface="Tahoma"/>
              </a:rPr>
              <a:t>varchar </a:t>
            </a:r>
            <a:r>
              <a:rPr sz="2400" spc="-5" dirty="0">
                <a:latin typeface="Tahoma"/>
                <a:cs typeface="Tahoma"/>
              </a:rPr>
              <a:t>(30) </a:t>
            </a:r>
            <a:r>
              <a:rPr sz="2400" b="1" spc="-5" dirty="0">
                <a:latin typeface="Tahoma"/>
                <a:cs typeface="Tahoma"/>
              </a:rPr>
              <a:t>not</a:t>
            </a:r>
            <a:r>
              <a:rPr sz="2400" b="1" spc="1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null</a:t>
            </a:r>
            <a:r>
              <a:rPr sz="2400" spc="-5" dirty="0">
                <a:latin typeface="Tahoma"/>
                <a:cs typeface="Tahoma"/>
              </a:rPr>
              <a:t>);</a:t>
            </a:r>
            <a:endParaRPr sz="2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943673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5310" y="1416050"/>
            <a:ext cx="3851275" cy="143891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3810" rIns="0" bIns="0" rtlCol="0">
            <a:spAutoFit/>
          </a:bodyPr>
          <a:lstStyle/>
          <a:p>
            <a:pPr marL="927100" marR="5080" indent="-914400" algn="just">
              <a:lnSpc>
                <a:spcPct val="129600"/>
              </a:lnSpc>
              <a:spcBef>
                <a:spcPts val="30"/>
              </a:spcBef>
            </a:pPr>
            <a:r>
              <a:rPr sz="2400" b="1" spc="-5" dirty="0">
                <a:solidFill>
                  <a:schemeClr val="tx1"/>
                </a:solidFill>
                <a:latin typeface="Tahoma"/>
                <a:cs typeface="Tahoma"/>
              </a:rPr>
              <a:t>create view </a:t>
            </a:r>
            <a:r>
              <a:rPr sz="2400" dirty="0">
                <a:solidFill>
                  <a:schemeClr val="tx1"/>
                </a:solidFill>
                <a:latin typeface="Tahoma"/>
                <a:cs typeface="Tahoma"/>
              </a:rPr>
              <a:t>Angestellte </a:t>
            </a:r>
            <a:r>
              <a:rPr sz="2400" b="1" spc="-5" dirty="0">
                <a:solidFill>
                  <a:schemeClr val="tx1"/>
                </a:solidFill>
                <a:latin typeface="Tahoma"/>
                <a:cs typeface="Tahoma"/>
              </a:rPr>
              <a:t>as  </a:t>
            </a:r>
            <a:r>
              <a:rPr sz="2400" spc="-5" dirty="0">
                <a:solidFill>
                  <a:schemeClr val="tx1"/>
                </a:solidFill>
                <a:latin typeface="Tahoma"/>
                <a:cs typeface="Tahoma"/>
              </a:rPr>
              <a:t>(</a:t>
            </a:r>
            <a:r>
              <a:rPr sz="2400" b="1" spc="-5" dirty="0">
                <a:solidFill>
                  <a:schemeClr val="tx1"/>
                </a:solidFill>
                <a:latin typeface="Tahoma"/>
                <a:cs typeface="Tahoma"/>
              </a:rPr>
              <a:t>select </a:t>
            </a:r>
            <a:r>
              <a:rPr sz="2400" spc="-60" dirty="0">
                <a:solidFill>
                  <a:schemeClr val="tx1"/>
                </a:solidFill>
                <a:latin typeface="Tahoma"/>
                <a:cs typeface="Tahoma"/>
              </a:rPr>
              <a:t>PersNr, </a:t>
            </a:r>
            <a:r>
              <a:rPr sz="2400" spc="-5" dirty="0">
                <a:solidFill>
                  <a:schemeClr val="tx1"/>
                </a:solidFill>
                <a:latin typeface="Tahoma"/>
                <a:cs typeface="Tahoma"/>
              </a:rPr>
              <a:t>Name  </a:t>
            </a:r>
            <a:r>
              <a:rPr sz="2400" b="1" spc="-5" dirty="0">
                <a:solidFill>
                  <a:schemeClr val="tx1"/>
                </a:solidFill>
                <a:latin typeface="Tahoma"/>
                <a:cs typeface="Tahoma"/>
              </a:rPr>
              <a:t>from</a:t>
            </a:r>
            <a:r>
              <a:rPr sz="2400" b="1" spc="3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Tahoma"/>
                <a:cs typeface="Tahoma"/>
              </a:rPr>
              <a:t>Professoren)</a:t>
            </a:r>
            <a:endParaRPr sz="2400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45310" y="2816606"/>
            <a:ext cx="4415790" cy="3935949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1117600">
              <a:lnSpc>
                <a:spcPct val="100000"/>
              </a:lnSpc>
              <a:spcBef>
                <a:spcPts val="1020"/>
              </a:spcBef>
            </a:pPr>
            <a:r>
              <a:rPr sz="2400" b="1" spc="-5" dirty="0">
                <a:latin typeface="Tahoma"/>
                <a:cs typeface="Tahoma"/>
              </a:rPr>
              <a:t>union</a:t>
            </a:r>
            <a:endParaRPr sz="2400" dirty="0">
              <a:latin typeface="Tahoma"/>
              <a:cs typeface="Tahoma"/>
            </a:endParaRPr>
          </a:p>
          <a:p>
            <a:pPr marL="927100" marR="569595">
              <a:lnSpc>
                <a:spcPct val="130200"/>
              </a:lnSpc>
              <a:spcBef>
                <a:spcPts val="50"/>
              </a:spcBef>
            </a:pP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 </a:t>
            </a:r>
            <a:r>
              <a:rPr sz="2400" spc="-60" dirty="0">
                <a:latin typeface="Tahoma"/>
                <a:cs typeface="Tahoma"/>
              </a:rPr>
              <a:t>PersNr, </a:t>
            </a:r>
            <a:r>
              <a:rPr sz="2400" spc="-5" dirty="0">
                <a:latin typeface="Tahoma"/>
                <a:cs typeface="Tahoma"/>
              </a:rPr>
              <a:t>Name  </a:t>
            </a: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5" dirty="0">
                <a:latin typeface="Tahoma"/>
                <a:cs typeface="Tahoma"/>
              </a:rPr>
              <a:t>Assistenten)  </a:t>
            </a:r>
            <a:r>
              <a:rPr sz="2400" b="1" spc="-5" dirty="0">
                <a:latin typeface="Tahoma"/>
                <a:cs typeface="Tahoma"/>
              </a:rPr>
              <a:t>union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395"/>
              </a:spcBef>
            </a:pPr>
            <a:r>
              <a:rPr sz="2400" spc="-5" dirty="0">
                <a:latin typeface="Tahoma"/>
                <a:cs typeface="Tahoma"/>
              </a:rPr>
              <a:t>(</a:t>
            </a:r>
            <a:r>
              <a:rPr sz="2400" b="1" spc="-5" dirty="0">
                <a:latin typeface="Tahoma"/>
                <a:cs typeface="Tahoma"/>
              </a:rPr>
              <a:t>select*</a:t>
            </a:r>
            <a:endParaRPr sz="2400" dirty="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142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AndereAngestellte);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spc="-10" dirty="0" err="1">
                <a:solidFill>
                  <a:srgbClr val="FF0000"/>
                </a:solidFill>
                <a:latin typeface="Tahoma"/>
                <a:cs typeface="Tahoma"/>
              </a:rPr>
              <a:t>Obertypen</a:t>
            </a:r>
            <a:r>
              <a:rPr sz="32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spc="-5" dirty="0" err="1">
                <a:solidFill>
                  <a:srgbClr val="FF0000"/>
                </a:solidFill>
                <a:latin typeface="Tahoma"/>
                <a:cs typeface="Tahoma"/>
              </a:rPr>
              <a:t>als</a:t>
            </a:r>
            <a:r>
              <a:rPr sz="3200" spc="-5" dirty="0">
                <a:solidFill>
                  <a:srgbClr val="FF0000"/>
                </a:solidFill>
                <a:latin typeface="Tahoma"/>
                <a:cs typeface="Tahoma"/>
              </a:rPr>
              <a:t> Sicht</a:t>
            </a:r>
            <a:r>
              <a:rPr lang="de-DE" sz="3200" spc="-5" dirty="0">
                <a:solidFill>
                  <a:srgbClr val="FF0000"/>
                </a:solidFill>
                <a:latin typeface="Tahoma"/>
                <a:cs typeface="Tahoma"/>
              </a:rPr>
              <a:t>en</a:t>
            </a:r>
            <a:endParaRPr sz="32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D0C5BCF-1684-AB24-9600-6D61C6E41B06}"/>
              </a:ext>
            </a:extLst>
          </p:cNvPr>
          <p:cNvSpPr txBox="1">
            <a:spLocks/>
          </p:cNvSpPr>
          <p:nvPr/>
        </p:nvSpPr>
        <p:spPr>
          <a:xfrm>
            <a:off x="1209042" y="577850"/>
            <a:ext cx="6347457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lang="en-GB" spc="-5" dirty="0" err="1"/>
              <a:t>Sichten</a:t>
            </a:r>
            <a:r>
              <a:rPr lang="en-GB" spc="-5" dirty="0"/>
              <a:t> </a:t>
            </a:r>
            <a:r>
              <a:rPr lang="en-GB" spc="-5" dirty="0" err="1"/>
              <a:t>zur</a:t>
            </a:r>
            <a:r>
              <a:rPr lang="en-GB" spc="-5" dirty="0"/>
              <a:t> </a:t>
            </a:r>
            <a:r>
              <a:rPr lang="en-GB" spc="-5" dirty="0" err="1"/>
              <a:t>Modellierung</a:t>
            </a:r>
            <a:r>
              <a:rPr lang="en-GB" spc="-5" dirty="0"/>
              <a:t> der </a:t>
            </a:r>
            <a:r>
              <a:rPr lang="en-GB" spc="-5" dirty="0" err="1"/>
              <a:t>Generalisierung</a:t>
            </a:r>
            <a:r>
              <a:rPr lang="en-GB" spc="-5" dirty="0"/>
              <a:t> – Ansatz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21C28-308D-4373-186B-95C1708ADD09}"/>
              </a:ext>
            </a:extLst>
          </p:cNvPr>
          <p:cNvSpPr txBox="1"/>
          <p:nvPr/>
        </p:nvSpPr>
        <p:spPr>
          <a:xfrm>
            <a:off x="8470900" y="323592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Zeichnen</a:t>
            </a:r>
            <a:r>
              <a:rPr lang="en-US" dirty="0">
                <a:solidFill>
                  <a:srgbClr val="FF0000"/>
                </a:solidFill>
              </a:rPr>
              <a:t> das ER-</a:t>
            </a:r>
            <a:r>
              <a:rPr lang="en-US" dirty="0" err="1">
                <a:solidFill>
                  <a:srgbClr val="FF0000"/>
                </a:solidFill>
              </a:rPr>
              <a:t>Diagramm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als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Übung</a:t>
            </a:r>
            <a:r>
              <a:rPr lang="en-US" dirty="0">
                <a:solidFill>
                  <a:srgbClr val="FF0000"/>
                </a:solidFill>
              </a:rPr>
              <a:t> 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124578" y="2101850"/>
            <a:ext cx="1873250" cy="4572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latin typeface="Times New Roman"/>
                <a:cs typeface="Times New Roman"/>
              </a:rPr>
              <a:t>Benutzer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5103" y="3321050"/>
            <a:ext cx="1873250" cy="4572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Sicht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4578" y="3321050"/>
            <a:ext cx="1873250" cy="4572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510540">
              <a:lnSpc>
                <a:spcPct val="100000"/>
              </a:lnSpc>
              <a:spcBef>
                <a:spcPts val="359"/>
              </a:spcBef>
            </a:pPr>
            <a:r>
              <a:rPr sz="2400" spc="-5" dirty="0">
                <a:latin typeface="Times New Roman"/>
                <a:cs typeface="Times New Roman"/>
              </a:rPr>
              <a:t>Sicht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5103" y="4692650"/>
            <a:ext cx="1873250" cy="4572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latin typeface="Times New Roman"/>
                <a:cs typeface="Times New Roman"/>
              </a:rPr>
              <a:t>Relation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4578" y="4692650"/>
            <a:ext cx="1873250" cy="4572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360"/>
              </a:spcBef>
            </a:pPr>
            <a:r>
              <a:rPr sz="2400" spc="-5" dirty="0">
                <a:latin typeface="Times New Roman"/>
                <a:cs typeface="Times New Roman"/>
              </a:rPr>
              <a:t>Relation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935675" y="2559050"/>
            <a:ext cx="2125980" cy="753745"/>
          </a:xfrm>
          <a:custGeom>
            <a:avLst/>
            <a:gdLst/>
            <a:ahLst/>
            <a:cxnLst/>
            <a:rect l="l" t="t" r="r" b="b"/>
            <a:pathLst>
              <a:path w="2125979" h="753744">
                <a:moveTo>
                  <a:pt x="2125528" y="0"/>
                </a:moveTo>
                <a:lnTo>
                  <a:pt x="0" y="753512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1728" y="3259684"/>
            <a:ext cx="85090" cy="72390"/>
          </a:xfrm>
          <a:custGeom>
            <a:avLst/>
            <a:gdLst/>
            <a:ahLst/>
            <a:cxnLst/>
            <a:rect l="l" t="t" r="r" b="b"/>
            <a:pathLst>
              <a:path w="85089" h="72389">
                <a:moveTo>
                  <a:pt x="59080" y="0"/>
                </a:moveTo>
                <a:lnTo>
                  <a:pt x="0" y="61366"/>
                </a:lnTo>
                <a:lnTo>
                  <a:pt x="84543" y="71818"/>
                </a:lnTo>
                <a:lnTo>
                  <a:pt x="59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61203" y="2559050"/>
            <a:ext cx="0" cy="736600"/>
          </a:xfrm>
          <a:custGeom>
            <a:avLst/>
            <a:gdLst/>
            <a:ahLst/>
            <a:cxnLst/>
            <a:rect l="l" t="t" r="r" b="b"/>
            <a:pathLst>
              <a:path h="736600">
                <a:moveTo>
                  <a:pt x="0" y="0"/>
                </a:moveTo>
                <a:lnTo>
                  <a:pt x="0" y="7365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23103" y="32448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61203" y="2559050"/>
            <a:ext cx="2125980" cy="753745"/>
          </a:xfrm>
          <a:custGeom>
            <a:avLst/>
            <a:gdLst/>
            <a:ahLst/>
            <a:cxnLst/>
            <a:rect l="l" t="t" r="r" b="b"/>
            <a:pathLst>
              <a:path w="2125979" h="753744">
                <a:moveTo>
                  <a:pt x="0" y="0"/>
                </a:moveTo>
                <a:lnTo>
                  <a:pt x="2125528" y="753512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126122" y="3259684"/>
            <a:ext cx="85090" cy="72390"/>
          </a:xfrm>
          <a:custGeom>
            <a:avLst/>
            <a:gdLst/>
            <a:ahLst/>
            <a:cxnLst/>
            <a:rect l="l" t="t" r="r" b="b"/>
            <a:pathLst>
              <a:path w="85090" h="72389">
                <a:moveTo>
                  <a:pt x="25463" y="0"/>
                </a:moveTo>
                <a:lnTo>
                  <a:pt x="0" y="71818"/>
                </a:lnTo>
                <a:lnTo>
                  <a:pt x="84556" y="61366"/>
                </a:lnTo>
                <a:lnTo>
                  <a:pt x="254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61203" y="3778250"/>
            <a:ext cx="0" cy="889000"/>
          </a:xfrm>
          <a:custGeom>
            <a:avLst/>
            <a:gdLst/>
            <a:ahLst/>
            <a:cxnLst/>
            <a:rect l="l" t="t" r="r" b="b"/>
            <a:pathLst>
              <a:path h="889000">
                <a:moveTo>
                  <a:pt x="0" y="0"/>
                </a:moveTo>
                <a:lnTo>
                  <a:pt x="0" y="8889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023103" y="46164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11729" y="3778250"/>
            <a:ext cx="0" cy="889000"/>
          </a:xfrm>
          <a:custGeom>
            <a:avLst/>
            <a:gdLst/>
            <a:ahLst/>
            <a:cxnLst/>
            <a:rect l="l" t="t" r="r" b="b"/>
            <a:pathLst>
              <a:path h="889000">
                <a:moveTo>
                  <a:pt x="0" y="0"/>
                </a:moveTo>
                <a:lnTo>
                  <a:pt x="0" y="8889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73628" y="46164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11729" y="3778250"/>
            <a:ext cx="2126615" cy="904875"/>
          </a:xfrm>
          <a:custGeom>
            <a:avLst/>
            <a:gdLst/>
            <a:ahLst/>
            <a:cxnLst/>
            <a:rect l="l" t="t" r="r" b="b"/>
            <a:pathLst>
              <a:path w="2126615" h="904875">
                <a:moveTo>
                  <a:pt x="0" y="0"/>
                </a:moveTo>
                <a:lnTo>
                  <a:pt x="2126098" y="90445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76164" y="4627766"/>
            <a:ext cx="85090" cy="70485"/>
          </a:xfrm>
          <a:custGeom>
            <a:avLst/>
            <a:gdLst/>
            <a:ahLst/>
            <a:cxnLst/>
            <a:rect l="l" t="t" r="r" b="b"/>
            <a:pathLst>
              <a:path w="85090" h="70485">
                <a:moveTo>
                  <a:pt x="29832" y="0"/>
                </a:moveTo>
                <a:lnTo>
                  <a:pt x="0" y="70116"/>
                </a:lnTo>
                <a:lnTo>
                  <a:pt x="85039" y="64884"/>
                </a:lnTo>
                <a:lnTo>
                  <a:pt x="298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8269291" y="3316288"/>
          <a:ext cx="1873250" cy="182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565">
                <a:tc gridSpan="2"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Sicht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57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 gridSpan="2"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400" spc="-5" dirty="0">
                          <a:latin typeface="Times New Roman"/>
                          <a:cs typeface="Times New Roman"/>
                        </a:rPr>
                        <a:t>Relation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9172578" y="46164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651503" y="6026150"/>
            <a:ext cx="2819400" cy="800100"/>
          </a:xfrm>
          <a:custGeom>
            <a:avLst/>
            <a:gdLst/>
            <a:ahLst/>
            <a:cxnLst/>
            <a:rect l="l" t="t" r="r" b="b"/>
            <a:pathLst>
              <a:path w="2819400" h="800100">
                <a:moveTo>
                  <a:pt x="0" y="0"/>
                </a:moveTo>
                <a:lnTo>
                  <a:pt x="0" y="685798"/>
                </a:lnTo>
                <a:lnTo>
                  <a:pt x="2231" y="692284"/>
                </a:lnTo>
                <a:lnTo>
                  <a:pt x="53805" y="717183"/>
                </a:lnTo>
                <a:lnTo>
                  <a:pt x="103515" y="728870"/>
                </a:lnTo>
                <a:lnTo>
                  <a:pt x="167903" y="739945"/>
                </a:lnTo>
                <a:lnTo>
                  <a:pt x="246019" y="750332"/>
                </a:lnTo>
                <a:lnTo>
                  <a:pt x="289927" y="755243"/>
                </a:lnTo>
                <a:lnTo>
                  <a:pt x="336910" y="759954"/>
                </a:lnTo>
                <a:lnTo>
                  <a:pt x="386849" y="764453"/>
                </a:lnTo>
                <a:lnTo>
                  <a:pt x="495117" y="772781"/>
                </a:lnTo>
                <a:lnTo>
                  <a:pt x="613781" y="780151"/>
                </a:lnTo>
                <a:lnTo>
                  <a:pt x="809184" y="789239"/>
                </a:lnTo>
                <a:lnTo>
                  <a:pt x="1022622" y="795736"/>
                </a:lnTo>
                <a:lnTo>
                  <a:pt x="1329704" y="799917"/>
                </a:lnTo>
                <a:lnTo>
                  <a:pt x="1409700" y="800098"/>
                </a:lnTo>
                <a:lnTo>
                  <a:pt x="1722175" y="797280"/>
                </a:lnTo>
                <a:lnTo>
                  <a:pt x="1940909" y="791705"/>
                </a:lnTo>
                <a:lnTo>
                  <a:pt x="2142680" y="783452"/>
                </a:lnTo>
                <a:lnTo>
                  <a:pt x="2266185" y="776591"/>
                </a:lnTo>
                <a:lnTo>
                  <a:pt x="2379770" y="768732"/>
                </a:lnTo>
                <a:lnTo>
                  <a:pt x="2482485" y="759954"/>
                </a:lnTo>
                <a:lnTo>
                  <a:pt x="2529468" y="755243"/>
                </a:lnTo>
                <a:lnTo>
                  <a:pt x="2573376" y="750332"/>
                </a:lnTo>
                <a:lnTo>
                  <a:pt x="2614091" y="745230"/>
                </a:lnTo>
                <a:lnTo>
                  <a:pt x="2685463" y="734489"/>
                </a:lnTo>
                <a:lnTo>
                  <a:pt x="2742632" y="723098"/>
                </a:lnTo>
                <a:lnTo>
                  <a:pt x="2784646" y="711134"/>
                </a:lnTo>
                <a:lnTo>
                  <a:pt x="2819400" y="685798"/>
                </a:lnTo>
                <a:lnTo>
                  <a:pt x="2819400" y="114300"/>
                </a:lnTo>
                <a:lnTo>
                  <a:pt x="1409700" y="114300"/>
                </a:lnTo>
                <a:lnTo>
                  <a:pt x="1329704" y="114119"/>
                </a:lnTo>
                <a:lnTo>
                  <a:pt x="1250880" y="113582"/>
                </a:lnTo>
                <a:lnTo>
                  <a:pt x="949671" y="108074"/>
                </a:lnTo>
                <a:lnTo>
                  <a:pt x="741887" y="100684"/>
                </a:lnTo>
                <a:lnTo>
                  <a:pt x="553209" y="90790"/>
                </a:lnTo>
                <a:lnTo>
                  <a:pt x="439624" y="82931"/>
                </a:lnTo>
                <a:lnTo>
                  <a:pt x="336910" y="74152"/>
                </a:lnTo>
                <a:lnTo>
                  <a:pt x="289927" y="69441"/>
                </a:lnTo>
                <a:lnTo>
                  <a:pt x="246019" y="64530"/>
                </a:lnTo>
                <a:lnTo>
                  <a:pt x="205305" y="59427"/>
                </a:lnTo>
                <a:lnTo>
                  <a:pt x="133934" y="48687"/>
                </a:lnTo>
                <a:lnTo>
                  <a:pt x="76765" y="37296"/>
                </a:lnTo>
                <a:lnTo>
                  <a:pt x="34752" y="25333"/>
                </a:lnTo>
                <a:lnTo>
                  <a:pt x="2231" y="6485"/>
                </a:lnTo>
                <a:lnTo>
                  <a:pt x="0" y="0"/>
                </a:lnTo>
                <a:close/>
              </a:path>
              <a:path w="2819400" h="800100">
                <a:moveTo>
                  <a:pt x="2819400" y="0"/>
                </a:moveTo>
                <a:lnTo>
                  <a:pt x="2784646" y="25333"/>
                </a:lnTo>
                <a:lnTo>
                  <a:pt x="2742632" y="37296"/>
                </a:lnTo>
                <a:lnTo>
                  <a:pt x="2685463" y="48687"/>
                </a:lnTo>
                <a:lnTo>
                  <a:pt x="2614091" y="59427"/>
                </a:lnTo>
                <a:lnTo>
                  <a:pt x="2573376" y="64530"/>
                </a:lnTo>
                <a:lnTo>
                  <a:pt x="2529468" y="69441"/>
                </a:lnTo>
                <a:lnTo>
                  <a:pt x="2482485" y="74152"/>
                </a:lnTo>
                <a:lnTo>
                  <a:pt x="2379770" y="82931"/>
                </a:lnTo>
                <a:lnTo>
                  <a:pt x="2266185" y="90790"/>
                </a:lnTo>
                <a:lnTo>
                  <a:pt x="2142680" y="97651"/>
                </a:lnTo>
                <a:lnTo>
                  <a:pt x="1940909" y="105905"/>
                </a:lnTo>
                <a:lnTo>
                  <a:pt x="1722175" y="111481"/>
                </a:lnTo>
                <a:lnTo>
                  <a:pt x="1409700" y="114300"/>
                </a:lnTo>
                <a:lnTo>
                  <a:pt x="2819400" y="114300"/>
                </a:lnTo>
                <a:lnTo>
                  <a:pt x="28194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51503" y="5911850"/>
            <a:ext cx="2819400" cy="228600"/>
          </a:xfrm>
          <a:custGeom>
            <a:avLst/>
            <a:gdLst/>
            <a:ahLst/>
            <a:cxnLst/>
            <a:rect l="l" t="t" r="r" b="b"/>
            <a:pathLst>
              <a:path w="2819400" h="228600">
                <a:moveTo>
                  <a:pt x="1409700" y="0"/>
                </a:moveTo>
                <a:lnTo>
                  <a:pt x="1250880" y="717"/>
                </a:lnTo>
                <a:lnTo>
                  <a:pt x="949671" y="6223"/>
                </a:lnTo>
                <a:lnTo>
                  <a:pt x="741887" y="13612"/>
                </a:lnTo>
                <a:lnTo>
                  <a:pt x="553209" y="23506"/>
                </a:lnTo>
                <a:lnTo>
                  <a:pt x="439624" y="31364"/>
                </a:lnTo>
                <a:lnTo>
                  <a:pt x="336910" y="40142"/>
                </a:lnTo>
                <a:lnTo>
                  <a:pt x="289927" y="44852"/>
                </a:lnTo>
                <a:lnTo>
                  <a:pt x="246019" y="49763"/>
                </a:lnTo>
                <a:lnTo>
                  <a:pt x="205305" y="54866"/>
                </a:lnTo>
                <a:lnTo>
                  <a:pt x="133934" y="65607"/>
                </a:lnTo>
                <a:lnTo>
                  <a:pt x="76765" y="76998"/>
                </a:lnTo>
                <a:lnTo>
                  <a:pt x="34752" y="88962"/>
                </a:lnTo>
                <a:lnTo>
                  <a:pt x="0" y="114300"/>
                </a:lnTo>
                <a:lnTo>
                  <a:pt x="2231" y="120785"/>
                </a:lnTo>
                <a:lnTo>
                  <a:pt x="53805" y="145682"/>
                </a:lnTo>
                <a:lnTo>
                  <a:pt x="103515" y="157368"/>
                </a:lnTo>
                <a:lnTo>
                  <a:pt x="167903" y="168443"/>
                </a:lnTo>
                <a:lnTo>
                  <a:pt x="246019" y="178830"/>
                </a:lnTo>
                <a:lnTo>
                  <a:pt x="289927" y="183741"/>
                </a:lnTo>
                <a:lnTo>
                  <a:pt x="336910" y="188452"/>
                </a:lnTo>
                <a:lnTo>
                  <a:pt x="439624" y="197231"/>
                </a:lnTo>
                <a:lnTo>
                  <a:pt x="553209" y="205090"/>
                </a:lnTo>
                <a:lnTo>
                  <a:pt x="676713" y="211951"/>
                </a:lnTo>
                <a:lnTo>
                  <a:pt x="878485" y="220205"/>
                </a:lnTo>
                <a:lnTo>
                  <a:pt x="1097220" y="225781"/>
                </a:lnTo>
                <a:lnTo>
                  <a:pt x="1409700" y="228600"/>
                </a:lnTo>
                <a:lnTo>
                  <a:pt x="1489693" y="228419"/>
                </a:lnTo>
                <a:lnTo>
                  <a:pt x="1568517" y="227882"/>
                </a:lnTo>
                <a:lnTo>
                  <a:pt x="1869723" y="222374"/>
                </a:lnTo>
                <a:lnTo>
                  <a:pt x="2077506" y="214984"/>
                </a:lnTo>
                <a:lnTo>
                  <a:pt x="2266185" y="205090"/>
                </a:lnTo>
                <a:lnTo>
                  <a:pt x="2379770" y="197231"/>
                </a:lnTo>
                <a:lnTo>
                  <a:pt x="2482485" y="188452"/>
                </a:lnTo>
                <a:lnTo>
                  <a:pt x="2529468" y="183741"/>
                </a:lnTo>
                <a:lnTo>
                  <a:pt x="2573376" y="178830"/>
                </a:lnTo>
                <a:lnTo>
                  <a:pt x="2614091" y="173727"/>
                </a:lnTo>
                <a:lnTo>
                  <a:pt x="2685463" y="162987"/>
                </a:lnTo>
                <a:lnTo>
                  <a:pt x="2742632" y="151596"/>
                </a:lnTo>
                <a:lnTo>
                  <a:pt x="2784646" y="139633"/>
                </a:lnTo>
                <a:lnTo>
                  <a:pt x="2819400" y="114300"/>
                </a:lnTo>
                <a:lnTo>
                  <a:pt x="2817168" y="107813"/>
                </a:lnTo>
                <a:lnTo>
                  <a:pt x="2765593" y="82913"/>
                </a:lnTo>
                <a:lnTo>
                  <a:pt x="2715883" y="71226"/>
                </a:lnTo>
                <a:lnTo>
                  <a:pt x="2651493" y="60150"/>
                </a:lnTo>
                <a:lnTo>
                  <a:pt x="2573376" y="49763"/>
                </a:lnTo>
                <a:lnTo>
                  <a:pt x="2529468" y="44852"/>
                </a:lnTo>
                <a:lnTo>
                  <a:pt x="2482485" y="40142"/>
                </a:lnTo>
                <a:lnTo>
                  <a:pt x="2379770" y="31364"/>
                </a:lnTo>
                <a:lnTo>
                  <a:pt x="2266185" y="23506"/>
                </a:lnTo>
                <a:lnTo>
                  <a:pt x="2077506" y="13612"/>
                </a:lnTo>
                <a:lnTo>
                  <a:pt x="1869723" y="6223"/>
                </a:lnTo>
                <a:lnTo>
                  <a:pt x="1646050" y="1599"/>
                </a:lnTo>
                <a:lnTo>
                  <a:pt x="1568517" y="717"/>
                </a:lnTo>
                <a:lnTo>
                  <a:pt x="1489693" y="180"/>
                </a:lnTo>
                <a:lnTo>
                  <a:pt x="14097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51503" y="5911850"/>
            <a:ext cx="2819400" cy="914400"/>
          </a:xfrm>
          <a:custGeom>
            <a:avLst/>
            <a:gdLst/>
            <a:ahLst/>
            <a:cxnLst/>
            <a:rect l="l" t="t" r="r" b="b"/>
            <a:pathLst>
              <a:path w="2819400" h="914400">
                <a:moveTo>
                  <a:pt x="2819398" y="114299"/>
                </a:moveTo>
                <a:lnTo>
                  <a:pt x="2784645" y="139635"/>
                </a:lnTo>
                <a:lnTo>
                  <a:pt x="2742632" y="151599"/>
                </a:lnTo>
                <a:lnTo>
                  <a:pt x="2685463" y="162990"/>
                </a:lnTo>
                <a:lnTo>
                  <a:pt x="2614092" y="173730"/>
                </a:lnTo>
                <a:lnTo>
                  <a:pt x="2573378" y="178833"/>
                </a:lnTo>
                <a:lnTo>
                  <a:pt x="2529470" y="183744"/>
                </a:lnTo>
                <a:lnTo>
                  <a:pt x="2482487" y="188454"/>
                </a:lnTo>
                <a:lnTo>
                  <a:pt x="2432548" y="192954"/>
                </a:lnTo>
                <a:lnTo>
                  <a:pt x="2379773" y="197233"/>
                </a:lnTo>
                <a:lnTo>
                  <a:pt x="2324280" y="201282"/>
                </a:lnTo>
                <a:lnTo>
                  <a:pt x="2266188" y="205091"/>
                </a:lnTo>
                <a:lnTo>
                  <a:pt x="2205616" y="208652"/>
                </a:lnTo>
                <a:lnTo>
                  <a:pt x="2142684" y="211953"/>
                </a:lnTo>
                <a:lnTo>
                  <a:pt x="2077510" y="214985"/>
                </a:lnTo>
                <a:lnTo>
                  <a:pt x="2010213" y="217740"/>
                </a:lnTo>
                <a:lnTo>
                  <a:pt x="1940912" y="220206"/>
                </a:lnTo>
                <a:lnTo>
                  <a:pt x="1869727" y="222375"/>
                </a:lnTo>
                <a:lnTo>
                  <a:pt x="1796776" y="224237"/>
                </a:lnTo>
                <a:lnTo>
                  <a:pt x="1722178" y="225781"/>
                </a:lnTo>
                <a:lnTo>
                  <a:pt x="1646052" y="227000"/>
                </a:lnTo>
                <a:lnTo>
                  <a:pt x="1568518" y="227882"/>
                </a:lnTo>
                <a:lnTo>
                  <a:pt x="1489694" y="228418"/>
                </a:lnTo>
                <a:lnTo>
                  <a:pt x="1409699" y="228599"/>
                </a:lnTo>
                <a:lnTo>
                  <a:pt x="1329704" y="228418"/>
                </a:lnTo>
                <a:lnTo>
                  <a:pt x="1250880" y="227882"/>
                </a:lnTo>
                <a:lnTo>
                  <a:pt x="1173346" y="227000"/>
                </a:lnTo>
                <a:lnTo>
                  <a:pt x="1097221" y="225781"/>
                </a:lnTo>
                <a:lnTo>
                  <a:pt x="1022623" y="224237"/>
                </a:lnTo>
                <a:lnTo>
                  <a:pt x="949672" y="222375"/>
                </a:lnTo>
                <a:lnTo>
                  <a:pt x="878487" y="220206"/>
                </a:lnTo>
                <a:lnTo>
                  <a:pt x="809186" y="217740"/>
                </a:lnTo>
                <a:lnTo>
                  <a:pt x="741889" y="214985"/>
                </a:lnTo>
                <a:lnTo>
                  <a:pt x="676715" y="211953"/>
                </a:lnTo>
                <a:lnTo>
                  <a:pt x="613783" y="208652"/>
                </a:lnTo>
                <a:lnTo>
                  <a:pt x="553211" y="205091"/>
                </a:lnTo>
                <a:lnTo>
                  <a:pt x="495119" y="201282"/>
                </a:lnTo>
                <a:lnTo>
                  <a:pt x="439626" y="197233"/>
                </a:lnTo>
                <a:lnTo>
                  <a:pt x="386850" y="192954"/>
                </a:lnTo>
                <a:lnTo>
                  <a:pt x="336912" y="188454"/>
                </a:lnTo>
                <a:lnTo>
                  <a:pt x="289929" y="183744"/>
                </a:lnTo>
                <a:lnTo>
                  <a:pt x="246020" y="178833"/>
                </a:lnTo>
                <a:lnTo>
                  <a:pt x="205306" y="173730"/>
                </a:lnTo>
                <a:lnTo>
                  <a:pt x="133934" y="162990"/>
                </a:lnTo>
                <a:lnTo>
                  <a:pt x="76766" y="151599"/>
                </a:lnTo>
                <a:lnTo>
                  <a:pt x="34753" y="139635"/>
                </a:lnTo>
                <a:lnTo>
                  <a:pt x="0" y="114299"/>
                </a:lnTo>
                <a:lnTo>
                  <a:pt x="2231" y="107813"/>
                </a:lnTo>
                <a:lnTo>
                  <a:pt x="53805" y="82915"/>
                </a:lnTo>
                <a:lnTo>
                  <a:pt x="103515" y="71228"/>
                </a:lnTo>
                <a:lnTo>
                  <a:pt x="167904" y="60153"/>
                </a:lnTo>
                <a:lnTo>
                  <a:pt x="246020" y="49766"/>
                </a:lnTo>
                <a:lnTo>
                  <a:pt x="289929" y="44854"/>
                </a:lnTo>
                <a:lnTo>
                  <a:pt x="336912" y="40144"/>
                </a:lnTo>
                <a:lnTo>
                  <a:pt x="386850" y="35645"/>
                </a:lnTo>
                <a:lnTo>
                  <a:pt x="439626" y="31366"/>
                </a:lnTo>
                <a:lnTo>
                  <a:pt x="495119" y="27317"/>
                </a:lnTo>
                <a:lnTo>
                  <a:pt x="553211" y="23507"/>
                </a:lnTo>
                <a:lnTo>
                  <a:pt x="613783" y="19947"/>
                </a:lnTo>
                <a:lnTo>
                  <a:pt x="676715" y="16646"/>
                </a:lnTo>
                <a:lnTo>
                  <a:pt x="741889" y="13613"/>
                </a:lnTo>
                <a:lnTo>
                  <a:pt x="809186" y="10859"/>
                </a:lnTo>
                <a:lnTo>
                  <a:pt x="878487" y="8393"/>
                </a:lnTo>
                <a:lnTo>
                  <a:pt x="949672" y="6224"/>
                </a:lnTo>
                <a:lnTo>
                  <a:pt x="1022623" y="4362"/>
                </a:lnTo>
                <a:lnTo>
                  <a:pt x="1097221" y="2817"/>
                </a:lnTo>
                <a:lnTo>
                  <a:pt x="1173346" y="1599"/>
                </a:lnTo>
                <a:lnTo>
                  <a:pt x="1250880" y="717"/>
                </a:lnTo>
                <a:lnTo>
                  <a:pt x="1329704" y="180"/>
                </a:lnTo>
                <a:lnTo>
                  <a:pt x="1409699" y="0"/>
                </a:lnTo>
                <a:lnTo>
                  <a:pt x="1489694" y="180"/>
                </a:lnTo>
                <a:lnTo>
                  <a:pt x="1568518" y="717"/>
                </a:lnTo>
                <a:lnTo>
                  <a:pt x="1646052" y="1599"/>
                </a:lnTo>
                <a:lnTo>
                  <a:pt x="1722178" y="2817"/>
                </a:lnTo>
                <a:lnTo>
                  <a:pt x="1796776" y="4362"/>
                </a:lnTo>
                <a:lnTo>
                  <a:pt x="1869727" y="6224"/>
                </a:lnTo>
                <a:lnTo>
                  <a:pt x="1940912" y="8393"/>
                </a:lnTo>
                <a:lnTo>
                  <a:pt x="2010213" y="10859"/>
                </a:lnTo>
                <a:lnTo>
                  <a:pt x="2077510" y="13613"/>
                </a:lnTo>
                <a:lnTo>
                  <a:pt x="2142684" y="16646"/>
                </a:lnTo>
                <a:lnTo>
                  <a:pt x="2205616" y="19947"/>
                </a:lnTo>
                <a:lnTo>
                  <a:pt x="2266188" y="23507"/>
                </a:lnTo>
                <a:lnTo>
                  <a:pt x="2324280" y="27317"/>
                </a:lnTo>
                <a:lnTo>
                  <a:pt x="2379773" y="31366"/>
                </a:lnTo>
                <a:lnTo>
                  <a:pt x="2432548" y="35645"/>
                </a:lnTo>
                <a:lnTo>
                  <a:pt x="2482487" y="40144"/>
                </a:lnTo>
                <a:lnTo>
                  <a:pt x="2529470" y="44854"/>
                </a:lnTo>
                <a:lnTo>
                  <a:pt x="2573378" y="49766"/>
                </a:lnTo>
                <a:lnTo>
                  <a:pt x="2614092" y="54868"/>
                </a:lnTo>
                <a:lnTo>
                  <a:pt x="2685463" y="65609"/>
                </a:lnTo>
                <a:lnTo>
                  <a:pt x="2742632" y="77000"/>
                </a:lnTo>
                <a:lnTo>
                  <a:pt x="2784645" y="88963"/>
                </a:lnTo>
                <a:lnTo>
                  <a:pt x="2819398" y="114299"/>
                </a:lnTo>
                <a:lnTo>
                  <a:pt x="2819398" y="800099"/>
                </a:lnTo>
                <a:lnTo>
                  <a:pt x="2784645" y="825435"/>
                </a:lnTo>
                <a:lnTo>
                  <a:pt x="2742632" y="837398"/>
                </a:lnTo>
                <a:lnTo>
                  <a:pt x="2685463" y="848789"/>
                </a:lnTo>
                <a:lnTo>
                  <a:pt x="2614092" y="859530"/>
                </a:lnTo>
                <a:lnTo>
                  <a:pt x="2573378" y="864633"/>
                </a:lnTo>
                <a:lnTo>
                  <a:pt x="2529470" y="869544"/>
                </a:lnTo>
                <a:lnTo>
                  <a:pt x="2482487" y="874254"/>
                </a:lnTo>
                <a:lnTo>
                  <a:pt x="2432548" y="878753"/>
                </a:lnTo>
                <a:lnTo>
                  <a:pt x="2379773" y="883032"/>
                </a:lnTo>
                <a:lnTo>
                  <a:pt x="2324280" y="887082"/>
                </a:lnTo>
                <a:lnTo>
                  <a:pt x="2266188" y="890891"/>
                </a:lnTo>
                <a:lnTo>
                  <a:pt x="2205616" y="894451"/>
                </a:lnTo>
                <a:lnTo>
                  <a:pt x="2142684" y="897752"/>
                </a:lnTo>
                <a:lnTo>
                  <a:pt x="2077510" y="900785"/>
                </a:lnTo>
                <a:lnTo>
                  <a:pt x="2010213" y="903539"/>
                </a:lnTo>
                <a:lnTo>
                  <a:pt x="1940912" y="906006"/>
                </a:lnTo>
                <a:lnTo>
                  <a:pt x="1869727" y="908174"/>
                </a:lnTo>
                <a:lnTo>
                  <a:pt x="1796776" y="910036"/>
                </a:lnTo>
                <a:lnTo>
                  <a:pt x="1722178" y="911581"/>
                </a:lnTo>
                <a:lnTo>
                  <a:pt x="1646052" y="912799"/>
                </a:lnTo>
                <a:lnTo>
                  <a:pt x="1568518" y="913681"/>
                </a:lnTo>
                <a:lnTo>
                  <a:pt x="1489694" y="914218"/>
                </a:lnTo>
                <a:lnTo>
                  <a:pt x="1409699" y="914399"/>
                </a:lnTo>
                <a:lnTo>
                  <a:pt x="1329704" y="914218"/>
                </a:lnTo>
                <a:lnTo>
                  <a:pt x="1250880" y="913681"/>
                </a:lnTo>
                <a:lnTo>
                  <a:pt x="1173346" y="912799"/>
                </a:lnTo>
                <a:lnTo>
                  <a:pt x="1097221" y="911581"/>
                </a:lnTo>
                <a:lnTo>
                  <a:pt x="1022623" y="910036"/>
                </a:lnTo>
                <a:lnTo>
                  <a:pt x="949672" y="908174"/>
                </a:lnTo>
                <a:lnTo>
                  <a:pt x="878487" y="906006"/>
                </a:lnTo>
                <a:lnTo>
                  <a:pt x="809186" y="903539"/>
                </a:lnTo>
                <a:lnTo>
                  <a:pt x="741889" y="900785"/>
                </a:lnTo>
                <a:lnTo>
                  <a:pt x="676715" y="897752"/>
                </a:lnTo>
                <a:lnTo>
                  <a:pt x="613783" y="894451"/>
                </a:lnTo>
                <a:lnTo>
                  <a:pt x="553211" y="890891"/>
                </a:lnTo>
                <a:lnTo>
                  <a:pt x="495119" y="887082"/>
                </a:lnTo>
                <a:lnTo>
                  <a:pt x="439626" y="883032"/>
                </a:lnTo>
                <a:lnTo>
                  <a:pt x="386850" y="878753"/>
                </a:lnTo>
                <a:lnTo>
                  <a:pt x="336912" y="874254"/>
                </a:lnTo>
                <a:lnTo>
                  <a:pt x="289929" y="869544"/>
                </a:lnTo>
                <a:lnTo>
                  <a:pt x="246020" y="864633"/>
                </a:lnTo>
                <a:lnTo>
                  <a:pt x="205306" y="859530"/>
                </a:lnTo>
                <a:lnTo>
                  <a:pt x="133934" y="848789"/>
                </a:lnTo>
                <a:lnTo>
                  <a:pt x="76766" y="837398"/>
                </a:lnTo>
                <a:lnTo>
                  <a:pt x="34753" y="825435"/>
                </a:lnTo>
                <a:lnTo>
                  <a:pt x="0" y="800099"/>
                </a:lnTo>
                <a:lnTo>
                  <a:pt x="0" y="114299"/>
                </a:lnTo>
                <a:lnTo>
                  <a:pt x="2819398" y="114299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61203" y="5149850"/>
            <a:ext cx="0" cy="736600"/>
          </a:xfrm>
          <a:custGeom>
            <a:avLst/>
            <a:gdLst/>
            <a:ahLst/>
            <a:cxnLst/>
            <a:rect l="l" t="t" r="r" b="b"/>
            <a:pathLst>
              <a:path h="736600">
                <a:moveTo>
                  <a:pt x="0" y="0"/>
                </a:moveTo>
                <a:lnTo>
                  <a:pt x="0" y="7365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23103" y="58356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85150" y="5149850"/>
            <a:ext cx="2125980" cy="753745"/>
          </a:xfrm>
          <a:custGeom>
            <a:avLst/>
            <a:gdLst/>
            <a:ahLst/>
            <a:cxnLst/>
            <a:rect l="l" t="t" r="r" b="b"/>
            <a:pathLst>
              <a:path w="2125979" h="753745">
                <a:moveTo>
                  <a:pt x="2125528" y="0"/>
                </a:moveTo>
                <a:lnTo>
                  <a:pt x="0" y="753512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61203" y="5850484"/>
            <a:ext cx="85090" cy="72390"/>
          </a:xfrm>
          <a:custGeom>
            <a:avLst/>
            <a:gdLst/>
            <a:ahLst/>
            <a:cxnLst/>
            <a:rect l="l" t="t" r="r" b="b"/>
            <a:pathLst>
              <a:path w="85090" h="72389">
                <a:moveTo>
                  <a:pt x="59080" y="0"/>
                </a:moveTo>
                <a:lnTo>
                  <a:pt x="0" y="61366"/>
                </a:lnTo>
                <a:lnTo>
                  <a:pt x="84543" y="71818"/>
                </a:lnTo>
                <a:lnTo>
                  <a:pt x="5908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911729" y="5149850"/>
            <a:ext cx="2125980" cy="753745"/>
          </a:xfrm>
          <a:custGeom>
            <a:avLst/>
            <a:gdLst/>
            <a:ahLst/>
            <a:cxnLst/>
            <a:rect l="l" t="t" r="r" b="b"/>
            <a:pathLst>
              <a:path w="2125979" h="753745">
                <a:moveTo>
                  <a:pt x="0" y="0"/>
                </a:moveTo>
                <a:lnTo>
                  <a:pt x="2125528" y="753512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76647" y="5850484"/>
            <a:ext cx="85090" cy="72390"/>
          </a:xfrm>
          <a:custGeom>
            <a:avLst/>
            <a:gdLst/>
            <a:ahLst/>
            <a:cxnLst/>
            <a:rect l="l" t="t" r="r" b="b"/>
            <a:pathLst>
              <a:path w="85090" h="72389">
                <a:moveTo>
                  <a:pt x="25463" y="0"/>
                </a:moveTo>
                <a:lnTo>
                  <a:pt x="0" y="71818"/>
                </a:lnTo>
                <a:lnTo>
                  <a:pt x="84556" y="61366"/>
                </a:lnTo>
                <a:lnTo>
                  <a:pt x="25463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386840" y="3653790"/>
            <a:ext cx="2879725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2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logische  </a:t>
            </a:r>
            <a:r>
              <a:rPr sz="2400" spc="-10" dirty="0">
                <a:latin typeface="Tahoma"/>
                <a:cs typeface="Tahoma"/>
              </a:rPr>
              <a:t>Datenunabhängigkeit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86840" y="5101590"/>
            <a:ext cx="2879725" cy="919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22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physische  </a:t>
            </a:r>
            <a:r>
              <a:rPr sz="2400" spc="-10" dirty="0">
                <a:latin typeface="Tahoma"/>
                <a:cs typeface="Tahoma"/>
              </a:rPr>
              <a:t>Datenunabhängigkeit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35717D67-0165-FC84-BE27-5EF9BD4AB9CB}"/>
              </a:ext>
            </a:extLst>
          </p:cNvPr>
          <p:cNvSpPr txBox="1">
            <a:spLocks/>
          </p:cNvSpPr>
          <p:nvPr/>
        </p:nvSpPr>
        <p:spPr>
          <a:xfrm>
            <a:off x="1209042" y="575898"/>
            <a:ext cx="6347457" cy="756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70100" algn="l"/>
              </a:tabLst>
            </a:pPr>
            <a:r>
              <a:rPr lang="en-GB" dirty="0" err="1"/>
              <a:t>Sich</a:t>
            </a:r>
            <a:r>
              <a:rPr lang="en-GB" spc="-5" dirty="0" err="1"/>
              <a:t>t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spc="-5" dirty="0"/>
              <a:t> </a:t>
            </a:r>
            <a:r>
              <a:rPr lang="en-GB" dirty="0" err="1"/>
              <a:t>Ge</a:t>
            </a:r>
            <a:r>
              <a:rPr lang="en-GB" spc="-5" dirty="0" err="1"/>
              <a:t>w</a:t>
            </a:r>
            <a:r>
              <a:rPr lang="en-GB" dirty="0" err="1"/>
              <a:t>äh</a:t>
            </a:r>
            <a:r>
              <a:rPr lang="en-GB" spc="-5" dirty="0" err="1"/>
              <a:t>r</a:t>
            </a:r>
            <a:r>
              <a:rPr lang="en-GB" dirty="0" err="1"/>
              <a:t>lei</a:t>
            </a:r>
            <a:r>
              <a:rPr lang="en-GB" spc="-5" dirty="0" err="1"/>
              <a:t>st</a:t>
            </a:r>
            <a:r>
              <a:rPr lang="en-GB" dirty="0" err="1"/>
              <a:t>ung</a:t>
            </a:r>
            <a:r>
              <a:rPr lang="en-GB" dirty="0"/>
              <a:t> </a:t>
            </a:r>
            <a:r>
              <a:rPr lang="en-GB" spc="-5" dirty="0"/>
              <a:t>der </a:t>
            </a:r>
            <a:r>
              <a:rPr lang="en-GB" spc="-5" dirty="0" err="1"/>
              <a:t>Unabhängigkeit</a:t>
            </a:r>
            <a:r>
              <a:rPr lang="en-GB" spc="-5" dirty="0"/>
              <a:t> von </a:t>
            </a:r>
            <a:r>
              <a:rPr lang="en-GB" spc="-5" dirty="0" err="1"/>
              <a:t>Datenformaten</a:t>
            </a:r>
            <a:r>
              <a:rPr lang="en-GB" spc="-5" dirty="0"/>
              <a:t> etc.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608560"/>
            <a:ext cx="6376035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7700" algn="l"/>
              </a:tabLst>
            </a:pPr>
            <a:r>
              <a:rPr spc="-5" dirty="0" err="1"/>
              <a:t>Änderbarkeit</a:t>
            </a:r>
            <a:r>
              <a:rPr spc="20" dirty="0"/>
              <a:t> </a:t>
            </a:r>
            <a:r>
              <a:rPr spc="-5" dirty="0"/>
              <a:t>von</a:t>
            </a:r>
            <a:r>
              <a:rPr lang="de-DE" spc="-5" dirty="0"/>
              <a:t> </a:t>
            </a:r>
            <a:r>
              <a:rPr spc="-5" dirty="0" err="1"/>
              <a:t>Sichten</a:t>
            </a:r>
            <a:r>
              <a:rPr lang="de-DE" spc="-5" dirty="0"/>
              <a:t> (durch Sichten)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1463040" y="1416050"/>
            <a:ext cx="8385809" cy="5734903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2400" spc="-5" dirty="0">
                <a:solidFill>
                  <a:srgbClr val="FF0000"/>
                </a:solidFill>
                <a:latin typeface="Tahoma"/>
                <a:cs typeface="Tahoma"/>
              </a:rPr>
              <a:t>Beispiele für nicht </a:t>
            </a:r>
            <a:r>
              <a:rPr sz="2400" spc="-5" dirty="0" err="1">
                <a:solidFill>
                  <a:srgbClr val="FF0000"/>
                </a:solidFill>
                <a:latin typeface="Tahoma"/>
                <a:cs typeface="Tahoma"/>
              </a:rPr>
              <a:t>änderbare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5" dirty="0" err="1">
                <a:solidFill>
                  <a:srgbClr val="FF0000"/>
                </a:solidFill>
                <a:latin typeface="Tahoma"/>
                <a:cs typeface="Tahoma"/>
              </a:rPr>
              <a:t>Sichten</a:t>
            </a:r>
            <a:endParaRPr lang="de-DE" sz="2400" spc="-5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endParaRPr sz="2400" dirty="0">
              <a:latin typeface="Tahoma"/>
              <a:cs typeface="Tahoma"/>
            </a:endParaRPr>
          </a:p>
          <a:p>
            <a:pPr marL="584200" marR="5080" indent="-571500">
              <a:lnSpc>
                <a:spcPts val="3800"/>
              </a:lnSpc>
              <a:spcBef>
                <a:spcPts val="145"/>
              </a:spcBef>
            </a:pPr>
            <a:r>
              <a:rPr sz="2400" b="1" spc="-5" dirty="0">
                <a:latin typeface="Tahoma"/>
                <a:cs typeface="Tahoma"/>
              </a:rPr>
              <a:t>create </a:t>
            </a:r>
            <a:r>
              <a:rPr sz="2400" b="1" dirty="0">
                <a:latin typeface="Tahoma"/>
                <a:cs typeface="Tahoma"/>
              </a:rPr>
              <a:t>view </a:t>
            </a:r>
            <a:r>
              <a:rPr sz="2400" spc="-5" dirty="0">
                <a:latin typeface="Tahoma"/>
                <a:cs typeface="Tahoma"/>
              </a:rPr>
              <a:t>WieHartAlsPrüfer </a:t>
            </a:r>
            <a:r>
              <a:rPr sz="2400" spc="-50" dirty="0">
                <a:latin typeface="Tahoma"/>
                <a:cs typeface="Tahoma"/>
              </a:rPr>
              <a:t>(PersNr, </a:t>
            </a:r>
            <a:r>
              <a:rPr sz="2400" spc="-5" dirty="0">
                <a:latin typeface="Tahoma"/>
                <a:cs typeface="Tahoma"/>
              </a:rPr>
              <a:t>Durchschnittsnote) </a:t>
            </a:r>
            <a:r>
              <a:rPr sz="2400" b="1" spc="-5" dirty="0">
                <a:latin typeface="Tahoma"/>
                <a:cs typeface="Tahoma"/>
              </a:rPr>
              <a:t>as  select </a:t>
            </a:r>
            <a:r>
              <a:rPr sz="2400" spc="-60" dirty="0">
                <a:latin typeface="Tahoma"/>
                <a:cs typeface="Tahoma"/>
              </a:rPr>
              <a:t>PersNr,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avg</a:t>
            </a:r>
            <a:r>
              <a:rPr sz="2400" spc="-5" dirty="0">
                <a:latin typeface="Tahoma"/>
                <a:cs typeface="Tahoma"/>
              </a:rPr>
              <a:t>(Note)</a:t>
            </a:r>
            <a:endParaRPr sz="2400" dirty="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540"/>
              </a:spcBef>
            </a:pPr>
            <a:r>
              <a:rPr sz="2400" b="1" spc="-5" dirty="0">
                <a:latin typeface="Tahoma"/>
                <a:cs typeface="Tahoma"/>
              </a:rPr>
              <a:t>from</a:t>
            </a:r>
            <a:r>
              <a:rPr sz="2400" b="1" spc="4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prüfen</a:t>
            </a:r>
            <a:endParaRPr sz="2400" dirty="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919"/>
              </a:spcBef>
            </a:pPr>
            <a:r>
              <a:rPr sz="2400" b="1" spc="-5" dirty="0">
                <a:latin typeface="Tahoma"/>
                <a:cs typeface="Tahoma"/>
              </a:rPr>
              <a:t>group by</a:t>
            </a:r>
            <a:r>
              <a:rPr sz="2400" b="1" spc="4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PersNr;</a:t>
            </a:r>
            <a:endParaRPr sz="2400" dirty="0">
              <a:latin typeface="Tahoma"/>
              <a:cs typeface="Tahoma"/>
            </a:endParaRPr>
          </a:p>
          <a:p>
            <a:pPr marL="584200" marR="3761104" indent="-571500">
              <a:lnSpc>
                <a:spcPts val="3800"/>
              </a:lnSpc>
              <a:spcBef>
                <a:spcPts val="180"/>
              </a:spcBef>
            </a:pPr>
            <a:r>
              <a:rPr sz="2400" b="1" spc="-5" dirty="0">
                <a:latin typeface="Tahoma"/>
                <a:cs typeface="Tahoma"/>
              </a:rPr>
              <a:t>create </a:t>
            </a:r>
            <a:r>
              <a:rPr sz="2400" b="1" dirty="0">
                <a:latin typeface="Tahoma"/>
                <a:cs typeface="Tahoma"/>
              </a:rPr>
              <a:t>view </a:t>
            </a:r>
            <a:r>
              <a:rPr sz="2400" spc="-10" dirty="0">
                <a:latin typeface="Tahoma"/>
                <a:cs typeface="Tahoma"/>
              </a:rPr>
              <a:t>VorlesungenSicht </a:t>
            </a:r>
            <a:r>
              <a:rPr sz="2400" b="1" spc="-5" dirty="0">
                <a:latin typeface="Tahoma"/>
                <a:cs typeface="Tahoma"/>
              </a:rPr>
              <a:t>as  select </a:t>
            </a:r>
            <a:r>
              <a:rPr sz="2400" spc="-5" dirty="0">
                <a:latin typeface="Tahoma"/>
                <a:cs typeface="Tahoma"/>
              </a:rPr>
              <a:t>Titel, </a:t>
            </a:r>
            <a:r>
              <a:rPr sz="2400" spc="-10" dirty="0">
                <a:latin typeface="Tahoma"/>
                <a:cs typeface="Tahoma"/>
              </a:rPr>
              <a:t>SWS,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Name</a:t>
            </a:r>
            <a:endParaRPr sz="2400" dirty="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540"/>
              </a:spcBef>
            </a:pPr>
            <a:r>
              <a:rPr sz="2400" b="1" spc="-5" dirty="0">
                <a:latin typeface="Tahoma"/>
                <a:cs typeface="Tahoma"/>
              </a:rPr>
              <a:t>from </a:t>
            </a:r>
            <a:r>
              <a:rPr sz="2400" spc="-15" dirty="0">
                <a:latin typeface="Tahoma"/>
                <a:cs typeface="Tahoma"/>
              </a:rPr>
              <a:t>Vorlesungen,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Professoren</a:t>
            </a:r>
            <a:endParaRPr sz="2400" dirty="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819"/>
              </a:spcBef>
            </a:pPr>
            <a:r>
              <a:rPr sz="2400" b="1" spc="-5" dirty="0">
                <a:latin typeface="Tahoma"/>
                <a:cs typeface="Tahoma"/>
              </a:rPr>
              <a:t>where </a:t>
            </a:r>
            <a:r>
              <a:rPr sz="2400" spc="-5" dirty="0">
                <a:latin typeface="Tahoma"/>
                <a:cs typeface="Tahoma"/>
              </a:rPr>
              <a:t>gelesen </a:t>
            </a:r>
            <a:r>
              <a:rPr sz="2400" spc="-20" dirty="0">
                <a:latin typeface="Tahoma"/>
                <a:cs typeface="Tahoma"/>
              </a:rPr>
              <a:t>Von=PersNr;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400" b="1" dirty="0">
                <a:latin typeface="Tahoma"/>
                <a:cs typeface="Tahoma"/>
              </a:rPr>
              <a:t>insert into</a:t>
            </a:r>
            <a:r>
              <a:rPr sz="2400" b="1" spc="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VorlesungenSicht</a:t>
            </a:r>
            <a:endParaRPr sz="2400" dirty="0">
              <a:latin typeface="Tahoma"/>
              <a:cs typeface="Tahoma"/>
            </a:endParaRPr>
          </a:p>
          <a:p>
            <a:pPr marL="584200">
              <a:lnSpc>
                <a:spcPct val="100000"/>
              </a:lnSpc>
              <a:spcBef>
                <a:spcPts val="819"/>
              </a:spcBef>
            </a:pPr>
            <a:r>
              <a:rPr sz="2400" b="1" spc="-5" dirty="0">
                <a:latin typeface="Tahoma"/>
                <a:cs typeface="Tahoma"/>
              </a:rPr>
              <a:t>values </a:t>
            </a:r>
            <a:r>
              <a:rPr sz="2400" spc="-5" dirty="0">
                <a:latin typeface="Tahoma"/>
                <a:cs typeface="Tahoma"/>
              </a:rPr>
              <a:t>(`Nihilismus‘, 2,</a:t>
            </a:r>
            <a:r>
              <a:rPr sz="2400" spc="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`Nobody‘);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7100" y="705066"/>
            <a:ext cx="6553200" cy="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7700" algn="l"/>
              </a:tabLst>
            </a:pPr>
            <a:r>
              <a:rPr spc="-5" dirty="0" err="1"/>
              <a:t>Änderbarkeit</a:t>
            </a:r>
            <a:r>
              <a:rPr spc="20" dirty="0"/>
              <a:t> </a:t>
            </a:r>
            <a:r>
              <a:rPr spc="-5" dirty="0"/>
              <a:t>von</a:t>
            </a:r>
            <a:r>
              <a:rPr lang="de-DE" spc="-5" dirty="0"/>
              <a:t> </a:t>
            </a:r>
            <a:r>
              <a:rPr spc="-5" dirty="0" err="1"/>
              <a:t>Sichten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1460500" y="1492250"/>
            <a:ext cx="8988569" cy="1913344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95"/>
              </a:spcBef>
              <a:buNone/>
            </a:pPr>
            <a:endParaRPr lang="en-GB" dirty="0">
              <a:solidFill>
                <a:srgbClr val="FFCC00"/>
              </a:solidFill>
              <a:latin typeface="Webdings"/>
              <a:cs typeface="Webdings"/>
            </a:endParaRPr>
          </a:p>
          <a:p>
            <a:pPr marL="489538" indent="-342900">
              <a:spcBef>
                <a:spcPts val="195"/>
              </a:spcBef>
              <a:buSzPct val="170000"/>
              <a:buFont typeface="Arial" panose="020B0604020202020204" pitchFamily="34" charset="0"/>
              <a:buChar char="•"/>
            </a:pPr>
            <a:r>
              <a:rPr lang="de-DE" sz="2400" spc="-5" dirty="0"/>
              <a:t>In SQL ...</a:t>
            </a:r>
          </a:p>
          <a:p>
            <a:pPr marL="489538" indent="-342900">
              <a:spcBef>
                <a:spcPts val="195"/>
              </a:spcBef>
              <a:buSzPct val="170000"/>
              <a:buFont typeface="Arial" panose="020B0604020202020204" pitchFamily="34" charset="0"/>
              <a:buChar char="•"/>
            </a:pPr>
            <a:r>
              <a:rPr lang="de-DE" sz="2400" spc="-5" dirty="0"/>
              <a:t>N</a:t>
            </a:r>
            <a:r>
              <a:rPr sz="2400" spc="-5" dirty="0" err="1"/>
              <a:t>ur</a:t>
            </a:r>
            <a:r>
              <a:rPr sz="2400" spc="-5" dirty="0"/>
              <a:t> </a:t>
            </a:r>
            <a:r>
              <a:rPr sz="2400" dirty="0"/>
              <a:t>eine Basisrelation</a:t>
            </a:r>
          </a:p>
          <a:p>
            <a:pPr marL="489538" indent="-342900">
              <a:lnSpc>
                <a:spcPct val="100000"/>
              </a:lnSpc>
              <a:spcBef>
                <a:spcPts val="320"/>
              </a:spcBef>
              <a:buSzPct val="170000"/>
              <a:buFont typeface="Arial" panose="020B0604020202020204" pitchFamily="34" charset="0"/>
              <a:buChar char="•"/>
            </a:pPr>
            <a:r>
              <a:rPr sz="2400" spc="-5" dirty="0" err="1"/>
              <a:t>Schlüssel</a:t>
            </a:r>
            <a:r>
              <a:rPr sz="2400" spc="-5" dirty="0"/>
              <a:t> muss vorhanden</a:t>
            </a:r>
            <a:r>
              <a:rPr sz="2400" spc="5" dirty="0"/>
              <a:t> </a:t>
            </a:r>
            <a:r>
              <a:rPr sz="2400" dirty="0"/>
              <a:t>sein</a:t>
            </a:r>
            <a:endParaRPr lang="en-GB" sz="2400" dirty="0"/>
          </a:p>
          <a:p>
            <a:pPr marL="489538" indent="-342900">
              <a:lnSpc>
                <a:spcPct val="100000"/>
              </a:lnSpc>
              <a:spcBef>
                <a:spcPts val="320"/>
              </a:spcBef>
              <a:buSzPct val="170000"/>
              <a:buFont typeface="Arial" panose="020B0604020202020204" pitchFamily="34" charset="0"/>
              <a:buChar char="•"/>
            </a:pPr>
            <a:r>
              <a:rPr sz="2400" spc="-5" dirty="0" err="1"/>
              <a:t>keine</a:t>
            </a:r>
            <a:r>
              <a:rPr sz="2400" spc="-5" dirty="0"/>
              <a:t> Aggregatfunktionen, Gruppierung oder  Duplikateliminierung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14726" y="4047807"/>
            <a:ext cx="5184774" cy="246221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sz="2400" spc="-5" dirty="0">
                <a:latin typeface="Times New Roman"/>
                <a:cs typeface="Times New Roman"/>
              </a:rPr>
              <a:t>alle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Sichten</a:t>
            </a:r>
            <a:endParaRPr lang="en-GB" sz="2400" spc="-5" dirty="0">
              <a:latin typeface="Times New Roman"/>
              <a:cs typeface="Times New Roman"/>
            </a:endParaRP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</a:t>
            </a: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</a:t>
            </a: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</a:t>
            </a: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3873" y="4656663"/>
            <a:ext cx="4013332" cy="17081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98120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560"/>
              </a:spcBef>
            </a:pPr>
            <a:r>
              <a:rPr sz="2400" spc="-5" dirty="0">
                <a:latin typeface="Times New Roman"/>
                <a:cs typeface="Times New Roman"/>
              </a:rPr>
              <a:t>theoretisch änderbare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Sichten</a:t>
            </a:r>
            <a:endParaRPr lang="en-GB" sz="2400" spc="-5" dirty="0">
              <a:latin typeface="Times New Roman"/>
              <a:cs typeface="Times New Roman"/>
            </a:endParaRPr>
          </a:p>
          <a:p>
            <a:pPr marL="178435">
              <a:lnSpc>
                <a:spcPct val="100000"/>
              </a:lnSpc>
              <a:spcBef>
                <a:spcPts val="15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</a:t>
            </a:r>
          </a:p>
          <a:p>
            <a:pPr marL="178435">
              <a:lnSpc>
                <a:spcPct val="100000"/>
              </a:lnSpc>
              <a:spcBef>
                <a:spcPts val="15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6100" y="5401786"/>
            <a:ext cx="3505200" cy="73866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00" dirty="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in </a:t>
            </a:r>
            <a:r>
              <a:rPr sz="2400" dirty="0">
                <a:latin typeface="Times New Roman"/>
                <a:cs typeface="Times New Roman"/>
              </a:rPr>
              <a:t>SQL </a:t>
            </a:r>
            <a:r>
              <a:rPr sz="2400" spc="-5" dirty="0">
                <a:latin typeface="Times New Roman"/>
                <a:cs typeface="Times New Roman"/>
              </a:rPr>
              <a:t>änderbare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Sichten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9" name="object 5"/>
          <p:cNvSpPr txBox="1"/>
          <p:nvPr/>
        </p:nvSpPr>
        <p:spPr>
          <a:xfrm>
            <a:off x="3213100" y="3719195"/>
            <a:ext cx="5638800" cy="295465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      </a:t>
            </a: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 </a:t>
            </a: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 </a:t>
            </a: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 </a:t>
            </a: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 </a:t>
            </a:r>
          </a:p>
          <a:p>
            <a:pPr marL="789305">
              <a:lnSpc>
                <a:spcPct val="100000"/>
              </a:lnSpc>
              <a:spcBef>
                <a:spcPts val="960"/>
              </a:spcBef>
            </a:pPr>
            <a:r>
              <a:rPr lang="en-GB" sz="2400" spc="-5" dirty="0">
                <a:latin typeface="Times New Roman"/>
                <a:cs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99160" y="1547762"/>
            <a:ext cx="261874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chemeClr val="accent1"/>
              </a:buClr>
              <a:buSzPct val="170000"/>
              <a:buFont typeface="Arial" panose="020B0604020202020204" pitchFamily="34" charset="0"/>
              <a:buChar char="•"/>
              <a:tabLst>
                <a:tab pos="247015" algn="l"/>
              </a:tabLst>
            </a:pPr>
            <a:r>
              <a:rPr sz="2400" spc="-5" dirty="0">
                <a:latin typeface="Tahoma"/>
                <a:cs typeface="Tahoma"/>
              </a:rPr>
              <a:t>mehrere </a:t>
            </a:r>
            <a:r>
              <a:rPr sz="2400" spc="-50" dirty="0">
                <a:latin typeface="Tahoma"/>
                <a:cs typeface="Tahoma"/>
              </a:rPr>
              <a:t>Tupel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im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8764" y="1923506"/>
            <a:ext cx="1177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E</a:t>
            </a:r>
            <a:r>
              <a:rPr sz="2400" spc="-15" dirty="0">
                <a:latin typeface="Tahoma"/>
                <a:cs typeface="Tahoma"/>
              </a:rPr>
              <a:t>r</a:t>
            </a:r>
            <a:r>
              <a:rPr sz="2400" spc="-10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e</a:t>
            </a:r>
            <a:r>
              <a:rPr sz="2400" spc="-10" dirty="0">
                <a:latin typeface="Tahoma"/>
                <a:cs typeface="Tahoma"/>
              </a:rPr>
              <a:t>b</a:t>
            </a:r>
            <a:r>
              <a:rPr sz="2400" spc="-5" dirty="0">
                <a:latin typeface="Tahoma"/>
                <a:cs typeface="Tahoma"/>
              </a:rPr>
              <a:t>ni</a:t>
            </a:r>
            <a:r>
              <a:rPr sz="2400" dirty="0"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8503" y="1595211"/>
            <a:ext cx="3276600" cy="8763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126365" rIns="0" bIns="0" rtlCol="0">
            <a:spAutoFit/>
          </a:bodyPr>
          <a:lstStyle/>
          <a:p>
            <a:pPr marL="370840" marR="358775" indent="381000">
              <a:lnSpc>
                <a:spcPts val="2500"/>
              </a:lnSpc>
              <a:spcBef>
                <a:spcPts val="995"/>
              </a:spcBef>
            </a:pPr>
            <a:r>
              <a:rPr sz="2400" spc="-5" dirty="0">
                <a:latin typeface="Times New Roman"/>
                <a:cs typeface="Times New Roman"/>
              </a:rPr>
              <a:t>Satzorientierte  </a:t>
            </a:r>
            <a:r>
              <a:rPr sz="2400" dirty="0">
                <a:latin typeface="Times New Roman"/>
                <a:cs typeface="Times New Roman"/>
              </a:rPr>
              <a:t>Progr</a:t>
            </a:r>
            <a:r>
              <a:rPr sz="2400" spc="-5" dirty="0">
                <a:latin typeface="Times New Roman"/>
                <a:cs typeface="Times New Roman"/>
              </a:rPr>
              <a:t>ammie</a:t>
            </a:r>
            <a:r>
              <a:rPr sz="2400" dirty="0">
                <a:latin typeface="Times New Roman"/>
                <a:cs typeface="Times New Roman"/>
              </a:rPr>
              <a:t>rspr</a:t>
            </a:r>
            <a:r>
              <a:rPr sz="2400" spc="-5" dirty="0">
                <a:latin typeface="Times New Roman"/>
                <a:cs typeface="Times New Roman"/>
              </a:rPr>
              <a:t>ac</a:t>
            </a:r>
            <a:r>
              <a:rPr sz="2400" dirty="0">
                <a:latin typeface="Times New Roman"/>
                <a:cs typeface="Times New Roman"/>
              </a:rPr>
              <a:t>he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94303" y="2636611"/>
            <a:ext cx="1981200" cy="2540000"/>
          </a:xfrm>
          <a:custGeom>
            <a:avLst/>
            <a:gdLst/>
            <a:ahLst/>
            <a:cxnLst/>
            <a:rect l="l" t="t" r="r" b="b"/>
            <a:pathLst>
              <a:path w="1981200" h="2540000">
                <a:moveTo>
                  <a:pt x="0" y="0"/>
                </a:moveTo>
                <a:lnTo>
                  <a:pt x="1981198" y="0"/>
                </a:lnTo>
                <a:lnTo>
                  <a:pt x="1981198" y="2539998"/>
                </a:lnTo>
                <a:lnTo>
                  <a:pt x="0" y="2539998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94303" y="2935061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198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94303" y="3233512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198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94303" y="3531961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198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94303" y="4876574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198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94303" y="4579711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198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194303" y="4279674"/>
            <a:ext cx="1981200" cy="0"/>
          </a:xfrm>
          <a:custGeom>
            <a:avLst/>
            <a:gdLst/>
            <a:ahLst/>
            <a:cxnLst/>
            <a:rect l="l" t="t" r="r" b="b"/>
            <a:pathLst>
              <a:path w="1981200">
                <a:moveTo>
                  <a:pt x="0" y="0"/>
                </a:moveTo>
                <a:lnTo>
                  <a:pt x="1981198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79903" y="6177529"/>
            <a:ext cx="2667000" cy="716915"/>
          </a:xfrm>
          <a:custGeom>
            <a:avLst/>
            <a:gdLst/>
            <a:ahLst/>
            <a:cxnLst/>
            <a:rect l="l" t="t" r="r" b="b"/>
            <a:pathLst>
              <a:path w="2667000" h="716915">
                <a:moveTo>
                  <a:pt x="0" y="0"/>
                </a:moveTo>
                <a:lnTo>
                  <a:pt x="0" y="477837"/>
                </a:lnTo>
                <a:lnTo>
                  <a:pt x="2110" y="491395"/>
                </a:lnTo>
                <a:lnTo>
                  <a:pt x="32874" y="530796"/>
                </a:lnTo>
                <a:lnTo>
                  <a:pt x="72616" y="555803"/>
                </a:lnTo>
                <a:lnTo>
                  <a:pt x="126695" y="579613"/>
                </a:lnTo>
                <a:lnTo>
                  <a:pt x="194208" y="602064"/>
                </a:lnTo>
                <a:lnTo>
                  <a:pt x="232722" y="612730"/>
                </a:lnTo>
                <a:lnTo>
                  <a:pt x="274257" y="622996"/>
                </a:lnTo>
                <a:lnTo>
                  <a:pt x="318700" y="632842"/>
                </a:lnTo>
                <a:lnTo>
                  <a:pt x="365939" y="642247"/>
                </a:lnTo>
                <a:lnTo>
                  <a:pt x="415862" y="651191"/>
                </a:lnTo>
                <a:lnTo>
                  <a:pt x="468355" y="659655"/>
                </a:lnTo>
                <a:lnTo>
                  <a:pt x="523307" y="667618"/>
                </a:lnTo>
                <a:lnTo>
                  <a:pt x="580605" y="675059"/>
                </a:lnTo>
                <a:lnTo>
                  <a:pt x="640136" y="681960"/>
                </a:lnTo>
                <a:lnTo>
                  <a:pt x="701787" y="688299"/>
                </a:lnTo>
                <a:lnTo>
                  <a:pt x="765446" y="694056"/>
                </a:lnTo>
                <a:lnTo>
                  <a:pt x="831001" y="699212"/>
                </a:lnTo>
                <a:lnTo>
                  <a:pt x="898338" y="703745"/>
                </a:lnTo>
                <a:lnTo>
                  <a:pt x="967346" y="707637"/>
                </a:lnTo>
                <a:lnTo>
                  <a:pt x="1037912" y="710866"/>
                </a:lnTo>
                <a:lnTo>
                  <a:pt x="1109922" y="713412"/>
                </a:lnTo>
                <a:lnTo>
                  <a:pt x="1183266" y="715256"/>
                </a:lnTo>
                <a:lnTo>
                  <a:pt x="1257829" y="716378"/>
                </a:lnTo>
                <a:lnTo>
                  <a:pt x="1333500" y="716756"/>
                </a:lnTo>
                <a:lnTo>
                  <a:pt x="1409170" y="716378"/>
                </a:lnTo>
                <a:lnTo>
                  <a:pt x="1483733" y="715256"/>
                </a:lnTo>
                <a:lnTo>
                  <a:pt x="1557077" y="713412"/>
                </a:lnTo>
                <a:lnTo>
                  <a:pt x="1629087" y="710866"/>
                </a:lnTo>
                <a:lnTo>
                  <a:pt x="1699653" y="707637"/>
                </a:lnTo>
                <a:lnTo>
                  <a:pt x="1768661" y="703745"/>
                </a:lnTo>
                <a:lnTo>
                  <a:pt x="1835998" y="699212"/>
                </a:lnTo>
                <a:lnTo>
                  <a:pt x="1901553" y="694056"/>
                </a:lnTo>
                <a:lnTo>
                  <a:pt x="1965212" y="688299"/>
                </a:lnTo>
                <a:lnTo>
                  <a:pt x="2026863" y="681960"/>
                </a:lnTo>
                <a:lnTo>
                  <a:pt x="2086394" y="675059"/>
                </a:lnTo>
                <a:lnTo>
                  <a:pt x="2143692" y="667618"/>
                </a:lnTo>
                <a:lnTo>
                  <a:pt x="2198644" y="659655"/>
                </a:lnTo>
                <a:lnTo>
                  <a:pt x="2251137" y="651191"/>
                </a:lnTo>
                <a:lnTo>
                  <a:pt x="2301060" y="642247"/>
                </a:lnTo>
                <a:lnTo>
                  <a:pt x="2348299" y="632842"/>
                </a:lnTo>
                <a:lnTo>
                  <a:pt x="2392742" y="622996"/>
                </a:lnTo>
                <a:lnTo>
                  <a:pt x="2434277" y="612730"/>
                </a:lnTo>
                <a:lnTo>
                  <a:pt x="2472791" y="602064"/>
                </a:lnTo>
                <a:lnTo>
                  <a:pt x="2540304" y="579613"/>
                </a:lnTo>
                <a:lnTo>
                  <a:pt x="2594383" y="555803"/>
                </a:lnTo>
                <a:lnTo>
                  <a:pt x="2634125" y="530796"/>
                </a:lnTo>
                <a:lnTo>
                  <a:pt x="2664889" y="491395"/>
                </a:lnTo>
                <a:lnTo>
                  <a:pt x="2667000" y="477837"/>
                </a:lnTo>
                <a:lnTo>
                  <a:pt x="2667000" y="238918"/>
                </a:lnTo>
                <a:lnTo>
                  <a:pt x="1333500" y="238918"/>
                </a:lnTo>
                <a:lnTo>
                  <a:pt x="1257829" y="238540"/>
                </a:lnTo>
                <a:lnTo>
                  <a:pt x="1183266" y="237419"/>
                </a:lnTo>
                <a:lnTo>
                  <a:pt x="1109922" y="235575"/>
                </a:lnTo>
                <a:lnTo>
                  <a:pt x="1037912" y="233028"/>
                </a:lnTo>
                <a:lnTo>
                  <a:pt x="967346" y="229799"/>
                </a:lnTo>
                <a:lnTo>
                  <a:pt x="898338" y="225908"/>
                </a:lnTo>
                <a:lnTo>
                  <a:pt x="831001" y="221374"/>
                </a:lnTo>
                <a:lnTo>
                  <a:pt x="765446" y="216219"/>
                </a:lnTo>
                <a:lnTo>
                  <a:pt x="701787" y="210462"/>
                </a:lnTo>
                <a:lnTo>
                  <a:pt x="640136" y="204123"/>
                </a:lnTo>
                <a:lnTo>
                  <a:pt x="580605" y="197222"/>
                </a:lnTo>
                <a:lnTo>
                  <a:pt x="523307" y="189781"/>
                </a:lnTo>
                <a:lnTo>
                  <a:pt x="468355" y="181818"/>
                </a:lnTo>
                <a:lnTo>
                  <a:pt x="415862" y="173354"/>
                </a:lnTo>
                <a:lnTo>
                  <a:pt x="365939" y="164410"/>
                </a:lnTo>
                <a:lnTo>
                  <a:pt x="318700" y="155005"/>
                </a:lnTo>
                <a:lnTo>
                  <a:pt x="274257" y="145159"/>
                </a:lnTo>
                <a:lnTo>
                  <a:pt x="232722" y="134893"/>
                </a:lnTo>
                <a:lnTo>
                  <a:pt x="194208" y="124227"/>
                </a:lnTo>
                <a:lnTo>
                  <a:pt x="126695" y="101776"/>
                </a:lnTo>
                <a:lnTo>
                  <a:pt x="72616" y="77966"/>
                </a:lnTo>
                <a:lnTo>
                  <a:pt x="32874" y="52959"/>
                </a:lnTo>
                <a:lnTo>
                  <a:pt x="2110" y="13557"/>
                </a:lnTo>
                <a:lnTo>
                  <a:pt x="0" y="0"/>
                </a:lnTo>
                <a:close/>
              </a:path>
              <a:path w="2667000" h="716915">
                <a:moveTo>
                  <a:pt x="2667000" y="0"/>
                </a:moveTo>
                <a:lnTo>
                  <a:pt x="2648339" y="40057"/>
                </a:lnTo>
                <a:lnTo>
                  <a:pt x="2616102" y="65602"/>
                </a:lnTo>
                <a:lnTo>
                  <a:pt x="2569079" y="90031"/>
                </a:lnTo>
                <a:lnTo>
                  <a:pt x="2508171" y="113181"/>
                </a:lnTo>
                <a:lnTo>
                  <a:pt x="2434277" y="134893"/>
                </a:lnTo>
                <a:lnTo>
                  <a:pt x="2392742" y="145159"/>
                </a:lnTo>
                <a:lnTo>
                  <a:pt x="2348299" y="155005"/>
                </a:lnTo>
                <a:lnTo>
                  <a:pt x="2301060" y="164410"/>
                </a:lnTo>
                <a:lnTo>
                  <a:pt x="2251137" y="173354"/>
                </a:lnTo>
                <a:lnTo>
                  <a:pt x="2198644" y="181818"/>
                </a:lnTo>
                <a:lnTo>
                  <a:pt x="2143692" y="189781"/>
                </a:lnTo>
                <a:lnTo>
                  <a:pt x="2086394" y="197222"/>
                </a:lnTo>
                <a:lnTo>
                  <a:pt x="2026863" y="204123"/>
                </a:lnTo>
                <a:lnTo>
                  <a:pt x="1965212" y="210462"/>
                </a:lnTo>
                <a:lnTo>
                  <a:pt x="1901553" y="216219"/>
                </a:lnTo>
                <a:lnTo>
                  <a:pt x="1835998" y="221374"/>
                </a:lnTo>
                <a:lnTo>
                  <a:pt x="1768661" y="225908"/>
                </a:lnTo>
                <a:lnTo>
                  <a:pt x="1699653" y="229799"/>
                </a:lnTo>
                <a:lnTo>
                  <a:pt x="1629087" y="233028"/>
                </a:lnTo>
                <a:lnTo>
                  <a:pt x="1557077" y="235575"/>
                </a:lnTo>
                <a:lnTo>
                  <a:pt x="1483733" y="237419"/>
                </a:lnTo>
                <a:lnTo>
                  <a:pt x="1409170" y="238540"/>
                </a:lnTo>
                <a:lnTo>
                  <a:pt x="1333500" y="238918"/>
                </a:lnTo>
                <a:lnTo>
                  <a:pt x="2667000" y="238918"/>
                </a:lnTo>
                <a:lnTo>
                  <a:pt x="26670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79903" y="5938611"/>
            <a:ext cx="2667000" cy="478155"/>
          </a:xfrm>
          <a:custGeom>
            <a:avLst/>
            <a:gdLst/>
            <a:ahLst/>
            <a:cxnLst/>
            <a:rect l="l" t="t" r="r" b="b"/>
            <a:pathLst>
              <a:path w="2667000" h="478154">
                <a:moveTo>
                  <a:pt x="1333500" y="0"/>
                </a:moveTo>
                <a:lnTo>
                  <a:pt x="1257829" y="378"/>
                </a:lnTo>
                <a:lnTo>
                  <a:pt x="1183266" y="1499"/>
                </a:lnTo>
                <a:lnTo>
                  <a:pt x="1109922" y="3343"/>
                </a:lnTo>
                <a:lnTo>
                  <a:pt x="1037912" y="5890"/>
                </a:lnTo>
                <a:lnTo>
                  <a:pt x="967346" y="9119"/>
                </a:lnTo>
                <a:lnTo>
                  <a:pt x="898338" y="13010"/>
                </a:lnTo>
                <a:lnTo>
                  <a:pt x="831001" y="17544"/>
                </a:lnTo>
                <a:lnTo>
                  <a:pt x="765446" y="22700"/>
                </a:lnTo>
                <a:lnTo>
                  <a:pt x="701787" y="28457"/>
                </a:lnTo>
                <a:lnTo>
                  <a:pt x="640136" y="34796"/>
                </a:lnTo>
                <a:lnTo>
                  <a:pt x="580605" y="41697"/>
                </a:lnTo>
                <a:lnTo>
                  <a:pt x="523307" y="49139"/>
                </a:lnTo>
                <a:lnTo>
                  <a:pt x="468355" y="57101"/>
                </a:lnTo>
                <a:lnTo>
                  <a:pt x="415862" y="65565"/>
                </a:lnTo>
                <a:lnTo>
                  <a:pt x="365939" y="74510"/>
                </a:lnTo>
                <a:lnTo>
                  <a:pt x="318700" y="83915"/>
                </a:lnTo>
                <a:lnTo>
                  <a:pt x="274257" y="93761"/>
                </a:lnTo>
                <a:lnTo>
                  <a:pt x="232722" y="104026"/>
                </a:lnTo>
                <a:lnTo>
                  <a:pt x="194208" y="114692"/>
                </a:lnTo>
                <a:lnTo>
                  <a:pt x="126695" y="137144"/>
                </a:lnTo>
                <a:lnTo>
                  <a:pt x="72616" y="160953"/>
                </a:lnTo>
                <a:lnTo>
                  <a:pt x="32874" y="185959"/>
                </a:lnTo>
                <a:lnTo>
                  <a:pt x="2110" y="225360"/>
                </a:lnTo>
                <a:lnTo>
                  <a:pt x="0" y="238917"/>
                </a:lnTo>
                <a:lnTo>
                  <a:pt x="2110" y="252475"/>
                </a:lnTo>
                <a:lnTo>
                  <a:pt x="32874" y="291877"/>
                </a:lnTo>
                <a:lnTo>
                  <a:pt x="72616" y="316883"/>
                </a:lnTo>
                <a:lnTo>
                  <a:pt x="126695" y="340693"/>
                </a:lnTo>
                <a:lnTo>
                  <a:pt x="194208" y="363145"/>
                </a:lnTo>
                <a:lnTo>
                  <a:pt x="232722" y="373811"/>
                </a:lnTo>
                <a:lnTo>
                  <a:pt x="274257" y="384077"/>
                </a:lnTo>
                <a:lnTo>
                  <a:pt x="318700" y="393922"/>
                </a:lnTo>
                <a:lnTo>
                  <a:pt x="365939" y="403327"/>
                </a:lnTo>
                <a:lnTo>
                  <a:pt x="415862" y="412272"/>
                </a:lnTo>
                <a:lnTo>
                  <a:pt x="468355" y="420735"/>
                </a:lnTo>
                <a:lnTo>
                  <a:pt x="523307" y="428698"/>
                </a:lnTo>
                <a:lnTo>
                  <a:pt x="580605" y="436140"/>
                </a:lnTo>
                <a:lnTo>
                  <a:pt x="640136" y="443040"/>
                </a:lnTo>
                <a:lnTo>
                  <a:pt x="701787" y="449379"/>
                </a:lnTo>
                <a:lnTo>
                  <a:pt x="765446" y="455136"/>
                </a:lnTo>
                <a:lnTo>
                  <a:pt x="831001" y="460292"/>
                </a:lnTo>
                <a:lnTo>
                  <a:pt x="898338" y="464825"/>
                </a:lnTo>
                <a:lnTo>
                  <a:pt x="967346" y="468717"/>
                </a:lnTo>
                <a:lnTo>
                  <a:pt x="1037912" y="471946"/>
                </a:lnTo>
                <a:lnTo>
                  <a:pt x="1109922" y="474492"/>
                </a:lnTo>
                <a:lnTo>
                  <a:pt x="1183266" y="476336"/>
                </a:lnTo>
                <a:lnTo>
                  <a:pt x="1257829" y="477458"/>
                </a:lnTo>
                <a:lnTo>
                  <a:pt x="1333500" y="477836"/>
                </a:lnTo>
                <a:lnTo>
                  <a:pt x="1409170" y="477458"/>
                </a:lnTo>
                <a:lnTo>
                  <a:pt x="1483733" y="476336"/>
                </a:lnTo>
                <a:lnTo>
                  <a:pt x="1557077" y="474492"/>
                </a:lnTo>
                <a:lnTo>
                  <a:pt x="1629087" y="471946"/>
                </a:lnTo>
                <a:lnTo>
                  <a:pt x="1699653" y="468717"/>
                </a:lnTo>
                <a:lnTo>
                  <a:pt x="1768661" y="464825"/>
                </a:lnTo>
                <a:lnTo>
                  <a:pt x="1835998" y="460292"/>
                </a:lnTo>
                <a:lnTo>
                  <a:pt x="1901553" y="455136"/>
                </a:lnTo>
                <a:lnTo>
                  <a:pt x="1965212" y="449379"/>
                </a:lnTo>
                <a:lnTo>
                  <a:pt x="2026863" y="443040"/>
                </a:lnTo>
                <a:lnTo>
                  <a:pt x="2086394" y="436140"/>
                </a:lnTo>
                <a:lnTo>
                  <a:pt x="2143692" y="428698"/>
                </a:lnTo>
                <a:lnTo>
                  <a:pt x="2198644" y="420735"/>
                </a:lnTo>
                <a:lnTo>
                  <a:pt x="2251137" y="412272"/>
                </a:lnTo>
                <a:lnTo>
                  <a:pt x="2301060" y="403327"/>
                </a:lnTo>
                <a:lnTo>
                  <a:pt x="2348299" y="393922"/>
                </a:lnTo>
                <a:lnTo>
                  <a:pt x="2392742" y="384077"/>
                </a:lnTo>
                <a:lnTo>
                  <a:pt x="2434277" y="373811"/>
                </a:lnTo>
                <a:lnTo>
                  <a:pt x="2472791" y="363145"/>
                </a:lnTo>
                <a:lnTo>
                  <a:pt x="2540304" y="340693"/>
                </a:lnTo>
                <a:lnTo>
                  <a:pt x="2594383" y="316883"/>
                </a:lnTo>
                <a:lnTo>
                  <a:pt x="2634125" y="291877"/>
                </a:lnTo>
                <a:lnTo>
                  <a:pt x="2664889" y="252475"/>
                </a:lnTo>
                <a:lnTo>
                  <a:pt x="2667000" y="238917"/>
                </a:lnTo>
                <a:lnTo>
                  <a:pt x="2664889" y="225360"/>
                </a:lnTo>
                <a:lnTo>
                  <a:pt x="2634125" y="185959"/>
                </a:lnTo>
                <a:lnTo>
                  <a:pt x="2594383" y="160953"/>
                </a:lnTo>
                <a:lnTo>
                  <a:pt x="2540304" y="137144"/>
                </a:lnTo>
                <a:lnTo>
                  <a:pt x="2472791" y="114692"/>
                </a:lnTo>
                <a:lnTo>
                  <a:pt x="2434277" y="104026"/>
                </a:lnTo>
                <a:lnTo>
                  <a:pt x="2392742" y="93761"/>
                </a:lnTo>
                <a:lnTo>
                  <a:pt x="2348299" y="83915"/>
                </a:lnTo>
                <a:lnTo>
                  <a:pt x="2301060" y="74510"/>
                </a:lnTo>
                <a:lnTo>
                  <a:pt x="2251137" y="65565"/>
                </a:lnTo>
                <a:lnTo>
                  <a:pt x="2198644" y="57101"/>
                </a:lnTo>
                <a:lnTo>
                  <a:pt x="2143692" y="49139"/>
                </a:lnTo>
                <a:lnTo>
                  <a:pt x="2086394" y="41697"/>
                </a:lnTo>
                <a:lnTo>
                  <a:pt x="2026863" y="34796"/>
                </a:lnTo>
                <a:lnTo>
                  <a:pt x="1965212" y="28457"/>
                </a:lnTo>
                <a:lnTo>
                  <a:pt x="1901553" y="22700"/>
                </a:lnTo>
                <a:lnTo>
                  <a:pt x="1835998" y="17544"/>
                </a:lnTo>
                <a:lnTo>
                  <a:pt x="1768661" y="13010"/>
                </a:lnTo>
                <a:lnTo>
                  <a:pt x="1699653" y="9119"/>
                </a:lnTo>
                <a:lnTo>
                  <a:pt x="1629087" y="5890"/>
                </a:lnTo>
                <a:lnTo>
                  <a:pt x="1557077" y="3343"/>
                </a:lnTo>
                <a:lnTo>
                  <a:pt x="1483733" y="1499"/>
                </a:lnTo>
                <a:lnTo>
                  <a:pt x="1409170" y="378"/>
                </a:lnTo>
                <a:lnTo>
                  <a:pt x="133350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79903" y="5938611"/>
            <a:ext cx="2667000" cy="955675"/>
          </a:xfrm>
          <a:custGeom>
            <a:avLst/>
            <a:gdLst/>
            <a:ahLst/>
            <a:cxnLst/>
            <a:rect l="l" t="t" r="r" b="b"/>
            <a:pathLst>
              <a:path w="2667000" h="955675">
                <a:moveTo>
                  <a:pt x="2666998" y="238918"/>
                </a:moveTo>
                <a:lnTo>
                  <a:pt x="2648337" y="278976"/>
                </a:lnTo>
                <a:lnTo>
                  <a:pt x="2616100" y="304521"/>
                </a:lnTo>
                <a:lnTo>
                  <a:pt x="2569077" y="328949"/>
                </a:lnTo>
                <a:lnTo>
                  <a:pt x="2508169" y="352100"/>
                </a:lnTo>
                <a:lnTo>
                  <a:pt x="2434275" y="373812"/>
                </a:lnTo>
                <a:lnTo>
                  <a:pt x="2392740" y="384078"/>
                </a:lnTo>
                <a:lnTo>
                  <a:pt x="2348297" y="393923"/>
                </a:lnTo>
                <a:lnTo>
                  <a:pt x="2301057" y="403328"/>
                </a:lnTo>
                <a:lnTo>
                  <a:pt x="2251134" y="412273"/>
                </a:lnTo>
                <a:lnTo>
                  <a:pt x="2198641" y="420736"/>
                </a:lnTo>
                <a:lnTo>
                  <a:pt x="2143689" y="428699"/>
                </a:lnTo>
                <a:lnTo>
                  <a:pt x="2086391" y="436141"/>
                </a:lnTo>
                <a:lnTo>
                  <a:pt x="2026861" y="443041"/>
                </a:lnTo>
                <a:lnTo>
                  <a:pt x="1965210" y="449380"/>
                </a:lnTo>
                <a:lnTo>
                  <a:pt x="1901550" y="455138"/>
                </a:lnTo>
                <a:lnTo>
                  <a:pt x="1835996" y="460293"/>
                </a:lnTo>
                <a:lnTo>
                  <a:pt x="1768658" y="464827"/>
                </a:lnTo>
                <a:lnTo>
                  <a:pt x="1699651" y="468718"/>
                </a:lnTo>
                <a:lnTo>
                  <a:pt x="1629085" y="471947"/>
                </a:lnTo>
                <a:lnTo>
                  <a:pt x="1557075" y="474494"/>
                </a:lnTo>
                <a:lnTo>
                  <a:pt x="1483732" y="476338"/>
                </a:lnTo>
                <a:lnTo>
                  <a:pt x="1409169" y="477459"/>
                </a:lnTo>
                <a:lnTo>
                  <a:pt x="1333499" y="477837"/>
                </a:lnTo>
                <a:lnTo>
                  <a:pt x="1257828" y="477459"/>
                </a:lnTo>
                <a:lnTo>
                  <a:pt x="1183265" y="476338"/>
                </a:lnTo>
                <a:lnTo>
                  <a:pt x="1109922" y="474494"/>
                </a:lnTo>
                <a:lnTo>
                  <a:pt x="1037911" y="471947"/>
                </a:lnTo>
                <a:lnTo>
                  <a:pt x="967346" y="468718"/>
                </a:lnTo>
                <a:lnTo>
                  <a:pt x="898338" y="464827"/>
                </a:lnTo>
                <a:lnTo>
                  <a:pt x="831001" y="460293"/>
                </a:lnTo>
                <a:lnTo>
                  <a:pt x="765446" y="455138"/>
                </a:lnTo>
                <a:lnTo>
                  <a:pt x="701787" y="449380"/>
                </a:lnTo>
                <a:lnTo>
                  <a:pt x="640136" y="443041"/>
                </a:lnTo>
                <a:lnTo>
                  <a:pt x="580605" y="436141"/>
                </a:lnTo>
                <a:lnTo>
                  <a:pt x="523307" y="428699"/>
                </a:lnTo>
                <a:lnTo>
                  <a:pt x="468356" y="420736"/>
                </a:lnTo>
                <a:lnTo>
                  <a:pt x="415862" y="412273"/>
                </a:lnTo>
                <a:lnTo>
                  <a:pt x="365939" y="403328"/>
                </a:lnTo>
                <a:lnTo>
                  <a:pt x="318700" y="393923"/>
                </a:lnTo>
                <a:lnTo>
                  <a:pt x="274257" y="384078"/>
                </a:lnTo>
                <a:lnTo>
                  <a:pt x="232722" y="373812"/>
                </a:lnTo>
                <a:lnTo>
                  <a:pt x="194208" y="363146"/>
                </a:lnTo>
                <a:lnTo>
                  <a:pt x="126695" y="340694"/>
                </a:lnTo>
                <a:lnTo>
                  <a:pt x="72616" y="316884"/>
                </a:lnTo>
                <a:lnTo>
                  <a:pt x="32874" y="291878"/>
                </a:lnTo>
                <a:lnTo>
                  <a:pt x="2110" y="252476"/>
                </a:lnTo>
                <a:lnTo>
                  <a:pt x="0" y="238918"/>
                </a:lnTo>
                <a:lnTo>
                  <a:pt x="2110" y="225361"/>
                </a:lnTo>
                <a:lnTo>
                  <a:pt x="32874" y="185959"/>
                </a:lnTo>
                <a:lnTo>
                  <a:pt x="72616" y="160952"/>
                </a:lnTo>
                <a:lnTo>
                  <a:pt x="126695" y="137142"/>
                </a:lnTo>
                <a:lnTo>
                  <a:pt x="194208" y="114691"/>
                </a:lnTo>
                <a:lnTo>
                  <a:pt x="232722" y="104025"/>
                </a:lnTo>
                <a:lnTo>
                  <a:pt x="274257" y="93759"/>
                </a:lnTo>
                <a:lnTo>
                  <a:pt x="318700" y="83914"/>
                </a:lnTo>
                <a:lnTo>
                  <a:pt x="365939" y="74508"/>
                </a:lnTo>
                <a:lnTo>
                  <a:pt x="415862" y="65564"/>
                </a:lnTo>
                <a:lnTo>
                  <a:pt x="468356" y="57100"/>
                </a:lnTo>
                <a:lnTo>
                  <a:pt x="523307" y="49137"/>
                </a:lnTo>
                <a:lnTo>
                  <a:pt x="580605" y="41696"/>
                </a:lnTo>
                <a:lnTo>
                  <a:pt x="640136" y="34795"/>
                </a:lnTo>
                <a:lnTo>
                  <a:pt x="701787" y="28456"/>
                </a:lnTo>
                <a:lnTo>
                  <a:pt x="765446" y="22699"/>
                </a:lnTo>
                <a:lnTo>
                  <a:pt x="831001" y="17544"/>
                </a:lnTo>
                <a:lnTo>
                  <a:pt x="898338" y="13010"/>
                </a:lnTo>
                <a:lnTo>
                  <a:pt x="967346" y="9119"/>
                </a:lnTo>
                <a:lnTo>
                  <a:pt x="1037911" y="5890"/>
                </a:lnTo>
                <a:lnTo>
                  <a:pt x="1109922" y="3343"/>
                </a:lnTo>
                <a:lnTo>
                  <a:pt x="1183265" y="1499"/>
                </a:lnTo>
                <a:lnTo>
                  <a:pt x="1257828" y="378"/>
                </a:lnTo>
                <a:lnTo>
                  <a:pt x="1333499" y="0"/>
                </a:lnTo>
                <a:lnTo>
                  <a:pt x="1409169" y="378"/>
                </a:lnTo>
                <a:lnTo>
                  <a:pt x="1483732" y="1499"/>
                </a:lnTo>
                <a:lnTo>
                  <a:pt x="1557075" y="3343"/>
                </a:lnTo>
                <a:lnTo>
                  <a:pt x="1629085" y="5890"/>
                </a:lnTo>
                <a:lnTo>
                  <a:pt x="1699651" y="9119"/>
                </a:lnTo>
                <a:lnTo>
                  <a:pt x="1768658" y="13010"/>
                </a:lnTo>
                <a:lnTo>
                  <a:pt x="1835996" y="17544"/>
                </a:lnTo>
                <a:lnTo>
                  <a:pt x="1901550" y="22699"/>
                </a:lnTo>
                <a:lnTo>
                  <a:pt x="1965210" y="28456"/>
                </a:lnTo>
                <a:lnTo>
                  <a:pt x="2026861" y="34795"/>
                </a:lnTo>
                <a:lnTo>
                  <a:pt x="2086391" y="41696"/>
                </a:lnTo>
                <a:lnTo>
                  <a:pt x="2143689" y="49137"/>
                </a:lnTo>
                <a:lnTo>
                  <a:pt x="2198641" y="57100"/>
                </a:lnTo>
                <a:lnTo>
                  <a:pt x="2251134" y="65564"/>
                </a:lnTo>
                <a:lnTo>
                  <a:pt x="2301057" y="74508"/>
                </a:lnTo>
                <a:lnTo>
                  <a:pt x="2348297" y="83914"/>
                </a:lnTo>
                <a:lnTo>
                  <a:pt x="2392740" y="93759"/>
                </a:lnTo>
                <a:lnTo>
                  <a:pt x="2434275" y="104025"/>
                </a:lnTo>
                <a:lnTo>
                  <a:pt x="2472789" y="114691"/>
                </a:lnTo>
                <a:lnTo>
                  <a:pt x="2540302" y="137142"/>
                </a:lnTo>
                <a:lnTo>
                  <a:pt x="2594381" y="160952"/>
                </a:lnTo>
                <a:lnTo>
                  <a:pt x="2634123" y="185959"/>
                </a:lnTo>
                <a:lnTo>
                  <a:pt x="2664887" y="225361"/>
                </a:lnTo>
                <a:lnTo>
                  <a:pt x="2666998" y="238918"/>
                </a:lnTo>
                <a:lnTo>
                  <a:pt x="2666998" y="716755"/>
                </a:lnTo>
                <a:lnTo>
                  <a:pt x="2648337" y="756812"/>
                </a:lnTo>
                <a:lnTo>
                  <a:pt x="2616100" y="782357"/>
                </a:lnTo>
                <a:lnTo>
                  <a:pt x="2569077" y="806786"/>
                </a:lnTo>
                <a:lnTo>
                  <a:pt x="2508169" y="829937"/>
                </a:lnTo>
                <a:lnTo>
                  <a:pt x="2434275" y="851648"/>
                </a:lnTo>
                <a:lnTo>
                  <a:pt x="2392740" y="861914"/>
                </a:lnTo>
                <a:lnTo>
                  <a:pt x="2348297" y="871760"/>
                </a:lnTo>
                <a:lnTo>
                  <a:pt x="2301057" y="881165"/>
                </a:lnTo>
                <a:lnTo>
                  <a:pt x="2251134" y="890109"/>
                </a:lnTo>
                <a:lnTo>
                  <a:pt x="2198641" y="898573"/>
                </a:lnTo>
                <a:lnTo>
                  <a:pt x="2143689" y="906536"/>
                </a:lnTo>
                <a:lnTo>
                  <a:pt x="2086391" y="913978"/>
                </a:lnTo>
                <a:lnTo>
                  <a:pt x="2026861" y="920878"/>
                </a:lnTo>
                <a:lnTo>
                  <a:pt x="1965210" y="927217"/>
                </a:lnTo>
                <a:lnTo>
                  <a:pt x="1901550" y="932974"/>
                </a:lnTo>
                <a:lnTo>
                  <a:pt x="1835996" y="938130"/>
                </a:lnTo>
                <a:lnTo>
                  <a:pt x="1768658" y="942663"/>
                </a:lnTo>
                <a:lnTo>
                  <a:pt x="1699651" y="946555"/>
                </a:lnTo>
                <a:lnTo>
                  <a:pt x="1629085" y="949784"/>
                </a:lnTo>
                <a:lnTo>
                  <a:pt x="1557075" y="952330"/>
                </a:lnTo>
                <a:lnTo>
                  <a:pt x="1483732" y="954174"/>
                </a:lnTo>
                <a:lnTo>
                  <a:pt x="1409169" y="955296"/>
                </a:lnTo>
                <a:lnTo>
                  <a:pt x="1333499" y="955674"/>
                </a:lnTo>
                <a:lnTo>
                  <a:pt x="1257828" y="955296"/>
                </a:lnTo>
                <a:lnTo>
                  <a:pt x="1183265" y="954174"/>
                </a:lnTo>
                <a:lnTo>
                  <a:pt x="1109922" y="952330"/>
                </a:lnTo>
                <a:lnTo>
                  <a:pt x="1037911" y="949784"/>
                </a:lnTo>
                <a:lnTo>
                  <a:pt x="967346" y="946555"/>
                </a:lnTo>
                <a:lnTo>
                  <a:pt x="898338" y="942663"/>
                </a:lnTo>
                <a:lnTo>
                  <a:pt x="831001" y="938130"/>
                </a:lnTo>
                <a:lnTo>
                  <a:pt x="765446" y="932974"/>
                </a:lnTo>
                <a:lnTo>
                  <a:pt x="701787" y="927217"/>
                </a:lnTo>
                <a:lnTo>
                  <a:pt x="640136" y="920878"/>
                </a:lnTo>
                <a:lnTo>
                  <a:pt x="580605" y="913978"/>
                </a:lnTo>
                <a:lnTo>
                  <a:pt x="523307" y="906536"/>
                </a:lnTo>
                <a:lnTo>
                  <a:pt x="468356" y="898573"/>
                </a:lnTo>
                <a:lnTo>
                  <a:pt x="415862" y="890109"/>
                </a:lnTo>
                <a:lnTo>
                  <a:pt x="365939" y="881165"/>
                </a:lnTo>
                <a:lnTo>
                  <a:pt x="318700" y="871760"/>
                </a:lnTo>
                <a:lnTo>
                  <a:pt x="274257" y="861914"/>
                </a:lnTo>
                <a:lnTo>
                  <a:pt x="232722" y="851648"/>
                </a:lnTo>
                <a:lnTo>
                  <a:pt x="194208" y="840982"/>
                </a:lnTo>
                <a:lnTo>
                  <a:pt x="126695" y="818531"/>
                </a:lnTo>
                <a:lnTo>
                  <a:pt x="72616" y="794721"/>
                </a:lnTo>
                <a:lnTo>
                  <a:pt x="32874" y="769714"/>
                </a:lnTo>
                <a:lnTo>
                  <a:pt x="2110" y="730313"/>
                </a:lnTo>
                <a:lnTo>
                  <a:pt x="0" y="716755"/>
                </a:lnTo>
                <a:lnTo>
                  <a:pt x="0" y="238918"/>
                </a:lnTo>
                <a:lnTo>
                  <a:pt x="2666998" y="238918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98904" y="1993674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609599" y="0"/>
                </a:moveTo>
                <a:lnTo>
                  <a:pt x="0" y="1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98903" y="1993674"/>
            <a:ext cx="0" cy="4378325"/>
          </a:xfrm>
          <a:custGeom>
            <a:avLst/>
            <a:gdLst/>
            <a:ahLst/>
            <a:cxnLst/>
            <a:rect l="l" t="t" r="r" b="b"/>
            <a:pathLst>
              <a:path h="4378325">
                <a:moveTo>
                  <a:pt x="0" y="0"/>
                </a:moveTo>
                <a:lnTo>
                  <a:pt x="1" y="437832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98903" y="6371999"/>
            <a:ext cx="356235" cy="22225"/>
          </a:xfrm>
          <a:custGeom>
            <a:avLst/>
            <a:gdLst/>
            <a:ahLst/>
            <a:cxnLst/>
            <a:rect l="l" t="t" r="r" b="b"/>
            <a:pathLst>
              <a:path w="356235" h="22225">
                <a:moveTo>
                  <a:pt x="0" y="0"/>
                </a:moveTo>
                <a:lnTo>
                  <a:pt x="355649" y="2222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01468" y="6353031"/>
            <a:ext cx="78740" cy="76200"/>
          </a:xfrm>
          <a:custGeom>
            <a:avLst/>
            <a:gdLst/>
            <a:ahLst/>
            <a:cxnLst/>
            <a:rect l="l" t="t" r="r" b="b"/>
            <a:pathLst>
              <a:path w="78739" h="76200">
                <a:moveTo>
                  <a:pt x="4749" y="0"/>
                </a:moveTo>
                <a:lnTo>
                  <a:pt x="0" y="76051"/>
                </a:lnTo>
                <a:lnTo>
                  <a:pt x="78435" y="42779"/>
                </a:lnTo>
                <a:lnTo>
                  <a:pt x="474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34844" y="5890352"/>
            <a:ext cx="2360930" cy="919480"/>
          </a:xfrm>
          <a:prstGeom prst="rect">
            <a:avLst/>
          </a:prstGeom>
          <a:noFill/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400" spc="-5" dirty="0">
                <a:latin typeface="Times New Roman"/>
                <a:cs typeface="Times New Roman"/>
              </a:rPr>
              <a:t>mengenorientiertes</a:t>
            </a:r>
            <a:endParaRPr sz="2400" dirty="0">
              <a:latin typeface="Times New Roman"/>
              <a:cs typeface="Times New Roman"/>
            </a:endParaRPr>
          </a:p>
          <a:p>
            <a:pPr marL="901065">
              <a:lnSpc>
                <a:spcPct val="100000"/>
              </a:lnSpc>
              <a:spcBef>
                <a:spcPts val="640"/>
              </a:spcBef>
            </a:pPr>
            <a:r>
              <a:rPr sz="2400" dirty="0">
                <a:latin typeface="Times New Roman"/>
                <a:cs typeface="Times New Roman"/>
              </a:rPr>
              <a:t>DBMS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225044" y="3685631"/>
            <a:ext cx="1421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ahoma"/>
                <a:cs typeface="Tahoma"/>
              </a:rPr>
              <a:t>1.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Anfrage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11444" y="2618831"/>
            <a:ext cx="2580640" cy="7467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800"/>
              </a:lnSpc>
              <a:spcBef>
                <a:spcPts val="260"/>
              </a:spcBef>
            </a:pPr>
            <a:r>
              <a:rPr sz="2400" dirty="0">
                <a:latin typeface="Times New Roman"/>
                <a:cs typeface="Times New Roman"/>
              </a:rPr>
              <a:t>3. </a:t>
            </a:r>
            <a:r>
              <a:rPr sz="2400" spc="-50" dirty="0">
                <a:latin typeface="Tahoma"/>
                <a:cs typeface="Tahoma"/>
              </a:rPr>
              <a:t>Tupel </a:t>
            </a:r>
            <a:r>
              <a:rPr sz="2400" spc="-5" dirty="0">
                <a:latin typeface="Tahoma"/>
                <a:cs typeface="Tahoma"/>
              </a:rPr>
              <a:t>sequentiell  </a:t>
            </a:r>
            <a:r>
              <a:rPr sz="2400" spc="-10" dirty="0">
                <a:latin typeface="Tahoma"/>
                <a:cs typeface="Tahoma"/>
              </a:rPr>
              <a:t>verarbeiten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30444" y="4295231"/>
            <a:ext cx="3006090" cy="138176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17500" marR="320040">
              <a:lnSpc>
                <a:spcPts val="2800"/>
              </a:lnSpc>
              <a:spcBef>
                <a:spcPts val="259"/>
              </a:spcBef>
            </a:pPr>
            <a:r>
              <a:rPr sz="2400" spc="-15" dirty="0">
                <a:latin typeface="Tahoma"/>
                <a:cs typeface="Tahoma"/>
              </a:rPr>
              <a:t>4.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Cursor/Iterator  schließen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sz="2400" spc="-5" dirty="0">
                <a:latin typeface="Tahoma"/>
                <a:cs typeface="Tahoma"/>
              </a:rPr>
              <a:t>2. </a:t>
            </a:r>
            <a:r>
              <a:rPr sz="2400" spc="-10" dirty="0">
                <a:latin typeface="Tahoma"/>
                <a:cs typeface="Tahoma"/>
              </a:rPr>
              <a:t>Anfrage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auswerten,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30444" y="5641431"/>
            <a:ext cx="3015615" cy="112776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z="2400" spc="-5" dirty="0">
                <a:latin typeface="Tahoma"/>
                <a:cs typeface="Tahoma"/>
              </a:rPr>
              <a:t>Ergebnistupel im  Cursor/Iterator/  ResultSet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bereitstellen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80303" y="2509611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200903" y="2738211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279399" y="0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75503" y="27001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480303" y="2738211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09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200903" y="3119211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279399" y="0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175503" y="30811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480303" y="3119211"/>
            <a:ext cx="0" cy="228600"/>
          </a:xfrm>
          <a:custGeom>
            <a:avLst/>
            <a:gdLst/>
            <a:ahLst/>
            <a:cxnLst/>
            <a:rect l="l" t="t" r="r" b="b"/>
            <a:pathLst>
              <a:path h="228600">
                <a:moveTo>
                  <a:pt x="0" y="0"/>
                </a:moveTo>
                <a:lnTo>
                  <a:pt x="0" y="22859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00903" y="3347811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>
                <a:moveTo>
                  <a:pt x="279399" y="0"/>
                </a:moveTo>
                <a:lnTo>
                  <a:pt x="0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75503" y="33097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65803" y="5202012"/>
            <a:ext cx="419100" cy="736600"/>
          </a:xfrm>
          <a:custGeom>
            <a:avLst/>
            <a:gdLst/>
            <a:ahLst/>
            <a:cxnLst/>
            <a:rect l="l" t="t" r="r" b="b"/>
            <a:pathLst>
              <a:path w="419100" h="736600">
                <a:moveTo>
                  <a:pt x="0" y="736599"/>
                </a:moveTo>
                <a:lnTo>
                  <a:pt x="0" y="355599"/>
                </a:lnTo>
                <a:lnTo>
                  <a:pt x="419099" y="355599"/>
                </a:lnTo>
                <a:lnTo>
                  <a:pt x="419099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46803" y="51766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003B031D-3D3C-BC77-0C86-B0E4878A5B2A}"/>
              </a:ext>
            </a:extLst>
          </p:cNvPr>
          <p:cNvSpPr txBox="1">
            <a:spLocks/>
          </p:cNvSpPr>
          <p:nvPr/>
        </p:nvSpPr>
        <p:spPr>
          <a:xfrm>
            <a:off x="927100" y="684760"/>
            <a:ext cx="65532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7700" algn="l"/>
              </a:tabLst>
            </a:pPr>
            <a:r>
              <a:rPr lang="en-GB" spc="-5" dirty="0"/>
              <a:t>Queries in </a:t>
            </a:r>
            <a:r>
              <a:rPr lang="en-GB" spc="-5" dirty="0" err="1"/>
              <a:t>Anwendungsprogrammen</a:t>
            </a:r>
            <a:endParaRPr lang="en-GB" spc="-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5688734" y="3862429"/>
            <a:ext cx="1678305" cy="365125"/>
          </a:xfrm>
          <a:custGeom>
            <a:avLst/>
            <a:gdLst/>
            <a:ahLst/>
            <a:cxnLst/>
            <a:rect l="l" t="t" r="r" b="b"/>
            <a:pathLst>
              <a:path w="1678304" h="365125">
                <a:moveTo>
                  <a:pt x="0" y="0"/>
                </a:moveTo>
                <a:lnTo>
                  <a:pt x="1678138" y="364811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51503" y="3822776"/>
            <a:ext cx="123825" cy="111760"/>
          </a:xfrm>
          <a:custGeom>
            <a:avLst/>
            <a:gdLst/>
            <a:ahLst/>
            <a:cxnLst/>
            <a:rect l="l" t="t" r="r" b="b"/>
            <a:pathLst>
              <a:path w="123825" h="111760">
                <a:moveTo>
                  <a:pt x="123825" y="0"/>
                </a:moveTo>
                <a:lnTo>
                  <a:pt x="0" y="31559"/>
                </a:lnTo>
                <a:lnTo>
                  <a:pt x="99542" y="111683"/>
                </a:lnTo>
                <a:lnTo>
                  <a:pt x="123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80266" y="4155211"/>
            <a:ext cx="124460" cy="111760"/>
          </a:xfrm>
          <a:custGeom>
            <a:avLst/>
            <a:gdLst/>
            <a:ahLst/>
            <a:cxnLst/>
            <a:rect l="l" t="t" r="r" b="b"/>
            <a:pathLst>
              <a:path w="124459" h="111760">
                <a:moveTo>
                  <a:pt x="24282" y="0"/>
                </a:moveTo>
                <a:lnTo>
                  <a:pt x="0" y="111683"/>
                </a:lnTo>
                <a:lnTo>
                  <a:pt x="123837" y="80124"/>
                </a:lnTo>
                <a:lnTo>
                  <a:pt x="242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107498" y="1696026"/>
            <a:ext cx="3752850" cy="1121410"/>
          </a:xfrm>
          <a:custGeom>
            <a:avLst/>
            <a:gdLst/>
            <a:ahLst/>
            <a:cxnLst/>
            <a:rect l="l" t="t" r="r" b="b"/>
            <a:pathLst>
              <a:path w="3752850" h="1121410">
                <a:moveTo>
                  <a:pt x="2180493" y="1014815"/>
                </a:moveTo>
                <a:lnTo>
                  <a:pt x="1161900" y="1014815"/>
                </a:lnTo>
                <a:lnTo>
                  <a:pt x="1198148" y="1035507"/>
                </a:lnTo>
                <a:lnTo>
                  <a:pt x="1241646" y="1052772"/>
                </a:lnTo>
                <a:lnTo>
                  <a:pt x="1288919" y="1070169"/>
                </a:lnTo>
                <a:lnTo>
                  <a:pt x="1341479" y="1084534"/>
                </a:lnTo>
                <a:lnTo>
                  <a:pt x="1398116" y="1097318"/>
                </a:lnTo>
                <a:lnTo>
                  <a:pt x="1457624" y="1106808"/>
                </a:lnTo>
                <a:lnTo>
                  <a:pt x="1519547" y="1114583"/>
                </a:lnTo>
                <a:lnTo>
                  <a:pt x="1582830" y="1119196"/>
                </a:lnTo>
                <a:lnTo>
                  <a:pt x="1648530" y="1120910"/>
                </a:lnTo>
                <a:lnTo>
                  <a:pt x="1713776" y="1120910"/>
                </a:lnTo>
                <a:lnTo>
                  <a:pt x="1777513" y="1117878"/>
                </a:lnTo>
                <a:lnTo>
                  <a:pt x="1840796" y="1113002"/>
                </a:lnTo>
                <a:lnTo>
                  <a:pt x="1902719" y="1105094"/>
                </a:lnTo>
                <a:lnTo>
                  <a:pt x="1962680" y="1094024"/>
                </a:lnTo>
                <a:lnTo>
                  <a:pt x="2017052" y="1081240"/>
                </a:lnTo>
                <a:lnTo>
                  <a:pt x="2067648" y="1065556"/>
                </a:lnTo>
                <a:lnTo>
                  <a:pt x="2114921" y="1048291"/>
                </a:lnTo>
                <a:lnTo>
                  <a:pt x="2155096" y="1029313"/>
                </a:lnTo>
                <a:lnTo>
                  <a:pt x="2180493" y="1014815"/>
                </a:lnTo>
                <a:close/>
              </a:path>
              <a:path w="3752850" h="1121410">
                <a:moveTo>
                  <a:pt x="3022957" y="964206"/>
                </a:moveTo>
                <a:lnTo>
                  <a:pt x="2243904" y="964206"/>
                </a:lnTo>
                <a:lnTo>
                  <a:pt x="2243904" y="976858"/>
                </a:lnTo>
                <a:lnTo>
                  <a:pt x="2284079" y="1013234"/>
                </a:lnTo>
                <a:lnTo>
                  <a:pt x="2336487" y="1029313"/>
                </a:lnTo>
                <a:lnTo>
                  <a:pt x="2403546" y="1037088"/>
                </a:lnTo>
                <a:lnTo>
                  <a:pt x="2438133" y="1037088"/>
                </a:lnTo>
                <a:lnTo>
                  <a:pt x="2507155" y="1039988"/>
                </a:lnTo>
                <a:lnTo>
                  <a:pt x="2576027" y="1039988"/>
                </a:lnTo>
                <a:lnTo>
                  <a:pt x="2643236" y="1037088"/>
                </a:lnTo>
                <a:lnTo>
                  <a:pt x="2712259" y="1032212"/>
                </a:lnTo>
                <a:lnTo>
                  <a:pt x="2777807" y="1024304"/>
                </a:lnTo>
                <a:lnTo>
                  <a:pt x="2839278" y="1013234"/>
                </a:lnTo>
                <a:lnTo>
                  <a:pt x="2901202" y="1000450"/>
                </a:lnTo>
                <a:lnTo>
                  <a:pt x="2957386" y="986348"/>
                </a:lnTo>
                <a:lnTo>
                  <a:pt x="3009946" y="969083"/>
                </a:lnTo>
                <a:lnTo>
                  <a:pt x="3022957" y="964206"/>
                </a:lnTo>
                <a:close/>
              </a:path>
              <a:path w="3752850" h="1121410">
                <a:moveTo>
                  <a:pt x="1016757" y="177263"/>
                </a:moveTo>
                <a:lnTo>
                  <a:pt x="947735" y="177263"/>
                </a:lnTo>
                <a:lnTo>
                  <a:pt x="878712" y="178976"/>
                </a:lnTo>
                <a:lnTo>
                  <a:pt x="811653" y="181876"/>
                </a:lnTo>
                <a:lnTo>
                  <a:pt x="746105" y="188465"/>
                </a:lnTo>
                <a:lnTo>
                  <a:pt x="626486" y="207444"/>
                </a:lnTo>
                <a:lnTo>
                  <a:pt x="571661" y="219832"/>
                </a:lnTo>
                <a:lnTo>
                  <a:pt x="521065" y="234198"/>
                </a:lnTo>
                <a:lnTo>
                  <a:pt x="475755" y="249881"/>
                </a:lnTo>
                <a:lnTo>
                  <a:pt x="435580" y="265960"/>
                </a:lnTo>
                <a:lnTo>
                  <a:pt x="374109" y="303917"/>
                </a:lnTo>
                <a:lnTo>
                  <a:pt x="339674" y="346750"/>
                </a:lnTo>
                <a:lnTo>
                  <a:pt x="330310" y="367046"/>
                </a:lnTo>
                <a:lnTo>
                  <a:pt x="330310" y="389320"/>
                </a:lnTo>
                <a:lnTo>
                  <a:pt x="348585" y="433866"/>
                </a:lnTo>
                <a:lnTo>
                  <a:pt x="392082" y="476304"/>
                </a:lnTo>
                <a:lnTo>
                  <a:pt x="424706" y="496996"/>
                </a:lnTo>
                <a:lnTo>
                  <a:pt x="462917" y="515974"/>
                </a:lnTo>
                <a:lnTo>
                  <a:pt x="401144" y="520850"/>
                </a:lnTo>
                <a:lnTo>
                  <a:pt x="342997" y="527045"/>
                </a:lnTo>
                <a:lnTo>
                  <a:pt x="284849" y="536534"/>
                </a:lnTo>
                <a:lnTo>
                  <a:pt x="232440" y="547605"/>
                </a:lnTo>
                <a:lnTo>
                  <a:pt x="183203" y="560389"/>
                </a:lnTo>
                <a:lnTo>
                  <a:pt x="139705" y="574754"/>
                </a:lnTo>
                <a:lnTo>
                  <a:pt x="99682" y="590570"/>
                </a:lnTo>
                <a:lnTo>
                  <a:pt x="40023" y="626813"/>
                </a:lnTo>
                <a:lnTo>
                  <a:pt x="7098" y="666483"/>
                </a:lnTo>
                <a:lnTo>
                  <a:pt x="0" y="687043"/>
                </a:lnTo>
                <a:lnTo>
                  <a:pt x="1812" y="709316"/>
                </a:lnTo>
                <a:lnTo>
                  <a:pt x="23561" y="748854"/>
                </a:lnTo>
                <a:lnTo>
                  <a:pt x="74610" y="786811"/>
                </a:lnTo>
                <a:lnTo>
                  <a:pt x="109046" y="804208"/>
                </a:lnTo>
                <a:lnTo>
                  <a:pt x="148767" y="820155"/>
                </a:lnTo>
                <a:lnTo>
                  <a:pt x="194078" y="834257"/>
                </a:lnTo>
                <a:lnTo>
                  <a:pt x="245127" y="847041"/>
                </a:lnTo>
                <a:lnTo>
                  <a:pt x="297686" y="858112"/>
                </a:lnTo>
                <a:lnTo>
                  <a:pt x="355683" y="866020"/>
                </a:lnTo>
                <a:lnTo>
                  <a:pt x="415795" y="872214"/>
                </a:lnTo>
                <a:lnTo>
                  <a:pt x="477567" y="877090"/>
                </a:lnTo>
                <a:lnTo>
                  <a:pt x="539038" y="878804"/>
                </a:lnTo>
                <a:lnTo>
                  <a:pt x="546590" y="897782"/>
                </a:lnTo>
                <a:lnTo>
                  <a:pt x="577249" y="935739"/>
                </a:lnTo>
                <a:lnTo>
                  <a:pt x="631622" y="970401"/>
                </a:lnTo>
                <a:lnTo>
                  <a:pt x="668021" y="984766"/>
                </a:lnTo>
                <a:lnTo>
                  <a:pt x="708195" y="997550"/>
                </a:lnTo>
                <a:lnTo>
                  <a:pt x="751693" y="1009939"/>
                </a:lnTo>
                <a:lnTo>
                  <a:pt x="798967" y="1018110"/>
                </a:lnTo>
                <a:lnTo>
                  <a:pt x="849563" y="1024304"/>
                </a:lnTo>
                <a:lnTo>
                  <a:pt x="902425" y="1029313"/>
                </a:lnTo>
                <a:lnTo>
                  <a:pt x="954833" y="1030499"/>
                </a:lnTo>
                <a:lnTo>
                  <a:pt x="1007695" y="1030499"/>
                </a:lnTo>
                <a:lnTo>
                  <a:pt x="1060255" y="1027599"/>
                </a:lnTo>
                <a:lnTo>
                  <a:pt x="1112663" y="1022723"/>
                </a:lnTo>
                <a:lnTo>
                  <a:pt x="1161900" y="1014815"/>
                </a:lnTo>
                <a:lnTo>
                  <a:pt x="2180493" y="1014815"/>
                </a:lnTo>
                <a:lnTo>
                  <a:pt x="2191344" y="1008621"/>
                </a:lnTo>
                <a:lnTo>
                  <a:pt x="2220343" y="988061"/>
                </a:lnTo>
                <a:lnTo>
                  <a:pt x="2243904" y="964206"/>
                </a:lnTo>
                <a:lnTo>
                  <a:pt x="3022957" y="964206"/>
                </a:lnTo>
                <a:lnTo>
                  <a:pt x="3057068" y="951422"/>
                </a:lnTo>
                <a:lnTo>
                  <a:pt x="3099055" y="930731"/>
                </a:lnTo>
                <a:lnTo>
                  <a:pt x="3234184" y="930731"/>
                </a:lnTo>
                <a:lnTo>
                  <a:pt x="3307935" y="922955"/>
                </a:lnTo>
                <a:lnTo>
                  <a:pt x="3356719" y="915047"/>
                </a:lnTo>
                <a:lnTo>
                  <a:pt x="3402029" y="905558"/>
                </a:lnTo>
                <a:lnTo>
                  <a:pt x="3444016" y="894487"/>
                </a:lnTo>
                <a:lnTo>
                  <a:pt x="3481925" y="880385"/>
                </a:lnTo>
                <a:lnTo>
                  <a:pt x="3543849" y="848623"/>
                </a:lnTo>
                <a:lnTo>
                  <a:pt x="3565598" y="829644"/>
                </a:lnTo>
                <a:lnTo>
                  <a:pt x="3565598" y="805790"/>
                </a:lnTo>
                <a:lnTo>
                  <a:pt x="3545661" y="758344"/>
                </a:lnTo>
                <a:lnTo>
                  <a:pt x="3500351" y="712611"/>
                </a:lnTo>
                <a:lnTo>
                  <a:pt x="3467728" y="690338"/>
                </a:lnTo>
                <a:lnTo>
                  <a:pt x="3429366" y="669646"/>
                </a:lnTo>
                <a:lnTo>
                  <a:pt x="3384056" y="649086"/>
                </a:lnTo>
                <a:lnTo>
                  <a:pt x="3336782" y="630108"/>
                </a:lnTo>
                <a:lnTo>
                  <a:pt x="3282410" y="612711"/>
                </a:lnTo>
                <a:lnTo>
                  <a:pt x="3373181" y="581080"/>
                </a:lnTo>
                <a:lnTo>
                  <a:pt x="3458364" y="547605"/>
                </a:lnTo>
                <a:lnTo>
                  <a:pt x="3540073" y="511361"/>
                </a:lnTo>
                <a:lnTo>
                  <a:pt x="3614684" y="474986"/>
                </a:lnTo>
                <a:lnTo>
                  <a:pt x="3687331" y="438347"/>
                </a:lnTo>
                <a:lnTo>
                  <a:pt x="3752577" y="398809"/>
                </a:lnTo>
                <a:lnTo>
                  <a:pt x="3752577" y="371923"/>
                </a:lnTo>
                <a:lnTo>
                  <a:pt x="3730828" y="319601"/>
                </a:lnTo>
                <a:lnTo>
                  <a:pt x="3681743" y="268860"/>
                </a:lnTo>
                <a:lnTo>
                  <a:pt x="3649119" y="243687"/>
                </a:lnTo>
                <a:lnTo>
                  <a:pt x="3609095" y="221414"/>
                </a:lnTo>
                <a:lnTo>
                  <a:pt x="3585459" y="210343"/>
                </a:lnTo>
                <a:lnTo>
                  <a:pt x="1348879" y="210343"/>
                </a:lnTo>
                <a:lnTo>
                  <a:pt x="1285143" y="199272"/>
                </a:lnTo>
                <a:lnTo>
                  <a:pt x="1219897" y="189783"/>
                </a:lnTo>
                <a:lnTo>
                  <a:pt x="1152838" y="183457"/>
                </a:lnTo>
                <a:lnTo>
                  <a:pt x="1085779" y="178976"/>
                </a:lnTo>
                <a:lnTo>
                  <a:pt x="1016757" y="177263"/>
                </a:lnTo>
                <a:close/>
              </a:path>
              <a:path w="3752850" h="1121410">
                <a:moveTo>
                  <a:pt x="3234184" y="930731"/>
                </a:moveTo>
                <a:lnTo>
                  <a:pt x="3099055" y="930731"/>
                </a:lnTo>
                <a:lnTo>
                  <a:pt x="3151615" y="932444"/>
                </a:lnTo>
                <a:lnTo>
                  <a:pt x="3204477" y="932444"/>
                </a:lnTo>
                <a:lnTo>
                  <a:pt x="3234184" y="930731"/>
                </a:lnTo>
                <a:close/>
              </a:path>
              <a:path w="3752850" h="1121410">
                <a:moveTo>
                  <a:pt x="1799261" y="136011"/>
                </a:moveTo>
                <a:lnTo>
                  <a:pt x="1742926" y="136011"/>
                </a:lnTo>
                <a:lnTo>
                  <a:pt x="1684929" y="139306"/>
                </a:lnTo>
                <a:lnTo>
                  <a:pt x="1628593" y="143919"/>
                </a:lnTo>
                <a:lnTo>
                  <a:pt x="1573919" y="150113"/>
                </a:lnTo>
                <a:lnTo>
                  <a:pt x="1521360" y="159602"/>
                </a:lnTo>
                <a:lnTo>
                  <a:pt x="1470461" y="169487"/>
                </a:lnTo>
                <a:lnTo>
                  <a:pt x="1425000" y="181876"/>
                </a:lnTo>
                <a:lnTo>
                  <a:pt x="1385279" y="194660"/>
                </a:lnTo>
                <a:lnTo>
                  <a:pt x="1348879" y="210343"/>
                </a:lnTo>
                <a:lnTo>
                  <a:pt x="3585459" y="210343"/>
                </a:lnTo>
                <a:lnTo>
                  <a:pt x="3565199" y="200854"/>
                </a:lnTo>
                <a:lnTo>
                  <a:pt x="2167783" y="200854"/>
                </a:lnTo>
                <a:lnTo>
                  <a:pt x="2100724" y="173968"/>
                </a:lnTo>
                <a:lnTo>
                  <a:pt x="2058737" y="162897"/>
                </a:lnTo>
                <a:lnTo>
                  <a:pt x="2013276" y="154990"/>
                </a:lnTo>
                <a:lnTo>
                  <a:pt x="1964190" y="147214"/>
                </a:lnTo>
                <a:lnTo>
                  <a:pt x="1911781" y="140624"/>
                </a:lnTo>
                <a:lnTo>
                  <a:pt x="1857409" y="137724"/>
                </a:lnTo>
                <a:lnTo>
                  <a:pt x="1799261" y="136011"/>
                </a:lnTo>
                <a:close/>
              </a:path>
              <a:path w="3752850" h="1121410">
                <a:moveTo>
                  <a:pt x="2756058" y="0"/>
                </a:moveTo>
                <a:lnTo>
                  <a:pt x="2692322" y="0"/>
                </a:lnTo>
                <a:lnTo>
                  <a:pt x="2628888" y="2899"/>
                </a:lnTo>
                <a:lnTo>
                  <a:pt x="2567116" y="7775"/>
                </a:lnTo>
                <a:lnTo>
                  <a:pt x="2507155" y="15683"/>
                </a:lnTo>
                <a:lnTo>
                  <a:pt x="2449007" y="25172"/>
                </a:lnTo>
                <a:lnTo>
                  <a:pt x="2396448" y="36243"/>
                </a:lnTo>
                <a:lnTo>
                  <a:pt x="2347362" y="50740"/>
                </a:lnTo>
                <a:lnTo>
                  <a:pt x="2302052" y="64710"/>
                </a:lnTo>
                <a:lnTo>
                  <a:pt x="2263840" y="82107"/>
                </a:lnTo>
                <a:lnTo>
                  <a:pt x="2204182" y="118746"/>
                </a:lnTo>
                <a:lnTo>
                  <a:pt x="2171106" y="159602"/>
                </a:lnTo>
                <a:lnTo>
                  <a:pt x="2165971" y="180294"/>
                </a:lnTo>
                <a:lnTo>
                  <a:pt x="2167783" y="200854"/>
                </a:lnTo>
                <a:lnTo>
                  <a:pt x="3565199" y="200854"/>
                </a:lnTo>
                <a:lnTo>
                  <a:pt x="3561822" y="199272"/>
                </a:lnTo>
                <a:lnTo>
                  <a:pt x="3511226" y="178976"/>
                </a:lnTo>
                <a:lnTo>
                  <a:pt x="3454890" y="158284"/>
                </a:lnTo>
                <a:lnTo>
                  <a:pt x="3393118" y="140624"/>
                </a:lnTo>
                <a:lnTo>
                  <a:pt x="3327871" y="124940"/>
                </a:lnTo>
                <a:lnTo>
                  <a:pt x="3258849" y="112156"/>
                </a:lnTo>
                <a:lnTo>
                  <a:pt x="3229548" y="93178"/>
                </a:lnTo>
                <a:lnTo>
                  <a:pt x="3193602" y="75913"/>
                </a:lnTo>
                <a:lnTo>
                  <a:pt x="3153427" y="60229"/>
                </a:lnTo>
                <a:lnTo>
                  <a:pt x="3106305" y="44151"/>
                </a:lnTo>
                <a:lnTo>
                  <a:pt x="3055558" y="31367"/>
                </a:lnTo>
                <a:lnTo>
                  <a:pt x="3000884" y="20559"/>
                </a:lnTo>
                <a:lnTo>
                  <a:pt x="2942736" y="12388"/>
                </a:lnTo>
                <a:lnTo>
                  <a:pt x="2883229" y="6194"/>
                </a:lnTo>
                <a:lnTo>
                  <a:pt x="2819492" y="1317"/>
                </a:lnTo>
                <a:lnTo>
                  <a:pt x="27560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07498" y="1696026"/>
            <a:ext cx="3752850" cy="1121410"/>
          </a:xfrm>
          <a:custGeom>
            <a:avLst/>
            <a:gdLst/>
            <a:ahLst/>
            <a:cxnLst/>
            <a:rect l="l" t="t" r="r" b="b"/>
            <a:pathLst>
              <a:path w="3752850" h="1121410">
                <a:moveTo>
                  <a:pt x="539038" y="878804"/>
                </a:moveTo>
                <a:lnTo>
                  <a:pt x="557464" y="918342"/>
                </a:lnTo>
                <a:lnTo>
                  <a:pt x="600962" y="954717"/>
                </a:lnTo>
                <a:lnTo>
                  <a:pt x="668021" y="984766"/>
                </a:lnTo>
                <a:lnTo>
                  <a:pt x="708195" y="997550"/>
                </a:lnTo>
                <a:lnTo>
                  <a:pt x="751693" y="1009939"/>
                </a:lnTo>
                <a:lnTo>
                  <a:pt x="798967" y="1018110"/>
                </a:lnTo>
                <a:lnTo>
                  <a:pt x="849563" y="1024304"/>
                </a:lnTo>
                <a:lnTo>
                  <a:pt x="902425" y="1029313"/>
                </a:lnTo>
                <a:lnTo>
                  <a:pt x="954833" y="1030499"/>
                </a:lnTo>
                <a:lnTo>
                  <a:pt x="1007695" y="1030499"/>
                </a:lnTo>
                <a:lnTo>
                  <a:pt x="1060255" y="1027599"/>
                </a:lnTo>
                <a:lnTo>
                  <a:pt x="1112663" y="1022723"/>
                </a:lnTo>
                <a:lnTo>
                  <a:pt x="1161900" y="1014815"/>
                </a:lnTo>
                <a:lnTo>
                  <a:pt x="1198148" y="1035507"/>
                </a:lnTo>
                <a:lnTo>
                  <a:pt x="1241646" y="1052772"/>
                </a:lnTo>
                <a:lnTo>
                  <a:pt x="1288919" y="1070169"/>
                </a:lnTo>
                <a:lnTo>
                  <a:pt x="1341479" y="1084534"/>
                </a:lnTo>
                <a:lnTo>
                  <a:pt x="1398116" y="1097318"/>
                </a:lnTo>
                <a:lnTo>
                  <a:pt x="1457624" y="1106808"/>
                </a:lnTo>
                <a:lnTo>
                  <a:pt x="1519547" y="1114583"/>
                </a:lnTo>
                <a:lnTo>
                  <a:pt x="1582830" y="1119196"/>
                </a:lnTo>
                <a:lnTo>
                  <a:pt x="1648530" y="1120910"/>
                </a:lnTo>
                <a:lnTo>
                  <a:pt x="1713776" y="1120910"/>
                </a:lnTo>
                <a:lnTo>
                  <a:pt x="1777512" y="1117878"/>
                </a:lnTo>
                <a:lnTo>
                  <a:pt x="1840796" y="1113002"/>
                </a:lnTo>
                <a:lnTo>
                  <a:pt x="1902719" y="1105094"/>
                </a:lnTo>
                <a:lnTo>
                  <a:pt x="1962680" y="1094024"/>
                </a:lnTo>
                <a:lnTo>
                  <a:pt x="2017052" y="1081240"/>
                </a:lnTo>
                <a:lnTo>
                  <a:pt x="2067648" y="1065556"/>
                </a:lnTo>
                <a:lnTo>
                  <a:pt x="2114921" y="1048291"/>
                </a:lnTo>
                <a:lnTo>
                  <a:pt x="2155096" y="1029313"/>
                </a:lnTo>
                <a:lnTo>
                  <a:pt x="2191344" y="1008621"/>
                </a:lnTo>
                <a:lnTo>
                  <a:pt x="2243904" y="964206"/>
                </a:lnTo>
                <a:lnTo>
                  <a:pt x="2243904" y="976858"/>
                </a:lnTo>
                <a:lnTo>
                  <a:pt x="2284079" y="1013234"/>
                </a:lnTo>
                <a:lnTo>
                  <a:pt x="2336487" y="1029313"/>
                </a:lnTo>
                <a:lnTo>
                  <a:pt x="2403546" y="1037088"/>
                </a:lnTo>
                <a:lnTo>
                  <a:pt x="2438133" y="1037088"/>
                </a:lnTo>
                <a:lnTo>
                  <a:pt x="2507155" y="1039988"/>
                </a:lnTo>
                <a:lnTo>
                  <a:pt x="2576026" y="1039988"/>
                </a:lnTo>
                <a:lnTo>
                  <a:pt x="2643236" y="1037088"/>
                </a:lnTo>
                <a:lnTo>
                  <a:pt x="2712259" y="1032212"/>
                </a:lnTo>
                <a:lnTo>
                  <a:pt x="2777807" y="1024304"/>
                </a:lnTo>
                <a:lnTo>
                  <a:pt x="2839278" y="1013234"/>
                </a:lnTo>
                <a:lnTo>
                  <a:pt x="2901202" y="1000450"/>
                </a:lnTo>
                <a:lnTo>
                  <a:pt x="2957386" y="986348"/>
                </a:lnTo>
                <a:lnTo>
                  <a:pt x="3009946" y="969083"/>
                </a:lnTo>
                <a:lnTo>
                  <a:pt x="3057068" y="951422"/>
                </a:lnTo>
                <a:lnTo>
                  <a:pt x="3099055" y="930730"/>
                </a:lnTo>
                <a:lnTo>
                  <a:pt x="3151615" y="932444"/>
                </a:lnTo>
                <a:lnTo>
                  <a:pt x="3204477" y="932444"/>
                </a:lnTo>
                <a:lnTo>
                  <a:pt x="3257036" y="929413"/>
                </a:lnTo>
                <a:lnTo>
                  <a:pt x="3307935" y="922955"/>
                </a:lnTo>
                <a:lnTo>
                  <a:pt x="3356719" y="915047"/>
                </a:lnTo>
                <a:lnTo>
                  <a:pt x="3402029" y="905558"/>
                </a:lnTo>
                <a:lnTo>
                  <a:pt x="3444016" y="894487"/>
                </a:lnTo>
                <a:lnTo>
                  <a:pt x="3481925" y="880385"/>
                </a:lnTo>
                <a:lnTo>
                  <a:pt x="3543849" y="848623"/>
                </a:lnTo>
                <a:lnTo>
                  <a:pt x="3565598" y="829644"/>
                </a:lnTo>
                <a:lnTo>
                  <a:pt x="3565598" y="805790"/>
                </a:lnTo>
                <a:lnTo>
                  <a:pt x="3545661" y="758344"/>
                </a:lnTo>
                <a:lnTo>
                  <a:pt x="3500351" y="712611"/>
                </a:lnTo>
                <a:lnTo>
                  <a:pt x="3467728" y="690338"/>
                </a:lnTo>
                <a:lnTo>
                  <a:pt x="3429366" y="669646"/>
                </a:lnTo>
                <a:lnTo>
                  <a:pt x="3384056" y="649086"/>
                </a:lnTo>
                <a:lnTo>
                  <a:pt x="3336782" y="630108"/>
                </a:lnTo>
                <a:lnTo>
                  <a:pt x="3282410" y="612711"/>
                </a:lnTo>
                <a:lnTo>
                  <a:pt x="3373181" y="581080"/>
                </a:lnTo>
                <a:lnTo>
                  <a:pt x="3458364" y="547605"/>
                </a:lnTo>
                <a:lnTo>
                  <a:pt x="3540073" y="511361"/>
                </a:lnTo>
                <a:lnTo>
                  <a:pt x="3614684" y="474986"/>
                </a:lnTo>
                <a:lnTo>
                  <a:pt x="3687331" y="438347"/>
                </a:lnTo>
                <a:lnTo>
                  <a:pt x="3752577" y="398809"/>
                </a:lnTo>
                <a:lnTo>
                  <a:pt x="3752577" y="371923"/>
                </a:lnTo>
                <a:lnTo>
                  <a:pt x="3730828" y="319601"/>
                </a:lnTo>
                <a:lnTo>
                  <a:pt x="3681743" y="268860"/>
                </a:lnTo>
                <a:lnTo>
                  <a:pt x="3649119" y="243687"/>
                </a:lnTo>
                <a:lnTo>
                  <a:pt x="3609095" y="221414"/>
                </a:lnTo>
                <a:lnTo>
                  <a:pt x="3561822" y="199272"/>
                </a:lnTo>
                <a:lnTo>
                  <a:pt x="3511226" y="178976"/>
                </a:lnTo>
                <a:lnTo>
                  <a:pt x="3454890" y="158284"/>
                </a:lnTo>
                <a:lnTo>
                  <a:pt x="3393118" y="140624"/>
                </a:lnTo>
                <a:lnTo>
                  <a:pt x="3327871" y="124940"/>
                </a:lnTo>
                <a:lnTo>
                  <a:pt x="3258849" y="112156"/>
                </a:lnTo>
                <a:lnTo>
                  <a:pt x="3229548" y="93178"/>
                </a:lnTo>
                <a:lnTo>
                  <a:pt x="3193602" y="75913"/>
                </a:lnTo>
                <a:lnTo>
                  <a:pt x="3153427" y="60229"/>
                </a:lnTo>
                <a:lnTo>
                  <a:pt x="3106305" y="44151"/>
                </a:lnTo>
                <a:lnTo>
                  <a:pt x="3055558" y="31367"/>
                </a:lnTo>
                <a:lnTo>
                  <a:pt x="3000884" y="20559"/>
                </a:lnTo>
                <a:lnTo>
                  <a:pt x="2942736" y="12388"/>
                </a:lnTo>
                <a:lnTo>
                  <a:pt x="2883229" y="6194"/>
                </a:lnTo>
                <a:lnTo>
                  <a:pt x="2819492" y="1317"/>
                </a:lnTo>
                <a:lnTo>
                  <a:pt x="2756058" y="0"/>
                </a:lnTo>
                <a:lnTo>
                  <a:pt x="2692322" y="0"/>
                </a:lnTo>
                <a:lnTo>
                  <a:pt x="2628888" y="2899"/>
                </a:lnTo>
                <a:lnTo>
                  <a:pt x="2567116" y="7775"/>
                </a:lnTo>
                <a:lnTo>
                  <a:pt x="2507155" y="15683"/>
                </a:lnTo>
                <a:lnTo>
                  <a:pt x="2449007" y="25172"/>
                </a:lnTo>
                <a:lnTo>
                  <a:pt x="2396448" y="36243"/>
                </a:lnTo>
                <a:lnTo>
                  <a:pt x="2347362" y="50740"/>
                </a:lnTo>
                <a:lnTo>
                  <a:pt x="2302052" y="64710"/>
                </a:lnTo>
                <a:lnTo>
                  <a:pt x="2263840" y="82107"/>
                </a:lnTo>
                <a:lnTo>
                  <a:pt x="2204182" y="118746"/>
                </a:lnTo>
                <a:lnTo>
                  <a:pt x="2171106" y="159602"/>
                </a:lnTo>
                <a:lnTo>
                  <a:pt x="2165971" y="180294"/>
                </a:lnTo>
                <a:lnTo>
                  <a:pt x="2167783" y="200854"/>
                </a:lnTo>
                <a:lnTo>
                  <a:pt x="2136670" y="188465"/>
                </a:lnTo>
                <a:lnTo>
                  <a:pt x="2100724" y="173968"/>
                </a:lnTo>
                <a:lnTo>
                  <a:pt x="2058737" y="162897"/>
                </a:lnTo>
                <a:lnTo>
                  <a:pt x="2013276" y="154990"/>
                </a:lnTo>
                <a:lnTo>
                  <a:pt x="1964190" y="147214"/>
                </a:lnTo>
                <a:lnTo>
                  <a:pt x="1911781" y="140624"/>
                </a:lnTo>
                <a:lnTo>
                  <a:pt x="1857409" y="137724"/>
                </a:lnTo>
                <a:lnTo>
                  <a:pt x="1799261" y="136011"/>
                </a:lnTo>
                <a:lnTo>
                  <a:pt x="1742926" y="136011"/>
                </a:lnTo>
                <a:lnTo>
                  <a:pt x="1684929" y="139306"/>
                </a:lnTo>
                <a:lnTo>
                  <a:pt x="1628593" y="143919"/>
                </a:lnTo>
                <a:lnTo>
                  <a:pt x="1573919" y="150113"/>
                </a:lnTo>
                <a:lnTo>
                  <a:pt x="1521360" y="159602"/>
                </a:lnTo>
                <a:lnTo>
                  <a:pt x="1470461" y="169487"/>
                </a:lnTo>
                <a:lnTo>
                  <a:pt x="1425000" y="181876"/>
                </a:lnTo>
                <a:lnTo>
                  <a:pt x="1385279" y="194660"/>
                </a:lnTo>
                <a:lnTo>
                  <a:pt x="1348879" y="210343"/>
                </a:lnTo>
                <a:lnTo>
                  <a:pt x="1285143" y="199272"/>
                </a:lnTo>
                <a:lnTo>
                  <a:pt x="1219897" y="189783"/>
                </a:lnTo>
                <a:lnTo>
                  <a:pt x="1152838" y="183457"/>
                </a:lnTo>
                <a:lnTo>
                  <a:pt x="1085779" y="178976"/>
                </a:lnTo>
                <a:lnTo>
                  <a:pt x="1016757" y="177263"/>
                </a:lnTo>
                <a:lnTo>
                  <a:pt x="947735" y="177263"/>
                </a:lnTo>
                <a:lnTo>
                  <a:pt x="878712" y="178976"/>
                </a:lnTo>
                <a:lnTo>
                  <a:pt x="811653" y="181876"/>
                </a:lnTo>
                <a:lnTo>
                  <a:pt x="746105" y="188465"/>
                </a:lnTo>
                <a:lnTo>
                  <a:pt x="684483" y="197954"/>
                </a:lnTo>
                <a:lnTo>
                  <a:pt x="626486" y="207444"/>
                </a:lnTo>
                <a:lnTo>
                  <a:pt x="571661" y="219832"/>
                </a:lnTo>
                <a:lnTo>
                  <a:pt x="521065" y="234198"/>
                </a:lnTo>
                <a:lnTo>
                  <a:pt x="475755" y="249881"/>
                </a:lnTo>
                <a:lnTo>
                  <a:pt x="435580" y="265960"/>
                </a:lnTo>
                <a:lnTo>
                  <a:pt x="374109" y="303917"/>
                </a:lnTo>
                <a:lnTo>
                  <a:pt x="339674" y="346750"/>
                </a:lnTo>
                <a:lnTo>
                  <a:pt x="330310" y="367046"/>
                </a:lnTo>
                <a:lnTo>
                  <a:pt x="330310" y="389320"/>
                </a:lnTo>
                <a:lnTo>
                  <a:pt x="348585" y="433866"/>
                </a:lnTo>
                <a:lnTo>
                  <a:pt x="392082" y="476304"/>
                </a:lnTo>
                <a:lnTo>
                  <a:pt x="424706" y="496996"/>
                </a:lnTo>
                <a:lnTo>
                  <a:pt x="462917" y="515974"/>
                </a:lnTo>
                <a:lnTo>
                  <a:pt x="401144" y="520850"/>
                </a:lnTo>
                <a:lnTo>
                  <a:pt x="342997" y="527045"/>
                </a:lnTo>
                <a:lnTo>
                  <a:pt x="284849" y="536534"/>
                </a:lnTo>
                <a:lnTo>
                  <a:pt x="232440" y="547605"/>
                </a:lnTo>
                <a:lnTo>
                  <a:pt x="183203" y="560389"/>
                </a:lnTo>
                <a:lnTo>
                  <a:pt x="139705" y="574754"/>
                </a:lnTo>
                <a:lnTo>
                  <a:pt x="99682" y="590570"/>
                </a:lnTo>
                <a:lnTo>
                  <a:pt x="40023" y="626813"/>
                </a:lnTo>
                <a:lnTo>
                  <a:pt x="7098" y="666483"/>
                </a:lnTo>
                <a:lnTo>
                  <a:pt x="0" y="687043"/>
                </a:lnTo>
                <a:lnTo>
                  <a:pt x="1812" y="709316"/>
                </a:lnTo>
                <a:lnTo>
                  <a:pt x="23561" y="748854"/>
                </a:lnTo>
                <a:lnTo>
                  <a:pt x="74610" y="786811"/>
                </a:lnTo>
                <a:lnTo>
                  <a:pt x="109046" y="804208"/>
                </a:lnTo>
                <a:lnTo>
                  <a:pt x="148767" y="820155"/>
                </a:lnTo>
                <a:lnTo>
                  <a:pt x="194078" y="834257"/>
                </a:lnTo>
                <a:lnTo>
                  <a:pt x="245127" y="847041"/>
                </a:lnTo>
                <a:lnTo>
                  <a:pt x="297686" y="858112"/>
                </a:lnTo>
                <a:lnTo>
                  <a:pt x="355683" y="866020"/>
                </a:lnTo>
                <a:lnTo>
                  <a:pt x="415795" y="872214"/>
                </a:lnTo>
                <a:lnTo>
                  <a:pt x="477567" y="877090"/>
                </a:lnTo>
                <a:lnTo>
                  <a:pt x="539038" y="878804"/>
                </a:lnTo>
                <a:close/>
              </a:path>
            </a:pathLst>
          </a:custGeom>
          <a:ln w="33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63137" y="1966684"/>
            <a:ext cx="263842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300" b="1" spc="550" dirty="0">
                <a:latin typeface="Courier New"/>
                <a:cs typeface="Courier New"/>
              </a:rPr>
              <a:t>Internet</a:t>
            </a:r>
            <a:r>
              <a:rPr sz="3300" b="1" spc="-1685" dirty="0">
                <a:latin typeface="Courier New"/>
                <a:cs typeface="Courier New"/>
              </a:rPr>
              <a:t> </a:t>
            </a:r>
            <a:endParaRPr sz="3300" dirty="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57729" y="3266710"/>
            <a:ext cx="3002915" cy="1197610"/>
          </a:xfrm>
          <a:custGeom>
            <a:avLst/>
            <a:gdLst/>
            <a:ahLst/>
            <a:cxnLst/>
            <a:rect l="l" t="t" r="r" b="b"/>
            <a:pathLst>
              <a:path w="3002915" h="1197610">
                <a:moveTo>
                  <a:pt x="0" y="1197126"/>
                </a:moveTo>
                <a:lnTo>
                  <a:pt x="3002847" y="1197126"/>
                </a:lnTo>
                <a:lnTo>
                  <a:pt x="3002847" y="0"/>
                </a:lnTo>
                <a:lnTo>
                  <a:pt x="0" y="0"/>
                </a:lnTo>
                <a:lnTo>
                  <a:pt x="0" y="1197126"/>
                </a:lnTo>
                <a:close/>
              </a:path>
            </a:pathLst>
          </a:custGeom>
          <a:ln w="290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90521" y="3266710"/>
            <a:ext cx="2980690" cy="1197610"/>
          </a:xfrm>
          <a:custGeom>
            <a:avLst/>
            <a:gdLst/>
            <a:ahLst/>
            <a:cxnLst/>
            <a:rect l="l" t="t" r="r" b="b"/>
            <a:pathLst>
              <a:path w="2980690" h="1197610">
                <a:moveTo>
                  <a:pt x="0" y="1197126"/>
                </a:moveTo>
                <a:lnTo>
                  <a:pt x="2980645" y="1197126"/>
                </a:lnTo>
                <a:lnTo>
                  <a:pt x="2980645" y="0"/>
                </a:lnTo>
                <a:lnTo>
                  <a:pt x="0" y="0"/>
                </a:lnTo>
                <a:lnTo>
                  <a:pt x="0" y="1197126"/>
                </a:lnTo>
                <a:close/>
              </a:path>
            </a:pathLst>
          </a:custGeom>
          <a:ln w="29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624292" y="3287091"/>
            <a:ext cx="231013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280" dirty="0">
                <a:latin typeface="Courier New"/>
                <a:cs typeface="Courier New"/>
              </a:rPr>
              <a:t>Servlet-Engine</a:t>
            </a:r>
            <a:r>
              <a:rPr sz="1650" b="1" spc="-840" dirty="0">
                <a:latin typeface="Courier New"/>
                <a:cs typeface="Courier New"/>
              </a:rPr>
              <a:t> 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91728" y="1509141"/>
            <a:ext cx="1073150" cy="934719"/>
          </a:xfrm>
          <a:custGeom>
            <a:avLst/>
            <a:gdLst/>
            <a:ahLst/>
            <a:cxnLst/>
            <a:rect l="l" t="t" r="r" b="b"/>
            <a:pathLst>
              <a:path w="1073150" h="934719">
                <a:moveTo>
                  <a:pt x="984191" y="0"/>
                </a:moveTo>
                <a:lnTo>
                  <a:pt x="88866" y="0"/>
                </a:lnTo>
                <a:lnTo>
                  <a:pt x="88866" y="544449"/>
                </a:lnTo>
                <a:lnTo>
                  <a:pt x="0" y="856538"/>
                </a:lnTo>
                <a:lnTo>
                  <a:pt x="0" y="934161"/>
                </a:lnTo>
                <a:lnTo>
                  <a:pt x="1073066" y="934161"/>
                </a:lnTo>
                <a:lnTo>
                  <a:pt x="1073066" y="856538"/>
                </a:lnTo>
                <a:lnTo>
                  <a:pt x="984191" y="544449"/>
                </a:lnTo>
                <a:lnTo>
                  <a:pt x="984191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80596" y="2053584"/>
            <a:ext cx="895350" cy="0"/>
          </a:xfrm>
          <a:custGeom>
            <a:avLst/>
            <a:gdLst/>
            <a:ahLst/>
            <a:cxnLst/>
            <a:rect l="l" t="t" r="r" b="b"/>
            <a:pathLst>
              <a:path w="895350">
                <a:moveTo>
                  <a:pt x="0" y="0"/>
                </a:moveTo>
                <a:lnTo>
                  <a:pt x="895326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91728" y="2365673"/>
            <a:ext cx="1073150" cy="0"/>
          </a:xfrm>
          <a:custGeom>
            <a:avLst/>
            <a:gdLst/>
            <a:ahLst/>
            <a:cxnLst/>
            <a:rect l="l" t="t" r="r" b="b"/>
            <a:pathLst>
              <a:path w="1073150">
                <a:moveTo>
                  <a:pt x="0" y="0"/>
                </a:moveTo>
                <a:lnTo>
                  <a:pt x="1073062" y="0"/>
                </a:lnTo>
              </a:path>
            </a:pathLst>
          </a:custGeom>
          <a:ln w="94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391728" y="1509142"/>
            <a:ext cx="1073150" cy="934719"/>
          </a:xfrm>
          <a:custGeom>
            <a:avLst/>
            <a:gdLst/>
            <a:ahLst/>
            <a:cxnLst/>
            <a:rect l="l" t="t" r="r" b="b"/>
            <a:pathLst>
              <a:path w="1073150" h="934719">
                <a:moveTo>
                  <a:pt x="88868" y="544442"/>
                </a:moveTo>
                <a:lnTo>
                  <a:pt x="88868" y="0"/>
                </a:lnTo>
                <a:lnTo>
                  <a:pt x="984194" y="0"/>
                </a:lnTo>
                <a:lnTo>
                  <a:pt x="984194" y="544442"/>
                </a:lnTo>
                <a:lnTo>
                  <a:pt x="1073062" y="856530"/>
                </a:lnTo>
                <a:lnTo>
                  <a:pt x="1073062" y="934157"/>
                </a:lnTo>
                <a:lnTo>
                  <a:pt x="0" y="934157"/>
                </a:lnTo>
                <a:lnTo>
                  <a:pt x="0" y="856530"/>
                </a:lnTo>
                <a:lnTo>
                  <a:pt x="88868" y="544442"/>
                </a:lnTo>
              </a:path>
            </a:pathLst>
          </a:custGeom>
          <a:ln w="100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37098" y="2112496"/>
            <a:ext cx="982344" cy="213995"/>
          </a:xfrm>
          <a:custGeom>
            <a:avLst/>
            <a:gdLst/>
            <a:ahLst/>
            <a:cxnLst/>
            <a:rect l="l" t="t" r="r" b="b"/>
            <a:pathLst>
              <a:path w="982344" h="213994">
                <a:moveTo>
                  <a:pt x="920458" y="0"/>
                </a:moveTo>
                <a:lnTo>
                  <a:pt x="61863" y="0"/>
                </a:lnTo>
                <a:lnTo>
                  <a:pt x="49116" y="39538"/>
                </a:lnTo>
                <a:lnTo>
                  <a:pt x="931332" y="39538"/>
                </a:lnTo>
                <a:lnTo>
                  <a:pt x="920458" y="0"/>
                </a:lnTo>
                <a:close/>
              </a:path>
              <a:path w="982344" h="213994">
                <a:moveTo>
                  <a:pt x="938824" y="58516"/>
                </a:moveTo>
                <a:lnTo>
                  <a:pt x="43497" y="58516"/>
                </a:lnTo>
                <a:lnTo>
                  <a:pt x="0" y="213638"/>
                </a:lnTo>
                <a:lnTo>
                  <a:pt x="982321" y="213638"/>
                </a:lnTo>
                <a:lnTo>
                  <a:pt x="938824" y="585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86214" y="2112496"/>
            <a:ext cx="882650" cy="40005"/>
          </a:xfrm>
          <a:custGeom>
            <a:avLst/>
            <a:gdLst/>
            <a:ahLst/>
            <a:cxnLst/>
            <a:rect l="l" t="t" r="r" b="b"/>
            <a:pathLst>
              <a:path w="882650" h="40005">
                <a:moveTo>
                  <a:pt x="0" y="39538"/>
                </a:moveTo>
                <a:lnTo>
                  <a:pt x="12747" y="0"/>
                </a:lnTo>
                <a:lnTo>
                  <a:pt x="871342" y="0"/>
                </a:lnTo>
                <a:lnTo>
                  <a:pt x="882216" y="39538"/>
                </a:lnTo>
                <a:lnTo>
                  <a:pt x="0" y="39538"/>
                </a:lnTo>
                <a:close/>
              </a:path>
            </a:pathLst>
          </a:custGeom>
          <a:ln w="327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37098" y="2171013"/>
            <a:ext cx="982344" cy="155575"/>
          </a:xfrm>
          <a:custGeom>
            <a:avLst/>
            <a:gdLst/>
            <a:ahLst/>
            <a:cxnLst/>
            <a:rect l="l" t="t" r="r" b="b"/>
            <a:pathLst>
              <a:path w="982344" h="155575">
                <a:moveTo>
                  <a:pt x="0" y="155121"/>
                </a:moveTo>
                <a:lnTo>
                  <a:pt x="43497" y="0"/>
                </a:lnTo>
                <a:lnTo>
                  <a:pt x="938824" y="0"/>
                </a:lnTo>
                <a:lnTo>
                  <a:pt x="982321" y="155121"/>
                </a:lnTo>
                <a:lnTo>
                  <a:pt x="0" y="155121"/>
                </a:lnTo>
                <a:close/>
              </a:path>
            </a:pathLst>
          </a:custGeom>
          <a:ln w="3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07099" y="1917445"/>
            <a:ext cx="312420" cy="507365"/>
          </a:xfrm>
          <a:custGeom>
            <a:avLst/>
            <a:gdLst/>
            <a:ahLst/>
            <a:cxnLst/>
            <a:rect l="l" t="t" r="r" b="b"/>
            <a:pathLst>
              <a:path w="312419" h="507364">
                <a:moveTo>
                  <a:pt x="155968" y="0"/>
                </a:moveTo>
                <a:lnTo>
                  <a:pt x="145097" y="3289"/>
                </a:lnTo>
                <a:lnTo>
                  <a:pt x="136105" y="9486"/>
                </a:lnTo>
                <a:lnTo>
                  <a:pt x="134226" y="18973"/>
                </a:lnTo>
                <a:lnTo>
                  <a:pt x="136105" y="30175"/>
                </a:lnTo>
                <a:lnTo>
                  <a:pt x="145097" y="36639"/>
                </a:lnTo>
                <a:lnTo>
                  <a:pt x="155968" y="39674"/>
                </a:lnTo>
                <a:lnTo>
                  <a:pt x="167220" y="36639"/>
                </a:lnTo>
                <a:lnTo>
                  <a:pt x="176225" y="30175"/>
                </a:lnTo>
                <a:lnTo>
                  <a:pt x="178092" y="18973"/>
                </a:lnTo>
                <a:lnTo>
                  <a:pt x="176225" y="9486"/>
                </a:lnTo>
                <a:lnTo>
                  <a:pt x="167220" y="3289"/>
                </a:lnTo>
                <a:lnTo>
                  <a:pt x="155968" y="0"/>
                </a:lnTo>
                <a:close/>
              </a:path>
              <a:path w="312419" h="507364">
                <a:moveTo>
                  <a:pt x="312318" y="467207"/>
                </a:moveTo>
                <a:lnTo>
                  <a:pt x="0" y="467207"/>
                </a:lnTo>
                <a:lnTo>
                  <a:pt x="0" y="506882"/>
                </a:lnTo>
                <a:lnTo>
                  <a:pt x="312318" y="506882"/>
                </a:lnTo>
                <a:lnTo>
                  <a:pt x="312318" y="4672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15962" y="1896710"/>
            <a:ext cx="94608" cy="811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07098" y="2384651"/>
            <a:ext cx="312420" cy="40005"/>
          </a:xfrm>
          <a:custGeom>
            <a:avLst/>
            <a:gdLst/>
            <a:ahLst/>
            <a:cxnLst/>
            <a:rect l="l" t="t" r="r" b="b"/>
            <a:pathLst>
              <a:path w="312419" h="40005">
                <a:moveTo>
                  <a:pt x="0" y="39670"/>
                </a:moveTo>
                <a:lnTo>
                  <a:pt x="312322" y="39670"/>
                </a:lnTo>
                <a:lnTo>
                  <a:pt x="312322" y="0"/>
                </a:lnTo>
                <a:lnTo>
                  <a:pt x="0" y="0"/>
                </a:lnTo>
                <a:lnTo>
                  <a:pt x="0" y="39670"/>
                </a:lnTo>
              </a:path>
            </a:pathLst>
          </a:custGeom>
          <a:ln w="32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71698" y="1586760"/>
            <a:ext cx="624840" cy="389890"/>
          </a:xfrm>
          <a:custGeom>
            <a:avLst/>
            <a:gdLst/>
            <a:ahLst/>
            <a:cxnLst/>
            <a:rect l="l" t="t" r="r" b="b"/>
            <a:pathLst>
              <a:path w="624839" h="389889">
                <a:moveTo>
                  <a:pt x="0" y="389333"/>
                </a:moveTo>
                <a:lnTo>
                  <a:pt x="624265" y="389333"/>
                </a:lnTo>
                <a:lnTo>
                  <a:pt x="624265" y="0"/>
                </a:lnTo>
                <a:lnTo>
                  <a:pt x="0" y="0"/>
                </a:lnTo>
                <a:lnTo>
                  <a:pt x="0" y="38933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571699" y="1586769"/>
            <a:ext cx="624840" cy="389890"/>
          </a:xfrm>
          <a:custGeom>
            <a:avLst/>
            <a:gdLst/>
            <a:ahLst/>
            <a:cxnLst/>
            <a:rect l="l" t="t" r="r" b="b"/>
            <a:pathLst>
              <a:path w="624839" h="389889">
                <a:moveTo>
                  <a:pt x="0" y="389320"/>
                </a:moveTo>
                <a:lnTo>
                  <a:pt x="624266" y="389320"/>
                </a:lnTo>
                <a:lnTo>
                  <a:pt x="624266" y="0"/>
                </a:lnTo>
                <a:lnTo>
                  <a:pt x="0" y="0"/>
                </a:lnTo>
                <a:lnTo>
                  <a:pt x="0" y="389320"/>
                </a:lnTo>
              </a:path>
            </a:pathLst>
          </a:custGeom>
          <a:ln w="34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26329" y="1547098"/>
            <a:ext cx="804545" cy="468630"/>
          </a:xfrm>
          <a:custGeom>
            <a:avLst/>
            <a:gdLst/>
            <a:ahLst/>
            <a:cxnLst/>
            <a:rect l="l" t="t" r="r" b="b"/>
            <a:pathLst>
              <a:path w="804544" h="468630">
                <a:moveTo>
                  <a:pt x="0" y="468528"/>
                </a:moveTo>
                <a:lnTo>
                  <a:pt x="804238" y="468528"/>
                </a:lnTo>
                <a:lnTo>
                  <a:pt x="804238" y="0"/>
                </a:lnTo>
                <a:lnTo>
                  <a:pt x="0" y="0"/>
                </a:lnTo>
                <a:lnTo>
                  <a:pt x="0" y="468528"/>
                </a:lnTo>
              </a:path>
            </a:pathLst>
          </a:custGeom>
          <a:ln w="33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41321" y="1586769"/>
            <a:ext cx="67945" cy="59055"/>
          </a:xfrm>
          <a:custGeom>
            <a:avLst/>
            <a:gdLst/>
            <a:ahLst/>
            <a:cxnLst/>
            <a:rect l="l" t="t" r="r" b="b"/>
            <a:pathLst>
              <a:path w="67944" h="59055">
                <a:moveTo>
                  <a:pt x="0" y="58516"/>
                </a:moveTo>
                <a:lnTo>
                  <a:pt x="67496" y="58516"/>
                </a:lnTo>
                <a:lnTo>
                  <a:pt x="67496" y="0"/>
                </a:lnTo>
                <a:lnTo>
                  <a:pt x="0" y="0"/>
                </a:lnTo>
                <a:lnTo>
                  <a:pt x="0" y="58516"/>
                </a:lnTo>
              </a:path>
            </a:pathLst>
          </a:custGeom>
          <a:ln w="34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54063" y="2462296"/>
            <a:ext cx="1548765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385" dirty="0">
                <a:latin typeface="Courier New"/>
                <a:cs typeface="Courier New"/>
              </a:rPr>
              <a:t>Browser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268471" y="4837487"/>
            <a:ext cx="3002915" cy="534035"/>
          </a:xfrm>
          <a:prstGeom prst="rect">
            <a:avLst/>
          </a:prstGeom>
          <a:ln w="28629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75"/>
              </a:lnSpc>
            </a:pPr>
            <a:r>
              <a:rPr sz="1650" b="1" spc="250" dirty="0">
                <a:latin typeface="Courier New"/>
                <a:cs typeface="Courier New"/>
              </a:rPr>
              <a:t>JDBC</a:t>
            </a:r>
            <a:r>
              <a:rPr sz="1650" b="1" spc="430" dirty="0">
                <a:latin typeface="Courier New"/>
                <a:cs typeface="Courier New"/>
              </a:rPr>
              <a:t> </a:t>
            </a:r>
            <a:r>
              <a:rPr sz="1650" spc="260" dirty="0">
                <a:latin typeface="Courier New"/>
                <a:cs typeface="Courier New"/>
              </a:rPr>
              <a:t>(Java</a:t>
            </a:r>
            <a:r>
              <a:rPr sz="1650" spc="-840" dirty="0">
                <a:latin typeface="Courier New"/>
                <a:cs typeface="Courier New"/>
              </a:rPr>
              <a:t> </a:t>
            </a:r>
            <a:endParaRPr sz="165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650" spc="270" dirty="0">
                <a:latin typeface="Courier New"/>
                <a:cs typeface="Courier New"/>
              </a:rPr>
              <a:t>Database</a:t>
            </a:r>
            <a:r>
              <a:rPr sz="1650" spc="420" dirty="0">
                <a:latin typeface="Courier New"/>
                <a:cs typeface="Courier New"/>
              </a:rPr>
              <a:t> </a:t>
            </a:r>
            <a:r>
              <a:rPr sz="1650" spc="265" dirty="0">
                <a:latin typeface="Courier New"/>
                <a:cs typeface="Courier New"/>
              </a:rPr>
              <a:t>Conn.)</a:t>
            </a:r>
            <a:r>
              <a:rPr sz="1650" spc="-840" dirty="0">
                <a:latin typeface="Courier New"/>
                <a:cs typeface="Courier New"/>
              </a:rPr>
              <a:t> 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746484" y="5464683"/>
            <a:ext cx="18415" cy="364490"/>
          </a:xfrm>
          <a:custGeom>
            <a:avLst/>
            <a:gdLst/>
            <a:ahLst/>
            <a:cxnLst/>
            <a:rect l="l" t="t" r="r" b="b"/>
            <a:pathLst>
              <a:path w="18415" h="364489">
                <a:moveTo>
                  <a:pt x="17972" y="0"/>
                </a:moveTo>
                <a:lnTo>
                  <a:pt x="0" y="364147"/>
                </a:lnTo>
              </a:path>
            </a:pathLst>
          </a:custGeom>
          <a:ln w="326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92099" y="5371109"/>
            <a:ext cx="141224" cy="1249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77457" y="5797067"/>
            <a:ext cx="139852" cy="1250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808143" y="3846117"/>
            <a:ext cx="1723389" cy="562610"/>
          </a:xfrm>
          <a:custGeom>
            <a:avLst/>
            <a:gdLst/>
            <a:ahLst/>
            <a:cxnLst/>
            <a:rect l="l" t="t" r="r" b="b"/>
            <a:pathLst>
              <a:path w="1723389" h="562610">
                <a:moveTo>
                  <a:pt x="1722838" y="0"/>
                </a:moveTo>
                <a:lnTo>
                  <a:pt x="0" y="0"/>
                </a:lnTo>
                <a:lnTo>
                  <a:pt x="0" y="491197"/>
                </a:lnTo>
                <a:lnTo>
                  <a:pt x="83672" y="516369"/>
                </a:lnTo>
                <a:lnTo>
                  <a:pt x="169157" y="536929"/>
                </a:lnTo>
                <a:lnTo>
                  <a:pt x="256152" y="549713"/>
                </a:lnTo>
                <a:lnTo>
                  <a:pt x="343148" y="559203"/>
                </a:lnTo>
                <a:lnTo>
                  <a:pt x="430445" y="562102"/>
                </a:lnTo>
                <a:lnTo>
                  <a:pt x="519253" y="559203"/>
                </a:lnTo>
                <a:lnTo>
                  <a:pt x="606248" y="549713"/>
                </a:lnTo>
                <a:lnTo>
                  <a:pt x="693696" y="536929"/>
                </a:lnTo>
                <a:lnTo>
                  <a:pt x="778728" y="516369"/>
                </a:lnTo>
                <a:lnTo>
                  <a:pt x="944110" y="467210"/>
                </a:lnTo>
                <a:lnTo>
                  <a:pt x="1029595" y="446650"/>
                </a:lnTo>
                <a:lnTo>
                  <a:pt x="1116590" y="432285"/>
                </a:lnTo>
                <a:lnTo>
                  <a:pt x="1203887" y="424377"/>
                </a:lnTo>
                <a:lnTo>
                  <a:pt x="1292846" y="421478"/>
                </a:lnTo>
                <a:lnTo>
                  <a:pt x="1722838" y="421478"/>
                </a:lnTo>
                <a:lnTo>
                  <a:pt x="1722838" y="0"/>
                </a:lnTo>
                <a:close/>
              </a:path>
              <a:path w="1723389" h="562610">
                <a:moveTo>
                  <a:pt x="1722838" y="421478"/>
                </a:moveTo>
                <a:lnTo>
                  <a:pt x="1292846" y="421478"/>
                </a:lnTo>
                <a:lnTo>
                  <a:pt x="1379841" y="424377"/>
                </a:lnTo>
                <a:lnTo>
                  <a:pt x="1467139" y="432285"/>
                </a:lnTo>
                <a:lnTo>
                  <a:pt x="1554134" y="446650"/>
                </a:lnTo>
                <a:lnTo>
                  <a:pt x="1639619" y="467210"/>
                </a:lnTo>
                <a:lnTo>
                  <a:pt x="1722838" y="491197"/>
                </a:lnTo>
                <a:lnTo>
                  <a:pt x="1722838" y="421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808143" y="3846117"/>
            <a:ext cx="1723389" cy="562610"/>
          </a:xfrm>
          <a:custGeom>
            <a:avLst/>
            <a:gdLst/>
            <a:ahLst/>
            <a:cxnLst/>
            <a:rect l="l" t="t" r="r" b="b"/>
            <a:pathLst>
              <a:path w="1723389" h="562610">
                <a:moveTo>
                  <a:pt x="0" y="491197"/>
                </a:moveTo>
                <a:lnTo>
                  <a:pt x="0" y="0"/>
                </a:lnTo>
                <a:lnTo>
                  <a:pt x="1722838" y="0"/>
                </a:lnTo>
                <a:lnTo>
                  <a:pt x="1722838" y="491197"/>
                </a:lnTo>
                <a:lnTo>
                  <a:pt x="1639619" y="467210"/>
                </a:lnTo>
                <a:lnTo>
                  <a:pt x="1554134" y="446650"/>
                </a:lnTo>
                <a:lnTo>
                  <a:pt x="1467139" y="432285"/>
                </a:lnTo>
                <a:lnTo>
                  <a:pt x="1379841" y="424377"/>
                </a:lnTo>
                <a:lnTo>
                  <a:pt x="1292846" y="421478"/>
                </a:lnTo>
                <a:lnTo>
                  <a:pt x="1203887" y="424377"/>
                </a:lnTo>
                <a:lnTo>
                  <a:pt x="1116590" y="432285"/>
                </a:lnTo>
                <a:lnTo>
                  <a:pt x="1029595" y="446650"/>
                </a:lnTo>
                <a:lnTo>
                  <a:pt x="944110" y="467210"/>
                </a:lnTo>
                <a:lnTo>
                  <a:pt x="862401" y="491197"/>
                </a:lnTo>
                <a:lnTo>
                  <a:pt x="778728" y="516369"/>
                </a:lnTo>
                <a:lnTo>
                  <a:pt x="693696" y="536929"/>
                </a:lnTo>
                <a:lnTo>
                  <a:pt x="606248" y="549713"/>
                </a:lnTo>
                <a:lnTo>
                  <a:pt x="519253" y="559203"/>
                </a:lnTo>
                <a:lnTo>
                  <a:pt x="430445" y="562102"/>
                </a:lnTo>
                <a:lnTo>
                  <a:pt x="343148" y="559203"/>
                </a:lnTo>
                <a:lnTo>
                  <a:pt x="256152" y="549713"/>
                </a:lnTo>
                <a:lnTo>
                  <a:pt x="169157" y="536929"/>
                </a:lnTo>
                <a:lnTo>
                  <a:pt x="83672" y="516369"/>
                </a:lnTo>
                <a:lnTo>
                  <a:pt x="0" y="491197"/>
                </a:lnTo>
                <a:close/>
              </a:path>
            </a:pathLst>
          </a:custGeom>
          <a:ln w="33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75665" y="2006138"/>
            <a:ext cx="720725" cy="220345"/>
          </a:xfrm>
          <a:custGeom>
            <a:avLst/>
            <a:gdLst/>
            <a:ahLst/>
            <a:cxnLst/>
            <a:rect l="l" t="t" r="r" b="b"/>
            <a:pathLst>
              <a:path w="720725" h="220344">
                <a:moveTo>
                  <a:pt x="0" y="0"/>
                </a:moveTo>
                <a:lnTo>
                  <a:pt x="720641" y="220228"/>
                </a:lnTo>
              </a:path>
            </a:pathLst>
          </a:custGeom>
          <a:ln w="288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375920" y="1958695"/>
            <a:ext cx="155981" cy="1154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41933" y="2158238"/>
            <a:ext cx="156311" cy="11558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99344" y="2910510"/>
            <a:ext cx="45720" cy="264795"/>
          </a:xfrm>
          <a:custGeom>
            <a:avLst/>
            <a:gdLst/>
            <a:ahLst/>
            <a:cxnLst/>
            <a:rect l="l" t="t" r="r" b="b"/>
            <a:pathLst>
              <a:path w="45720" h="264794">
                <a:moveTo>
                  <a:pt x="0" y="0"/>
                </a:moveTo>
                <a:lnTo>
                  <a:pt x="45310" y="264247"/>
                </a:lnTo>
              </a:path>
            </a:pathLst>
          </a:custGeom>
          <a:ln w="325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33788" y="2818523"/>
            <a:ext cx="141668" cy="1299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68231" y="3135223"/>
            <a:ext cx="139852" cy="1315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271800" y="3958670"/>
            <a:ext cx="1427480" cy="261620"/>
          </a:xfrm>
          <a:custGeom>
            <a:avLst/>
            <a:gdLst/>
            <a:ahLst/>
            <a:cxnLst/>
            <a:rect l="l" t="t" r="r" b="b"/>
            <a:pathLst>
              <a:path w="1427479" h="261620">
                <a:moveTo>
                  <a:pt x="0" y="0"/>
                </a:moveTo>
                <a:lnTo>
                  <a:pt x="1427115" y="261084"/>
                </a:lnTo>
              </a:path>
            </a:pathLst>
          </a:custGeom>
          <a:ln w="285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166527" y="3904767"/>
            <a:ext cx="154508" cy="12033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651639" y="4153331"/>
            <a:ext cx="152539" cy="1204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63130" y="4507988"/>
            <a:ext cx="154305" cy="247650"/>
          </a:xfrm>
          <a:custGeom>
            <a:avLst/>
            <a:gdLst/>
            <a:ahLst/>
            <a:cxnLst/>
            <a:rect l="l" t="t" r="r" b="b"/>
            <a:pathLst>
              <a:path w="154304" h="247650">
                <a:moveTo>
                  <a:pt x="0" y="0"/>
                </a:moveTo>
                <a:lnTo>
                  <a:pt x="154054" y="247114"/>
                </a:lnTo>
              </a:path>
            </a:pathLst>
          </a:custGeom>
          <a:ln w="314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512077" y="4425886"/>
            <a:ext cx="130784" cy="13943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639242" y="4699749"/>
            <a:ext cx="130797" cy="13773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022610" y="3752939"/>
            <a:ext cx="1766570" cy="562610"/>
          </a:xfrm>
          <a:custGeom>
            <a:avLst/>
            <a:gdLst/>
            <a:ahLst/>
            <a:cxnLst/>
            <a:rect l="l" t="t" r="r" b="b"/>
            <a:pathLst>
              <a:path w="1766570" h="562610">
                <a:moveTo>
                  <a:pt x="1766336" y="0"/>
                </a:moveTo>
                <a:lnTo>
                  <a:pt x="0" y="0"/>
                </a:lnTo>
                <a:lnTo>
                  <a:pt x="0" y="490801"/>
                </a:lnTo>
                <a:lnTo>
                  <a:pt x="85182" y="515974"/>
                </a:lnTo>
                <a:lnTo>
                  <a:pt x="172480" y="536534"/>
                </a:lnTo>
                <a:lnTo>
                  <a:pt x="261287" y="549318"/>
                </a:lnTo>
                <a:lnTo>
                  <a:pt x="352059" y="558807"/>
                </a:lnTo>
                <a:lnTo>
                  <a:pt x="441017" y="562102"/>
                </a:lnTo>
                <a:lnTo>
                  <a:pt x="531637" y="558807"/>
                </a:lnTo>
                <a:lnTo>
                  <a:pt x="620898" y="549318"/>
                </a:lnTo>
                <a:lnTo>
                  <a:pt x="709706" y="536534"/>
                </a:lnTo>
                <a:lnTo>
                  <a:pt x="796701" y="515974"/>
                </a:lnTo>
                <a:lnTo>
                  <a:pt x="969181" y="465497"/>
                </a:lnTo>
                <a:lnTo>
                  <a:pt x="1056630" y="446518"/>
                </a:lnTo>
                <a:lnTo>
                  <a:pt x="1145437" y="432153"/>
                </a:lnTo>
                <a:lnTo>
                  <a:pt x="1234245" y="424377"/>
                </a:lnTo>
                <a:lnTo>
                  <a:pt x="1325016" y="421082"/>
                </a:lnTo>
                <a:lnTo>
                  <a:pt x="1766336" y="421082"/>
                </a:lnTo>
                <a:lnTo>
                  <a:pt x="1766336" y="0"/>
                </a:lnTo>
                <a:close/>
              </a:path>
              <a:path w="1766570" h="562610">
                <a:moveTo>
                  <a:pt x="1766336" y="421082"/>
                </a:moveTo>
                <a:lnTo>
                  <a:pt x="1325016" y="421082"/>
                </a:lnTo>
                <a:lnTo>
                  <a:pt x="1414277" y="424377"/>
                </a:lnTo>
                <a:lnTo>
                  <a:pt x="1505048" y="432153"/>
                </a:lnTo>
                <a:lnTo>
                  <a:pt x="1593856" y="446518"/>
                </a:lnTo>
                <a:lnTo>
                  <a:pt x="1680851" y="465497"/>
                </a:lnTo>
                <a:lnTo>
                  <a:pt x="1766336" y="490801"/>
                </a:lnTo>
                <a:lnTo>
                  <a:pt x="1766336" y="4210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022610" y="3752939"/>
            <a:ext cx="1766570" cy="562610"/>
          </a:xfrm>
          <a:custGeom>
            <a:avLst/>
            <a:gdLst/>
            <a:ahLst/>
            <a:cxnLst/>
            <a:rect l="l" t="t" r="r" b="b"/>
            <a:pathLst>
              <a:path w="1766570" h="562610">
                <a:moveTo>
                  <a:pt x="0" y="490801"/>
                </a:moveTo>
                <a:lnTo>
                  <a:pt x="0" y="0"/>
                </a:lnTo>
                <a:lnTo>
                  <a:pt x="1766336" y="0"/>
                </a:lnTo>
                <a:lnTo>
                  <a:pt x="1766336" y="490801"/>
                </a:lnTo>
                <a:lnTo>
                  <a:pt x="1680851" y="465497"/>
                </a:lnTo>
                <a:lnTo>
                  <a:pt x="1593856" y="446518"/>
                </a:lnTo>
                <a:lnTo>
                  <a:pt x="1505048" y="432153"/>
                </a:lnTo>
                <a:lnTo>
                  <a:pt x="1414277" y="424377"/>
                </a:lnTo>
                <a:lnTo>
                  <a:pt x="1325016" y="421082"/>
                </a:lnTo>
                <a:lnTo>
                  <a:pt x="1234245" y="424377"/>
                </a:lnTo>
                <a:lnTo>
                  <a:pt x="1145437" y="432153"/>
                </a:lnTo>
                <a:lnTo>
                  <a:pt x="1056630" y="446518"/>
                </a:lnTo>
                <a:lnTo>
                  <a:pt x="969181" y="465497"/>
                </a:lnTo>
                <a:lnTo>
                  <a:pt x="882186" y="490801"/>
                </a:lnTo>
                <a:lnTo>
                  <a:pt x="796701" y="515974"/>
                </a:lnTo>
                <a:lnTo>
                  <a:pt x="709706" y="536534"/>
                </a:lnTo>
                <a:lnTo>
                  <a:pt x="620898" y="549318"/>
                </a:lnTo>
                <a:lnTo>
                  <a:pt x="531637" y="558807"/>
                </a:lnTo>
                <a:lnTo>
                  <a:pt x="441017" y="562102"/>
                </a:lnTo>
                <a:lnTo>
                  <a:pt x="352059" y="558807"/>
                </a:lnTo>
                <a:lnTo>
                  <a:pt x="261287" y="549318"/>
                </a:lnTo>
                <a:lnTo>
                  <a:pt x="172480" y="536534"/>
                </a:lnTo>
                <a:lnTo>
                  <a:pt x="85182" y="515974"/>
                </a:lnTo>
                <a:lnTo>
                  <a:pt x="0" y="490801"/>
                </a:lnTo>
                <a:close/>
              </a:path>
            </a:pathLst>
          </a:custGeom>
          <a:ln w="3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36775" y="3659365"/>
            <a:ext cx="1929764" cy="562610"/>
          </a:xfrm>
          <a:custGeom>
            <a:avLst/>
            <a:gdLst/>
            <a:ahLst/>
            <a:cxnLst/>
            <a:rect l="l" t="t" r="r" b="b"/>
            <a:pathLst>
              <a:path w="1929764" h="562610">
                <a:moveTo>
                  <a:pt x="1929754" y="0"/>
                </a:moveTo>
                <a:lnTo>
                  <a:pt x="0" y="0"/>
                </a:lnTo>
                <a:lnTo>
                  <a:pt x="0" y="490801"/>
                </a:lnTo>
                <a:lnTo>
                  <a:pt x="94395" y="516238"/>
                </a:lnTo>
                <a:lnTo>
                  <a:pt x="190453" y="535216"/>
                </a:lnTo>
                <a:lnTo>
                  <a:pt x="286812" y="549582"/>
                </a:lnTo>
                <a:lnTo>
                  <a:pt x="384682" y="559071"/>
                </a:lnTo>
                <a:lnTo>
                  <a:pt x="482854" y="562102"/>
                </a:lnTo>
                <a:lnTo>
                  <a:pt x="580723" y="559071"/>
                </a:lnTo>
                <a:lnTo>
                  <a:pt x="678895" y="549582"/>
                </a:lnTo>
                <a:lnTo>
                  <a:pt x="775254" y="535216"/>
                </a:lnTo>
                <a:lnTo>
                  <a:pt x="871312" y="516238"/>
                </a:lnTo>
                <a:lnTo>
                  <a:pt x="1060255" y="465497"/>
                </a:lnTo>
                <a:lnTo>
                  <a:pt x="1154801" y="446518"/>
                </a:lnTo>
                <a:lnTo>
                  <a:pt x="1252520" y="432153"/>
                </a:lnTo>
                <a:lnTo>
                  <a:pt x="1350843" y="424377"/>
                </a:lnTo>
                <a:lnTo>
                  <a:pt x="1448713" y="421346"/>
                </a:lnTo>
                <a:lnTo>
                  <a:pt x="1929754" y="421346"/>
                </a:lnTo>
                <a:lnTo>
                  <a:pt x="1929754" y="0"/>
                </a:lnTo>
                <a:close/>
              </a:path>
              <a:path w="1929764" h="562610">
                <a:moveTo>
                  <a:pt x="1929754" y="421346"/>
                </a:moveTo>
                <a:lnTo>
                  <a:pt x="1448713" y="421346"/>
                </a:lnTo>
                <a:lnTo>
                  <a:pt x="1546884" y="424377"/>
                </a:lnTo>
                <a:lnTo>
                  <a:pt x="1644754" y="432153"/>
                </a:lnTo>
                <a:lnTo>
                  <a:pt x="1741113" y="446518"/>
                </a:lnTo>
                <a:lnTo>
                  <a:pt x="1837171" y="465497"/>
                </a:lnTo>
                <a:lnTo>
                  <a:pt x="1929754" y="490801"/>
                </a:lnTo>
                <a:lnTo>
                  <a:pt x="1929754" y="42134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36775" y="3659365"/>
            <a:ext cx="1929764" cy="562610"/>
          </a:xfrm>
          <a:custGeom>
            <a:avLst/>
            <a:gdLst/>
            <a:ahLst/>
            <a:cxnLst/>
            <a:rect l="l" t="t" r="r" b="b"/>
            <a:pathLst>
              <a:path w="1929764" h="562610">
                <a:moveTo>
                  <a:pt x="0" y="490801"/>
                </a:moveTo>
                <a:lnTo>
                  <a:pt x="0" y="0"/>
                </a:lnTo>
                <a:lnTo>
                  <a:pt x="1929754" y="0"/>
                </a:lnTo>
                <a:lnTo>
                  <a:pt x="1929754" y="490801"/>
                </a:lnTo>
                <a:lnTo>
                  <a:pt x="1837171" y="465497"/>
                </a:lnTo>
                <a:lnTo>
                  <a:pt x="1741113" y="446518"/>
                </a:lnTo>
                <a:lnTo>
                  <a:pt x="1644754" y="432153"/>
                </a:lnTo>
                <a:lnTo>
                  <a:pt x="1546884" y="424377"/>
                </a:lnTo>
                <a:lnTo>
                  <a:pt x="1448713" y="421346"/>
                </a:lnTo>
                <a:lnTo>
                  <a:pt x="1350843" y="424377"/>
                </a:lnTo>
                <a:lnTo>
                  <a:pt x="1252520" y="432153"/>
                </a:lnTo>
                <a:lnTo>
                  <a:pt x="1154801" y="446518"/>
                </a:lnTo>
                <a:lnTo>
                  <a:pt x="1060255" y="465497"/>
                </a:lnTo>
                <a:lnTo>
                  <a:pt x="965708" y="490801"/>
                </a:lnTo>
                <a:lnTo>
                  <a:pt x="871312" y="516238"/>
                </a:lnTo>
                <a:lnTo>
                  <a:pt x="775254" y="535216"/>
                </a:lnTo>
                <a:lnTo>
                  <a:pt x="678895" y="549582"/>
                </a:lnTo>
                <a:lnTo>
                  <a:pt x="580723" y="559071"/>
                </a:lnTo>
                <a:lnTo>
                  <a:pt x="482854" y="562102"/>
                </a:lnTo>
                <a:lnTo>
                  <a:pt x="384682" y="559071"/>
                </a:lnTo>
                <a:lnTo>
                  <a:pt x="286812" y="549582"/>
                </a:lnTo>
                <a:lnTo>
                  <a:pt x="190453" y="535216"/>
                </a:lnTo>
                <a:lnTo>
                  <a:pt x="94395" y="516238"/>
                </a:lnTo>
                <a:lnTo>
                  <a:pt x="0" y="490801"/>
                </a:lnTo>
                <a:close/>
              </a:path>
            </a:pathLst>
          </a:custGeom>
          <a:ln w="33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311071" y="3287091"/>
            <a:ext cx="1776095" cy="766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b="1" spc="275" dirty="0">
                <a:latin typeface="Courier New"/>
                <a:cs typeface="Courier New"/>
              </a:rPr>
              <a:t>Webserver</a:t>
            </a:r>
            <a:r>
              <a:rPr sz="1650" b="1" spc="-840" dirty="0">
                <a:latin typeface="Courier New"/>
                <a:cs typeface="Courier New"/>
              </a:rPr>
              <a:t> </a:t>
            </a:r>
            <a:endParaRPr sz="1650">
              <a:latin typeface="Courier New"/>
              <a:cs typeface="Courier New"/>
            </a:endParaRPr>
          </a:p>
          <a:p>
            <a:pPr marL="6985" algn="ctr">
              <a:lnSpc>
                <a:spcPct val="100000"/>
              </a:lnSpc>
              <a:spcBef>
                <a:spcPts val="1040"/>
              </a:spcBef>
            </a:pPr>
            <a:r>
              <a:rPr sz="1100" spc="185" dirty="0">
                <a:latin typeface="Courier New"/>
                <a:cs typeface="Courier New"/>
              </a:rPr>
              <a:t>Vorlesungs-</a:t>
            </a:r>
            <a:r>
              <a:rPr sz="1100" spc="-560" dirty="0">
                <a:latin typeface="Courier New"/>
                <a:cs typeface="Courier New"/>
              </a:rPr>
              <a:t> </a:t>
            </a:r>
            <a:endParaRPr sz="1100">
              <a:latin typeface="Courier New"/>
              <a:cs typeface="Courier New"/>
            </a:endParaRPr>
          </a:p>
          <a:p>
            <a:pPr marL="19685">
              <a:lnSpc>
                <a:spcPct val="100000"/>
              </a:lnSpc>
              <a:spcBef>
                <a:spcPts val="175"/>
              </a:spcBef>
            </a:pPr>
            <a:r>
              <a:rPr sz="1100" spc="185" dirty="0">
                <a:latin typeface="Courier New"/>
                <a:cs typeface="Courier New"/>
              </a:rPr>
              <a:t>Verzeichnis.html</a:t>
            </a:r>
            <a:r>
              <a:rPr sz="1100" spc="-560" dirty="0">
                <a:latin typeface="Courier New"/>
                <a:cs typeface="Courier New"/>
              </a:rPr>
              <a:t> 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662812" y="3678343"/>
            <a:ext cx="1362075" cy="374015"/>
          </a:xfrm>
          <a:custGeom>
            <a:avLst/>
            <a:gdLst/>
            <a:ahLst/>
            <a:cxnLst/>
            <a:rect l="l" t="t" r="r" b="b"/>
            <a:pathLst>
              <a:path w="1362075" h="374014">
                <a:moveTo>
                  <a:pt x="0" y="373636"/>
                </a:moveTo>
                <a:lnTo>
                  <a:pt x="1361717" y="373636"/>
                </a:lnTo>
                <a:lnTo>
                  <a:pt x="1361717" y="0"/>
                </a:lnTo>
                <a:lnTo>
                  <a:pt x="0" y="0"/>
                </a:lnTo>
                <a:lnTo>
                  <a:pt x="0" y="373636"/>
                </a:lnTo>
              </a:path>
            </a:pathLst>
          </a:custGeom>
          <a:ln w="33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770046" y="3678343"/>
            <a:ext cx="0" cy="187325"/>
          </a:xfrm>
          <a:custGeom>
            <a:avLst/>
            <a:gdLst/>
            <a:ahLst/>
            <a:cxnLst/>
            <a:rect l="l" t="t" r="r" b="b"/>
            <a:pathLst>
              <a:path h="187325">
                <a:moveTo>
                  <a:pt x="0" y="0"/>
                </a:moveTo>
                <a:lnTo>
                  <a:pt x="0" y="186836"/>
                </a:lnTo>
              </a:path>
            </a:pathLst>
          </a:custGeom>
          <a:ln w="3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917296" y="3678343"/>
            <a:ext cx="0" cy="374015"/>
          </a:xfrm>
          <a:custGeom>
            <a:avLst/>
            <a:gdLst/>
            <a:ahLst/>
            <a:cxnLst/>
            <a:rect l="l" t="t" r="r" b="b"/>
            <a:pathLst>
              <a:path h="374014">
                <a:moveTo>
                  <a:pt x="0" y="373636"/>
                </a:moveTo>
                <a:lnTo>
                  <a:pt x="0" y="0"/>
                </a:lnTo>
              </a:path>
            </a:pathLst>
          </a:custGeom>
          <a:ln w="3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013347" y="3697366"/>
            <a:ext cx="66040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spc="155" dirty="0">
                <a:latin typeface="Courier New"/>
                <a:cs typeface="Courier New"/>
              </a:rPr>
              <a:t>Servlet</a:t>
            </a:r>
            <a:r>
              <a:rPr sz="900" spc="-455" dirty="0">
                <a:latin typeface="Courier New"/>
                <a:cs typeface="Courier New"/>
              </a:rPr>
              <a:t> 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071509" y="3887825"/>
            <a:ext cx="544195" cy="131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5"/>
              </a:lnSpc>
            </a:pPr>
            <a:r>
              <a:rPr sz="900" spc="170" dirty="0">
                <a:latin typeface="Courier New"/>
                <a:cs typeface="Courier New"/>
              </a:rPr>
              <a:t>VrlVr</a:t>
            </a:r>
            <a:r>
              <a:rPr sz="900" spc="85" dirty="0">
                <a:latin typeface="Courier New"/>
                <a:cs typeface="Courier New"/>
              </a:rPr>
              <a:t>z</a:t>
            </a:r>
            <a:r>
              <a:rPr sz="900" spc="-455" dirty="0">
                <a:latin typeface="Courier New"/>
                <a:cs typeface="Courier New"/>
              </a:rPr>
              <a:t> 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8232804" y="3865180"/>
            <a:ext cx="1416685" cy="374015"/>
          </a:xfrm>
          <a:custGeom>
            <a:avLst/>
            <a:gdLst/>
            <a:ahLst/>
            <a:cxnLst/>
            <a:rect l="l" t="t" r="r" b="b"/>
            <a:pathLst>
              <a:path w="1416684" h="374014">
                <a:moveTo>
                  <a:pt x="0" y="373952"/>
                </a:moveTo>
                <a:lnTo>
                  <a:pt x="1416113" y="373952"/>
                </a:lnTo>
                <a:lnTo>
                  <a:pt x="1416113" y="0"/>
                </a:lnTo>
                <a:lnTo>
                  <a:pt x="0" y="0"/>
                </a:lnTo>
                <a:lnTo>
                  <a:pt x="0" y="373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8232820" y="3865096"/>
            <a:ext cx="1416685" cy="374650"/>
          </a:xfrm>
          <a:custGeom>
            <a:avLst/>
            <a:gdLst/>
            <a:ahLst/>
            <a:cxnLst/>
            <a:rect l="l" t="t" r="r" b="b"/>
            <a:pathLst>
              <a:path w="1416684" h="374650">
                <a:moveTo>
                  <a:pt x="0" y="374032"/>
                </a:moveTo>
                <a:lnTo>
                  <a:pt x="1416089" y="374032"/>
                </a:lnTo>
                <a:lnTo>
                  <a:pt x="1416089" y="0"/>
                </a:lnTo>
                <a:lnTo>
                  <a:pt x="0" y="0"/>
                </a:lnTo>
                <a:lnTo>
                  <a:pt x="0" y="374032"/>
                </a:lnTo>
              </a:path>
            </a:pathLst>
          </a:custGeom>
          <a:ln w="33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339600" y="3865096"/>
            <a:ext cx="0" cy="187325"/>
          </a:xfrm>
          <a:custGeom>
            <a:avLst/>
            <a:gdLst/>
            <a:ahLst/>
            <a:cxnLst/>
            <a:rect l="l" t="t" r="r" b="b"/>
            <a:pathLst>
              <a:path h="187325">
                <a:moveTo>
                  <a:pt x="0" y="0"/>
                </a:moveTo>
                <a:lnTo>
                  <a:pt x="0" y="186837"/>
                </a:lnTo>
              </a:path>
            </a:pathLst>
          </a:custGeom>
          <a:ln w="3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9541675" y="3865096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374032"/>
                </a:moveTo>
                <a:lnTo>
                  <a:pt x="0" y="0"/>
                </a:lnTo>
              </a:path>
            </a:pathLst>
          </a:custGeom>
          <a:ln w="3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662812" y="3865096"/>
            <a:ext cx="879475" cy="187325"/>
          </a:xfrm>
          <a:prstGeom prst="rect">
            <a:avLst/>
          </a:prstGeom>
          <a:ln w="3749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r>
              <a:rPr sz="900" spc="85" dirty="0">
                <a:latin typeface="Courier New"/>
                <a:cs typeface="Courier New"/>
              </a:rPr>
              <a:t>S</a:t>
            </a:r>
            <a:r>
              <a:rPr sz="900" spc="-375" dirty="0">
                <a:latin typeface="Courier New"/>
                <a:cs typeface="Courier New"/>
              </a:rPr>
              <a:t> </a:t>
            </a:r>
            <a:r>
              <a:rPr sz="900" spc="155" dirty="0">
                <a:latin typeface="Courier New"/>
                <a:cs typeface="Courier New"/>
              </a:rPr>
              <a:t>ervlet</a:t>
            </a:r>
            <a:r>
              <a:rPr sz="900" spc="-455" dirty="0">
                <a:latin typeface="Courier New"/>
                <a:cs typeface="Courier New"/>
              </a:rPr>
              <a:t> 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668400" y="4074578"/>
            <a:ext cx="544195" cy="131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35"/>
              </a:lnSpc>
            </a:pPr>
            <a:r>
              <a:rPr sz="900" spc="170" dirty="0">
                <a:latin typeface="Courier New"/>
                <a:cs typeface="Courier New"/>
              </a:rPr>
              <a:t>VrlVr</a:t>
            </a:r>
            <a:r>
              <a:rPr sz="900" spc="85" dirty="0">
                <a:latin typeface="Courier New"/>
                <a:cs typeface="Courier New"/>
              </a:rPr>
              <a:t>z</a:t>
            </a:r>
            <a:r>
              <a:rPr sz="900" spc="-455" dirty="0">
                <a:latin typeface="Courier New"/>
                <a:cs typeface="Courier New"/>
              </a:rPr>
              <a:t> 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804179" y="4051933"/>
            <a:ext cx="1416685" cy="374015"/>
          </a:xfrm>
          <a:custGeom>
            <a:avLst/>
            <a:gdLst/>
            <a:ahLst/>
            <a:cxnLst/>
            <a:rect l="l" t="t" r="r" b="b"/>
            <a:pathLst>
              <a:path w="1416684" h="374014">
                <a:moveTo>
                  <a:pt x="0" y="373952"/>
                </a:moveTo>
                <a:lnTo>
                  <a:pt x="1416113" y="373952"/>
                </a:lnTo>
                <a:lnTo>
                  <a:pt x="1416113" y="0"/>
                </a:lnTo>
                <a:lnTo>
                  <a:pt x="0" y="0"/>
                </a:lnTo>
                <a:lnTo>
                  <a:pt x="0" y="3739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804186" y="4051980"/>
            <a:ext cx="1416685" cy="374015"/>
          </a:xfrm>
          <a:custGeom>
            <a:avLst/>
            <a:gdLst/>
            <a:ahLst/>
            <a:cxnLst/>
            <a:rect l="l" t="t" r="r" b="b"/>
            <a:pathLst>
              <a:path w="1416684" h="374014">
                <a:moveTo>
                  <a:pt x="0" y="373900"/>
                </a:moveTo>
                <a:lnTo>
                  <a:pt x="1416089" y="373900"/>
                </a:lnTo>
                <a:lnTo>
                  <a:pt x="1416089" y="0"/>
                </a:lnTo>
                <a:lnTo>
                  <a:pt x="0" y="0"/>
                </a:lnTo>
                <a:lnTo>
                  <a:pt x="0" y="373900"/>
                </a:lnTo>
              </a:path>
            </a:pathLst>
          </a:custGeom>
          <a:ln w="33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911420" y="4051980"/>
            <a:ext cx="0" cy="374015"/>
          </a:xfrm>
          <a:custGeom>
            <a:avLst/>
            <a:gdLst/>
            <a:ahLst/>
            <a:cxnLst/>
            <a:rect l="l" t="t" r="r" b="b"/>
            <a:pathLst>
              <a:path h="374014">
                <a:moveTo>
                  <a:pt x="0" y="373900"/>
                </a:moveTo>
                <a:lnTo>
                  <a:pt x="0" y="0"/>
                </a:lnTo>
              </a:path>
            </a:pathLst>
          </a:custGeom>
          <a:ln w="3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9113043" y="4051980"/>
            <a:ext cx="0" cy="374015"/>
          </a:xfrm>
          <a:custGeom>
            <a:avLst/>
            <a:gdLst/>
            <a:ahLst/>
            <a:cxnLst/>
            <a:rect l="l" t="t" r="r" b="b"/>
            <a:pathLst>
              <a:path h="374014">
                <a:moveTo>
                  <a:pt x="0" y="373900"/>
                </a:moveTo>
                <a:lnTo>
                  <a:pt x="0" y="0"/>
                </a:lnTo>
              </a:path>
            </a:pathLst>
          </a:custGeom>
          <a:ln w="3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8054737" y="3981652"/>
            <a:ext cx="1058545" cy="469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5565" marR="149860" indent="-63500">
              <a:lnSpc>
                <a:spcPct val="116399"/>
              </a:lnSpc>
              <a:spcBef>
                <a:spcPts val="90"/>
              </a:spcBef>
            </a:pPr>
            <a:r>
              <a:rPr sz="1250" spc="225" dirty="0">
                <a:latin typeface="Courier New"/>
                <a:cs typeface="Courier New"/>
              </a:rPr>
              <a:t>Servlet  VrlVrz</a:t>
            </a:r>
            <a:r>
              <a:rPr sz="1250" spc="-640" dirty="0">
                <a:latin typeface="Courier New"/>
                <a:cs typeface="Courier New"/>
              </a:rPr>
              <a:t> 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7239613" y="5922086"/>
            <a:ext cx="3002915" cy="991869"/>
          </a:xfrm>
          <a:custGeom>
            <a:avLst/>
            <a:gdLst/>
            <a:ahLst/>
            <a:cxnLst/>
            <a:rect l="l" t="t" r="r" b="b"/>
            <a:pathLst>
              <a:path w="3002915" h="991870">
                <a:moveTo>
                  <a:pt x="1501127" y="0"/>
                </a:moveTo>
                <a:lnTo>
                  <a:pt x="1296022" y="3276"/>
                </a:lnTo>
                <a:lnTo>
                  <a:pt x="1096657" y="9486"/>
                </a:lnTo>
                <a:lnTo>
                  <a:pt x="998334" y="14389"/>
                </a:lnTo>
                <a:lnTo>
                  <a:pt x="903935" y="20612"/>
                </a:lnTo>
                <a:lnTo>
                  <a:pt x="720585" y="36639"/>
                </a:lnTo>
                <a:lnTo>
                  <a:pt x="553694" y="55613"/>
                </a:lnTo>
                <a:lnTo>
                  <a:pt x="477265" y="66738"/>
                </a:lnTo>
                <a:lnTo>
                  <a:pt x="404926" y="79171"/>
                </a:lnTo>
                <a:lnTo>
                  <a:pt x="337705" y="91922"/>
                </a:lnTo>
                <a:lnTo>
                  <a:pt x="273977" y="104698"/>
                </a:lnTo>
                <a:lnTo>
                  <a:pt x="217792" y="118757"/>
                </a:lnTo>
                <a:lnTo>
                  <a:pt x="125209" y="148869"/>
                </a:lnTo>
                <a:lnTo>
                  <a:pt x="86842" y="164884"/>
                </a:lnTo>
                <a:lnTo>
                  <a:pt x="30657" y="197929"/>
                </a:lnTo>
                <a:lnTo>
                  <a:pt x="3632" y="231317"/>
                </a:lnTo>
                <a:lnTo>
                  <a:pt x="0" y="248640"/>
                </a:lnTo>
                <a:lnTo>
                  <a:pt x="0" y="744310"/>
                </a:lnTo>
                <a:lnTo>
                  <a:pt x="30657" y="795025"/>
                </a:lnTo>
                <a:lnTo>
                  <a:pt x="86842" y="826761"/>
                </a:lnTo>
                <a:lnTo>
                  <a:pt x="125209" y="842471"/>
                </a:lnTo>
                <a:lnTo>
                  <a:pt x="168706" y="858497"/>
                </a:lnTo>
                <a:lnTo>
                  <a:pt x="217792" y="872572"/>
                </a:lnTo>
                <a:lnTo>
                  <a:pt x="273977" y="886964"/>
                </a:lnTo>
                <a:lnTo>
                  <a:pt x="337705" y="901026"/>
                </a:lnTo>
                <a:lnTo>
                  <a:pt x="404926" y="913784"/>
                </a:lnTo>
                <a:lnTo>
                  <a:pt x="477265" y="924907"/>
                </a:lnTo>
                <a:lnTo>
                  <a:pt x="635393" y="947167"/>
                </a:lnTo>
                <a:lnTo>
                  <a:pt x="720585" y="956644"/>
                </a:lnTo>
                <a:lnTo>
                  <a:pt x="811352" y="964498"/>
                </a:lnTo>
                <a:lnTo>
                  <a:pt x="1096657" y="983476"/>
                </a:lnTo>
                <a:lnTo>
                  <a:pt x="1296022" y="989698"/>
                </a:lnTo>
                <a:lnTo>
                  <a:pt x="1399628" y="991331"/>
                </a:lnTo>
                <a:lnTo>
                  <a:pt x="1603222" y="991331"/>
                </a:lnTo>
                <a:lnTo>
                  <a:pt x="1706676" y="989698"/>
                </a:lnTo>
                <a:lnTo>
                  <a:pt x="1906041" y="983476"/>
                </a:lnTo>
                <a:lnTo>
                  <a:pt x="2191042" y="964498"/>
                </a:lnTo>
                <a:lnTo>
                  <a:pt x="2282113" y="956644"/>
                </a:lnTo>
                <a:lnTo>
                  <a:pt x="2367292" y="947167"/>
                </a:lnTo>
                <a:lnTo>
                  <a:pt x="2449004" y="936044"/>
                </a:lnTo>
                <a:lnTo>
                  <a:pt x="2597772" y="913784"/>
                </a:lnTo>
                <a:lnTo>
                  <a:pt x="2664980" y="901026"/>
                </a:lnTo>
                <a:lnTo>
                  <a:pt x="2728721" y="886964"/>
                </a:lnTo>
                <a:lnTo>
                  <a:pt x="2783090" y="872572"/>
                </a:lnTo>
                <a:lnTo>
                  <a:pt x="2833992" y="858497"/>
                </a:lnTo>
                <a:lnTo>
                  <a:pt x="2877489" y="842471"/>
                </a:lnTo>
                <a:lnTo>
                  <a:pt x="2915843" y="826761"/>
                </a:lnTo>
                <a:lnTo>
                  <a:pt x="2972028" y="795025"/>
                </a:lnTo>
                <a:lnTo>
                  <a:pt x="2999066" y="760020"/>
                </a:lnTo>
                <a:lnTo>
                  <a:pt x="3002699" y="744310"/>
                </a:lnTo>
                <a:lnTo>
                  <a:pt x="3002699" y="248640"/>
                </a:lnTo>
                <a:lnTo>
                  <a:pt x="2972028" y="197929"/>
                </a:lnTo>
                <a:lnTo>
                  <a:pt x="2915843" y="164884"/>
                </a:lnTo>
                <a:lnTo>
                  <a:pt x="2877489" y="148869"/>
                </a:lnTo>
                <a:lnTo>
                  <a:pt x="2783090" y="118757"/>
                </a:lnTo>
                <a:lnTo>
                  <a:pt x="2728721" y="104698"/>
                </a:lnTo>
                <a:lnTo>
                  <a:pt x="2664980" y="91922"/>
                </a:lnTo>
                <a:lnTo>
                  <a:pt x="2597772" y="79171"/>
                </a:lnTo>
                <a:lnTo>
                  <a:pt x="2525128" y="66738"/>
                </a:lnTo>
                <a:lnTo>
                  <a:pt x="2449004" y="55613"/>
                </a:lnTo>
                <a:lnTo>
                  <a:pt x="2282113" y="36639"/>
                </a:lnTo>
                <a:lnTo>
                  <a:pt x="2098763" y="20612"/>
                </a:lnTo>
                <a:lnTo>
                  <a:pt x="2004364" y="14389"/>
                </a:lnTo>
                <a:lnTo>
                  <a:pt x="1906041" y="9486"/>
                </a:lnTo>
                <a:lnTo>
                  <a:pt x="1706676" y="3276"/>
                </a:lnTo>
                <a:lnTo>
                  <a:pt x="15011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239623" y="5922088"/>
            <a:ext cx="3002915" cy="991869"/>
          </a:xfrm>
          <a:custGeom>
            <a:avLst/>
            <a:gdLst/>
            <a:ahLst/>
            <a:cxnLst/>
            <a:rect l="l" t="t" r="r" b="b"/>
            <a:pathLst>
              <a:path w="3002915" h="991870">
                <a:moveTo>
                  <a:pt x="0" y="248643"/>
                </a:moveTo>
                <a:lnTo>
                  <a:pt x="0" y="744308"/>
                </a:lnTo>
                <a:lnTo>
                  <a:pt x="3624" y="760017"/>
                </a:lnTo>
                <a:lnTo>
                  <a:pt x="30659" y="795022"/>
                </a:lnTo>
                <a:lnTo>
                  <a:pt x="86844" y="826758"/>
                </a:lnTo>
                <a:lnTo>
                  <a:pt x="125206" y="842468"/>
                </a:lnTo>
                <a:lnTo>
                  <a:pt x="168704" y="858494"/>
                </a:lnTo>
                <a:lnTo>
                  <a:pt x="217790" y="872570"/>
                </a:lnTo>
                <a:lnTo>
                  <a:pt x="273974" y="886962"/>
                </a:lnTo>
                <a:lnTo>
                  <a:pt x="337710" y="901024"/>
                </a:lnTo>
                <a:lnTo>
                  <a:pt x="404920" y="913782"/>
                </a:lnTo>
                <a:lnTo>
                  <a:pt x="477265" y="924905"/>
                </a:lnTo>
                <a:lnTo>
                  <a:pt x="553688" y="936042"/>
                </a:lnTo>
                <a:lnTo>
                  <a:pt x="635397" y="947165"/>
                </a:lnTo>
                <a:lnTo>
                  <a:pt x="720580" y="956641"/>
                </a:lnTo>
                <a:lnTo>
                  <a:pt x="811351" y="964496"/>
                </a:lnTo>
                <a:lnTo>
                  <a:pt x="903935" y="970717"/>
                </a:lnTo>
                <a:lnTo>
                  <a:pt x="998331" y="977254"/>
                </a:lnTo>
                <a:lnTo>
                  <a:pt x="1096654" y="983475"/>
                </a:lnTo>
                <a:lnTo>
                  <a:pt x="1196336" y="986743"/>
                </a:lnTo>
                <a:lnTo>
                  <a:pt x="1296018" y="989695"/>
                </a:lnTo>
                <a:lnTo>
                  <a:pt x="1399627" y="991329"/>
                </a:lnTo>
                <a:lnTo>
                  <a:pt x="1501121" y="991329"/>
                </a:lnTo>
                <a:lnTo>
                  <a:pt x="1603220" y="991329"/>
                </a:lnTo>
                <a:lnTo>
                  <a:pt x="1706678" y="989695"/>
                </a:lnTo>
                <a:lnTo>
                  <a:pt x="1806360" y="986743"/>
                </a:lnTo>
                <a:lnTo>
                  <a:pt x="1906042" y="983475"/>
                </a:lnTo>
                <a:lnTo>
                  <a:pt x="2004365" y="977254"/>
                </a:lnTo>
                <a:lnTo>
                  <a:pt x="2098761" y="970717"/>
                </a:lnTo>
                <a:lnTo>
                  <a:pt x="2191042" y="964496"/>
                </a:lnTo>
                <a:lnTo>
                  <a:pt x="2282115" y="956641"/>
                </a:lnTo>
                <a:lnTo>
                  <a:pt x="2367298" y="947165"/>
                </a:lnTo>
                <a:lnTo>
                  <a:pt x="2449007" y="936042"/>
                </a:lnTo>
                <a:lnTo>
                  <a:pt x="2525128" y="924905"/>
                </a:lnTo>
                <a:lnTo>
                  <a:pt x="2597775" y="913782"/>
                </a:lnTo>
                <a:lnTo>
                  <a:pt x="2664985" y="901024"/>
                </a:lnTo>
                <a:lnTo>
                  <a:pt x="2728721" y="886962"/>
                </a:lnTo>
                <a:lnTo>
                  <a:pt x="2783093" y="872570"/>
                </a:lnTo>
                <a:lnTo>
                  <a:pt x="2833992" y="858494"/>
                </a:lnTo>
                <a:lnTo>
                  <a:pt x="2877489" y="842468"/>
                </a:lnTo>
                <a:lnTo>
                  <a:pt x="2915852" y="826758"/>
                </a:lnTo>
                <a:lnTo>
                  <a:pt x="2972036" y="795022"/>
                </a:lnTo>
                <a:lnTo>
                  <a:pt x="2999071" y="760017"/>
                </a:lnTo>
                <a:lnTo>
                  <a:pt x="3002696" y="744308"/>
                </a:lnTo>
                <a:lnTo>
                  <a:pt x="3002696" y="248643"/>
                </a:lnTo>
                <a:lnTo>
                  <a:pt x="2972036" y="197928"/>
                </a:lnTo>
                <a:lnTo>
                  <a:pt x="2915852" y="164887"/>
                </a:lnTo>
                <a:lnTo>
                  <a:pt x="2877489" y="148861"/>
                </a:lnTo>
                <a:lnTo>
                  <a:pt x="2833992" y="134785"/>
                </a:lnTo>
                <a:lnTo>
                  <a:pt x="2783093" y="118759"/>
                </a:lnTo>
                <a:lnTo>
                  <a:pt x="2728721" y="104697"/>
                </a:lnTo>
                <a:lnTo>
                  <a:pt x="2664985" y="91926"/>
                </a:lnTo>
                <a:lnTo>
                  <a:pt x="2597775" y="79168"/>
                </a:lnTo>
                <a:lnTo>
                  <a:pt x="2525128" y="66740"/>
                </a:lnTo>
                <a:lnTo>
                  <a:pt x="2449007" y="55617"/>
                </a:lnTo>
                <a:lnTo>
                  <a:pt x="2367298" y="46127"/>
                </a:lnTo>
                <a:lnTo>
                  <a:pt x="2282115" y="36638"/>
                </a:lnTo>
                <a:lnTo>
                  <a:pt x="2191042" y="28454"/>
                </a:lnTo>
                <a:lnTo>
                  <a:pt x="2098761" y="20612"/>
                </a:lnTo>
                <a:lnTo>
                  <a:pt x="2004365" y="14391"/>
                </a:lnTo>
                <a:lnTo>
                  <a:pt x="1906042" y="9489"/>
                </a:lnTo>
                <a:lnTo>
                  <a:pt x="1806360" y="6536"/>
                </a:lnTo>
                <a:lnTo>
                  <a:pt x="1706678" y="3268"/>
                </a:lnTo>
                <a:lnTo>
                  <a:pt x="1603220" y="1634"/>
                </a:lnTo>
                <a:lnTo>
                  <a:pt x="1501121" y="0"/>
                </a:lnTo>
                <a:lnTo>
                  <a:pt x="1399627" y="1634"/>
                </a:lnTo>
                <a:lnTo>
                  <a:pt x="1296018" y="3268"/>
                </a:lnTo>
                <a:lnTo>
                  <a:pt x="1196336" y="6536"/>
                </a:lnTo>
                <a:lnTo>
                  <a:pt x="1096654" y="9489"/>
                </a:lnTo>
                <a:lnTo>
                  <a:pt x="998331" y="14391"/>
                </a:lnTo>
                <a:lnTo>
                  <a:pt x="903935" y="20612"/>
                </a:lnTo>
                <a:lnTo>
                  <a:pt x="811351" y="28454"/>
                </a:lnTo>
                <a:lnTo>
                  <a:pt x="720580" y="36638"/>
                </a:lnTo>
                <a:lnTo>
                  <a:pt x="635397" y="46127"/>
                </a:lnTo>
                <a:lnTo>
                  <a:pt x="553688" y="55617"/>
                </a:lnTo>
                <a:lnTo>
                  <a:pt x="477265" y="66740"/>
                </a:lnTo>
                <a:lnTo>
                  <a:pt x="404920" y="79168"/>
                </a:lnTo>
                <a:lnTo>
                  <a:pt x="337710" y="91926"/>
                </a:lnTo>
                <a:lnTo>
                  <a:pt x="273974" y="104697"/>
                </a:lnTo>
                <a:lnTo>
                  <a:pt x="217790" y="118759"/>
                </a:lnTo>
                <a:lnTo>
                  <a:pt x="168704" y="134785"/>
                </a:lnTo>
                <a:lnTo>
                  <a:pt x="125206" y="148861"/>
                </a:lnTo>
                <a:lnTo>
                  <a:pt x="86844" y="164887"/>
                </a:lnTo>
                <a:lnTo>
                  <a:pt x="30659" y="197928"/>
                </a:lnTo>
                <a:lnTo>
                  <a:pt x="3624" y="231312"/>
                </a:lnTo>
                <a:lnTo>
                  <a:pt x="0" y="248643"/>
                </a:lnTo>
              </a:path>
            </a:pathLst>
          </a:custGeom>
          <a:ln w="2887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239623" y="6170731"/>
            <a:ext cx="3002915" cy="247650"/>
          </a:xfrm>
          <a:custGeom>
            <a:avLst/>
            <a:gdLst/>
            <a:ahLst/>
            <a:cxnLst/>
            <a:rect l="l" t="t" r="r" b="b"/>
            <a:pathLst>
              <a:path w="3002915" h="247650">
                <a:moveTo>
                  <a:pt x="0" y="0"/>
                </a:moveTo>
                <a:lnTo>
                  <a:pt x="30659" y="50714"/>
                </a:lnTo>
                <a:lnTo>
                  <a:pt x="86844" y="82450"/>
                </a:lnTo>
                <a:lnTo>
                  <a:pt x="125206" y="98160"/>
                </a:lnTo>
                <a:lnTo>
                  <a:pt x="168704" y="114186"/>
                </a:lnTo>
                <a:lnTo>
                  <a:pt x="217790" y="128248"/>
                </a:lnTo>
                <a:lnTo>
                  <a:pt x="273974" y="142654"/>
                </a:lnTo>
                <a:lnTo>
                  <a:pt x="337710" y="156716"/>
                </a:lnTo>
                <a:lnTo>
                  <a:pt x="404920" y="169474"/>
                </a:lnTo>
                <a:lnTo>
                  <a:pt x="477265" y="180597"/>
                </a:lnTo>
                <a:lnTo>
                  <a:pt x="553688" y="191721"/>
                </a:lnTo>
                <a:lnTo>
                  <a:pt x="635397" y="202844"/>
                </a:lnTo>
                <a:lnTo>
                  <a:pt x="720580" y="210699"/>
                </a:lnTo>
                <a:lnTo>
                  <a:pt x="811351" y="220188"/>
                </a:lnTo>
                <a:lnTo>
                  <a:pt x="903935" y="226409"/>
                </a:lnTo>
                <a:lnTo>
                  <a:pt x="998331" y="232946"/>
                </a:lnTo>
                <a:lnTo>
                  <a:pt x="1096654" y="237532"/>
                </a:lnTo>
                <a:lnTo>
                  <a:pt x="1196336" y="242435"/>
                </a:lnTo>
                <a:lnTo>
                  <a:pt x="1296018" y="245387"/>
                </a:lnTo>
                <a:lnTo>
                  <a:pt x="1399627" y="247021"/>
                </a:lnTo>
                <a:lnTo>
                  <a:pt x="1501121" y="247021"/>
                </a:lnTo>
                <a:lnTo>
                  <a:pt x="1603220" y="247021"/>
                </a:lnTo>
                <a:lnTo>
                  <a:pt x="1706678" y="245387"/>
                </a:lnTo>
                <a:lnTo>
                  <a:pt x="1806360" y="242435"/>
                </a:lnTo>
                <a:lnTo>
                  <a:pt x="1906042" y="237532"/>
                </a:lnTo>
                <a:lnTo>
                  <a:pt x="2004365" y="232946"/>
                </a:lnTo>
                <a:lnTo>
                  <a:pt x="2098761" y="226409"/>
                </a:lnTo>
                <a:lnTo>
                  <a:pt x="2191042" y="220188"/>
                </a:lnTo>
                <a:lnTo>
                  <a:pt x="2282115" y="210699"/>
                </a:lnTo>
                <a:lnTo>
                  <a:pt x="2367298" y="202844"/>
                </a:lnTo>
                <a:lnTo>
                  <a:pt x="2449007" y="191721"/>
                </a:lnTo>
                <a:lnTo>
                  <a:pt x="2525128" y="180597"/>
                </a:lnTo>
                <a:lnTo>
                  <a:pt x="2597775" y="169474"/>
                </a:lnTo>
                <a:lnTo>
                  <a:pt x="2664985" y="156716"/>
                </a:lnTo>
                <a:lnTo>
                  <a:pt x="2728721" y="142654"/>
                </a:lnTo>
                <a:lnTo>
                  <a:pt x="2783093" y="128248"/>
                </a:lnTo>
                <a:lnTo>
                  <a:pt x="2833992" y="114186"/>
                </a:lnTo>
                <a:lnTo>
                  <a:pt x="2877489" y="98160"/>
                </a:lnTo>
                <a:lnTo>
                  <a:pt x="2915852" y="82450"/>
                </a:lnTo>
                <a:lnTo>
                  <a:pt x="2972036" y="50714"/>
                </a:lnTo>
                <a:lnTo>
                  <a:pt x="2999071" y="16039"/>
                </a:lnTo>
                <a:lnTo>
                  <a:pt x="3002696" y="0"/>
                </a:lnTo>
              </a:path>
            </a:pathLst>
          </a:custGeom>
          <a:ln w="284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239623" y="6294406"/>
            <a:ext cx="3002915" cy="248920"/>
          </a:xfrm>
          <a:custGeom>
            <a:avLst/>
            <a:gdLst/>
            <a:ahLst/>
            <a:cxnLst/>
            <a:rect l="l" t="t" r="r" b="b"/>
            <a:pathLst>
              <a:path w="3002915" h="248920">
                <a:moveTo>
                  <a:pt x="0" y="0"/>
                </a:moveTo>
                <a:lnTo>
                  <a:pt x="30659" y="50714"/>
                </a:lnTo>
                <a:lnTo>
                  <a:pt x="86844" y="82120"/>
                </a:lnTo>
                <a:lnTo>
                  <a:pt x="125206" y="98147"/>
                </a:lnTo>
                <a:lnTo>
                  <a:pt x="168704" y="113857"/>
                </a:lnTo>
                <a:lnTo>
                  <a:pt x="217790" y="128248"/>
                </a:lnTo>
                <a:lnTo>
                  <a:pt x="273974" y="142324"/>
                </a:lnTo>
                <a:lnTo>
                  <a:pt x="337710" y="156716"/>
                </a:lnTo>
                <a:lnTo>
                  <a:pt x="404920" y="169474"/>
                </a:lnTo>
                <a:lnTo>
                  <a:pt x="477265" y="180268"/>
                </a:lnTo>
                <a:lnTo>
                  <a:pt x="553688" y="191391"/>
                </a:lnTo>
                <a:lnTo>
                  <a:pt x="635397" y="202515"/>
                </a:lnTo>
                <a:lnTo>
                  <a:pt x="720580" y="212004"/>
                </a:lnTo>
                <a:lnTo>
                  <a:pt x="811351" y="219859"/>
                </a:lnTo>
                <a:lnTo>
                  <a:pt x="903935" y="228043"/>
                </a:lnTo>
                <a:lnTo>
                  <a:pt x="998331" y="232616"/>
                </a:lnTo>
                <a:lnTo>
                  <a:pt x="1096654" y="238837"/>
                </a:lnTo>
                <a:lnTo>
                  <a:pt x="1196336" y="242106"/>
                </a:lnTo>
                <a:lnTo>
                  <a:pt x="1296018" y="245374"/>
                </a:lnTo>
                <a:lnTo>
                  <a:pt x="1399627" y="247008"/>
                </a:lnTo>
                <a:lnTo>
                  <a:pt x="1501121" y="248656"/>
                </a:lnTo>
                <a:lnTo>
                  <a:pt x="1603220" y="247008"/>
                </a:lnTo>
                <a:lnTo>
                  <a:pt x="1706678" y="245374"/>
                </a:lnTo>
                <a:lnTo>
                  <a:pt x="1806360" y="242106"/>
                </a:lnTo>
                <a:lnTo>
                  <a:pt x="1906042" y="238837"/>
                </a:lnTo>
                <a:lnTo>
                  <a:pt x="2004365" y="232616"/>
                </a:lnTo>
                <a:lnTo>
                  <a:pt x="2098761" y="228043"/>
                </a:lnTo>
                <a:lnTo>
                  <a:pt x="2191042" y="219859"/>
                </a:lnTo>
                <a:lnTo>
                  <a:pt x="2282115" y="212004"/>
                </a:lnTo>
                <a:lnTo>
                  <a:pt x="2367298" y="202515"/>
                </a:lnTo>
                <a:lnTo>
                  <a:pt x="2449007" y="191391"/>
                </a:lnTo>
                <a:lnTo>
                  <a:pt x="2525128" y="180268"/>
                </a:lnTo>
                <a:lnTo>
                  <a:pt x="2597775" y="169474"/>
                </a:lnTo>
                <a:lnTo>
                  <a:pt x="2664985" y="156716"/>
                </a:lnTo>
                <a:lnTo>
                  <a:pt x="2728721" y="142324"/>
                </a:lnTo>
                <a:lnTo>
                  <a:pt x="2783093" y="128248"/>
                </a:lnTo>
                <a:lnTo>
                  <a:pt x="2833992" y="113857"/>
                </a:lnTo>
                <a:lnTo>
                  <a:pt x="2877489" y="98147"/>
                </a:lnTo>
                <a:lnTo>
                  <a:pt x="2915852" y="82120"/>
                </a:lnTo>
                <a:lnTo>
                  <a:pt x="2972036" y="50714"/>
                </a:lnTo>
                <a:lnTo>
                  <a:pt x="2999071" y="17344"/>
                </a:lnTo>
                <a:lnTo>
                  <a:pt x="3002696" y="0"/>
                </a:lnTo>
              </a:path>
            </a:pathLst>
          </a:custGeom>
          <a:ln w="284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239623" y="6417753"/>
            <a:ext cx="3002915" cy="248920"/>
          </a:xfrm>
          <a:custGeom>
            <a:avLst/>
            <a:gdLst/>
            <a:ahLst/>
            <a:cxnLst/>
            <a:rect l="l" t="t" r="r" b="b"/>
            <a:pathLst>
              <a:path w="3002915" h="248920">
                <a:moveTo>
                  <a:pt x="0" y="0"/>
                </a:moveTo>
                <a:lnTo>
                  <a:pt x="30659" y="50714"/>
                </a:lnTo>
                <a:lnTo>
                  <a:pt x="86844" y="84084"/>
                </a:lnTo>
                <a:lnTo>
                  <a:pt x="125206" y="99781"/>
                </a:lnTo>
                <a:lnTo>
                  <a:pt x="168704" y="114186"/>
                </a:lnTo>
                <a:lnTo>
                  <a:pt x="217790" y="129883"/>
                </a:lnTo>
                <a:lnTo>
                  <a:pt x="273974" y="144275"/>
                </a:lnTo>
                <a:lnTo>
                  <a:pt x="337710" y="156716"/>
                </a:lnTo>
                <a:lnTo>
                  <a:pt x="404920" y="169474"/>
                </a:lnTo>
                <a:lnTo>
                  <a:pt x="477265" y="182231"/>
                </a:lnTo>
                <a:lnTo>
                  <a:pt x="553688" y="193355"/>
                </a:lnTo>
                <a:lnTo>
                  <a:pt x="635397" y="202844"/>
                </a:lnTo>
                <a:lnTo>
                  <a:pt x="720580" y="212333"/>
                </a:lnTo>
                <a:lnTo>
                  <a:pt x="811351" y="220188"/>
                </a:lnTo>
                <a:lnTo>
                  <a:pt x="903935" y="228030"/>
                </a:lnTo>
                <a:lnTo>
                  <a:pt x="998331" y="234251"/>
                </a:lnTo>
                <a:lnTo>
                  <a:pt x="1096654" y="239153"/>
                </a:lnTo>
                <a:lnTo>
                  <a:pt x="1196336" y="244069"/>
                </a:lnTo>
                <a:lnTo>
                  <a:pt x="1296018" y="245374"/>
                </a:lnTo>
                <a:lnTo>
                  <a:pt x="1399627" y="247008"/>
                </a:lnTo>
                <a:lnTo>
                  <a:pt x="1501121" y="248643"/>
                </a:lnTo>
                <a:lnTo>
                  <a:pt x="1603220" y="247008"/>
                </a:lnTo>
                <a:lnTo>
                  <a:pt x="1706678" y="245374"/>
                </a:lnTo>
                <a:lnTo>
                  <a:pt x="1806360" y="244069"/>
                </a:lnTo>
                <a:lnTo>
                  <a:pt x="1906042" y="239153"/>
                </a:lnTo>
                <a:lnTo>
                  <a:pt x="2004365" y="234251"/>
                </a:lnTo>
                <a:lnTo>
                  <a:pt x="2098761" y="228030"/>
                </a:lnTo>
                <a:lnTo>
                  <a:pt x="2191042" y="220188"/>
                </a:lnTo>
                <a:lnTo>
                  <a:pt x="2282115" y="212333"/>
                </a:lnTo>
                <a:lnTo>
                  <a:pt x="2367298" y="202844"/>
                </a:lnTo>
                <a:lnTo>
                  <a:pt x="2449007" y="193355"/>
                </a:lnTo>
                <a:lnTo>
                  <a:pt x="2525128" y="182231"/>
                </a:lnTo>
                <a:lnTo>
                  <a:pt x="2597775" y="169474"/>
                </a:lnTo>
                <a:lnTo>
                  <a:pt x="2664985" y="156716"/>
                </a:lnTo>
                <a:lnTo>
                  <a:pt x="2728721" y="144275"/>
                </a:lnTo>
                <a:lnTo>
                  <a:pt x="2783093" y="129883"/>
                </a:lnTo>
                <a:lnTo>
                  <a:pt x="2833992" y="114186"/>
                </a:lnTo>
                <a:lnTo>
                  <a:pt x="2877489" y="99781"/>
                </a:lnTo>
                <a:lnTo>
                  <a:pt x="2915852" y="84084"/>
                </a:lnTo>
                <a:lnTo>
                  <a:pt x="2972036" y="50714"/>
                </a:lnTo>
                <a:lnTo>
                  <a:pt x="2999071" y="17330"/>
                </a:lnTo>
                <a:lnTo>
                  <a:pt x="3002696" y="0"/>
                </a:lnTo>
              </a:path>
            </a:pathLst>
          </a:custGeom>
          <a:ln w="284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7747989" y="6021927"/>
            <a:ext cx="1983739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385" dirty="0">
                <a:latin typeface="Courier New"/>
                <a:cs typeface="Courier New"/>
              </a:rPr>
              <a:t>Datenbank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3" name="object 3">
            <a:extLst>
              <a:ext uri="{FF2B5EF4-FFF2-40B4-BE49-F238E27FC236}">
                <a16:creationId xmlns:a16="http://schemas.microsoft.com/office/drawing/2014/main" id="{D20E1306-0F17-D984-3706-D83BE035F61B}"/>
              </a:ext>
            </a:extLst>
          </p:cNvPr>
          <p:cNvSpPr txBox="1">
            <a:spLocks/>
          </p:cNvSpPr>
          <p:nvPr/>
        </p:nvSpPr>
        <p:spPr>
          <a:xfrm>
            <a:off x="1200356" y="654050"/>
            <a:ext cx="6553200" cy="540000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12700" rIns="0" bIns="0" rtlCol="0" anchor="ctr">
            <a:spAutoFit/>
          </a:bodyPr>
          <a:lstStyle>
            <a:lvl1pPr marL="78932" algn="l" defTabSz="80194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sz="2193" b="0" i="0" kern="1200" baseline="0">
                <a:solidFill>
                  <a:schemeClr val="bg1"/>
                </a:solidFill>
                <a:latin typeface="TheSansOffice" panose="020B0503040302060204" pitchFamily="34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7700" algn="l"/>
              </a:tabLst>
            </a:pPr>
            <a:r>
              <a:rPr lang="en-GB" spc="-5" dirty="0"/>
              <a:t>Web-</a:t>
            </a:r>
            <a:r>
              <a:rPr lang="en-GB" spc="-5" dirty="0" err="1"/>
              <a:t>Anbindung</a:t>
            </a:r>
            <a:r>
              <a:rPr lang="en-GB" spc="-5" dirty="0"/>
              <a:t> von </a:t>
            </a:r>
            <a:r>
              <a:rPr lang="en-GB" spc="-5" dirty="0" err="1"/>
              <a:t>Datenbanken</a:t>
            </a:r>
            <a:r>
              <a:rPr lang="en-GB" spc="-5" dirty="0"/>
              <a:t> via Servlets, JDBC, etc.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42309-D200-9845-8B64-60E6BAF0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0" y="630321"/>
            <a:ext cx="6553200" cy="540000"/>
          </a:xfrm>
        </p:spPr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Beispiel</a:t>
            </a:r>
            <a:endParaRPr lang="en-US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7339EDD-D978-7543-A5B4-29257792278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9812" y="4823320"/>
            <a:ext cx="8988569" cy="13933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295"/>
              </a:spcBef>
              <a:buNone/>
            </a:pPr>
            <a:endParaRPr lang="en-GB" dirty="0">
              <a:solidFill>
                <a:srgbClr val="FFCC00"/>
              </a:solidFill>
              <a:latin typeface="Webdings"/>
              <a:cs typeface="Webdings"/>
            </a:endParaRPr>
          </a:p>
          <a:p>
            <a:pPr marL="489538" indent="-342900">
              <a:spcBef>
                <a:spcPts val="195"/>
              </a:spcBef>
              <a:buSzPct val="170000"/>
              <a:buFont typeface="Arial" panose="020B0604020202020204" pitchFamily="34" charset="0"/>
              <a:buChar char="•"/>
            </a:pPr>
            <a:r>
              <a:rPr lang="de-DE" sz="2400" spc="-5" dirty="0"/>
              <a:t>Code</a:t>
            </a:r>
          </a:p>
          <a:p>
            <a:pPr marL="489538" indent="-342900">
              <a:spcBef>
                <a:spcPts val="195"/>
              </a:spcBef>
              <a:buSzPct val="170000"/>
              <a:buFont typeface="Arial" panose="020B0604020202020204" pitchFamily="34" charset="0"/>
              <a:buChar char="•"/>
            </a:pPr>
            <a:r>
              <a:rPr lang="en-GB" sz="2400" spc="-5" dirty="0"/>
              <a:t>JDBD Driver (jar)</a:t>
            </a:r>
          </a:p>
          <a:p>
            <a:pPr marL="146638" indent="0">
              <a:spcBef>
                <a:spcPts val="195"/>
              </a:spcBef>
              <a:buNone/>
            </a:pPr>
            <a:endParaRPr spc="-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68F1F-3CAF-6649-802E-D487AFEAE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1797050"/>
            <a:ext cx="48768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635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DF7BD3-48E5-9A4C-9664-EB7E139C7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415" y="1720850"/>
            <a:ext cx="9134965" cy="4095750"/>
          </a:xfrm>
          <a:prstGeom prst="rect">
            <a:avLst/>
          </a:prstGeom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83E61FC0-DBC4-2774-D073-942E8F08A88D}"/>
              </a:ext>
            </a:extLst>
          </p:cNvPr>
          <p:cNvSpPr txBox="1">
            <a:spLocks/>
          </p:cNvSpPr>
          <p:nvPr/>
        </p:nvSpPr>
        <p:spPr>
          <a:xfrm>
            <a:off x="1449812" y="5759450"/>
            <a:ext cx="8988569" cy="13933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>
            <a:lvl1pPr marL="251999" indent="-251999" algn="l" defTabSz="252581" rtl="0" eaLnBrk="1" latinLnBrk="0" hangingPunct="1">
              <a:lnSpc>
                <a:spcPct val="100000"/>
              </a:lnSpc>
              <a:spcBef>
                <a:spcPts val="877"/>
              </a:spcBef>
              <a:buClr>
                <a:srgbClr val="66CC33"/>
              </a:buClr>
              <a:buSzPct val="130000"/>
              <a:buFontTx/>
              <a:buBlip>
                <a:blip r:embed="rId3"/>
              </a:buBlip>
              <a:defRPr sz="1754" kern="1200" baseline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defRPr>
            </a:lvl1pPr>
            <a:lvl2pPr marL="505162" indent="-252581" algn="l" defTabSz="252581" rtl="0" eaLnBrk="1" latinLnBrk="0" hangingPunct="1">
              <a:lnSpc>
                <a:spcPct val="90000"/>
              </a:lnSpc>
              <a:spcBef>
                <a:spcPts val="439"/>
              </a:spcBef>
              <a:buClr>
                <a:srgbClr val="66CC33"/>
              </a:buClr>
              <a:buSzPct val="130000"/>
              <a:buFontTx/>
              <a:buBlip>
                <a:blip r:embed="rId3"/>
              </a:buBlip>
              <a:defRPr sz="1579" kern="1200" baseline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defRPr>
            </a:lvl2pPr>
            <a:lvl3pPr marL="757742" indent="-252581" algn="l" defTabSz="252581" rtl="0" eaLnBrk="1" latinLnBrk="0" hangingPunct="1">
              <a:lnSpc>
                <a:spcPct val="100000"/>
              </a:lnSpc>
              <a:spcBef>
                <a:spcPts val="439"/>
              </a:spcBef>
              <a:buClr>
                <a:srgbClr val="66CC33"/>
              </a:buClr>
              <a:buSzPct val="130000"/>
              <a:buFontTx/>
              <a:buBlip>
                <a:blip r:embed="rId3"/>
              </a:buBlip>
              <a:defRPr sz="1579" kern="1200" baseline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defRPr>
            </a:lvl3pPr>
            <a:lvl4pPr marL="1010324" indent="-252581" algn="l" defTabSz="252581" rtl="0" eaLnBrk="1" latinLnBrk="0" hangingPunct="1">
              <a:lnSpc>
                <a:spcPct val="100000"/>
              </a:lnSpc>
              <a:spcBef>
                <a:spcPts val="439"/>
              </a:spcBef>
              <a:buClr>
                <a:srgbClr val="66CC33"/>
              </a:buClr>
              <a:buSzPct val="130000"/>
              <a:buFontTx/>
              <a:buBlip>
                <a:blip r:embed="rId3"/>
              </a:buBlip>
              <a:defRPr sz="1579" kern="1200" baseline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defRPr>
            </a:lvl4pPr>
            <a:lvl5pPr marL="1262904" indent="-252581" algn="l" defTabSz="252581" rtl="0" eaLnBrk="1" latinLnBrk="0" hangingPunct="1">
              <a:lnSpc>
                <a:spcPct val="100000"/>
              </a:lnSpc>
              <a:spcBef>
                <a:spcPts val="439"/>
              </a:spcBef>
              <a:buClr>
                <a:srgbClr val="66CC33"/>
              </a:buClr>
              <a:buSzPct val="130000"/>
              <a:buFontTx/>
              <a:buBlip>
                <a:blip r:embed="rId3"/>
              </a:buBlip>
              <a:defRPr sz="1579" kern="1200" baseline="0">
                <a:solidFill>
                  <a:schemeClr val="tx1"/>
                </a:solidFill>
                <a:latin typeface="TheSansOffice" panose="020B0503040302060204" pitchFamily="34" charset="0"/>
                <a:ea typeface="+mn-ea"/>
                <a:cs typeface="+mn-cs"/>
              </a:defRPr>
            </a:lvl5pPr>
            <a:lvl6pPr marL="2205347" indent="-200487" algn="l" defTabSz="801945" rtl="0" eaLnBrk="1" latinLnBrk="0" hangingPunct="1">
              <a:lnSpc>
                <a:spcPct val="90000"/>
              </a:lnSpc>
              <a:spcBef>
                <a:spcPts val="439"/>
              </a:spcBef>
              <a:buFont typeface="Arial" panose="020B0604020202020204" pitchFamily="34" charset="0"/>
              <a:buChar char="•"/>
              <a:defRPr sz="1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6318" indent="-200487" algn="l" defTabSz="801945" rtl="0" eaLnBrk="1" latinLnBrk="0" hangingPunct="1">
              <a:lnSpc>
                <a:spcPct val="90000"/>
              </a:lnSpc>
              <a:spcBef>
                <a:spcPts val="439"/>
              </a:spcBef>
              <a:buFont typeface="Arial" panose="020B0604020202020204" pitchFamily="34" charset="0"/>
              <a:buChar char="•"/>
              <a:defRPr sz="1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7291" indent="-200487" algn="l" defTabSz="801945" rtl="0" eaLnBrk="1" latinLnBrk="0" hangingPunct="1">
              <a:lnSpc>
                <a:spcPct val="90000"/>
              </a:lnSpc>
              <a:spcBef>
                <a:spcPts val="439"/>
              </a:spcBef>
              <a:buFont typeface="Arial" panose="020B0604020202020204" pitchFamily="34" charset="0"/>
              <a:buChar char="•"/>
              <a:defRPr sz="1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8264" indent="-200487" algn="l" defTabSz="801945" rtl="0" eaLnBrk="1" latinLnBrk="0" hangingPunct="1">
              <a:lnSpc>
                <a:spcPct val="90000"/>
              </a:lnSpc>
              <a:spcBef>
                <a:spcPts val="439"/>
              </a:spcBef>
              <a:buFont typeface="Arial" panose="020B0604020202020204" pitchFamily="34" charset="0"/>
              <a:buChar char="•"/>
              <a:defRPr sz="15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95"/>
              </a:spcBef>
              <a:buFontTx/>
              <a:buNone/>
            </a:pPr>
            <a:endParaRPr lang="en-GB">
              <a:solidFill>
                <a:srgbClr val="FFCC00"/>
              </a:solidFill>
              <a:latin typeface="Webdings"/>
              <a:cs typeface="Webdings"/>
            </a:endParaRPr>
          </a:p>
          <a:p>
            <a:pPr marL="489538" indent="-342900">
              <a:spcBef>
                <a:spcPts val="195"/>
              </a:spcBef>
              <a:buSzPct val="170000"/>
              <a:buFont typeface="Arial" panose="020B0604020202020204" pitchFamily="34" charset="0"/>
              <a:buChar char="•"/>
            </a:pPr>
            <a:r>
              <a:rPr lang="en-GB" sz="2400" spc="-5"/>
              <a:t>Code</a:t>
            </a:r>
          </a:p>
          <a:p>
            <a:pPr marL="489538" indent="-342900">
              <a:spcBef>
                <a:spcPts val="195"/>
              </a:spcBef>
              <a:buSzPct val="170000"/>
              <a:buFont typeface="Arial" panose="020B0604020202020204" pitchFamily="34" charset="0"/>
              <a:buChar char="•"/>
            </a:pPr>
            <a:r>
              <a:rPr lang="en-GB" sz="2400" spc="-5"/>
              <a:t>JDBD Driver (jar)</a:t>
            </a:r>
          </a:p>
          <a:p>
            <a:pPr marL="146638" indent="0">
              <a:spcBef>
                <a:spcPts val="195"/>
              </a:spcBef>
              <a:buFontTx/>
              <a:buNone/>
            </a:pPr>
            <a:endParaRPr lang="en-GB" spc="-5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ABF5BD3-0AA8-8583-A39C-1E42BDF1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0" y="630321"/>
            <a:ext cx="6553200" cy="540000"/>
          </a:xfrm>
        </p:spPr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Beispiel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520852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AI - HS-Fulda">
      <a:dk1>
        <a:srgbClr val="000000"/>
      </a:dk1>
      <a:lt1>
        <a:sysClr val="window" lastClr="FFFFFF"/>
      </a:lt1>
      <a:dk2>
        <a:srgbClr val="889194"/>
      </a:dk2>
      <a:lt2>
        <a:srgbClr val="EDEFEF"/>
      </a:lt2>
      <a:accent1>
        <a:srgbClr val="66CC33"/>
      </a:accent1>
      <a:accent2>
        <a:srgbClr val="004C87"/>
      </a:accent2>
      <a:accent3>
        <a:srgbClr val="A5A5A5"/>
      </a:accent3>
      <a:accent4>
        <a:srgbClr val="94DB70"/>
      </a:accent4>
      <a:accent5>
        <a:srgbClr val="C2EBAD"/>
      </a:accent5>
      <a:accent6>
        <a:srgbClr val="E0F5D6"/>
      </a:accent6>
      <a:hlink>
        <a:srgbClr val="000000"/>
      </a:hlink>
      <a:folHlink>
        <a:srgbClr val="A0A7A9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FB_Ai_Blanko</Template>
  <TotalTime>2386</TotalTime>
  <Words>3433</Words>
  <Application>Microsoft Macintosh PowerPoint</Application>
  <PresentationFormat>Custom</PresentationFormat>
  <Paragraphs>953</Paragraphs>
  <Slides>66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6" baseType="lpstr">
      <vt:lpstr>Arial</vt:lpstr>
      <vt:lpstr>Arial Black</vt:lpstr>
      <vt:lpstr>Calibri</vt:lpstr>
      <vt:lpstr>Calibri Light</vt:lpstr>
      <vt:lpstr>Courier New</vt:lpstr>
      <vt:lpstr>Tahoma</vt:lpstr>
      <vt:lpstr>TheSansOffice</vt:lpstr>
      <vt:lpstr>Times New Roman</vt:lpstr>
      <vt:lpstr>Webdings</vt:lpstr>
      <vt:lpstr>Benutzerdefiniertes Design</vt:lpstr>
      <vt:lpstr>Datenbanksysteme</vt:lpstr>
      <vt:lpstr>SQL – Structured Query Language, Teil 2</vt:lpstr>
      <vt:lpstr>SQL – Teil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Quantifizierte Anfragen in SQL - Allquantifizierung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Case-Konstrukt</vt:lpstr>
      <vt:lpstr>Join-Formulierungen in SQL-92</vt:lpstr>
      <vt:lpstr>Query Plans 1</vt:lpstr>
      <vt:lpstr>Query Plans 2</vt:lpstr>
      <vt:lpstr>Query Plans 3</vt:lpstr>
      <vt:lpstr>Query Plans 4</vt:lpstr>
      <vt:lpstr>Query Plan 5</vt:lpstr>
      <vt:lpstr>Äußere Joins – Left Outer</vt:lpstr>
      <vt:lpstr>Äußere Joins – Right Outer</vt:lpstr>
      <vt:lpstr>Äußere Joins – Full Outer</vt:lpstr>
      <vt:lpstr>Äußere Joins – Full Outer</vt:lpstr>
      <vt:lpstr>Rekursion</vt:lpstr>
      <vt:lpstr>Rekursion</vt:lpstr>
      <vt:lpstr>Rekursion</vt:lpstr>
      <vt:lpstr>Rekursion</vt:lpstr>
      <vt:lpstr>Rekursion</vt:lpstr>
      <vt:lpstr>PowerPoint Presentation</vt:lpstr>
      <vt:lpstr>PowerPoint Presentation</vt:lpstr>
      <vt:lpstr>Der Wiener Kreis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Veränderungen am Datenbestand – Nochmal im Detail</vt:lpstr>
      <vt:lpstr>Veränderungen am Datenbestand – Nochmal im Detail</vt:lpstr>
      <vt:lpstr>PowerPoint Presentation</vt:lpstr>
      <vt:lpstr>PowerPoint Presentation</vt:lpstr>
      <vt:lpstr>PowerPoint Presentation</vt:lpstr>
      <vt:lpstr>Sichten (oder  Views)</vt:lpstr>
      <vt:lpstr>Sichten (oder  Views)</vt:lpstr>
      <vt:lpstr>Sichten (oder  Views)</vt:lpstr>
      <vt:lpstr>PowerPoint Presentation</vt:lpstr>
      <vt:lpstr>PowerPoint Presentation</vt:lpstr>
      <vt:lpstr>create view Professoren as  select *</vt:lpstr>
      <vt:lpstr>PowerPoint Presentation</vt:lpstr>
      <vt:lpstr>create view Angestellte as  (select PersNr, Name  from Professoren)</vt:lpstr>
      <vt:lpstr>PowerPoint Presentation</vt:lpstr>
      <vt:lpstr>Änderbarkeit von Sichten (durch Sichten)</vt:lpstr>
      <vt:lpstr>Änderbarkeit von Sichten</vt:lpstr>
      <vt:lpstr>PowerPoint Presentation</vt:lpstr>
      <vt:lpstr>PowerPoint Presentation</vt:lpstr>
      <vt:lpstr>Java Beispiel</vt:lpstr>
      <vt:lpstr>Java Beispiel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cp:lastModifiedBy>Christoph Scheich</cp:lastModifiedBy>
  <cp:revision>199</cp:revision>
  <dcterms:created xsi:type="dcterms:W3CDTF">2018-10-08T08:24:36Z</dcterms:created>
  <dcterms:modified xsi:type="dcterms:W3CDTF">2023-04-16T13:57:48Z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2018-10-08T00:00:00Z</vt:filetime>
  </property>
</Properties>
</file>